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14363" y="885825"/>
            <a:ext cx="421481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ENGINE RESEARCH BRIEF</a:t>
            </a:r>
            <a:endParaRPr lang="en-US" sz="650" dirty="0"/>
          </a:p>
        </p:txBody>
      </p:sp>
      <p:sp>
        <p:nvSpPr>
          <p:cNvPr id="7" name="Text 1"/>
          <p:cNvSpPr/>
          <p:nvPr/>
        </p:nvSpPr>
        <p:spPr>
          <a:xfrm>
            <a:off x="614363" y="1196578"/>
            <a:ext cx="4214813" cy="1368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3400" spc="-1" kern="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Geometry Ambition to Testable Evidence</a:t>
            </a:r>
            <a:endParaRPr lang="en-US" sz="3400" dirty="0"/>
          </a:p>
        </p:txBody>
      </p:sp>
      <p:sp>
        <p:nvSpPr>
          <p:cNvPr id="8" name="Text 2"/>
          <p:cNvSpPr/>
          <p:nvPr/>
        </p:nvSpPr>
        <p:spPr>
          <a:xfrm>
            <a:off x="614363" y="2765189"/>
            <a:ext cx="3929063" cy="433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1150" dirty="0">
                <a:solidFill>
                  <a:srgbClr val="C9C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mathematics, a fail-closed feedback loop, and the first language-hierarchy experiment.</a:t>
            </a:r>
            <a:endParaRPr lang="en-US" sz="115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3" y="3513274"/>
            <a:ext cx="842963" cy="2143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14363" y="3663293"/>
            <a:ext cx="42148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research result — not a verdict on language, mind, or reality</a:t>
            </a:r>
            <a:endParaRPr lang="en-US" sz="750" dirty="0"/>
          </a:p>
        </p:txBody>
      </p:sp>
      <p:sp>
        <p:nvSpPr>
          <p:cNvPr id="11" name="Text 4"/>
          <p:cNvSpPr/>
          <p:nvPr/>
        </p:nvSpPr>
        <p:spPr>
          <a:xfrm>
            <a:off x="614363" y="4729163"/>
            <a:ext cx="345188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858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UNIVERSAL KERNEL · EVIDENCE BEFORE INTERPRETATION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0"/>
            <a:ext cx="8115300" cy="13529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14350" y="0"/>
            <a:ext cx="8115300" cy="7144"/>
          </a:xfrm>
          <a:prstGeom prst="rect">
            <a:avLst/>
          </a:prstGeom>
          <a:solidFill>
            <a:srgbClr val="F7F8F9"/>
          </a:solidFill>
          <a:ln/>
        </p:spPr>
      </p:sp>
      <p:sp>
        <p:nvSpPr>
          <p:cNvPr id="5" name="Text 2"/>
          <p:cNvSpPr/>
          <p:nvPr/>
        </p:nvSpPr>
        <p:spPr>
          <a:xfrm>
            <a:off x="514350" y="400050"/>
            <a:ext cx="81153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PREMISE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14350" y="585788"/>
            <a:ext cx="81153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systems now have distinct jobs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514350" y="1017984"/>
            <a:ext cx="5572125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Complementarity comes from separation: the system that proposes a geometry is not the system that proves whether its experiment met a declared standard.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14350" y="1700213"/>
            <a:ext cx="3128963" cy="24431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14350" y="1700213"/>
            <a:ext cx="3128963" cy="14288"/>
          </a:xfrm>
          <a:prstGeom prst="rect">
            <a:avLst/>
          </a:prstGeom>
          <a:solidFill>
            <a:srgbClr val="7F8790"/>
          </a:solidFill>
          <a:ln/>
        </p:spPr>
      </p:sp>
      <p:sp>
        <p:nvSpPr>
          <p:cNvPr id="10" name="Shape 7"/>
          <p:cNvSpPr/>
          <p:nvPr/>
        </p:nvSpPr>
        <p:spPr>
          <a:xfrm>
            <a:off x="514350" y="4136231"/>
            <a:ext cx="3128963" cy="7144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11" name="Text 8"/>
          <p:cNvSpPr/>
          <p:nvPr/>
        </p:nvSpPr>
        <p:spPr>
          <a:xfrm>
            <a:off x="514350" y="1871663"/>
            <a:ext cx="3128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7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QUARANTINED RESEARCH SIDE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4350" y="2071688"/>
            <a:ext cx="3128963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runtime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14350" y="2453878"/>
            <a:ext cx="2786063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C5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transforms, representations, feature maps, hypotheses, and candidate artifacts.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14350" y="3005286"/>
            <a:ext cx="2786063" cy="207169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May:</a:t>
            </a:r>
            <a:r>
              <a:rPr lang="en-US" sz="800" dirty="0">
                <a:solidFill>
                  <a:srgbClr val="D7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propose a new geometric candidate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14350" y="3212455"/>
            <a:ext cx="2786063" cy="207169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May:</a:t>
            </a:r>
            <a:r>
              <a:rPr lang="en-US" sz="800" dirty="0">
                <a:solidFill>
                  <a:srgbClr val="D7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emit a result for independent evaluation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14350" y="3419624"/>
            <a:ext cx="2786063" cy="207169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not:</a:t>
            </a:r>
            <a:r>
              <a:rPr lang="en-US" sz="800" dirty="0">
                <a:solidFill>
                  <a:srgbClr val="D7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promote itself or redefine success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829050" y="1871663"/>
            <a:ext cx="1485900" cy="21074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307806" y="1871663"/>
            <a:ext cx="7144" cy="2107406"/>
          </a:xfrm>
          <a:prstGeom prst="rect">
            <a:avLst/>
          </a:prstGeom>
          <a:solidFill>
            <a:srgbClr val="F1C0BA"/>
          </a:solidFill>
          <a:ln/>
        </p:spPr>
      </p:sp>
      <p:sp>
        <p:nvSpPr>
          <p:cNvPr id="19" name="Shape 16"/>
          <p:cNvSpPr/>
          <p:nvPr/>
        </p:nvSpPr>
        <p:spPr>
          <a:xfrm>
            <a:off x="3829050" y="1871663"/>
            <a:ext cx="7144" cy="2107406"/>
          </a:xfrm>
          <a:prstGeom prst="rect">
            <a:avLst/>
          </a:prstGeom>
          <a:solidFill>
            <a:srgbClr val="F1C0BA"/>
          </a:solidFill>
          <a:ln/>
        </p:spPr>
      </p:sp>
      <p:sp>
        <p:nvSpPr>
          <p:cNvPr id="20" name="Text 17"/>
          <p:cNvSpPr/>
          <p:nvPr/>
        </p:nvSpPr>
        <p:spPr>
          <a:xfrm>
            <a:off x="3829050" y="2171700"/>
            <a:ext cx="14859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35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350" dirty="0"/>
          </a:p>
        </p:txBody>
      </p:sp>
      <p:sp>
        <p:nvSpPr>
          <p:cNvPr id="21" name="Text 18"/>
          <p:cNvSpPr/>
          <p:nvPr/>
        </p:nvSpPr>
        <p:spPr>
          <a:xfrm>
            <a:off x="3829050" y="2657475"/>
            <a:ext cx="1485900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b="1" spc="1" kern="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EVIDENCE CHANNEL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3943350" y="2986088"/>
            <a:ext cx="12573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inputs</a:t>
            </a:r>
            <a:r>
              <a:rPr lang="en-US" sz="80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80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</a:t>
            </a:r>
            <a:r>
              <a:rPr lang="en-US" sz="80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r>
              <a:rPr lang="en-US" sz="80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80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feedback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500688" y="1700213"/>
            <a:ext cx="3128963" cy="24431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500688" y="1700213"/>
            <a:ext cx="3128963" cy="14288"/>
          </a:xfrm>
          <a:prstGeom prst="rect">
            <a:avLst/>
          </a:prstGeom>
          <a:solidFill>
            <a:srgbClr val="D64B3B"/>
          </a:solidFill>
          <a:ln/>
        </p:spPr>
      </p:sp>
      <p:sp>
        <p:nvSpPr>
          <p:cNvPr id="25" name="Shape 22"/>
          <p:cNvSpPr/>
          <p:nvPr/>
        </p:nvSpPr>
        <p:spPr>
          <a:xfrm>
            <a:off x="5500688" y="4136231"/>
            <a:ext cx="3128963" cy="7144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6" name="Text 23"/>
          <p:cNvSpPr/>
          <p:nvPr/>
        </p:nvSpPr>
        <p:spPr>
          <a:xfrm>
            <a:off x="5500688" y="1871663"/>
            <a:ext cx="3128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7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EVIDENCE SIDE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500688" y="2071688"/>
            <a:ext cx="3128963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kernel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5500688" y="2453878"/>
            <a:ext cx="2786063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C5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Freezes contracts, verifies artifacts, records replayable receipts, and blocks unsupported promotion.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00688" y="3191694"/>
            <a:ext cx="2786063" cy="207169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May:</a:t>
            </a:r>
            <a:r>
              <a:rPr lang="en-US" sz="800" dirty="0">
                <a:solidFill>
                  <a:srgbClr val="D7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validate a named gate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500688" y="3398862"/>
            <a:ext cx="2786063" cy="207169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May:</a:t>
            </a:r>
            <a:r>
              <a:rPr lang="en-US" sz="800" dirty="0">
                <a:solidFill>
                  <a:srgbClr val="D7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 fail or unverifiable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500688" y="3606031"/>
            <a:ext cx="2786063" cy="207169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not:</a:t>
            </a:r>
            <a:r>
              <a:rPr lang="en-US" sz="800" dirty="0">
                <a:solidFill>
                  <a:srgbClr val="D7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choose a theory or train a model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14350" y="4489847"/>
            <a:ext cx="8115300" cy="2821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514350" y="4489847"/>
            <a:ext cx="8115300" cy="7144"/>
          </a:xfrm>
          <a:prstGeom prst="rect">
            <a:avLst/>
          </a:prstGeom>
          <a:solidFill>
            <a:srgbClr val="F7F8F9"/>
          </a:solidFill>
          <a:ln/>
        </p:spPr>
      </p:sp>
      <p:sp>
        <p:nvSpPr>
          <p:cNvPr id="34" name="Text 31"/>
          <p:cNvSpPr/>
          <p:nvPr/>
        </p:nvSpPr>
        <p:spPr>
          <a:xfrm>
            <a:off x="514350" y="4489847"/>
            <a:ext cx="8115300" cy="282178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is not proof.</a:t>
            </a:r>
            <a:r>
              <a:rPr lang="en-US" sz="1050" dirty="0">
                <a:solidFill>
                  <a:srgbClr val="E2E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receipt is not a theory verdict.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92906"/>
            <a:ext cx="86296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MATHEMATICS DISPOSITION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578644"/>
            <a:ext cx="862965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trusted core deliberately became smaller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14350" y="1010841"/>
            <a:ext cx="65722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legacy geometry stack is research context and a source of future adapters—not automatic semantics for a verifier.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14350" y="1750219"/>
            <a:ext cx="2571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5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NUMERICAL GEOMETRY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14350" y="1943100"/>
            <a:ext cx="2571750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a numeric contract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14350" y="2371725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E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Riemann sphere &amp; Möbius maps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14350" y="2532459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exact complex schemas, pole handling, and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14350" y="2693026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transform rules.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14350" y="3032187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E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Fubini–Study distance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4350" y="3192921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declared estimator, precision, tolerance, and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14350" y="3353488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vectors.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14350" y="3692649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E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Hopf map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4350" y="3853383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normalization and error-bound policy before a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14350" y="4013950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can mean anything.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86125" y="1750219"/>
            <a:ext cx="2571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5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EXPERIMENTAL GEOMETRY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286125" y="1943100"/>
            <a:ext cx="2571750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task evidence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286125" y="2371725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E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Torus update &amp; invariant probes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86125" y="2532459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procedure and scalar proxies are experiments,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86125" y="2693026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intrinsic truth measures.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286125" y="3032187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E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C60/E8 addressing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286125" y="3192921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encoding choice must beat matched alternatives on 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286125" y="3353488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task.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86125" y="3692649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E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quantization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286125" y="3853383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licensed data, baselines, heldout tests, and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286125" y="4013950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analysis.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057900" y="1750219"/>
            <a:ext cx="2571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5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FROM VERDICT LANGUAGE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057900" y="1943100"/>
            <a:ext cx="2571750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automatic authority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057900" y="2371725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E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E8 prompt snapping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057900" y="2532459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be a feature candidate; it cannot self-certify semantic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057900" y="2693026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theoretical coherence.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057900" y="3032187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E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“Globally coherent” status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057900" y="3192921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broad runtime label is not a bounded verification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057900" y="3353488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outcome.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057900" y="3692649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EE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Theory-selected behavior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057900" y="3853383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label cannot choose evaluator code or cause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057900" y="4013950"/>
            <a:ext cx="2571750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passing result.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514350" y="4294845"/>
            <a:ext cx="8115300" cy="5057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14350" y="4294845"/>
            <a:ext cx="8115300" cy="7144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41" name="Text 38"/>
          <p:cNvSpPr/>
          <p:nvPr/>
        </p:nvSpPr>
        <p:spPr>
          <a:xfrm>
            <a:off x="514350" y="4294845"/>
            <a:ext cx="8115300" cy="505755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00" b="1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declared false:</a:t>
            </a:r>
            <a:r>
              <a:rPr lang="en-US" sz="1050" dirty="0">
                <a:solidFill>
                  <a:srgbClr val="E1D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mathematics lost automatic authority until each use becomes a named, fixture-backed, independently </a:t>
            </a:r>
            <a:r>
              <a:rPr lang="en-US" sz="1050" dirty="0">
                <a:solidFill>
                  <a:srgbClr val="E1D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reviewable claim.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92906"/>
            <a:ext cx="81153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ADAPTER ADMISSION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578644"/>
            <a:ext cx="81153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Geometry returns through bounded claims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14350" y="1010841"/>
            <a:ext cx="614362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legacy mathematical idea can re-enter the system only as a precise, inspectable question that any framework could be asked to meet.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14350" y="2164556"/>
            <a:ext cx="13858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DEFINE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14350" y="2350294"/>
            <a:ext cx="1385888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Finite object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14350" y="2624603"/>
            <a:ext cx="1300163" cy="551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exactly what is represented: values, coordinates, schema, units, and domain.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950244" y="1900238"/>
            <a:ext cx="20002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9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196703" y="2164556"/>
            <a:ext cx="13858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NAME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196703" y="2350294"/>
            <a:ext cx="1385888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196703" y="2624603"/>
            <a:ext cx="1300163" cy="551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predicate in ordinary language and, where useful, formal notation.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32597" y="1900238"/>
            <a:ext cx="20002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9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879056" y="2164556"/>
            <a:ext cx="13858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FREEZE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879056" y="2350294"/>
            <a:ext cx="1385888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Fixtures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879056" y="2624603"/>
            <a:ext cx="1300163" cy="551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positive, negative, malformed, boundary, and tamper cases before admission.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314950" y="1900238"/>
            <a:ext cx="20002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9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561409" y="2164556"/>
            <a:ext cx="13858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REVIEW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561409" y="2350294"/>
            <a:ext cx="1385888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Independently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561409" y="2624603"/>
            <a:ext cx="1300163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evaluator, assumptions, replay path, and explicit non-claims.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997303" y="1900238"/>
            <a:ext cx="20002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9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243763" y="2164556"/>
            <a:ext cx="13858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RECEIPT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243763" y="2350294"/>
            <a:ext cx="1385888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result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243763" y="2624603"/>
            <a:ext cx="1300163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 narrow status for declared input only: verified, fail, or unverifiable.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14350" y="3971925"/>
            <a:ext cx="81153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14350" y="3971925"/>
            <a:ext cx="8115300" cy="7144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7" name="Text 24"/>
          <p:cNvSpPr/>
          <p:nvPr/>
        </p:nvSpPr>
        <p:spPr>
          <a:xfrm>
            <a:off x="514350" y="4143375"/>
            <a:ext cx="19859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RECEIPT NEVER MEANS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2500313" y="4143375"/>
            <a:ext cx="5500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ED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passing finite check does not validate E8, a language theory, cognition, physics, or reality. It validates only the named relation in the supplied representation.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4350" y="4743450"/>
            <a:ext cx="36179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F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LABELS ARE PROVENANCE—NOT EXECUTABLE AUTHORITY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85763"/>
            <a:ext cx="86296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FAIL-CLOSED RESEARCH ARCHITECTURE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571500"/>
            <a:ext cx="862965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separates proposing from proving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14350" y="1003697"/>
            <a:ext cx="64293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movement from idea to admitted experimental adapter crosses a distinct evidence boundary. No arrow bypasses independent evaluation or accountable review.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14350" y="2050256"/>
            <a:ext cx="13573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HUMAN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14350" y="2228850"/>
            <a:ext cx="1357313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Freeze the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4350" y="2502433"/>
            <a:ext cx="1257300" cy="548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hypothesis, dataset, split, baseline, metric, budget, and falsification rule.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917204" y="2386013"/>
            <a:ext cx="2143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177058" y="2050256"/>
            <a:ext cx="13573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QUARANTINE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177058" y="2228850"/>
            <a:ext cx="1357313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 a candidate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77058" y="2502433"/>
            <a:ext cx="1257300" cy="411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legacy runtime emits a transform or artifact—never its own passing verdict.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579912" y="2386013"/>
            <a:ext cx="2143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839766" y="2050256"/>
            <a:ext cx="13573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INDEPENDENT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839766" y="2228850"/>
            <a:ext cx="1357313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Recompute the test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39766" y="2502433"/>
            <a:ext cx="1257300" cy="411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evaluator runs pinned inputs, baselines, and resource limits.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242620" y="2386013"/>
            <a:ext cx="2143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502473" y="2050256"/>
            <a:ext cx="13573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KERNEL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502473" y="2228850"/>
            <a:ext cx="1357313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the evidence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02473" y="2502433"/>
            <a:ext cx="1257300" cy="411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manifests, hashes, allowed predicates, holdout rules, and reason codes.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905327" y="2386013"/>
            <a:ext cx="2143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165181" y="2018054"/>
            <a:ext cx="146446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REVIEW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165181" y="2196647"/>
            <a:ext cx="1464469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the scope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165181" y="2470231"/>
            <a:ext cx="1257300" cy="548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9600"/>
              </a:lnSpc>
              <a:buNone/>
            </a:pPr>
            <a:r>
              <a:rPr lang="en-US" sz="75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authority accepts, rejects, or quarantines the experiment with an explicit rationale.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165181" y="3125446"/>
            <a:ext cx="1376567" cy="150019"/>
          </a:xfrm>
          <a:prstGeom prst="rect">
            <a:avLst/>
          </a:prstGeom>
          <a:noFill/>
          <a:ln/>
        </p:spPr>
        <p:txBody>
          <a:bodyPr wrap="square" lIns="0" tIns="5956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AUTONOMOUS PROMOTION</a:t>
            </a:r>
            <a:endParaRPr lang="en-US" sz="550" dirty="0"/>
          </a:p>
        </p:txBody>
      </p:sp>
      <p:sp>
        <p:nvSpPr>
          <p:cNvPr id="26" name="Shape 23"/>
          <p:cNvSpPr/>
          <p:nvPr/>
        </p:nvSpPr>
        <p:spPr>
          <a:xfrm>
            <a:off x="2414588" y="3800475"/>
            <a:ext cx="3786188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414588" y="3800475"/>
            <a:ext cx="3786188" cy="7144"/>
          </a:xfrm>
          <a:prstGeom prst="rect">
            <a:avLst/>
          </a:prstGeom>
          <a:solidFill>
            <a:srgbClr val="E89C93"/>
          </a:solidFill>
          <a:ln/>
        </p:spPr>
      </p:sp>
      <p:sp>
        <p:nvSpPr>
          <p:cNvPr id="28" name="Shape 25"/>
          <p:cNvSpPr/>
          <p:nvPr/>
        </p:nvSpPr>
        <p:spPr>
          <a:xfrm>
            <a:off x="2414588" y="3800475"/>
            <a:ext cx="7144" cy="628650"/>
          </a:xfrm>
          <a:prstGeom prst="rect">
            <a:avLst/>
          </a:prstGeom>
          <a:solidFill>
            <a:srgbClr val="E89C93"/>
          </a:solidFill>
          <a:ln/>
        </p:spPr>
      </p:sp>
      <p:sp>
        <p:nvSpPr>
          <p:cNvPr id="29" name="Text 26"/>
          <p:cNvSpPr/>
          <p:nvPr/>
        </p:nvSpPr>
        <p:spPr>
          <a:xfrm>
            <a:off x="2543175" y="3921919"/>
            <a:ext cx="1549859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FEEDBACK PACKET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2543175" y="4075509"/>
            <a:ext cx="36576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BE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runtime receives only allowed metrics, failure reasons, and next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543175" y="4270177"/>
            <a:ext cx="36576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BE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permitted actions—never release keys, mutable evidence, or authority to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543175" y="4464844"/>
            <a:ext cx="36576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BE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the gate.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350294" y="3636169"/>
            <a:ext cx="15001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↖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14350" y="4572000"/>
            <a:ext cx="8115300" cy="2643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514350" y="4572000"/>
            <a:ext cx="8115300" cy="7144"/>
          </a:xfrm>
          <a:prstGeom prst="rect">
            <a:avLst/>
          </a:prstGeom>
          <a:solidFill>
            <a:srgbClr val="F7F8F9"/>
          </a:solidFill>
          <a:ln/>
        </p:spPr>
      </p:sp>
      <p:sp>
        <p:nvSpPr>
          <p:cNvPr id="36" name="Text 33"/>
          <p:cNvSpPr/>
          <p:nvPr/>
        </p:nvSpPr>
        <p:spPr>
          <a:xfrm>
            <a:off x="514350" y="4572000"/>
            <a:ext cx="8115300" cy="26431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does not stop exploration.</a:t>
            </a:r>
            <a:r>
              <a:rPr lang="en-US" sz="950" dirty="0">
                <a:solidFill>
                  <a:srgbClr val="E1D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turns each new proposal into a claim that can win, fail, or remain unresolved.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85763"/>
            <a:ext cx="81153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FEEDBACK-LOOP CONTROLS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571500"/>
            <a:ext cx="81153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component gets to certify itself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14350" y="1003697"/>
            <a:ext cx="5857875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F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is useful only when candidate generation, measurement, evidence verification, and human judgment remain deliberately separate.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343400" y="1557338"/>
            <a:ext cx="457200" cy="26074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93456" y="1557338"/>
            <a:ext cx="7144" cy="2607469"/>
          </a:xfrm>
          <a:prstGeom prst="rect">
            <a:avLst/>
          </a:prstGeom>
          <a:solidFill>
            <a:srgbClr val="EAA199"/>
          </a:solidFill>
          <a:ln/>
        </p:spPr>
      </p:sp>
      <p:sp>
        <p:nvSpPr>
          <p:cNvPr id="8" name="Shape 5"/>
          <p:cNvSpPr/>
          <p:nvPr/>
        </p:nvSpPr>
        <p:spPr>
          <a:xfrm>
            <a:off x="4343400" y="1557338"/>
            <a:ext cx="7144" cy="2607469"/>
          </a:xfrm>
          <a:prstGeom prst="rect">
            <a:avLst/>
          </a:prstGeom>
          <a:solidFill>
            <a:srgbClr val="EAA199"/>
          </a:solidFill>
          <a:ln/>
        </p:spPr>
      </p:sp>
      <p:sp>
        <p:nvSpPr>
          <p:cNvPr id="9" name="Text 6"/>
          <p:cNvSpPr/>
          <p:nvPr/>
        </p:nvSpPr>
        <p:spPr>
          <a:xfrm>
            <a:off x="4343400" y="1557338"/>
            <a:ext cx="457200" cy="1202103"/>
          </a:xfrm>
          <a:prstGeom prst="rect">
            <a:avLst/>
          </a:prstGeom>
          <a:noFill/>
          <a:ln/>
        </p:spPr>
        <p:txBody>
          <a:bodyPr wrap="square" lIns="0" tIns="978027" rIns="0" bIns="0" rtlCol="0" anchor="t">
            <a:spAutoFit/>
          </a:bodyPr>
          <a:lstStyle/>
          <a:p>
            <a:pPr algn="ctr" indent="0" marL="0">
              <a:lnSpc>
                <a:spcPct val="118400"/>
              </a:lnSpc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343400" y="2880885"/>
            <a:ext cx="45720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96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4350" y="1714500"/>
            <a:ext cx="3071813" cy="657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14350" y="1714500"/>
            <a:ext cx="307181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0"/>
          <p:cNvSpPr/>
          <p:nvPr/>
        </p:nvSpPr>
        <p:spPr>
          <a:xfrm>
            <a:off x="514350" y="1807369"/>
            <a:ext cx="214313" cy="121444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28663" y="1807369"/>
            <a:ext cx="27574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proposal digest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28663" y="1982391"/>
            <a:ext cx="27574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task, data split, metric, baseline, budget, and non-claims are fixed before results appear.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4350" y="2600325"/>
            <a:ext cx="3071813" cy="657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14350" y="2600325"/>
            <a:ext cx="307181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5"/>
          <p:cNvSpPr/>
          <p:nvPr/>
        </p:nvSpPr>
        <p:spPr>
          <a:xfrm>
            <a:off x="514350" y="2693194"/>
            <a:ext cx="214313" cy="121444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28663" y="2693194"/>
            <a:ext cx="27574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evaluator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28663" y="2868216"/>
            <a:ext cx="27574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Candidate-reported scores stay provisional until a separate runner recomputes them.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14350" y="3486150"/>
            <a:ext cx="3071813" cy="657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14350" y="3486150"/>
            <a:ext cx="307181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Text 20"/>
          <p:cNvSpPr/>
          <p:nvPr/>
        </p:nvSpPr>
        <p:spPr>
          <a:xfrm>
            <a:off x="514350" y="3579019"/>
            <a:ext cx="214313" cy="121444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728663" y="3579019"/>
            <a:ext cx="27574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and ablation suite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28663" y="3754041"/>
            <a:ext cx="27574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geometry candidate must beat simpler, matched alternatives—not a straw comparison.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557838" y="1714500"/>
            <a:ext cx="3071813" cy="657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557838" y="1714500"/>
            <a:ext cx="307181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8" name="Text 25"/>
          <p:cNvSpPr/>
          <p:nvPr/>
        </p:nvSpPr>
        <p:spPr>
          <a:xfrm>
            <a:off x="5557838" y="1807369"/>
            <a:ext cx="214313" cy="121444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772150" y="1807369"/>
            <a:ext cx="27574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and replication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772150" y="1982391"/>
            <a:ext cx="27574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Development-set success is exploratory; durable claims require held-out evidence and reruns.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557838" y="2600325"/>
            <a:ext cx="3071813" cy="657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5557838" y="2600325"/>
            <a:ext cx="307181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Text 30"/>
          <p:cNvSpPr/>
          <p:nvPr/>
        </p:nvSpPr>
        <p:spPr>
          <a:xfrm>
            <a:off x="5557838" y="2693194"/>
            <a:ext cx="214313" cy="121444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772150" y="2693194"/>
            <a:ext cx="27574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evidence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772150" y="2868216"/>
            <a:ext cx="27574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Inputs, outputs, manifests, and receipts cannot be silently replaced after the fact.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557838" y="3486150"/>
            <a:ext cx="3071813" cy="657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557838" y="3486150"/>
            <a:ext cx="307181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8" name="Text 35"/>
          <p:cNvSpPr/>
          <p:nvPr/>
        </p:nvSpPr>
        <p:spPr>
          <a:xfrm>
            <a:off x="5557838" y="3579019"/>
            <a:ext cx="214313" cy="121444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772150" y="3579019"/>
            <a:ext cx="27574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release authority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772150" y="3754041"/>
            <a:ext cx="27574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remain accountable for interpretation, risk, sharing, and any promotion decision.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514350" y="4604147"/>
            <a:ext cx="8115300" cy="2678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14350" y="4604147"/>
            <a:ext cx="8115300" cy="7144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43" name="Text 40"/>
          <p:cNvSpPr/>
          <p:nvPr/>
        </p:nvSpPr>
        <p:spPr>
          <a:xfrm>
            <a:off x="514350" y="4604147"/>
            <a:ext cx="8115300" cy="26789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learns from failure.</a:t>
            </a:r>
            <a:r>
              <a:rPr lang="en-US" sz="1000" dirty="0">
                <a:solidFill>
                  <a:srgbClr val="D6D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never rewards self-confirmation.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85763"/>
            <a:ext cx="8001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HIERARCHY-RECOVERY EXPERIMENT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571500"/>
            <a:ext cx="80010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pilot: a public lexical hierarchy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14350" y="996553"/>
            <a:ext cx="6143625" cy="335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90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experiment asks a narrow question: can a declared geometric candidate recover held-out parent links better than a simple text-only baseline?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14350" y="1557338"/>
            <a:ext cx="2035969" cy="26708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14350" y="1557338"/>
            <a:ext cx="2035969" cy="14288"/>
          </a:xfrm>
          <a:prstGeom prst="rect">
            <a:avLst/>
          </a:prstGeom>
          <a:solidFill>
            <a:srgbClr val="D64B3B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1685925"/>
            <a:ext cx="203596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A5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SOURCE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514350" y="1871663"/>
            <a:ext cx="203596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English WordNet 2025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14350" y="2414588"/>
            <a:ext cx="1893094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dirty="0">
                <a:solidFill>
                  <a:srgbClr val="C1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lexical network of English </a:t>
            </a:r>
            <a:r>
              <a:rPr lang="en-US" sz="850" dirty="0">
                <a:solidFill>
                  <a:srgbClr val="C1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words, synsets, and relations. The </a:t>
            </a:r>
            <a:r>
              <a:rPr lang="en-US" sz="850" dirty="0">
                <a:solidFill>
                  <a:srgbClr val="C1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samples a finite hierarchy </a:t>
            </a:r>
            <a:r>
              <a:rPr lang="en-US" sz="850" dirty="0">
                <a:solidFill>
                  <a:srgbClr val="C1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rooted at </a:t>
            </a:r>
            <a:r>
              <a:rPr lang="en-US" sz="800" b="1" dirty="0">
                <a:solidFill>
                  <a:srgbClr val="C1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</a:t>
            </a:r>
            <a:r>
              <a:rPr lang="en-US" sz="850" dirty="0">
                <a:solidFill>
                  <a:srgbClr val="C1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14350" y="3213795"/>
            <a:ext cx="2035969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License:</a:t>
            </a:r>
            <a:r>
              <a:rPr lang="en-US" sz="750" dirty="0">
                <a:solidFill>
                  <a:srgbClr val="B9C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CC-BY 4.0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14350" y="3463826"/>
            <a:ext cx="2035969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Lexicon:</a:t>
            </a:r>
            <a:r>
              <a:rPr lang="en-US" sz="750" dirty="0">
                <a:solidFill>
                  <a:srgbClr val="B9C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dirty="0">
                <a:solidFill>
                  <a:srgbClr val="B9C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oewn:2025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14350" y="3713857"/>
            <a:ext cx="2035969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truth:</a:t>
            </a:r>
            <a:r>
              <a:rPr lang="en-US" sz="750" dirty="0">
                <a:solidFill>
                  <a:srgbClr val="B9C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 hypernym links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14350" y="3963888"/>
            <a:ext cx="2035969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policy:</a:t>
            </a:r>
            <a:r>
              <a:rPr lang="en-US" sz="750" dirty="0">
                <a:solidFill>
                  <a:srgbClr val="B9C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pinned source + manifest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386138" y="1557338"/>
            <a:ext cx="5243513" cy="9200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386138" y="1557338"/>
            <a:ext cx="5243513" cy="14288"/>
          </a:xfrm>
          <a:prstGeom prst="rect">
            <a:avLst/>
          </a:prstGeom>
          <a:solidFill>
            <a:srgbClr val="7F8992"/>
          </a:solidFill>
          <a:ln/>
        </p:spPr>
      </p:sp>
      <p:sp>
        <p:nvSpPr>
          <p:cNvPr id="17" name="Text 14"/>
          <p:cNvSpPr/>
          <p:nvPr/>
        </p:nvSpPr>
        <p:spPr>
          <a:xfrm>
            <a:off x="3386138" y="1685925"/>
            <a:ext cx="52435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A5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TASK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386138" y="1850231"/>
            <a:ext cx="5243513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the direct parent of a held-out node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386138" y="2143125"/>
            <a:ext cx="52435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1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Synset lemmas and definitions create the representation. Hypernym links are used </a:t>
            </a:r>
            <a:r>
              <a:rPr lang="en-US" sz="800" b="1" dirty="0">
                <a:solidFill>
                  <a:srgbClr val="C1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as evaluation labels</a:t>
            </a:r>
            <a:r>
              <a:rPr lang="en-US" sz="850" dirty="0">
                <a:solidFill>
                  <a:srgbClr val="C1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never as a feature supplied to either method.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86138" y="2700338"/>
            <a:ext cx="252174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A5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BASELINE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386138" y="2857500"/>
            <a:ext cx="252174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cosine similarity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386138" y="3068241"/>
            <a:ext cx="2328863" cy="425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from lemmas plus definitions, reduced by SVD and compared directly in a text-only representation space.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386138" y="3608487"/>
            <a:ext cx="2521744" cy="192881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D8D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→ TF-IDF → SVD → COSINE RANKING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6107906" y="2700338"/>
            <a:ext cx="252174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A5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CANDIDATE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107906" y="2857500"/>
            <a:ext cx="252174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Poincaré-ball ranking heuristic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07906" y="3068241"/>
            <a:ext cx="2328863" cy="425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text representation receives a text-derived radial coordinate and is ranked by declared Poincaré distance.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107906" y="3608487"/>
            <a:ext cx="2521744" cy="192881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D8D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→ TF-IDF → SVD → POINCARÉ RANKING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3386138" y="4186238"/>
            <a:ext cx="5243513" cy="3956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386138" y="4186238"/>
            <a:ext cx="5243513" cy="7144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30" name="Text 27"/>
          <p:cNvSpPr/>
          <p:nvPr/>
        </p:nvSpPr>
        <p:spPr>
          <a:xfrm>
            <a:off x="3386138" y="4186238"/>
            <a:ext cx="5243513" cy="395697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b="1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</a:t>
            </a:r>
            <a:r>
              <a:rPr lang="en-US" sz="800" dirty="0">
                <a:solidFill>
                  <a:srgbClr val="D9D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deterministic selection/holdout split; candidate settings selected only on the selection edges; held-</a:t>
            </a:r>
            <a:r>
              <a:rPr lang="en-US" sz="800" dirty="0">
                <a:solidFill>
                  <a:srgbClr val="D9D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recovery measured independently; random Top-1 reference retained for context.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14350" y="4743450"/>
            <a:ext cx="482683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8F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A FINITE ENGLISH LEXICAL SAMPLE, NOT A COMPLETE MODEL OF LANGUAGE OR MEANING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85763"/>
            <a:ext cx="86296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PILOT RESULT · HELD-OUT DIRECT-HYPERNYM RECOVERY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564356"/>
            <a:ext cx="862965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hyperbolic candidate did not win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14350" y="989409"/>
            <a:ext cx="8629650" cy="163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D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English WordNet sample · 11 held-out edges · text-only representations · fixed result, not a theory verdict.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14350" y="1500188"/>
            <a:ext cx="4829175" cy="2714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14350" y="1500188"/>
            <a:ext cx="4829175" cy="14288"/>
          </a:xfrm>
          <a:prstGeom prst="rect">
            <a:avLst/>
          </a:prstGeom>
          <a:solidFill>
            <a:srgbClr val="7F8790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1643063"/>
            <a:ext cx="48291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6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IS BETTER</a:t>
            </a:r>
            <a:endParaRPr lang="en-US" sz="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785938"/>
            <a:ext cx="4643438" cy="225028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857875" y="1500188"/>
            <a:ext cx="2771775" cy="27401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857875" y="1500188"/>
            <a:ext cx="2771775" cy="14288"/>
          </a:xfrm>
          <a:prstGeom prst="rect">
            <a:avLst/>
          </a:prstGeom>
          <a:solidFill>
            <a:srgbClr val="D64B3B"/>
          </a:solidFill>
          <a:ln/>
        </p:spPr>
      </p:sp>
      <p:sp>
        <p:nvSpPr>
          <p:cNvPr id="12" name="Text 8"/>
          <p:cNvSpPr/>
          <p:nvPr/>
        </p:nvSpPr>
        <p:spPr>
          <a:xfrm>
            <a:off x="5857875" y="1643063"/>
            <a:ext cx="27717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READING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5857875" y="1828800"/>
            <a:ext cx="2771775" cy="4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supported hierarchy advantage on this sample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857875" y="2503103"/>
            <a:ext cx="97283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parent recovery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803821" y="2503103"/>
            <a:ext cx="825829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 baseline</a:t>
            </a:r>
            <a:r>
              <a:rPr lang="en-US" sz="80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80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 candidate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857875" y="2981734"/>
            <a:ext cx="97283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parent recovery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7740253" y="2981734"/>
            <a:ext cx="889397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 baseline</a:t>
            </a:r>
            <a:r>
              <a:rPr lang="en-US" sz="80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80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 candidate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857875" y="3460366"/>
            <a:ext cx="472548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rank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8280053" y="3460366"/>
            <a:ext cx="349597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10.727</a:t>
            </a:r>
            <a:r>
              <a:rPr lang="en-US" sz="80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80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10.727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857875" y="3853272"/>
            <a:ext cx="2771775" cy="372814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BD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95% interval for candidate minus baseline Top-1: </a:t>
            </a:r>
            <a:r>
              <a:rPr lang="en-US" sz="700" b="1" dirty="0">
                <a:solidFill>
                  <a:srgbClr val="BD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−27.3 to 0.0 percentage points</a:t>
            </a:r>
            <a:r>
              <a:rPr lang="en-US" sz="750" dirty="0">
                <a:solidFill>
                  <a:srgbClr val="BD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14350" y="4643438"/>
            <a:ext cx="8115300" cy="2071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514350" y="4643438"/>
            <a:ext cx="8115300" cy="7144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3" name="Text 19"/>
          <p:cNvSpPr/>
          <p:nvPr/>
        </p:nvSpPr>
        <p:spPr>
          <a:xfrm>
            <a:off x="514350" y="4750594"/>
            <a:ext cx="268538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3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</a:t>
            </a:r>
            <a:r>
              <a:rPr lang="en-US" sz="600" dirty="0">
                <a:solidFill>
                  <a:srgbClr val="92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`artifacts/hierarchy_recovery_v0/EXPERIMENT_REPORT.md`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4836486" y="4750594"/>
            <a:ext cx="379316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2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one public English lexical sample; no E8, Hopf, cognition, or universal-language claim tested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85763"/>
            <a:ext cx="86296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DISCIPLINE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571500"/>
            <a:ext cx="862965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results are evidence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14350" y="1003697"/>
            <a:ext cx="6143625" cy="335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900" dirty="0">
                <a:solidFill>
                  <a:srgbClr val="AF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 did not establish the hoped-for advantage. That makes the next claim smaller and the next experiment more useful.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14350" y="1614488"/>
            <a:ext cx="3571875" cy="22145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14350" y="1614488"/>
            <a:ext cx="3571875" cy="14288"/>
          </a:xfrm>
          <a:prstGeom prst="rect">
            <a:avLst/>
          </a:prstGeom>
          <a:solidFill>
            <a:srgbClr val="D64B3B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1757363"/>
            <a:ext cx="35718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PILOT DOES NOT SUPPORT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514350" y="1964531"/>
            <a:ext cx="3357563" cy="1011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600" dirty="0">
                <a:solidFill>
                  <a:srgbClr val="EFED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text-derived Poincaré heuristic did not outperform the simple Euclidean cosine baseline on this held-out sample.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4350" y="3104629"/>
            <a:ext cx="3271838" cy="48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dirty="0">
                <a:solidFill>
                  <a:srgbClr val="B9C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not a silent failure. It is a replayable constraint on one candidate, one task, one corpus slice, and one evaluation rule.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57775" y="1614488"/>
            <a:ext cx="3571875" cy="22352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057775" y="1614488"/>
            <a:ext cx="3571875" cy="14288"/>
          </a:xfrm>
          <a:prstGeom prst="rect">
            <a:avLst/>
          </a:prstGeom>
          <a:solidFill>
            <a:srgbClr val="7F8992"/>
          </a:solidFill>
          <a:ln/>
        </p:spPr>
      </p:sp>
      <p:sp>
        <p:nvSpPr>
          <p:cNvPr id="13" name="Text 10"/>
          <p:cNvSpPr/>
          <p:nvPr/>
        </p:nvSpPr>
        <p:spPr>
          <a:xfrm>
            <a:off x="5057775" y="1757363"/>
            <a:ext cx="35718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REMAINS OPEN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057775" y="2043113"/>
            <a:ext cx="35718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hyperbolic methods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57775" y="2210991"/>
            <a:ext cx="3571875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learned geometry, different objective, or stronger benchmark may behave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57775" y="2381715"/>
            <a:ext cx="3571875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differently.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57775" y="2702458"/>
            <a:ext cx="35718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language structures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57775" y="2870336"/>
            <a:ext cx="3571875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recovery is one lexical task, not all semantics, syntax, discourse, or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57775" y="3041061"/>
            <a:ext cx="3571875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language.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057775" y="3361804"/>
            <a:ext cx="35718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legacy transforms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57775" y="3529682"/>
            <a:ext cx="3571875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future E8-related or Möbius-related candidate may be tested if it meets the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057775" y="3700407"/>
            <a:ext cx="3571875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neutral admission gate.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14350" y="4036888"/>
            <a:ext cx="8115300" cy="4708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14350" y="4036888"/>
            <a:ext cx="8115300" cy="7144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5" name="Text 22"/>
          <p:cNvSpPr/>
          <p:nvPr/>
        </p:nvSpPr>
        <p:spPr>
          <a:xfrm>
            <a:off x="514350" y="4172620"/>
            <a:ext cx="1928813" cy="335087"/>
          </a:xfrm>
          <a:prstGeom prst="rect">
            <a:avLst/>
          </a:prstGeom>
          <a:noFill/>
          <a:ln/>
        </p:spPr>
        <p:txBody>
          <a:bodyPr wrap="squar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TESTED HERE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2743200" y="4172620"/>
            <a:ext cx="5286375" cy="335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900" dirty="0">
                <a:solidFill>
                  <a:srgbClr val="D5D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E8, Hopf fibrations, cognition, consciousness, physics, or a universal geometry of language. None can be inferred from the pilot’s negative or positive metrics.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14350" y="4589859"/>
            <a:ext cx="8115300" cy="2607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14350" y="4589859"/>
            <a:ext cx="8115300" cy="7144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9" name="Text 26"/>
          <p:cNvSpPr/>
          <p:nvPr/>
        </p:nvSpPr>
        <p:spPr>
          <a:xfrm>
            <a:off x="514350" y="4589859"/>
            <a:ext cx="8115300" cy="260747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narrows the story.</a:t>
            </a:r>
            <a:r>
              <a:rPr lang="en-US" sz="1000" dirty="0">
                <a:solidFill>
                  <a:srgbClr val="E3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is how a research system becomes more informative after a loss.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85763"/>
            <a:ext cx="81153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PROGRAM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571500"/>
            <a:ext cx="81153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question is precise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14350" y="996553"/>
            <a:ext cx="6429375" cy="335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90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geometry claim earns attention only when it predicts something useful beyond simpler explanations—and can visibly lose when the evidence does not support it.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14350" y="1564481"/>
            <a:ext cx="8115300" cy="2571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14350" y="1564481"/>
            <a:ext cx="8115300" cy="14288"/>
          </a:xfrm>
          <a:prstGeom prst="rect">
            <a:avLst/>
          </a:prstGeom>
          <a:solidFill>
            <a:srgbClr val="7F8790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1671638"/>
            <a:ext cx="5286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FA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1042988" y="1671638"/>
            <a:ext cx="3328988" cy="214313"/>
          </a:xfrm>
          <a:prstGeom prst="rect">
            <a:avLst/>
          </a:prstGeom>
          <a:noFill/>
          <a:ln/>
        </p:spPr>
        <p:txBody>
          <a:bodyPr wrap="square" lIns="0" tIns="0" rIns="255143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FA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371975" y="1671638"/>
            <a:ext cx="42576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FA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COUNT AS AN HONEST TEST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14350" y="1985963"/>
            <a:ext cx="5286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64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042988" y="1985963"/>
            <a:ext cx="311467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Hyperbolic hierarchy benefit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42988" y="2173486"/>
            <a:ext cx="3114675" cy="134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ABB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hyperbolic representation improves stated hierarchy recovery.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371975" y="1985963"/>
            <a:ext cx="425767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matched Euclidean baselines on preregistered held-out tasks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371975" y="2173486"/>
            <a:ext cx="4257675" cy="268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ABB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for parameter count, training budget, data split, and model capacity; publish null results and failures.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14350" y="2543175"/>
            <a:ext cx="5286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64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042988" y="2543175"/>
            <a:ext cx="311467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Intrinsic-dimension signal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42988" y="2730698"/>
            <a:ext cx="3114675" cy="134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ABB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dimension distinguishes declared language conditions.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371975" y="2543175"/>
            <a:ext cx="425767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 controls for length, genre, layer, corpus, and estimator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371975" y="2730698"/>
            <a:ext cx="4257675" cy="134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ABB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estimator sensitivity analysis, shuffled-text controls, and independent corpus replication.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14350" y="3100388"/>
            <a:ext cx="5286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64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042988" y="3100388"/>
            <a:ext cx="311467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predicts capability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42988" y="3287911"/>
            <a:ext cx="3114675" cy="134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ABB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predeclared topology statistic forecasts held-out linguistic behavior.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371975" y="3100388"/>
            <a:ext cx="425767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 standard representation metrics on held-out prediction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371975" y="3287911"/>
            <a:ext cx="4257675" cy="134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ABB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for multiple tests and test whether simpler variables explain the apparent effect.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14350" y="3657600"/>
            <a:ext cx="5286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64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042988" y="3657600"/>
            <a:ext cx="311467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geometry adds value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42988" y="3845123"/>
            <a:ext cx="3114675" cy="268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ABB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specified legacy transform improves a task beyond equally expressive controls.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371975" y="3657600"/>
            <a:ext cx="425767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matched non-E8 transforms under equal budgets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371975" y="3845123"/>
            <a:ext cx="4257675" cy="268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ABB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the transform, compare ablations, rerun independently, and state where the benefit does not generalize.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14350" y="4238588"/>
            <a:ext cx="8115300" cy="4977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514350" y="4238588"/>
            <a:ext cx="8115300" cy="7144"/>
          </a:xfrm>
          <a:prstGeom prst="rect">
            <a:avLst/>
          </a:prstGeom>
          <a:solidFill>
            <a:srgbClr val="E99E95"/>
          </a:solidFill>
          <a:ln/>
        </p:spPr>
      </p:sp>
      <p:sp>
        <p:nvSpPr>
          <p:cNvPr id="33" name="Text 30"/>
          <p:cNvSpPr/>
          <p:nvPr/>
        </p:nvSpPr>
        <p:spPr>
          <a:xfrm>
            <a:off x="514350" y="4367175"/>
            <a:ext cx="2035969" cy="3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RULE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550319" y="4367175"/>
            <a:ext cx="5715000" cy="3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1000" dirty="0">
                <a:solidFill>
                  <a:srgbClr val="DFD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result may </a:t>
            </a:r>
            <a:r>
              <a:rPr lang="en-US" sz="9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r>
              <a:rPr lang="en-US" sz="1000" dirty="0">
                <a:solidFill>
                  <a:srgbClr val="DFD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r>
              <a:rPr lang="en-US" sz="1000" dirty="0">
                <a:solidFill>
                  <a:srgbClr val="DFD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remain </a:t>
            </a:r>
            <a:r>
              <a:rPr lang="en-US" sz="950" b="1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</a:t>
            </a:r>
            <a:r>
              <a:rPr lang="en-US" sz="1000" dirty="0">
                <a:solidFill>
                  <a:srgbClr val="DFD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outcome is informative; none alone </a:t>
            </a:r>
            <a:r>
              <a:rPr lang="en-US" sz="1000" dirty="0">
                <a:solidFill>
                  <a:srgbClr val="DFD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the true geometry of language, mind, or reality.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4350" y="4822031"/>
            <a:ext cx="564328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858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CLAIM = SPECIFIED REPRESENTATION + SPECIFIED DATA + SPECIFIED TASK + SPECIFIED COMPARISON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85788"/>
            <a:ext cx="35718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PRINCIPLE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828675"/>
            <a:ext cx="3571875" cy="787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850" spc="-1" kern="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exploration is the path forward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14350" y="1809043"/>
            <a:ext cx="3286125" cy="590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B7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pilot did not support its hyperbolic candidate. That is not a dead end: it is the first evidence record in a system designed to learn without pretending.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14350" y="2720876"/>
            <a:ext cx="2928938" cy="839391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2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“Preserve ambition. Demand evidence. Keep the meaning of every result honest.”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7738" y="685800"/>
            <a:ext cx="3871913" cy="33718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757738" y="685800"/>
            <a:ext cx="3871913" cy="7144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9" name="Text 6"/>
          <p:cNvSpPr/>
          <p:nvPr/>
        </p:nvSpPr>
        <p:spPr>
          <a:xfrm>
            <a:off x="4757738" y="685800"/>
            <a:ext cx="3871913" cy="221456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AB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IMPLEMENTATION PATH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757738" y="1021556"/>
            <a:ext cx="400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157788" y="1021556"/>
            <a:ext cx="3214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experiment schemas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57788" y="1196578"/>
            <a:ext cx="32146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hypotheses, datasets, splits, metrics, budgets, non-claims, manifests, and tamper fixtures.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757738" y="1593056"/>
            <a:ext cx="400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157788" y="1593056"/>
            <a:ext cx="3214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candidates in quarantine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157788" y="1768078"/>
            <a:ext cx="32146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bounded evaluators with read-only inputs, no release-key access, and independently recomputed results.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757738" y="2164556"/>
            <a:ext cx="400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157788" y="2164556"/>
            <a:ext cx="3214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matched controls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157788" y="2339578"/>
            <a:ext cx="32146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Euclidean, random, and equally expressive non-E8 alternatives before a geometry claim advances.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57738" y="2736056"/>
            <a:ext cx="400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157788" y="2736056"/>
            <a:ext cx="3214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negative cases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157788" y="2911078"/>
            <a:ext cx="32146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failures, limits, and uncertainty visible so the research portfolio accumulates knowledge instead of folklore.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57738" y="3307556"/>
            <a:ext cx="400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D64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157788" y="3307556"/>
            <a:ext cx="3214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C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 only scoped experiments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157788" y="3482578"/>
            <a:ext cx="3214688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AE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replication and accountable review can admit an experimental adapter—never a final theory verdict.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14350" y="4121944"/>
            <a:ext cx="8115300" cy="6072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14350" y="4121944"/>
            <a:ext cx="8115300" cy="7144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27" name="Text 24"/>
          <p:cNvSpPr/>
          <p:nvPr/>
        </p:nvSpPr>
        <p:spPr>
          <a:xfrm>
            <a:off x="514350" y="4121944"/>
            <a:ext cx="8115300" cy="60721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300" dirty="0">
                <a:solidFill>
                  <a:srgbClr val="D64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project can now say:</a:t>
            </a:r>
            <a:r>
              <a:rPr lang="en-US" sz="130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declared question was tested, this is the evidence, this is the limit, and this is the </a:t>
            </a:r>
            <a:r>
              <a:rPr lang="en-US" sz="1300" dirty="0">
                <a:solidFill>
                  <a:srgbClr val="F0E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responsible question.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4350" y="4807744"/>
            <a:ext cx="294936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838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ENGINE · EVIDENCE BEFORE INTERPRETATION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2026-08-19T11:54:15Z</dcterms:created>
  <dcterms:modified xsi:type="dcterms:W3CDTF">2026-08-19T11:54:15Z</dcterms:modified>
</cp:coreProperties>
</file>