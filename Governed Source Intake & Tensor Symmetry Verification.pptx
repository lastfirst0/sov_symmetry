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4375"/>
            <a:ext cx="42862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2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SOVEREIGN ENGINE / ASSURANCE BRIEF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71500" y="1021556"/>
            <a:ext cx="4286250" cy="1359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3200"/>
              </a:lnSpc>
              <a:buNone/>
            </a:pPr>
            <a:r>
              <a:rPr lang="en-US" sz="3150" b="1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Governed Source </a:t>
            </a:r>
            <a:r>
              <a:rPr lang="en-US" sz="3150" b="1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Intake</a:t>
            </a:r>
            <a:r>
              <a:rPr lang="en-US" sz="3150" b="1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
</a:t>
            </a:r>
            <a:r>
              <a:rPr lang="en-US" sz="3150" b="1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</a:t>
            </a:r>
            <a:r>
              <a:rPr lang="en-US" sz="3150" b="1" i="1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 Symmetry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71500" y="2581126"/>
            <a:ext cx="4286250" cy="465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protected source bytes to a bounded, replayable structural receipt.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3474765"/>
            <a:ext cx="4286250" cy="407194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SCOPE: source retention · declared schema · finite predicate</a:t>
            </a:r>
            <a:r>
              <a:rPr lang="en-US" sz="75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75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NOT A THEORY, SEMANTIC, OR EMPIRICAL VERDICT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6000750" y="678656"/>
            <a:ext cx="2571750" cy="36433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000750" y="678656"/>
            <a:ext cx="7144" cy="3643313"/>
          </a:xfrm>
          <a:prstGeom prst="rect">
            <a:avLst/>
          </a:prstGeom>
          <a:solidFill>
            <a:srgbClr val="E75D4F"/>
          </a:solidFill>
          <a:ln/>
        </p:spPr>
      </p:sp>
      <p:sp>
        <p:nvSpPr>
          <p:cNvPr id="9" name="Text 6"/>
          <p:cNvSpPr/>
          <p:nvPr/>
        </p:nvSpPr>
        <p:spPr>
          <a:xfrm>
            <a:off x="7849530" y="678656"/>
            <a:ext cx="72297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Tᵢⱼₖ = Tᵢₖⱼ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229350" y="1250156"/>
            <a:ext cx="50006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0D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793706" y="1250156"/>
            <a:ext cx="500063" cy="500063"/>
          </a:xfrm>
          <a:prstGeom prst="rect">
            <a:avLst/>
          </a:prstGeom>
          <a:solidFill>
            <a:srgbClr val="26353A"/>
          </a:solidFill>
          <a:ln w="9144">
            <a:solidFill>
              <a:srgbClr val="E75D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93706" y="1250156"/>
            <a:ext cx="50006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358063" y="1250156"/>
            <a:ext cx="50006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0D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29350" y="1814513"/>
            <a:ext cx="500063" cy="500063"/>
          </a:xfrm>
          <a:prstGeom prst="rect">
            <a:avLst/>
          </a:prstGeom>
          <a:solidFill>
            <a:srgbClr val="26353A"/>
          </a:solidFill>
          <a:ln w="9144">
            <a:solidFill>
              <a:srgbClr val="E75D4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29350" y="1814513"/>
            <a:ext cx="50006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793706" y="1814513"/>
            <a:ext cx="50006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0D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358063" y="1814513"/>
            <a:ext cx="50006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0D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29350" y="2378869"/>
            <a:ext cx="50006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0D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793706" y="2378869"/>
            <a:ext cx="50006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0D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358063" y="2378869"/>
            <a:ext cx="500063" cy="50006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D9E0D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229350" y="3057525"/>
            <a:ext cx="2343150" cy="473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65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 finite slice can be inspected exactly. Authority remains with the deterministic verifier.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85775"/>
            <a:ext cx="8572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OPERATING PRINCIPLE / SEPARATE AUTHORITY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71500" y="742950"/>
            <a:ext cx="8001000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file. Three different decisions.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71500" y="1532334"/>
            <a:ext cx="8001000" cy="27289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532334"/>
            <a:ext cx="8001000" cy="7144"/>
          </a:xfrm>
          <a:prstGeom prst="rect">
            <a:avLst/>
          </a:prstGeom>
          <a:solidFill>
            <a:srgbClr val="506069"/>
          </a:solidFill>
          <a:ln/>
        </p:spPr>
      </p:sp>
      <p:sp>
        <p:nvSpPr>
          <p:cNvPr id="7" name="Text 4"/>
          <p:cNvSpPr/>
          <p:nvPr/>
        </p:nvSpPr>
        <p:spPr>
          <a:xfrm>
            <a:off x="842963" y="1782366"/>
            <a:ext cx="21168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 / RETAIN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42963" y="2103834"/>
            <a:ext cx="2116894" cy="507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store these bytes?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42963" y="2739628"/>
            <a:ext cx="21168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Owner-gated intake accepts a declared source only after protected transport and storage checks.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42963" y="3618309"/>
            <a:ext cx="21168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spc="1" kern="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OUTPUT → SOURCE RECORD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509925" y="1782366"/>
            <a:ext cx="21169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 / VALIDATE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509925" y="2103834"/>
            <a:ext cx="2116950" cy="507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file match its declared schema?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3509925" y="2739628"/>
            <a:ext cx="21169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pure validator checks finite structure, identifiers, coordinates, and count invariants.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509925" y="3618309"/>
            <a:ext cx="21169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spc="1" kern="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OUTPUT → ACCEPTED / REJECTED REPORT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76944" y="1782366"/>
            <a:ext cx="21240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 / REVIEW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76944" y="2103834"/>
            <a:ext cx="2124094" cy="507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source metadata be published?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176944" y="2739628"/>
            <a:ext cx="212409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existing independent review gate evaluates a proposed archive record separately.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176944" y="3618309"/>
            <a:ext cx="21240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spc="1" kern="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OUTPUT → REVIEW DECISION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71500" y="4504134"/>
            <a:ext cx="8001000" cy="28217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71500" y="4504134"/>
            <a:ext cx="8001000" cy="7144"/>
          </a:xfrm>
          <a:prstGeom prst="rect">
            <a:avLst/>
          </a:prstGeom>
          <a:solidFill>
            <a:srgbClr val="273840"/>
          </a:solidFill>
          <a:ln/>
        </p:spPr>
      </p:sp>
      <p:sp>
        <p:nvSpPr>
          <p:cNvPr id="21" name="Text 18"/>
          <p:cNvSpPr/>
          <p:nvPr/>
        </p:nvSpPr>
        <p:spPr>
          <a:xfrm>
            <a:off x="571500" y="4504134"/>
            <a:ext cx="8001000" cy="282178"/>
          </a:xfrm>
          <a:prstGeom prst="rect">
            <a:avLst/>
          </a:prstGeom>
          <a:noFill/>
          <a:ln/>
        </p:spPr>
        <p:txBody>
          <a:bodyPr wrap="square" lIns="0" tIns="15303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NONE OF THESE OUTPUTS IS A SCIENTIFIC, SEMANTIC, OR THEORY-LEVEL VERDICT.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42913"/>
            <a:ext cx="8001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GOVERNED INTAKE / SERVER-ONLY CREDENTIALS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71500" y="692944"/>
            <a:ext cx="8001000" cy="370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26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browser selects. The server decides.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71500" y="1148972"/>
            <a:ext cx="5429250" cy="55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declared JSON bytes cross a protected server boundary before managed retention. Source acceptance is structurally bounded and is never an archive-publication or evidence verdict.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215400"/>
            <a:ext cx="1775222" cy="1657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spc="1" kern="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CLIENT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495401"/>
            <a:ext cx="1775222" cy="221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 selection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71500" y="2802917"/>
            <a:ext cx="1775222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declared JSON source role and one local file.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346722" y="2008231"/>
            <a:ext cx="300038" cy="771525"/>
          </a:xfrm>
          <a:prstGeom prst="rect">
            <a:avLst/>
          </a:prstGeom>
          <a:noFill/>
          <a:ln/>
        </p:spPr>
        <p:txBody>
          <a:bodyPr wrap="none" lIns="0" tIns="595376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2646759" y="2215400"/>
            <a:ext cx="1775222" cy="1657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spc="1" kern="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PROTECTED SERVER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646759" y="2495401"/>
            <a:ext cx="1775222" cy="221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Owner-gated route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2646759" y="2802917"/>
            <a:ext cx="1775222" cy="49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request, cap size, parse bytes, validate schema, compute SHA-256.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421981" y="2008231"/>
            <a:ext cx="300038" cy="771525"/>
          </a:xfrm>
          <a:prstGeom prst="rect">
            <a:avLst/>
          </a:prstGeom>
          <a:noFill/>
          <a:ln/>
        </p:spPr>
        <p:txBody>
          <a:bodyPr wrap="none" lIns="0" tIns="595376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4722019" y="2215400"/>
            <a:ext cx="1775222" cy="1657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spc="1" kern="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PROTECTED SERVER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722019" y="2495401"/>
            <a:ext cx="1775222" cy="221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Generated key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722019" y="2802917"/>
            <a:ext cx="1775222" cy="49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server—not the browser—chooses the object key and content type.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497241" y="2008231"/>
            <a:ext cx="300038" cy="771525"/>
          </a:xfrm>
          <a:prstGeom prst="rect">
            <a:avLst/>
          </a:prstGeom>
          <a:noFill/>
          <a:ln/>
        </p:spPr>
        <p:txBody>
          <a:bodyPr wrap="none" lIns="0" tIns="595376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6797278" y="2215400"/>
            <a:ext cx="1775222" cy="1657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spc="1" kern="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MANAGED STORAGE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797278" y="2495401"/>
            <a:ext cx="1775222" cy="221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4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 + intake record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797278" y="2802917"/>
            <a:ext cx="1775222" cy="49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bytes; persist URL, digest, report, actor, and time in durable metadata.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71500" y="3651293"/>
            <a:ext cx="37433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never receives:</a:t>
            </a:r>
            <a:r>
              <a:rPr lang="en-US" sz="850" dirty="0">
                <a:solidFill>
                  <a:srgbClr val="D2D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object-store credentials or final object-key </a:t>
            </a:r>
            <a:r>
              <a:rPr lang="en-US" sz="850" dirty="0">
                <a:solidFill>
                  <a:srgbClr val="D2D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22031" y="3651293"/>
            <a:ext cx="375046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never means:</a:t>
            </a:r>
            <a:r>
              <a:rPr lang="en-US" sz="850" dirty="0">
                <a:solidFill>
                  <a:srgbClr val="D2D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verified evidence, publication, or an interpretive </a:t>
            </a:r>
            <a:r>
              <a:rPr lang="en-US" sz="850" dirty="0">
                <a:solidFill>
                  <a:srgbClr val="D2DA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71500" y="4187075"/>
            <a:ext cx="80010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9C8A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/manus-storage/{server-issued-key}</a:t>
            </a:r>
            <a:r>
              <a:rPr lang="en-US" sz="75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becomes a provenance pointer only after a durable intake record exists.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42913"/>
            <a:ext cx="8001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SOURCE INTAKE / FAILURE IS AN EXPLICIT STATE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71500" y="692944"/>
            <a:ext cx="8001000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 closed before retention.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71500" y="1182291"/>
            <a:ext cx="80010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gate rejects a defined invalid condition before it can become a governed source reference.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1685925"/>
            <a:ext cx="99521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Authorization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" y="1875234"/>
            <a:ext cx="2928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or invalid owner authority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500438" y="1771650"/>
            <a:ext cx="8572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REJECT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4357688" y="1763613"/>
            <a:ext cx="42148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C9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ungoverned source intake and blocks untrusted actors before file parsing.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71500" y="2200275"/>
            <a:ext cx="102535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Format &amp; size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71500" y="2389584"/>
            <a:ext cx="2928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role, filename, MIME, empty or oversized bytes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3500438" y="2286000"/>
            <a:ext cx="8572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REJECT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4357688" y="2277963"/>
            <a:ext cx="42148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C9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source substitution, unsafe path input, and resource-abuse payloads.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71500" y="2714625"/>
            <a:ext cx="124736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· Declared structure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71500" y="2903934"/>
            <a:ext cx="2928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Malformed JSON, invalid URIs, coordinates, or letters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3500438" y="2800350"/>
            <a:ext cx="8572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REJECT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357688" y="2792313"/>
            <a:ext cx="42148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C9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Preserves the declared finite grammar; an invalid source is not silently normalized.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71500" y="3228975"/>
            <a:ext cx="117972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Managed storage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1500" y="3418284"/>
            <a:ext cx="2928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failure or malformed provider response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500438" y="3314700"/>
            <a:ext cx="8572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REJECT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4357688" y="3306663"/>
            <a:ext cx="421481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C9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Avoids presenting a source pointer when exact bytes were not retained successfully.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71500" y="3743325"/>
            <a:ext cx="148500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· Durable intake linkage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71500" y="3932634"/>
            <a:ext cx="292893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result and durable metadata row agree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500438" y="3829050"/>
            <a:ext cx="8572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A9C8A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RETAIN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4357688" y="3748683"/>
            <a:ext cx="4214813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this state yields a traceable source record.</a:t>
            </a:r>
            <a:r>
              <a:rPr lang="en-US" sz="800" dirty="0">
                <a:solidFill>
                  <a:srgbClr val="C9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Publication remains a separate </a:t>
            </a:r>
            <a:r>
              <a:rPr lang="en-US" sz="800" dirty="0">
                <a:solidFill>
                  <a:srgbClr val="C9D2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decision.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71500" y="4446984"/>
            <a:ext cx="517068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REJECTED INPUT → NO PUBLIC RECORD · NO AUTOMATIC VERDICT · NO SILENT FALLBACK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71500" y="4714875"/>
            <a:ext cx="80010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AB7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governs bytes and declared structure only. It does not interpret corpus content or establish a research conclusion.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001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LIVING WORD SOURCE GATE / OBSERVED TEST RUN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71500" y="714375"/>
            <a:ext cx="800100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structural checks passed.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571500" y="1185863"/>
            <a:ext cx="8001000" cy="1799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supplied files met the declared source-format contract. The result is a structural acceptance record, not an interpretation of the texts.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1858770"/>
            <a:ext cx="20716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PYTEST RESULT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71500" y="2058795"/>
            <a:ext cx="2071688" cy="6557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56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15/15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71500" y="2800294"/>
            <a:ext cx="207168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spc="1" kern="0" dirty="0">
                <a:solidFill>
                  <a:srgbClr val="A9C8A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 · 0 SKIPPED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71500" y="3271782"/>
            <a:ext cx="2071688" cy="7749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Observed suite runtime</a:t>
            </a:r>
            <a:r>
              <a:rPr lang="en-US" sz="75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75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0.81 seconds</a:t>
            </a:r>
            <a:r>
              <a:rPr lang="en-US" sz="75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75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Files installed at the legacy </a:t>
            </a:r>
            <a:r>
              <a:rPr lang="en-US" sz="75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runtime’s expected source paths.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986088" y="1803406"/>
            <a:ext cx="153590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DECLARED SOURCE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4664869" y="1803406"/>
            <a:ext cx="75009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RESULT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5557838" y="1803406"/>
            <a:ext cx="30146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STRUCTURAL CHECKS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2986088" y="2253462"/>
            <a:ext cx="153590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Genesis OSHB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664869" y="2237389"/>
            <a:ext cx="7500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8A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 / 6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557838" y="2199884"/>
            <a:ext cx="3014663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· JSON parse · ≥8,086 words · URI and letter grammar · opening record · no empty surfaces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986088" y="2832106"/>
            <a:ext cx="153590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John SBLGNT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664869" y="2816033"/>
            <a:ext cx="7500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8A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 / 6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557838" y="2778528"/>
            <a:ext cx="3014663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· JSON parse · ≥15,438 words · URI and letter grammar · opening record · no empty surfaces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986088" y="3410750"/>
            <a:ext cx="153590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URI protocol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664869" y="3394677"/>
            <a:ext cx="75009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C8A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 / 3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557838" y="3357172"/>
            <a:ext cx="3014663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URI round-trip · letter URI round-trip · deterministic 64-character fingerprint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71500" y="4439617"/>
            <a:ext cx="1357313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INTERPRETATION BOUNDARY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2107406" y="4439617"/>
            <a:ext cx="6465094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D2D9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confirms only that these supplied bytes conform to declared data structure and protocol expectations. It does not establish semantic, theological, historical, empirical, medical, or theory-level claims.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572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SOURCE-INTAKE VALIDATOR / NEGATIVE CONTRACT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71500" y="707231"/>
            <a:ext cx="8001000" cy="3548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25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tests </a:t>
            </a:r>
            <a:r>
              <a:rPr lang="en-US" sz="2500" i="1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</a:t>
            </a:r>
            <a:r>
              <a:rPr lang="en-US" sz="25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contract.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71500" y="1312162"/>
            <a:ext cx="5572125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source is accepted only after named rejection boundaries have been exercised. Each failure has a precise code, a narrow scope, and no implied interpretation.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7286625" y="478631"/>
            <a:ext cx="1285875" cy="6000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286625" y="478631"/>
            <a:ext cx="1285875" cy="14288"/>
          </a:xfrm>
          <a:prstGeom prst="rect">
            <a:avLst/>
          </a:prstGeom>
          <a:solidFill>
            <a:srgbClr val="E75D4F"/>
          </a:solidFill>
          <a:ln/>
        </p:spPr>
      </p:sp>
      <p:sp>
        <p:nvSpPr>
          <p:cNvPr id="8" name="Text 5"/>
          <p:cNvSpPr/>
          <p:nvPr/>
        </p:nvSpPr>
        <p:spPr>
          <a:xfrm>
            <a:off x="7286625" y="478631"/>
            <a:ext cx="1285875" cy="600075"/>
          </a:xfrm>
          <a:prstGeom prst="rect">
            <a:avLst/>
          </a:prstGeom>
          <a:noFill/>
          <a:ln/>
        </p:spPr>
        <p:txBody>
          <a:bodyPr wrap="square" lIns="0" tIns="93599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FAIL CLOSED</a:t>
            </a:r>
            <a:r>
              <a:rPr lang="en-US" sz="60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BEFORE STORAGE</a:t>
            </a:r>
            <a:r>
              <a:rPr lang="en-US" sz="60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0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BEFORE PUBLICATION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571500" y="1935007"/>
            <a:ext cx="8001000" cy="22645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1935007"/>
            <a:ext cx="8001000" cy="7144"/>
          </a:xfrm>
          <a:prstGeom prst="rect">
            <a:avLst/>
          </a:prstGeom>
          <a:solidFill>
            <a:srgbClr val="65757D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4192432"/>
            <a:ext cx="8001000" cy="7144"/>
          </a:xfrm>
          <a:prstGeom prst="rect">
            <a:avLst/>
          </a:prstGeom>
          <a:solidFill>
            <a:srgbClr val="384951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242189"/>
            <a:ext cx="13930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 / METADATA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964531" y="2215400"/>
            <a:ext cx="49291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0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 source role </a:t>
            </a:r>
            <a:r>
              <a:rPr lang="en-US" sz="900" dirty="0">
                <a:solidFill>
                  <a:srgbClr val="9FB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900" dirty="0">
                <a:solidFill>
                  <a:srgbClr val="E0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unsafe filename </a:t>
            </a:r>
            <a:r>
              <a:rPr lang="en-US" sz="900" dirty="0">
                <a:solidFill>
                  <a:srgbClr val="9FB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900" dirty="0">
                <a:solidFill>
                  <a:srgbClr val="E0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role/file mismatch </a:t>
            </a:r>
            <a:r>
              <a:rPr lang="en-US" sz="900" dirty="0">
                <a:solidFill>
                  <a:srgbClr val="9FB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900" dirty="0">
                <a:solidFill>
                  <a:srgbClr val="E0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empty or oversized bytes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812360" y="2151106"/>
            <a:ext cx="7601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B7C5B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INPUT REJECTED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7440885" y="2326128"/>
            <a:ext cx="11316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E_CORPUS_*_INVALID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571500" y="2992282"/>
            <a:ext cx="13930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 / PAYLOAD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1964531" y="2965493"/>
            <a:ext cx="49291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0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Malformed JSON </a:t>
            </a:r>
            <a:r>
              <a:rPr lang="en-US" sz="900" dirty="0">
                <a:solidFill>
                  <a:srgbClr val="9FB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900" dirty="0">
                <a:solidFill>
                  <a:srgbClr val="E0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non-array root </a:t>
            </a:r>
            <a:r>
              <a:rPr lang="en-US" sz="900" dirty="0">
                <a:solidFill>
                  <a:srgbClr val="9FB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900" dirty="0">
                <a:solidFill>
                  <a:srgbClr val="E0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below word floor </a:t>
            </a:r>
            <a:r>
              <a:rPr lang="en-US" sz="900" dirty="0">
                <a:solidFill>
                  <a:srgbClr val="9FB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900" dirty="0">
                <a:solidFill>
                  <a:srgbClr val="E0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missing required word fields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03809" y="2901200"/>
            <a:ext cx="86869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B7C5B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PAYLOAD REJECTED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7252302" y="3076222"/>
            <a:ext cx="132019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E_CORPUS_JSON_INVALID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71500" y="3745948"/>
            <a:ext cx="139303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 / STRUCTURE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1964531" y="3628076"/>
            <a:ext cx="49291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0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URI grammar </a:t>
            </a:r>
            <a:r>
              <a:rPr lang="en-US" sz="900" dirty="0">
                <a:solidFill>
                  <a:srgbClr val="9FB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900" dirty="0">
                <a:solidFill>
                  <a:srgbClr val="E0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invalid coordinates </a:t>
            </a:r>
            <a:r>
              <a:rPr lang="en-US" sz="900" dirty="0">
                <a:solidFill>
                  <a:srgbClr val="9FB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900" dirty="0">
                <a:solidFill>
                  <a:srgbClr val="E0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empty letters </a:t>
            </a:r>
            <a:r>
              <a:rPr lang="en-US" sz="900" dirty="0">
                <a:solidFill>
                  <a:srgbClr val="9FB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900" dirty="0">
                <a:solidFill>
                  <a:srgbClr val="E0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malformed character </a:t>
            </a:r>
            <a:r>
              <a:rPr lang="en-US" sz="900" dirty="0">
                <a:solidFill>
                  <a:srgbClr val="9FB0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r>
              <a:rPr lang="en-US" sz="900" dirty="0">
                <a:solidFill>
                  <a:srgbClr val="E0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count </a:t>
            </a:r>
            <a:r>
              <a:rPr lang="en-US" sz="900" dirty="0">
                <a:solidFill>
                  <a:srgbClr val="E0E5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mismatch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758113" y="3654865"/>
            <a:ext cx="8143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B7C5B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SCHEMA REJECTED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7378043" y="3829887"/>
            <a:ext cx="11944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E_CORPUS_*_MISMATCH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71500" y="4378170"/>
            <a:ext cx="2428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64000"/>
              </a:lnSpc>
              <a:buNone/>
            </a:pPr>
            <a:r>
              <a:rPr lang="en-US" sz="1600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≠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921544" y="4378170"/>
            <a:ext cx="7650956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b="1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Accepted</a:t>
            </a:r>
            <a:r>
              <a:rPr lang="en-US" sz="85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means the supplied bytes match a declared structural schema. It does </a:t>
            </a:r>
            <a:r>
              <a:rPr lang="en-US" sz="800" b="1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not</a:t>
            </a:r>
            <a:r>
              <a:rPr lang="en-US" sz="85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mean verified evidence, </a:t>
            </a:r>
            <a:r>
              <a:rPr lang="en-US" sz="85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publication approval, or a theory-level result.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5725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UNIVERSAL KERNEL / DECLARED FINITE PREDICATE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71500" y="714375"/>
            <a:ext cx="8001000" cy="3626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25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declared </a:t>
            </a:r>
            <a:r>
              <a:rPr lang="en-US" sz="2550" i="1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tensor predicate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571500" y="1655620"/>
            <a:ext cx="47148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FINAL-INDEX SYMMETRY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571500" y="1991376"/>
            <a:ext cx="273360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50" spc="1" kern="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3350" dirty="0"/>
          </a:p>
        </p:txBody>
      </p:sp>
      <p:sp>
        <p:nvSpPr>
          <p:cNvPr id="7" name="Text 4"/>
          <p:cNvSpPr/>
          <p:nvPr/>
        </p:nvSpPr>
        <p:spPr>
          <a:xfrm>
            <a:off x="844860" y="2142790"/>
            <a:ext cx="600633" cy="40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50" baseline="-40000" spc="1" kern="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j k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1561579" y="1991376"/>
            <a:ext cx="252933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50" spc="1" kern="0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n-US" sz="3350" dirty="0"/>
          </a:p>
        </p:txBody>
      </p:sp>
      <p:sp>
        <p:nvSpPr>
          <p:cNvPr id="9" name="Text 6"/>
          <p:cNvSpPr/>
          <p:nvPr/>
        </p:nvSpPr>
        <p:spPr>
          <a:xfrm>
            <a:off x="1814513" y="1991376"/>
            <a:ext cx="381577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50" spc="1" kern="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3350" dirty="0"/>
          </a:p>
        </p:txBody>
      </p:sp>
      <p:sp>
        <p:nvSpPr>
          <p:cNvPr id="10" name="Text 7"/>
          <p:cNvSpPr/>
          <p:nvPr/>
        </p:nvSpPr>
        <p:spPr>
          <a:xfrm>
            <a:off x="2196089" y="2142790"/>
            <a:ext cx="600633" cy="40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750" baseline="-40000" spc="1" kern="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k j</a:t>
            </a:r>
            <a:endParaRPr lang="en-US" sz="2750" dirty="0"/>
          </a:p>
        </p:txBody>
      </p:sp>
      <p:sp>
        <p:nvSpPr>
          <p:cNvPr id="11" name="Text 8"/>
          <p:cNvSpPr/>
          <p:nvPr/>
        </p:nvSpPr>
        <p:spPr>
          <a:xfrm>
            <a:off x="571500" y="2753581"/>
            <a:ext cx="4071938" cy="4228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8400"/>
              </a:lnSpc>
              <a:buNone/>
            </a:pPr>
            <a:r>
              <a:rPr lang="en-US" sz="10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fixed first index </a:t>
            </a:r>
            <a:r>
              <a:rPr lang="en-US" sz="1050" i="1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0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swapping only the final two indices </a:t>
            </a:r>
            <a:r>
              <a:rPr lang="en-US" sz="10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preserve the declared component value.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1500" y="3447864"/>
            <a:ext cx="4714875" cy="509997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750" dirty="0">
                <a:solidFill>
                  <a:srgbClr val="C9D1C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DOMAIN: a finite rank-three numeric array</a:t>
            </a:r>
            <a:r>
              <a:rPr lang="en-US" sz="750" dirty="0">
                <a:solidFill>
                  <a:srgbClr val="C9D1C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750" dirty="0">
                <a:solidFill>
                  <a:srgbClr val="C9D1C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SHAPE: (d₀, n, n)</a:t>
            </a:r>
            <a:r>
              <a:rPr lang="en-US" sz="750" dirty="0">
                <a:solidFill>
                  <a:srgbClr val="C9D1C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750" dirty="0">
                <a:solidFill>
                  <a:srgbClr val="C9D1C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COMPARISON: exact equality of supplied components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643563" y="1655620"/>
            <a:ext cx="292893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FIX i · COMPARE MIRRORED FINAL-INDEX PAIRS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650706" y="2229241"/>
            <a:ext cx="298642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7DED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Tᵢ₀₀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49348" y="2229241"/>
            <a:ext cx="291498" cy="392906"/>
          </a:xfrm>
          <a:prstGeom prst="rect">
            <a:avLst/>
          </a:prstGeom>
          <a:solidFill>
            <a:srgbClr val="3A2929"/>
          </a:solidFill>
          <a:ln/>
        </p:spPr>
      </p:sp>
      <p:sp>
        <p:nvSpPr>
          <p:cNvPr id="16" name="Shape 13"/>
          <p:cNvSpPr/>
          <p:nvPr/>
        </p:nvSpPr>
        <p:spPr>
          <a:xfrm>
            <a:off x="5949348" y="2615003"/>
            <a:ext cx="291498" cy="7144"/>
          </a:xfrm>
          <a:prstGeom prst="rect">
            <a:avLst/>
          </a:prstGeom>
          <a:solidFill>
            <a:srgbClr val="52626A"/>
          </a:solidFill>
          <a:ln/>
        </p:spPr>
      </p:sp>
      <p:sp>
        <p:nvSpPr>
          <p:cNvPr id="17" name="Text 14"/>
          <p:cNvSpPr/>
          <p:nvPr/>
        </p:nvSpPr>
        <p:spPr>
          <a:xfrm>
            <a:off x="5949348" y="2229241"/>
            <a:ext cx="291498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Tᵢ₀₁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650706" y="2622147"/>
            <a:ext cx="298642" cy="392906"/>
          </a:xfrm>
          <a:prstGeom prst="rect">
            <a:avLst/>
          </a:prstGeom>
          <a:solidFill>
            <a:srgbClr val="3A2929"/>
          </a:solidFill>
          <a:ln/>
        </p:spPr>
      </p:sp>
      <p:sp>
        <p:nvSpPr>
          <p:cNvPr id="19" name="Shape 16"/>
          <p:cNvSpPr/>
          <p:nvPr/>
        </p:nvSpPr>
        <p:spPr>
          <a:xfrm>
            <a:off x="5942205" y="2622147"/>
            <a:ext cx="7144" cy="392906"/>
          </a:xfrm>
          <a:prstGeom prst="rect">
            <a:avLst/>
          </a:prstGeom>
          <a:solidFill>
            <a:srgbClr val="52626A"/>
          </a:solidFill>
          <a:ln/>
        </p:spPr>
      </p:sp>
      <p:sp>
        <p:nvSpPr>
          <p:cNvPr id="20" name="Text 17"/>
          <p:cNvSpPr/>
          <p:nvPr/>
        </p:nvSpPr>
        <p:spPr>
          <a:xfrm>
            <a:off x="5650706" y="2622147"/>
            <a:ext cx="298642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Tᵢ₁₀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9348" y="2622147"/>
            <a:ext cx="291498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7DED8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Tᵢ₁₁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376578" y="2486416"/>
            <a:ext cx="235744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↔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6740909" y="2137823"/>
            <a:ext cx="10911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850019" y="2209260"/>
            <a:ext cx="19014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aseline="-40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i01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040166" y="2137823"/>
            <a:ext cx="29590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T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336073" y="2209260"/>
            <a:ext cx="19014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aseline="-400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i10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740909" y="2534301"/>
            <a:ext cx="1831591" cy="575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65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The diagonal is unchanged by the </a:t>
            </a:r>
            <a:r>
              <a:rPr lang="en-US" sz="65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swap.</a:t>
            </a:r>
            <a:r>
              <a:rPr lang="en-US" sz="65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65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Only one off-diagonal triangle </a:t>
            </a:r>
            <a:r>
              <a:rPr lang="en-US" sz="65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needs testing.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643563" y="3281493"/>
            <a:ext cx="292893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fixed-</a:t>
            </a:r>
            <a:r>
              <a:rPr lang="en-US" sz="900" i="1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9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slice behaves as a symmetric matrix in </a:t>
            </a:r>
            <a:r>
              <a:rPr lang="en-US" sz="9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r>
              <a:rPr lang="en-US" sz="900" i="1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j,k</a:t>
            </a:r>
            <a:r>
              <a:rPr lang="en-US" sz="9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coordinates.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71500" y="4265042"/>
            <a:ext cx="8001000" cy="62150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71500" y="4265042"/>
            <a:ext cx="8001000" cy="7144"/>
          </a:xfrm>
          <a:prstGeom prst="rect">
            <a:avLst/>
          </a:prstGeom>
          <a:solidFill>
            <a:srgbClr val="65747B"/>
          </a:solidFill>
          <a:ln/>
        </p:spPr>
      </p:sp>
      <p:sp>
        <p:nvSpPr>
          <p:cNvPr id="31" name="Text 28"/>
          <p:cNvSpPr/>
          <p:nvPr/>
        </p:nvSpPr>
        <p:spPr>
          <a:xfrm>
            <a:off x="571500" y="4393629"/>
            <a:ext cx="383976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WHAT IT ESTABLISHES</a:t>
            </a:r>
            <a:endParaRPr lang="en-US" sz="650" dirty="0"/>
          </a:p>
        </p:txBody>
      </p:sp>
      <p:sp>
        <p:nvSpPr>
          <p:cNvPr id="32" name="Text 29"/>
          <p:cNvSpPr/>
          <p:nvPr/>
        </p:nvSpPr>
        <p:spPr>
          <a:xfrm>
            <a:off x="571500" y="4579367"/>
            <a:ext cx="315692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the supplied finite values satisfy this one equality relation.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732734" y="4393629"/>
            <a:ext cx="383976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WHAT IT DOES NOT ESTABLISH</a:t>
            </a:r>
            <a:endParaRPr lang="en-US" sz="650" dirty="0"/>
          </a:p>
        </p:txBody>
      </p:sp>
      <p:sp>
        <p:nvSpPr>
          <p:cNvPr id="34" name="Text 31"/>
          <p:cNvSpPr/>
          <p:nvPr/>
        </p:nvSpPr>
        <p:spPr>
          <a:xfrm>
            <a:off x="4732734" y="4579367"/>
            <a:ext cx="363706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physical tensor field, coordinate invariance, full permutation symmetry, or a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732734" y="4740101"/>
            <a:ext cx="1119783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theory-level conclusion.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71488"/>
            <a:ext cx="8001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FINITE PREDICATE / FAILURE WITNESS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71500" y="714375"/>
            <a:ext cx="8001000" cy="370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26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failure produces </a:t>
            </a:r>
            <a:r>
              <a:rPr lang="en-US" sz="2600" i="1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witness.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71500" y="1206122"/>
            <a:ext cx="4643438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verifier reports the exact pair that violates the declared final-index symmetry. It does not infer a cause beyond the supplied finite values.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2270540"/>
            <a:ext cx="2500313" cy="188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spc="2" kern="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DECLARED RELATION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1500" y="2698049"/>
            <a:ext cx="7422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B9C3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5728" y="2743758"/>
            <a:ext cx="15744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3971"/>
              </a:lnSpc>
              <a:buNone/>
            </a:pPr>
            <a:r>
              <a:rPr lang="en-US" sz="750" baseline="-40000" dirty="0">
                <a:solidFill>
                  <a:srgbClr val="B9C3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j k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803170" y="2698049"/>
            <a:ext cx="20125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B9C3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04422" y="2743758"/>
            <a:ext cx="15744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3971"/>
              </a:lnSpc>
              <a:buNone/>
            </a:pPr>
            <a:r>
              <a:rPr lang="en-US" sz="750" baseline="-40000" dirty="0">
                <a:solidFill>
                  <a:srgbClr val="B9C3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k j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71500" y="3093467"/>
            <a:ext cx="2500313" cy="376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fixed first index </a:t>
            </a:r>
            <a:r>
              <a:rPr lang="en-US" sz="850" b="1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9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the remaining two-</a:t>
            </a:r>
            <a:r>
              <a:rPr lang="en-US" sz="9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dimensional slice must equal its transpose.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757613" y="2056228"/>
            <a:ext cx="2571750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SLICE / i = 0</a:t>
            </a:r>
            <a:endParaRPr lang="en-US" sz="600" dirty="0"/>
          </a:p>
        </p:txBody>
      </p:sp>
      <p:sp>
        <p:nvSpPr>
          <p:cNvPr id="13" name="Shape 10"/>
          <p:cNvSpPr/>
          <p:nvPr/>
        </p:nvSpPr>
        <p:spPr>
          <a:xfrm>
            <a:off x="4471988" y="2288400"/>
            <a:ext cx="542925" cy="542925"/>
          </a:xfrm>
          <a:prstGeom prst="rect">
            <a:avLst/>
          </a:prstGeom>
          <a:solidFill>
            <a:srgbClr val="18252C"/>
          </a:solidFill>
          <a:ln w="9144">
            <a:solidFill>
              <a:srgbClr val="65747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71988" y="2288400"/>
            <a:ext cx="54292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072063" y="2288400"/>
            <a:ext cx="542925" cy="542925"/>
          </a:xfrm>
          <a:prstGeom prst="rect">
            <a:avLst/>
          </a:prstGeom>
          <a:solidFill>
            <a:srgbClr val="3A2527"/>
          </a:solidFill>
          <a:ln w="18288">
            <a:solidFill>
              <a:srgbClr val="E75D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72063" y="2288400"/>
            <a:ext cx="54292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FFB8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4471988" y="2888475"/>
            <a:ext cx="542925" cy="542925"/>
          </a:xfrm>
          <a:prstGeom prst="rect">
            <a:avLst/>
          </a:prstGeom>
          <a:solidFill>
            <a:srgbClr val="3A2527"/>
          </a:solidFill>
          <a:ln w="18288">
            <a:solidFill>
              <a:srgbClr val="E75D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471988" y="2888475"/>
            <a:ext cx="54292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FFB8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5072063" y="2888475"/>
            <a:ext cx="542925" cy="542925"/>
          </a:xfrm>
          <a:prstGeom prst="rect">
            <a:avLst/>
          </a:prstGeom>
          <a:solidFill>
            <a:srgbClr val="18252C"/>
          </a:solidFill>
          <a:ln w="9144">
            <a:solidFill>
              <a:srgbClr val="6574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72063" y="2888475"/>
            <a:ext cx="542925" cy="542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3757613" y="3545700"/>
            <a:ext cx="25717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rows: j / columns: k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6586538" y="2056228"/>
            <a:ext cx="1985963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2" kern="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RECEIPT EVIDENCE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586538" y="2259825"/>
            <a:ext cx="1985963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Mirrored entries disagree.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586538" y="2659875"/>
            <a:ext cx="8429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AT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7500938" y="2659875"/>
            <a:ext cx="10715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DBE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[0, 0, 1] → 2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586538" y="2997417"/>
            <a:ext cx="8429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MIRROR AT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7500938" y="2997417"/>
            <a:ext cx="10715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DBE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[0, 1, 0] → 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586538" y="3334959"/>
            <a:ext cx="8429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9BAA9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COMPARISON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7500938" y="3334959"/>
            <a:ext cx="1071563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DBE1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≠ 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586538" y="3658214"/>
            <a:ext cx="198596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spc="1" kern="0" dirty="0">
                <a:solidFill>
                  <a:srgbClr val="FF8D8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STATUS → FAIL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71500" y="4442240"/>
            <a:ext cx="8001000" cy="400050"/>
          </a:xfrm>
          <a:prstGeom prst="rect">
            <a:avLst/>
          </a:prstGeom>
          <a:noFill/>
          <a:ln/>
        </p:spPr>
        <p:txBody>
          <a:bodyPr wrap="square" lIns="0" tIns="144526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BOUNDARY:</a:t>
            </a:r>
            <a:r>
              <a:rPr lang="en-US" sz="75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this failure is exact evidence that one declared equality does not hold for this input. It does not diagnose a legacy </a:t>
            </a:r>
            <a:r>
              <a:rPr lang="en-US" sz="75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generator or establish any wider theoretical conclusion.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00050"/>
            <a:ext cx="8001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DUAL-KERNEL LOOP / AUTHORITY BOUNDARY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71500" y="628650"/>
            <a:ext cx="8001000" cy="3548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25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Quarantine </a:t>
            </a:r>
            <a:r>
              <a:rPr lang="en-US" sz="2500" i="1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preserves</a:t>
            </a:r>
            <a:r>
              <a:rPr lang="en-US" sz="25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authority.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71500" y="1062131"/>
            <a:ext cx="68580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legacy runtime may propose finite candidate values. It cannot authorize a verification result, import its own conclusions, or turn provenance into proof.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1500" y="1780747"/>
            <a:ext cx="1818084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spc="1" kern="0" dirty="0">
                <a:solidFill>
                  <a:srgbClr val="C2CBC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 / LEGACY RUNTIME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71500" y="2008622"/>
            <a:ext cx="181808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71500" y="2262225"/>
            <a:ext cx="1818084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2C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candidate ID and declared finite values enter the boundary.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389584" y="1616441"/>
            <a:ext cx="242888" cy="610791"/>
          </a:xfrm>
          <a:prstGeom prst="rect">
            <a:avLst/>
          </a:prstGeom>
          <a:noFill/>
          <a:ln/>
        </p:spPr>
        <p:txBody>
          <a:bodyPr wrap="none" lIns="0" tIns="44221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2632472" y="1780747"/>
            <a:ext cx="1818084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spc="1" kern="0" dirty="0">
                <a:solidFill>
                  <a:srgbClr val="C2CBC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 / QUARANTINED ADAPTER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632472" y="2008622"/>
            <a:ext cx="181808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632472" y="2262225"/>
            <a:ext cx="1818084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2C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one neutral structural claim packet and explicit non-claims.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450556" y="1616441"/>
            <a:ext cx="242888" cy="610791"/>
          </a:xfrm>
          <a:prstGeom prst="rect">
            <a:avLst/>
          </a:prstGeom>
          <a:noFill/>
          <a:ln/>
        </p:spPr>
        <p:txBody>
          <a:bodyPr wrap="none" lIns="0" tIns="44221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4693444" y="1780747"/>
            <a:ext cx="1818084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spc="1" kern="0" dirty="0">
                <a:solidFill>
                  <a:srgbClr val="C2CBC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 / UNIVERSAL KERNEL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693444" y="2008622"/>
            <a:ext cx="181808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Predicate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93444" y="2262225"/>
            <a:ext cx="1818084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2C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only the declared finite relation, such as final-index symmetry.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511528" y="1616441"/>
            <a:ext cx="242888" cy="610791"/>
          </a:xfrm>
          <a:prstGeom prst="rect">
            <a:avLst/>
          </a:prstGeom>
          <a:noFill/>
          <a:ln/>
        </p:spPr>
        <p:txBody>
          <a:bodyPr wrap="none" lIns="0" tIns="442214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754416" y="1780747"/>
            <a:ext cx="1818084" cy="1350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spc="1" kern="0" dirty="0">
                <a:solidFill>
                  <a:srgbClr val="C2CBC7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 / RECEIPT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754416" y="2008622"/>
            <a:ext cx="181808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result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754416" y="2262225"/>
            <a:ext cx="1818084" cy="2700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C2C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· fail · unverifiable with replayable scope and witnesses.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71500" y="2625105"/>
            <a:ext cx="8001000" cy="271463"/>
          </a:xfrm>
          <a:prstGeom prst="rect">
            <a:avLst/>
          </a:prstGeom>
          <a:noFill/>
          <a:ln/>
        </p:spPr>
        <p:txBody>
          <a:bodyPr wrap="square" lIns="0" tIns="76581" rIns="0" bIns="76581" rtlCol="0" anchor="t">
            <a:spAutoFit/>
          </a:bodyPr>
          <a:lstStyle/>
          <a:p>
            <a:pPr algn="ctr" indent="0" marL="0">
              <a:buNone/>
            </a:pPr>
            <a:r>
              <a:rPr lang="en-US" sz="650" spc="1" kern="0" dirty="0">
                <a:solidFill>
                  <a:srgbClr val="F0A29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AUTHORITY CUT → FRAMEWORK LABEL IS PROVENANCE, NOT ENDORSEMENT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571500" y="3103736"/>
            <a:ext cx="373618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9C8A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ADAPTER MAY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571500" y="3285902"/>
            <a:ext cx="3736181" cy="30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packet boundary.</a:t>
            </a:r>
            <a:r>
              <a:rPr lang="en-US" sz="800" dirty="0">
                <a:solidFill>
                  <a:srgbClr val="CCD5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Normalize declared finite input. Identify the </a:t>
            </a:r>
            <a:r>
              <a:rPr lang="en-US" sz="800" dirty="0">
                <a:solidFill>
                  <a:srgbClr val="CCD5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and adapter version. State non-claims explicitly.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829175" y="3103736"/>
            <a:ext cx="37433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ADAPTER MAY NOT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4829175" y="3285902"/>
            <a:ext cx="3743325" cy="304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7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a legacy ontology.</a:t>
            </a:r>
            <a:r>
              <a:rPr lang="en-US" sz="800" dirty="0">
                <a:solidFill>
                  <a:srgbClr val="CCD5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Adopt a legacy conclusion. Establish empirical </a:t>
            </a:r>
            <a:r>
              <a:rPr lang="en-US" sz="800" dirty="0">
                <a:solidFill>
                  <a:srgbClr val="CCD5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meaning. Upgrade a finite equality into a theory-level result.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71500" y="3810967"/>
            <a:ext cx="80010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b="1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RESULT SCOPE:</a:t>
            </a:r>
            <a:r>
              <a:rPr lang="en-US" sz="650" dirty="0">
                <a:solidFill>
                  <a:srgbClr val="B8C4B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a receipt confirms only whether the universal predicate holds for supplied finite input. The legacy runtime remains a candidate </a:t>
            </a:r>
            <a:r>
              <a:rPr lang="en-US" sz="650" dirty="0">
                <a:solidFill>
                  <a:srgbClr val="B8C4B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generator, not a verification authority.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OPTIONAL ACCELERATION / AUTHORITY DOES NOT MOVE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571500" y="707231"/>
            <a:ext cx="8001000" cy="3626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25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 screening is </a:t>
            </a:r>
            <a:r>
              <a:rPr lang="en-US" sz="2550" i="1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</a:t>
            </a:r>
            <a:r>
              <a:rPr lang="en-US" sz="25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verdict.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571500" y="1169845"/>
            <a:ext cx="5786438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9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execution reduces screening time but cannot replace deterministic kernel evaluation that creates a replayable receipt.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71500" y="1942709"/>
            <a:ext cx="2035969" cy="1657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spc="1" kern="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 / VECTOR SCREEN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71500" y="2229855"/>
            <a:ext cx="2035969" cy="45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CPU NumPy or optional GPU CuPy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1500" y="2775570"/>
            <a:ext cx="2035969" cy="49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off-diagonal index pairs in parallel across declared finite tensor slices.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71500" y="3358400"/>
            <a:ext cx="2035969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FAST PATH: upper-triangle pairs only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607469" y="2555509"/>
            <a:ext cx="61436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3221831" y="1974856"/>
            <a:ext cx="2214563" cy="1657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spc="1" kern="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 / QUARANTINED RESULT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221831" y="2262001"/>
            <a:ext cx="2214563" cy="229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Candidate state only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221831" y="2577722"/>
            <a:ext cx="2214563" cy="331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 can locate mismatches and count them, but it produces no receipt.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221831" y="2994850"/>
            <a:ext cx="2214563" cy="662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candidate_verified</a:t>
            </a:r>
            <a:r>
              <a:rPr lang="en-US" sz="85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candidate_failed</a:t>
            </a:r>
            <a:r>
              <a:rPr lang="en-US" sz="85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A9C8A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unavailable</a:t>
            </a:r>
            <a:r>
              <a:rPr lang="en-US" sz="85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if GPU backend is </a:t>
            </a:r>
            <a:r>
              <a:rPr lang="en-US" sz="85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absent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436394" y="2555509"/>
            <a:ext cx="614363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050756" y="2025532"/>
            <a:ext cx="2521744" cy="1657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spc="1" kern="0" dirty="0">
                <a:solidFill>
                  <a:srgbClr val="B9C3C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 / AUTHORITY GATE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050756" y="2312677"/>
            <a:ext cx="2521744" cy="45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5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CPU kernel confirmation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050756" y="2858393"/>
            <a:ext cx="2521744" cy="49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B9C3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Re-evaluate the declared tensor through the universal structural predicate before issuing the result.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050756" y="3441223"/>
            <a:ext cx="2521744" cy="1657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50" dirty="0">
                <a:solidFill>
                  <a:srgbClr val="A9C8A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verified · fail · unverifiable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71500" y="4011271"/>
            <a:ext cx="3679031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9C8A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ACCELERATOR MAY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571500" y="4207725"/>
            <a:ext cx="3679031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50" dirty="0">
                <a:solidFill>
                  <a:srgbClr val="C7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Vectorize comparisons, identify a mismatch witness, return an unavailable state, and prioritize candidate work.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886325" y="4011271"/>
            <a:ext cx="36861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ACCELERATOR MAY NOT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4886325" y="4207725"/>
            <a:ext cx="3686175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3600"/>
              </a:lnSpc>
              <a:buNone/>
            </a:pPr>
            <a:r>
              <a:rPr lang="en-US" sz="850" dirty="0">
                <a:solidFill>
                  <a:srgbClr val="C7D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a verification receipt, reinterpret candidate data, silently fall back from a requested GPU path, or promote a legacy conclusion.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71500" y="4661353"/>
            <a:ext cx="8001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F2E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AUTHORITY RULE:</a:t>
            </a:r>
            <a:r>
              <a:rPr lang="en-US" sz="75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any result intended for evidence retention is recomputed by the deterministic kernel over the declared finite </a:t>
            </a:r>
            <a:r>
              <a:rPr lang="en-US" sz="750" dirty="0">
                <a:solidFill>
                  <a:srgbClr val="A9B5A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values.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277752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2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SOVEREIGN ENGINE / OPERATIONAL CLOSE</a:t>
            </a:r>
            <a:endParaRPr lang="en-US" sz="650" dirty="0"/>
          </a:p>
        </p:txBody>
      </p:sp>
      <p:sp>
        <p:nvSpPr>
          <p:cNvPr id="4" name="Text 1"/>
          <p:cNvSpPr/>
          <p:nvPr/>
        </p:nvSpPr>
        <p:spPr>
          <a:xfrm>
            <a:off x="6770098" y="428625"/>
            <a:ext cx="1802402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A9C8A9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■ BOUNDED AUTHORITY PRESERVED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571500" y="1057275"/>
            <a:ext cx="80010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10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Retain. Reject. </a:t>
            </a:r>
            <a:r>
              <a:rPr lang="en-US" sz="3100" i="1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Verify.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1857375" y="1643063"/>
            <a:ext cx="5429250" cy="393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00" dirty="0">
                <a:solidFill>
                  <a:srgbClr val="C8D1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every source boundary explicit, every malformed input inspectable, and every structural result replayable within its declared scope.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" y="2536701"/>
            <a:ext cx="266696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F5F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71500" y="2847454"/>
            <a:ext cx="2666963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spc="1" kern="0" dirty="0">
                <a:solidFill>
                  <a:srgbClr val="B9C4B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SERVER-GOVERNED SOURCE BYTES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3245607" y="2536701"/>
            <a:ext cx="265987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Reject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245607" y="2847454"/>
            <a:ext cx="26598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spc="1" kern="0" dirty="0">
                <a:solidFill>
                  <a:srgbClr val="B9C4B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NAMED SCHEMA FAILURE MODES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912625" y="2536701"/>
            <a:ext cx="2659875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A9C8A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912625" y="2847454"/>
            <a:ext cx="265987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50" spc="1" kern="0" dirty="0">
                <a:solidFill>
                  <a:srgbClr val="B9C4B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FINITE DETERMINISTIC PREDICATES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571500" y="3279651"/>
            <a:ext cx="2286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D0DAD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Declared source</a:t>
            </a:r>
            <a:r>
              <a:rPr lang="en-US" sz="800" dirty="0">
                <a:solidFill>
                  <a:srgbClr val="D0DAD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D0DAD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and source role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857500" y="3297510"/>
            <a:ext cx="57150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429000" y="3279651"/>
            <a:ext cx="2286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D0DAD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Validated bytes</a:t>
            </a:r>
            <a:r>
              <a:rPr lang="en-US" sz="800" dirty="0">
                <a:solidFill>
                  <a:srgbClr val="D0DAD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D0DAD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and durable intake record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715000" y="3297510"/>
            <a:ext cx="571500" cy="2643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E75D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286500" y="3279651"/>
            <a:ext cx="22860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D0DAD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Bounded receipt</a:t>
            </a:r>
            <a:r>
              <a:rPr lang="en-US" sz="800" dirty="0">
                <a:solidFill>
                  <a:srgbClr val="D0DAD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00" dirty="0">
                <a:solidFill>
                  <a:srgbClr val="D0DAD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after confirmation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71500" y="4001170"/>
            <a:ext cx="1285875" cy="339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spc="1" kern="0" dirty="0">
                <a:solidFill>
                  <a:srgbClr val="E75D4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NEXT OPERATION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2057400" y="4001170"/>
            <a:ext cx="6515100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2D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one </a:t>
            </a:r>
            <a:r>
              <a:rPr lang="en-US" sz="8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owner-authorized live managed-storage upload</a:t>
            </a:r>
            <a:r>
              <a:rPr lang="en-US" sz="900" dirty="0">
                <a:solidFill>
                  <a:srgbClr val="D2D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Keep GPU vector screening </a:t>
            </a:r>
            <a:r>
              <a:rPr lang="en-US" sz="850" b="1" dirty="0">
                <a:solidFill>
                  <a:srgbClr val="F5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candidate-only</a:t>
            </a:r>
            <a:r>
              <a:rPr lang="en-US" sz="900" dirty="0">
                <a:solidFill>
                  <a:srgbClr val="D2D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every </a:t>
            </a:r>
            <a:r>
              <a:rPr lang="en-US" sz="900" dirty="0">
                <a:solidFill>
                  <a:srgbClr val="D2D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remains subject to deterministic CPU-kernel confirmation.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2026-08-19T11:54:11Z</dcterms:created>
  <dcterms:modified xsi:type="dcterms:W3CDTF">2026-08-19T11:54:11Z</dcterms:modified>
</cp:coreProperties>
</file>