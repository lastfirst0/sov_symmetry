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628650"/>
            <a:ext cx="505777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SOVEREIGN ENGINE / K1 CLOSURE REPORT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57225" y="925116"/>
            <a:ext cx="4857750" cy="1407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3450" b="1" dirty="0">
                <a:solidFill>
                  <a:srgbClr val="EE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the</a:t>
            </a:r>
            <a:r>
              <a:rPr lang="en-US" sz="3450" b="1" dirty="0">
                <a:solidFill>
                  <a:srgbClr val="EE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450" b="1" i="1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trusted-kernel</a:t>
            </a:r>
            <a:r>
              <a:rPr lang="en-US" sz="3450" b="1" dirty="0">
                <a:solidFill>
                  <a:srgbClr val="EE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450" b="1" dirty="0">
                <a:solidFill>
                  <a:srgbClr val="EE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gap.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57225" y="2582242"/>
            <a:ext cx="442912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B8C2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chained, offline verification wave: one shared fixture corpus, named terminal outcomes, durable quorum evidence, and explicit residual blockers.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57225" y="3689524"/>
            <a:ext cx="505777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BOUNDARY: sov-core-offline-rc · NO NETWORK CONSENSUS · NO KEY CUSTODY CLAIM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5715000" y="628650"/>
            <a:ext cx="2786063" cy="45148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0" y="628650"/>
            <a:ext cx="7144" cy="4514850"/>
          </a:xfrm>
          <a:prstGeom prst="rect">
            <a:avLst/>
          </a:prstGeom>
          <a:solidFill>
            <a:srgbClr val="43515A"/>
          </a:solidFill>
          <a:ln/>
        </p:spPr>
      </p:sp>
      <p:sp>
        <p:nvSpPr>
          <p:cNvPr id="9" name="Text 6"/>
          <p:cNvSpPr/>
          <p:nvPr/>
        </p:nvSpPr>
        <p:spPr>
          <a:xfrm>
            <a:off x="6086475" y="1057275"/>
            <a:ext cx="2043113" cy="7913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0C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600" dirty="0">
                <a:solidFill>
                  <a:srgbClr val="F0C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00" b="1" dirty="0">
                <a:solidFill>
                  <a:srgbClr val="F0C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PASS</a:t>
            </a:r>
            <a:r>
              <a:rPr lang="en-US" sz="600" dirty="0">
                <a:solidFill>
                  <a:srgbClr val="F0C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00" dirty="0">
                <a:solidFill>
                  <a:srgbClr val="F0C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Promotion remains blocked by named </a:t>
            </a:r>
            <a:r>
              <a:rPr lang="en-US" sz="600" dirty="0">
                <a:solidFill>
                  <a:srgbClr val="F0C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offline-RC gates.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086475" y="2177281"/>
            <a:ext cx="2043113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E6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086475" y="2677344"/>
            <a:ext cx="111464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50" dirty="0">
                <a:solidFill>
                  <a:srgbClr val="B8C2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fixture cases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086475" y="2977381"/>
            <a:ext cx="2043113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E6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4/4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086475" y="3477444"/>
            <a:ext cx="16162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50" dirty="0">
                <a:solidFill>
                  <a:srgbClr val="B8C2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suite after K1 extension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086475" y="3777481"/>
            <a:ext cx="2043113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E6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4/4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086475" y="4277544"/>
            <a:ext cx="167191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50" dirty="0">
                <a:solidFill>
                  <a:srgbClr val="B8C2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focused durable/manifest tests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57225" y="4700588"/>
            <a:ext cx="2923747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7D91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class: tested contract · Report date: K1 closure wave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14350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BOUNDARY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725091"/>
            <a:ext cx="851535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K1 is—and is not.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28650" y="1721644"/>
            <a:ext cx="3786188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spc="2" kern="0" dirty="0">
                <a:solidFill>
                  <a:srgbClr val="B9C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INCLUDED / TESTED CONTRACT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8650" y="2041327"/>
            <a:ext cx="378618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verifier foundation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8650" y="2423517"/>
            <a:ext cx="3786188" cy="530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B9C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 fixture manifest verification, named terminal outcomes, local quorum decision evidence, append-only local Merkle proof mechanics, and restart/tamper tests.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8650" y="3132534"/>
            <a:ext cx="3786188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70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deterministic bytes and IDs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70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typed fail-closed errors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70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decision / rejection / equivocation records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70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fixture-key policy specification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657725" y="1721644"/>
            <a:ext cx="3786188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spc="2" kern="0" dirty="0">
                <a:solidFill>
                  <a:srgbClr val="B9C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EXCLUDED / NO CLAIM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57725" y="2041327"/>
            <a:ext cx="378618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security or consensus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657725" y="2423517"/>
            <a:ext cx="378618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B9C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does not provide node discovery, networking, BFT, live transparency replication, HSM custody, remote key discovery, rotation service availability, or physical-theory validation.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57725" y="3309342"/>
            <a:ext cx="3786188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70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production consensus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70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operational key custody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70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availability guarantee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70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750" dirty="0">
                <a:solidFill>
                  <a:srgbClr val="E1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Geometric Unity verdict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28650" y="4850606"/>
            <a:ext cx="78867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HARNESS ONLY · “VERIFIED” MEANS THE DECLARED PREDICATE PASSED WITHIN SCOPE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28638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C9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STARTING GAP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732234"/>
            <a:ext cx="851535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0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corpus. Two very different coverage states.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28650" y="1821656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spc="2" kern="0" dirty="0">
                <a:solidFill>
                  <a:srgbClr val="52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K1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8650" y="1993106"/>
            <a:ext cx="3429000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150" dirty="0">
                <a:solidFill>
                  <a:srgbClr val="14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150" dirty="0"/>
          </a:p>
        </p:txBody>
      </p:sp>
      <p:sp>
        <p:nvSpPr>
          <p:cNvPr id="7" name="Text 4"/>
          <p:cNvSpPr/>
          <p:nvPr/>
        </p:nvSpPr>
        <p:spPr>
          <a:xfrm>
            <a:off x="628650" y="3028950"/>
            <a:ext cx="34290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Rust-local tests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650" y="3396853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52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 ID vector and a narrow five-scenario invariant corpus. The shared 17-case pack was not yet a Rust semantic gate.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357688" y="2200275"/>
            <a:ext cx="428625" cy="17109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250" dirty="0">
                <a:solidFill>
                  <a:srgbClr val="D955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250" dirty="0"/>
          </a:p>
        </p:txBody>
      </p:sp>
      <p:sp>
        <p:nvSpPr>
          <p:cNvPr id="10" name="Text 7"/>
          <p:cNvSpPr/>
          <p:nvPr/>
        </p:nvSpPr>
        <p:spPr>
          <a:xfrm>
            <a:off x="5086350" y="1821656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spc="2" kern="0" dirty="0">
                <a:solidFill>
                  <a:srgbClr val="52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CLOSURE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086350" y="1993106"/>
            <a:ext cx="3429000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150" dirty="0">
                <a:solidFill>
                  <a:srgbClr val="D955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6150" dirty="0"/>
          </a:p>
        </p:txBody>
      </p:sp>
      <p:sp>
        <p:nvSpPr>
          <p:cNvPr id="12" name="Text 9"/>
          <p:cNvSpPr/>
          <p:nvPr/>
        </p:nvSpPr>
        <p:spPr>
          <a:xfrm>
            <a:off x="5086350" y="3028950"/>
            <a:ext cx="34290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fixture outcomes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086350" y="3396853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52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now consumes the frozen pack and compares each named terminal outcome and reason code, failing closed on malformed manifest or unknown category.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8650" y="4411266"/>
            <a:ext cx="788670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2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LIMITATION: the dispatch layer closes published fixture coverage; deeper mathematical operations remain separately scoped K5 work.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00063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/ ONE SHARED FIXTURE CHAIN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703659"/>
            <a:ext cx="851535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Freeze once. Verify twice. Fail closed.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28650" y="1228725"/>
            <a:ext cx="5857875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AEBA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adapter consumes the same declared corpus; no language can silently substitute its own fixture semantics or output vocabulary.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8650" y="2203847"/>
            <a:ext cx="1692399" cy="96441"/>
          </a:xfrm>
          <a:prstGeom prst="rect">
            <a:avLst/>
          </a:prstGeom>
          <a:noFill/>
          <a:ln/>
        </p:spPr>
        <p:txBody>
          <a:bodyPr wrap="square" lIns="0" tIns="0" rIns="153035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PUBLISHED CORPUS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28650" y="2400300"/>
            <a:ext cx="169239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fixtures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8650" y="2711053"/>
            <a:ext cx="1692399" cy="719677"/>
          </a:xfrm>
          <a:prstGeom prst="rect">
            <a:avLst/>
          </a:prstGeom>
          <a:noFill/>
          <a:ln/>
        </p:spPr>
        <p:txBody>
          <a:bodyPr wrap="square" lIns="0" tIns="0" rIns="153035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B7C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valid objects, 4 invalid requests, 2 unverifiable results, one failed predicate, one tamper, and one determinism case.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2321049" y="2060972"/>
            <a:ext cx="372312" cy="942975"/>
          </a:xfrm>
          <a:prstGeom prst="rect">
            <a:avLst/>
          </a:prstGeom>
          <a:noFill/>
          <a:ln/>
        </p:spPr>
        <p:txBody>
          <a:bodyPr wrap="none" lIns="0" tIns="80797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693361" y="2203847"/>
            <a:ext cx="1692399" cy="96441"/>
          </a:xfrm>
          <a:prstGeom prst="rect">
            <a:avLst/>
          </a:prstGeom>
          <a:noFill/>
          <a:ln/>
        </p:spPr>
        <p:txBody>
          <a:bodyPr wrap="square" lIns="0" tIns="0" rIns="153035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MANIFEST FREEZE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693361" y="2400300"/>
            <a:ext cx="169239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SHA-256 binding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693361" y="2711053"/>
            <a:ext cx="1692399" cy="719677"/>
          </a:xfrm>
          <a:prstGeom prst="rect">
            <a:avLst/>
          </a:prstGeom>
          <a:noFill/>
          <a:ln/>
        </p:spPr>
        <p:txBody>
          <a:bodyPr wrap="square" lIns="0" tIns="0" rIns="153035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B7C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Path, source revision, category distribution, adapter list, and explicit limitations are recorded as a candidate manifest.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2693361" y="3552174"/>
            <a:ext cx="169239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50" dirty="0">
                <a:solidFill>
                  <a:srgbClr val="E7C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e3b36640…f0d1e02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4385760" y="2060972"/>
            <a:ext cx="372312" cy="942975"/>
          </a:xfrm>
          <a:prstGeom prst="rect">
            <a:avLst/>
          </a:prstGeom>
          <a:noFill/>
          <a:ln/>
        </p:spPr>
        <p:txBody>
          <a:bodyPr wrap="none" lIns="0" tIns="80797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758072" y="2203847"/>
            <a:ext cx="1692399" cy="96441"/>
          </a:xfrm>
          <a:prstGeom prst="rect">
            <a:avLst/>
          </a:prstGeom>
          <a:noFill/>
          <a:ln/>
        </p:spPr>
        <p:txBody>
          <a:bodyPr wrap="square" lIns="0" tIns="0" rIns="153035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INDEPENDENT ADAPTERS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758072" y="2400300"/>
            <a:ext cx="169239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+ Rust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58072" y="2711053"/>
            <a:ext cx="1692399" cy="863612"/>
          </a:xfrm>
          <a:prstGeom prst="rect">
            <a:avLst/>
          </a:prstGeom>
          <a:noFill/>
          <a:ln/>
        </p:spPr>
        <p:txBody>
          <a:bodyPr wrap="square" lIns="0" tIns="0" rIns="153035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B7C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verifies manifest bytes. Rust verifies the same bytes before evaluating every fixture’s published terminal outcome and reason code.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450471" y="2060972"/>
            <a:ext cx="372312" cy="942975"/>
          </a:xfrm>
          <a:prstGeom prst="rect">
            <a:avLst/>
          </a:prstGeom>
          <a:noFill/>
          <a:ln/>
        </p:spPr>
        <p:txBody>
          <a:bodyPr wrap="none" lIns="0" tIns="80797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822784" y="2203847"/>
            <a:ext cx="1692399" cy="96441"/>
          </a:xfrm>
          <a:prstGeom prst="rect">
            <a:avLst/>
          </a:prstGeom>
          <a:noFill/>
          <a:ln/>
        </p:spPr>
        <p:txBody>
          <a:bodyPr wrap="square" lIns="0" tIns="0" rIns="153035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TERMINAL POLICY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822784" y="2400300"/>
            <a:ext cx="169239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silent drift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22784" y="2711053"/>
            <a:ext cx="1692399" cy="575742"/>
          </a:xfrm>
          <a:prstGeom prst="rect">
            <a:avLst/>
          </a:prstGeom>
          <a:noFill/>
          <a:ln/>
        </p:spPr>
        <p:txBody>
          <a:bodyPr wrap="square" lIns="0" tIns="0" rIns="153035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B7C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schema, malformed category, count mismatch, or digest mismatch is a named error—not a coverage pass.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628650" y="4111228"/>
            <a:ext cx="7886700" cy="2771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28650" y="4111228"/>
            <a:ext cx="7886700" cy="7144"/>
          </a:xfrm>
          <a:prstGeom prst="rect">
            <a:avLst/>
          </a:prstGeom>
          <a:solidFill>
            <a:srgbClr val="4B5960"/>
          </a:solidFill>
          <a:ln/>
        </p:spPr>
      </p:sp>
      <p:sp>
        <p:nvSpPr>
          <p:cNvPr id="24" name="Text 21"/>
          <p:cNvSpPr/>
          <p:nvPr/>
        </p:nvSpPr>
        <p:spPr>
          <a:xfrm>
            <a:off x="628650" y="4239816"/>
            <a:ext cx="823094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E7C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FAIL-CLOSED RULE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651769" y="4239816"/>
            <a:ext cx="1543329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B8C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Edited digest → </a:t>
            </a:r>
            <a:r>
              <a:rPr lang="en-US" sz="600" b="1" dirty="0">
                <a:solidFill>
                  <a:srgbClr val="E7C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E_AUDIT_TAMPER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395123" y="4239816"/>
            <a:ext cx="2109248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B8C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count/distribution → </a:t>
            </a:r>
            <a:r>
              <a:rPr lang="en-US" sz="600" b="1" dirty="0">
                <a:solidFill>
                  <a:srgbClr val="E7C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E_AUDIT_TAMPER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704396" y="4239816"/>
            <a:ext cx="1800560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B8C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category → </a:t>
            </a:r>
            <a:r>
              <a:rPr lang="en-US" sz="600" b="1" dirty="0">
                <a:solidFill>
                  <a:srgbClr val="E7C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E_SCHEMA_INVALID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28650" y="4595552"/>
            <a:ext cx="7886700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7282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BOUNDARY: shared-fixture integrity and declared oracle matching; not a proof of production key custody, consensus, or physical truth.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92944"/>
            <a:ext cx="364331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800" spc="2" kern="0" dirty="0">
                <a:solidFill>
                  <a:srgbClr val="B9C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K1 ADAPTER / TESTED CONTRACT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28650" y="995102"/>
            <a:ext cx="3643313" cy="743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6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named</a:t>
            </a:r>
            <a:r>
              <a:rPr lang="en-US" sz="26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2600" b="1" i="1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outcomes.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28650" y="1931157"/>
            <a:ext cx="3643313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800" dirty="0">
                <a:solidFill>
                  <a:srgbClr val="B9C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Rust adapter now consumes the same frozen pack as the Python reference boundary and maps each fixture to a declared terminal outcome plus required reason code.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8650" y="2644750"/>
            <a:ext cx="3643313" cy="627869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800" dirty="0">
                <a:solidFill>
                  <a:srgbClr val="B9C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FAIL-CLOSED RULE: unknown category, malformed pack, wrong count, or manifest digest mismatch is never treated as a passing case.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614863" y="500063"/>
            <a:ext cx="4000500" cy="290940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614863" y="500063"/>
            <a:ext cx="4000500" cy="7144"/>
          </a:xfrm>
          <a:prstGeom prst="rect">
            <a:avLst/>
          </a:prstGeom>
          <a:solidFill>
            <a:srgbClr val="56666A"/>
          </a:solidFill>
          <a:ln/>
        </p:spPr>
      </p:sp>
      <p:sp>
        <p:nvSpPr>
          <p:cNvPr id="9" name="Text 6"/>
          <p:cNvSpPr/>
          <p:nvPr/>
        </p:nvSpPr>
        <p:spPr>
          <a:xfrm>
            <a:off x="4614863" y="657225"/>
            <a:ext cx="40005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 FIXTURE DISTRIBUTION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614863" y="839391"/>
            <a:ext cx="4000500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outcome belongs to a named class.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14863" y="1339453"/>
            <a:ext cx="557213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172075" y="1339453"/>
            <a:ext cx="164306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8E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objects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6815138" y="1339453"/>
            <a:ext cx="13573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9EA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 with canonical-ID checking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614863" y="1765176"/>
            <a:ext cx="557213" cy="3599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172075" y="1765176"/>
            <a:ext cx="164306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8E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requests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815138" y="1765176"/>
            <a:ext cx="13573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9EA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schema / canonicalization / dimension error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614863" y="2310892"/>
            <a:ext cx="557213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5172075" y="2310892"/>
            <a:ext cx="164306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8E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unverifiable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6815138" y="2310892"/>
            <a:ext cx="13573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9EA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assumption or unknown operation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614863" y="2736614"/>
            <a:ext cx="557213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5172075" y="2736614"/>
            <a:ext cx="164306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8E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predicate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815138" y="2736614"/>
            <a:ext cx="13573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9EA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 predicate failure code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614863" y="3162337"/>
            <a:ext cx="557213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5172075" y="3162337"/>
            <a:ext cx="164306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8E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tamper + determinism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815138" y="3162337"/>
            <a:ext cx="13573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9EA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mismatch and internal determinism failure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628650" y="3702360"/>
            <a:ext cx="7886700" cy="559333"/>
          </a:xfrm>
          <a:prstGeom prst="rect">
            <a:avLst/>
          </a:prstGeom>
          <a:solidFill>
            <a:srgbClr val="17242D"/>
          </a:solidFill>
          <a:ln/>
        </p:spPr>
      </p:sp>
      <p:sp>
        <p:nvSpPr>
          <p:cNvPr id="27" name="Shape 24"/>
          <p:cNvSpPr/>
          <p:nvPr/>
        </p:nvSpPr>
        <p:spPr>
          <a:xfrm>
            <a:off x="628650" y="3702360"/>
            <a:ext cx="7886700" cy="14288"/>
          </a:xfrm>
          <a:prstGeom prst="rect">
            <a:avLst/>
          </a:prstGeom>
          <a:solidFill>
            <a:srgbClr val="D85A48"/>
          </a:solidFill>
          <a:ln/>
        </p:spPr>
      </p:sp>
      <p:sp>
        <p:nvSpPr>
          <p:cNvPr id="28" name="Text 25"/>
          <p:cNvSpPr/>
          <p:nvPr/>
        </p:nvSpPr>
        <p:spPr>
          <a:xfrm>
            <a:off x="628650" y="3702360"/>
            <a:ext cx="7886700" cy="559333"/>
          </a:xfrm>
          <a:prstGeom prst="rect">
            <a:avLst/>
          </a:prstGeom>
          <a:noFill/>
          <a:ln/>
        </p:spPr>
        <p:txBody>
          <a:bodyPr wrap="square" lIns="204089" tIns="153035" rIns="204089" bIns="153035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BOUNDARY:</a:t>
            </a:r>
            <a:r>
              <a:rPr lang="en-US" sz="650" dirty="0">
                <a:solidFill>
                  <a:srgbClr val="D9E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This closes the shared fixture outcome gap. It does not yet implement every geometry operation, public-key profile, </a:t>
            </a:r>
            <a:r>
              <a:rPr lang="en-US" sz="650" dirty="0">
                <a:solidFill>
                  <a:srgbClr val="D9E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claim, or production consensus property.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85775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DURABLE QUORUM LEDGER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689372"/>
            <a:ext cx="8515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disputed result still leaves evidence.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8650" y="1196578"/>
            <a:ext cx="85153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4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terminal outcome is separated into replayable record kinds before it is attached to the local audit chain.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8650" y="1993943"/>
            <a:ext cx="1429978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spc="2" kern="0" dirty="0">
                <a:solidFill>
                  <a:srgbClr val="B5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28650" y="2238226"/>
            <a:ext cx="142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Quorum decision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8650" y="2802582"/>
            <a:ext cx="1429978" cy="822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B5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deterministic body names the request, policy, decision status, accepted responses, rejected responses, and equivocation evidence.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28650" y="3782504"/>
            <a:ext cx="1429978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B5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decision_id</a:t>
            </a:r>
            <a:r>
              <a:rPr lang="en-US" sz="600" dirty="0">
                <a:solidFill>
                  <a:srgbClr val="B5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00" dirty="0">
                <a:solidFill>
                  <a:srgbClr val="B5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quorum_decision:sha256:…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2187215" y="2818209"/>
            <a:ext cx="22860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544403" y="1807369"/>
            <a:ext cx="3985431" cy="2286000"/>
          </a:xfrm>
          <a:prstGeom prst="rect">
            <a:avLst/>
          </a:prstGeom>
          <a:solidFill>
            <a:srgbClr val="EFEBE1"/>
          </a:solidFill>
          <a:ln/>
        </p:spPr>
      </p:sp>
      <p:sp>
        <p:nvSpPr>
          <p:cNvPr id="12" name="Text 9"/>
          <p:cNvSpPr/>
          <p:nvPr/>
        </p:nvSpPr>
        <p:spPr>
          <a:xfrm>
            <a:off x="2744428" y="1971675"/>
            <a:ext cx="358538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 PERSISTENCE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2744428" y="2068116"/>
            <a:ext cx="35853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durable record types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744428" y="2539603"/>
            <a:ext cx="6698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5967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RECORD_KIND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3414266" y="2514600"/>
            <a:ext cx="85741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71683" y="2489597"/>
            <a:ext cx="20581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5967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status, request/policy binding, canonical decision body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2744428" y="2953941"/>
            <a:ext cx="67592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5967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RECORD_KIND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3420349" y="2928938"/>
            <a:ext cx="865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285524" y="2903934"/>
            <a:ext cx="20442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5967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identifier and typed reason, such as invalid signature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2744428" y="3368278"/>
            <a:ext cx="6698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5967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RECORD_KIND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3414266" y="3343275"/>
            <a:ext cx="85741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equivocation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271683" y="3318272"/>
            <a:ext cx="20581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5967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identity and incompatible payload hashes preserved together</a:t>
            </a:r>
            <a:endParaRPr lang="en-US" sz="500" dirty="0"/>
          </a:p>
        </p:txBody>
      </p:sp>
      <p:sp>
        <p:nvSpPr>
          <p:cNvPr id="23" name="Text 20"/>
          <p:cNvSpPr/>
          <p:nvPr/>
        </p:nvSpPr>
        <p:spPr>
          <a:xfrm>
            <a:off x="6658421" y="2818209"/>
            <a:ext cx="22860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015609" y="2135981"/>
            <a:ext cx="1499741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spc="2" kern="0" dirty="0">
                <a:solidFill>
                  <a:srgbClr val="B5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STORE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015609" y="2380264"/>
            <a:ext cx="14997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Content-addressed bytes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015609" y="2930333"/>
            <a:ext cx="1499741" cy="411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B5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 file write, manifest entry, restart replay, and byte-tamper rejection.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015609" y="3498875"/>
            <a:ext cx="1499741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B5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record_id</a:t>
            </a:r>
            <a:r>
              <a:rPr lang="en-US" sz="600" dirty="0">
                <a:solidFill>
                  <a:srgbClr val="B5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00" dirty="0">
                <a:solidFill>
                  <a:srgbClr val="B5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sov:sha256:…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28650" y="4421981"/>
            <a:ext cx="78867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BOUNDARY: SINGLE-WRITER LOCAL PERSISTENCE · NOT REPLICATION, WORM MEDIA, OR BYZANTINE CONSENSUS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85775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DURABLE EVIDENCE PATH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696516"/>
            <a:ext cx="85153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Merkle, restart, and tamper evidence.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8650" y="1182291"/>
            <a:ext cx="54292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B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local terminal artifact is preserved as a canonical durable record before it is represented in the in-memory, deterministic audit log.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8650" y="2135981"/>
            <a:ext cx="707399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E4B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CONTENT ID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628650" y="2321719"/>
            <a:ext cx="1749437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Quorum record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8650" y="2636044"/>
            <a:ext cx="157162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BCC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Decision, rejection, and equivocation records persist separately under canonical `sov:sha256` identifiers.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378087" y="2462808"/>
            <a:ext cx="29869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676785" y="2135981"/>
            <a:ext cx="754503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E4B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AUDIT EVENT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2676785" y="2321719"/>
            <a:ext cx="1749437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 event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76785" y="2636044"/>
            <a:ext cx="157162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BCC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durable record is represented by a canonical audit event with a payload hash and sequence hint.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426223" y="2462808"/>
            <a:ext cx="29869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724921" y="2135981"/>
            <a:ext cx="943142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E4B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ROOT COMMITMENT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724921" y="2321719"/>
            <a:ext cx="1749437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Checkpoint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724921" y="2636044"/>
            <a:ext cx="157162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BCC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local Merkle log emits a tree size and root hash after the full durable record set is appended.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474358" y="2462808"/>
            <a:ext cx="29869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773056" y="2135981"/>
            <a:ext cx="518759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E4B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REPLAY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6773056" y="2321719"/>
            <a:ext cx="1749437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path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773056" y="2636044"/>
            <a:ext cx="157162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BCC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Inclusion proof, manifest replay, and byte tamper detection operate as distinct checks.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628650" y="3682603"/>
            <a:ext cx="7886700" cy="8835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28650" y="3682603"/>
            <a:ext cx="7886700" cy="7144"/>
          </a:xfrm>
          <a:prstGeom prst="rect">
            <a:avLst/>
          </a:prstGeom>
          <a:solidFill>
            <a:srgbClr val="45545B"/>
          </a:solidFill>
          <a:ln/>
        </p:spPr>
      </p:sp>
      <p:sp>
        <p:nvSpPr>
          <p:cNvPr id="23" name="Text 20"/>
          <p:cNvSpPr/>
          <p:nvPr/>
        </p:nvSpPr>
        <p:spPr>
          <a:xfrm>
            <a:off x="628650" y="3839766"/>
            <a:ext cx="225028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FE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INCLUSION VERIFIED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28650" y="4025503"/>
            <a:ext cx="22502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→ root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28650" y="4293394"/>
            <a:ext cx="2250281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AEBC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first stored event validates against its checkpoint inclusion proof.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221831" y="3839766"/>
            <a:ext cx="225028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FE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RESTART VERIFIED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221831" y="4025503"/>
            <a:ext cx="22502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→ replay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3221831" y="4293394"/>
            <a:ext cx="2250281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AEBC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reopened FileObjectStore preserves the rejection record and replays its manifest.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815013" y="3839766"/>
            <a:ext cx="225028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FE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TAMPER REJECTED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815013" y="4025503"/>
            <a:ext cx="22502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Byte mutation → error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815013" y="4293394"/>
            <a:ext cx="2250281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AEBC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Replacing a stored record’s bytes causes replay to return `E_AUDIT_TAMPER`.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628650" y="4830514"/>
            <a:ext cx="7886700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E4B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LIMITATION: local, single-writer reference log only · no public transparency service, replication, availability, or signed checkpoint claim.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42950"/>
            <a:ext cx="271462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spc="2" kern="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TEST EVIDENCE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628650" y="1036513"/>
            <a:ext cx="2714625" cy="15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6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Focused, replayable, and deliberately narrow.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650" y="2752130"/>
            <a:ext cx="2714625" cy="494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count below identifies a named test surface. None is a claim that the broad experimental repository is green.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8650" y="3447083"/>
            <a:ext cx="2714625" cy="93918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E9C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 LIMITATION</a:t>
            </a:r>
            <a:r>
              <a:rPr lang="en-US" sz="750" dirty="0">
                <a:solidFill>
                  <a:srgbClr val="E9C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750" dirty="0">
                <a:solidFill>
                  <a:srgbClr val="E9C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root test configuration imports unrelated </a:t>
            </a:r>
            <a:r>
              <a:rPr lang="en-US" sz="750" dirty="0">
                <a:solidFill>
                  <a:srgbClr val="E9C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modules and currently requires SciPy. </a:t>
            </a:r>
            <a:r>
              <a:rPr lang="en-US" sz="750" dirty="0">
                <a:solidFill>
                  <a:srgbClr val="E9C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runs under the isolated core test </a:t>
            </a:r>
            <a:r>
              <a:rPr lang="en-US" sz="750" dirty="0">
                <a:solidFill>
                  <a:srgbClr val="E9C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857625" y="542925"/>
            <a:ext cx="4893469" cy="30503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857625" y="542925"/>
            <a:ext cx="4893469" cy="7144"/>
          </a:xfrm>
          <a:prstGeom prst="rect">
            <a:avLst/>
          </a:prstGeom>
          <a:solidFill>
            <a:srgbClr val="4B5960"/>
          </a:solidFill>
          <a:ln/>
        </p:spPr>
      </p:sp>
      <p:sp>
        <p:nvSpPr>
          <p:cNvPr id="9" name="Text 6"/>
          <p:cNvSpPr/>
          <p:nvPr/>
        </p:nvSpPr>
        <p:spPr>
          <a:xfrm>
            <a:off x="3857625" y="700088"/>
            <a:ext cx="1107281" cy="850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E9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14/14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4964906" y="828675"/>
            <a:ext cx="357187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spc="1" kern="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/ PYTHON ISOLATED CORE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964906" y="965802"/>
            <a:ext cx="35718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Manifest + reference behavior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64906" y="1251552"/>
            <a:ext cx="318951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Fixture-manifest acceptance and tamper rejection, plus focused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964906" y="1399394"/>
            <a:ext cx="149187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SDK behavior under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456778" y="1377962"/>
            <a:ext cx="164596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B5C0B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--confcutdir=tests/core_contract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8102743" y="1399394"/>
            <a:ext cx="5145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857625" y="1714500"/>
            <a:ext cx="1107281" cy="850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E9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4/4</a:t>
            </a:r>
            <a:endParaRPr lang="en-US" sz="3150" dirty="0"/>
          </a:p>
        </p:txBody>
      </p:sp>
      <p:sp>
        <p:nvSpPr>
          <p:cNvPr id="17" name="Text 14"/>
          <p:cNvSpPr/>
          <p:nvPr/>
        </p:nvSpPr>
        <p:spPr>
          <a:xfrm>
            <a:off x="4964906" y="1843088"/>
            <a:ext cx="357187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spc="1" kern="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/ RUST PARITY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964906" y="1980214"/>
            <a:ext cx="35718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corpus and manifest boundary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64906" y="2248105"/>
            <a:ext cx="3571875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Canonicalization vectors, existing parity scope, manifest tamper rejection, and all 17 named fixture outcome comparisons.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857625" y="2728913"/>
            <a:ext cx="1107281" cy="850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E9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4/4</a:t>
            </a:r>
            <a:endParaRPr lang="en-US" sz="3150" dirty="0"/>
          </a:p>
        </p:txBody>
      </p:sp>
      <p:sp>
        <p:nvSpPr>
          <p:cNvPr id="21" name="Text 18"/>
          <p:cNvSpPr/>
          <p:nvPr/>
        </p:nvSpPr>
        <p:spPr>
          <a:xfrm>
            <a:off x="4964906" y="2857500"/>
            <a:ext cx="357187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spc="1" kern="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/ DURABLE QUORUM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964906" y="2994627"/>
            <a:ext cx="35718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Restart, inclusion, and tamper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64906" y="3262517"/>
            <a:ext cx="3571875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Decision, rejection, and equivocation persistence; local Merkle inclusion; reopen replay; and modified-byte rejection.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28650" y="4686300"/>
            <a:ext cx="7886700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778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class: tested contract · Commands and artifact hashes are preserved in the K1 chained execution report.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78656"/>
            <a:ext cx="2357438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spc="2" kern="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REUSABLE SKILL / VALIDATED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628650" y="965076"/>
            <a:ext cx="2357438" cy="1049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</a:t>
            </a:r>
            <a:r>
              <a:rPr lang="en-US" sz="2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2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closure process</a:t>
            </a:r>
            <a:r>
              <a:rPr lang="en-US" sz="2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2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repeatable.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28650" y="2207084"/>
            <a:ext cx="2357438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skill packages the K1 discipline so future verification waves begin from an inspectable evidence boundary instead of ad hoc test accumulation.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8650" y="3059869"/>
            <a:ext cx="2357438" cy="437108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r>
              <a:rPr lang="en-US" sz="7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700" b="1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quick_validate.py → PASS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400425" y="485775"/>
            <a:ext cx="521493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EVIDENCE-FIRST QUORUM RELEASE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3400425" y="667941"/>
            <a:ext cx="5214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guardrailed moves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00425" y="1160859"/>
            <a:ext cx="500063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00488" y="1160859"/>
            <a:ext cx="146446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Freeze inputs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364956" y="1160859"/>
            <a:ext cx="2821781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 source revision, fixture path, SHA-256, counts, adapters, and limitations in one manifest.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3400425" y="1646634"/>
            <a:ext cx="500063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900488" y="1646634"/>
            <a:ext cx="146446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 identically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364956" y="1646634"/>
            <a:ext cx="2821781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every adapter to verify the same bytes and emit a named terminal outcome or explicit gap.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3400425" y="2132409"/>
            <a:ext cx="500063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00488" y="2132409"/>
            <a:ext cx="146446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 terminals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364956" y="2132409"/>
            <a:ext cx="2821781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decisions, rejections, and equivocations separately under canonical IDs; never discard adverse evidence.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3400425" y="2618184"/>
            <a:ext cx="500063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900488" y="2618184"/>
            <a:ext cx="146446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Checkpoint replay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364956" y="2618184"/>
            <a:ext cx="2821781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 audit events, verify inclusion, reopen storage, and make byte mutation fail the evidence path.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3400425" y="3103959"/>
            <a:ext cx="500063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900488" y="3103959"/>
            <a:ext cx="146446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and report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364956" y="3103959"/>
            <a:ext cx="2821781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focused tests, capture commands/toolchains/hashes, and state blockers without upgrading the claim.</a:t>
            </a:r>
            <a:endParaRPr lang="en-US" sz="550" dirty="0"/>
          </a:p>
        </p:txBody>
      </p:sp>
      <p:sp>
        <p:nvSpPr>
          <p:cNvPr id="24" name="Shape 21"/>
          <p:cNvSpPr/>
          <p:nvPr/>
        </p:nvSpPr>
        <p:spPr>
          <a:xfrm>
            <a:off x="628650" y="3839877"/>
            <a:ext cx="7886700" cy="797198"/>
          </a:xfrm>
          <a:prstGeom prst="rect">
            <a:avLst/>
          </a:prstGeom>
          <a:solidFill>
            <a:srgbClr val="EFEBE1"/>
          </a:solidFill>
          <a:ln/>
        </p:spPr>
      </p:sp>
      <p:sp>
        <p:nvSpPr>
          <p:cNvPr id="25" name="Text 22"/>
          <p:cNvSpPr/>
          <p:nvPr/>
        </p:nvSpPr>
        <p:spPr>
          <a:xfrm>
            <a:off x="792956" y="3968465"/>
            <a:ext cx="7558088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BF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K1 OUTPUTS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792956" y="4114912"/>
            <a:ext cx="75580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Manifest · Rust coverage · Ed25519 policy · Durable-record schema · Checkpoint report · Execution report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92956" y="4400662"/>
            <a:ext cx="5847438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50" dirty="0">
                <a:solidFill>
                  <a:srgbClr val="536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skill is a process-control artifact. It does not itself grant production consensus, key custody, or scientific validity.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85775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RELEASE STATUS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689372"/>
            <a:ext cx="8515350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Closer. </a:t>
            </a:r>
            <a:r>
              <a:rPr lang="en-US" sz="2700" b="1" i="1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bounded.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28650" y="1239441"/>
            <a:ext cx="8515350" cy="154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AC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K1 chain closes specific fixture and local durability gaps; its residual blockers remain release-gating conditions.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8650" y="1951639"/>
            <a:ext cx="364331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IN K1 / TESTED CONTRACT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28650" y="2148092"/>
            <a:ext cx="364331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now has evidence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8650" y="2623152"/>
            <a:ext cx="1308534" cy="34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AAB8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1937184" y="2623152"/>
            <a:ext cx="1026300" cy="341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9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fixture chain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2963484" y="2623152"/>
            <a:ext cx="1308534" cy="34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AAB8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17-case corpus frozen and manifest-tamper rejection tested in Python and Rust.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628650" y="3143473"/>
            <a:ext cx="1308534" cy="34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AAB8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1937184" y="3143473"/>
            <a:ext cx="1026300" cy="341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9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outcome coverage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2963484" y="3143473"/>
            <a:ext cx="1308534" cy="34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AAB8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published fixture compares named outcome and reason-code behavior.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628650" y="3663795"/>
            <a:ext cx="1308534" cy="45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AAB8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1937184" y="3663795"/>
            <a:ext cx="1026300" cy="455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9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durable quorum record kinds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2963484" y="3663795"/>
            <a:ext cx="1308534" cy="45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AAB8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Decision, rejection, and equivocation records persist under canonical identifiers.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686300" y="1951639"/>
            <a:ext cx="364331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BLOCKERS / NO PROMOTION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686300" y="2148092"/>
            <a:ext cx="364331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remains release-gating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686300" y="2623152"/>
            <a:ext cx="1308534" cy="45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DF60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5994834" y="2623152"/>
            <a:ext cx="1026300" cy="455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9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depth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7021134" y="2623152"/>
            <a:ext cx="1308534" cy="45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AAB8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Broader geometry operations and full formal bridge remain later bounded kernel work.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4686300" y="3257383"/>
            <a:ext cx="1308534" cy="45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DF60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994834" y="3257383"/>
            <a:ext cx="1026300" cy="455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9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executable Ed25519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7021134" y="3257383"/>
            <a:ext cx="1308534" cy="45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AAB8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the offline policy profile exists; vectors, verifier adapter, and lifecycle tests remain.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4686300" y="3891614"/>
            <a:ext cx="1308534" cy="569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DF60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5994834" y="3891614"/>
            <a:ext cx="1026300" cy="569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9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durable checkpoint service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7021134" y="3891614"/>
            <a:ext cx="1308534" cy="569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AAB8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Merkle log is local/in-memory; cross-process checkpoint persistence and consistency storage remain.</a:t>
            </a:r>
            <a:endParaRPr lang="en-US" sz="550" dirty="0"/>
          </a:p>
        </p:txBody>
      </p:sp>
      <p:sp>
        <p:nvSpPr>
          <p:cNvPr id="28" name="Shape 25"/>
          <p:cNvSpPr/>
          <p:nvPr/>
        </p:nvSpPr>
        <p:spPr>
          <a:xfrm>
            <a:off x="628650" y="4604035"/>
            <a:ext cx="7886700" cy="4457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28650" y="4604035"/>
            <a:ext cx="7886700" cy="7144"/>
          </a:xfrm>
          <a:prstGeom prst="rect">
            <a:avLst/>
          </a:prstGeom>
          <a:solidFill>
            <a:srgbClr val="4F6065"/>
          </a:solidFill>
          <a:ln/>
        </p:spPr>
      </p:sp>
      <p:sp>
        <p:nvSpPr>
          <p:cNvPr id="30" name="Text 27"/>
          <p:cNvSpPr/>
          <p:nvPr/>
        </p:nvSpPr>
        <p:spPr>
          <a:xfrm>
            <a:off x="628650" y="4732623"/>
            <a:ext cx="468697" cy="3099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1297372" y="4732623"/>
            <a:ext cx="5929313" cy="30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C3CE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 </a:t>
            </a:r>
            <a:r>
              <a:rPr lang="en-US" sz="750" dirty="0">
                <a:solidFill>
                  <a:srgbClr val="DF60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candidate-with-blockers</a:t>
            </a:r>
            <a:r>
              <a:rPr lang="en-US" sz="750" dirty="0">
                <a:solidFill>
                  <a:srgbClr val="C3CE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K1 improves replayable offline evidence; it does not authorize </a:t>
            </a:r>
            <a:r>
              <a:rPr lang="en-US" sz="750" dirty="0">
                <a:solidFill>
                  <a:srgbClr val="C3CE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consensus, cryptographic custody, or physical-theory claims.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9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00063"/>
            <a:ext cx="629593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GATE / OFFLINE RC PROMOTION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710803"/>
            <a:ext cx="6295932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K1 evidence into one release decision.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28650" y="1207294"/>
            <a:ext cx="5250656" cy="30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AFBC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next wave remains chained: no later promotion artifact can mask an unfinished earlier gate.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367494" y="557213"/>
            <a:ext cx="1750219" cy="808918"/>
          </a:xfrm>
          <a:prstGeom prst="rect">
            <a:avLst/>
          </a:prstGeom>
          <a:noFill/>
          <a:ln/>
        </p:spPr>
        <p:txBody>
          <a:bodyPr wrap="square" lIns="136017" tIns="110617" rIns="136017" bIns="110617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55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POSITION</a:t>
            </a:r>
            <a:r>
              <a:rPr lang="en-US" sz="55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55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CANDIDATE-WITH-BLOCKERS</a:t>
            </a:r>
            <a:r>
              <a:rPr lang="en-US" sz="55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55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closed shared-fixture </a:t>
            </a:r>
            <a:r>
              <a:rPr lang="en-US" sz="55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 and local durable </a:t>
            </a:r>
            <a:r>
              <a:rPr lang="en-US" sz="55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 only.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628650" y="2160203"/>
            <a:ext cx="1678391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K1 CLOSED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628650" y="2335225"/>
            <a:ext cx="1678391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spc="1" kern="0" dirty="0">
                <a:solidFill>
                  <a:srgbClr val="B8C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PRESENT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628650" y="2517391"/>
            <a:ext cx="1678391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fixture boundary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8650" y="3007407"/>
            <a:ext cx="1678391" cy="541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600" dirty="0">
                <a:solidFill>
                  <a:srgbClr val="B7C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named outcomes, manifest tamper rejection, and local decision/rejection/equivocation persistence are replayable.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457059" y="2024472"/>
            <a:ext cx="191040" cy="1785938"/>
          </a:xfrm>
          <a:prstGeom prst="rect">
            <a:avLst/>
          </a:prstGeom>
          <a:noFill/>
          <a:ln/>
        </p:spPr>
        <p:txBody>
          <a:bodyPr wrap="none" lIns="0" tIns="77393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648099" y="2160203"/>
            <a:ext cx="1678391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NEXT IMPLEMENTATION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2648099" y="2335225"/>
            <a:ext cx="1678391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spc="1" kern="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2648099" y="2517391"/>
            <a:ext cx="1678391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Executable Ed25519 profile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48099" y="3007407"/>
            <a:ext cx="1678391" cy="676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600" dirty="0">
                <a:solidFill>
                  <a:srgbClr val="B7C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 deterministic public-key vectors and adapter tests for PAE, active/revoked keys, policy binding, and preserved rejection evidence.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476508" y="2024472"/>
            <a:ext cx="191040" cy="1785938"/>
          </a:xfrm>
          <a:prstGeom prst="rect">
            <a:avLst/>
          </a:prstGeom>
          <a:noFill/>
          <a:ln/>
        </p:spPr>
        <p:txBody>
          <a:bodyPr wrap="none" lIns="0" tIns="77393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667548" y="2160203"/>
            <a:ext cx="1678391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DURABLE AUDIT PROMOTION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4667548" y="2335225"/>
            <a:ext cx="1678391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spc="1" kern="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4667548" y="2517391"/>
            <a:ext cx="1678391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Checkpoint persistence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67548" y="3007407"/>
            <a:ext cx="1678391" cy="676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600" dirty="0">
                <a:solidFill>
                  <a:srgbClr val="B7C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 checkpoints and proofs, replay across restart, prove consistency, and reject partial or divergent durable audit state.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6495957" y="2024472"/>
            <a:ext cx="191040" cy="1785938"/>
          </a:xfrm>
          <a:prstGeom prst="rect">
            <a:avLst/>
          </a:prstGeom>
          <a:noFill/>
          <a:ln/>
        </p:spPr>
        <p:txBody>
          <a:bodyPr wrap="none" lIns="0" tIns="77393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86996" y="2160203"/>
            <a:ext cx="1678391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RELEASE DECISION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6686996" y="2335225"/>
            <a:ext cx="1678391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spc="1" kern="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500" dirty="0"/>
          </a:p>
        </p:txBody>
      </p:sp>
      <p:sp>
        <p:nvSpPr>
          <p:cNvPr id="24" name="Text 21"/>
          <p:cNvSpPr/>
          <p:nvPr/>
        </p:nvSpPr>
        <p:spPr>
          <a:xfrm>
            <a:off x="6686996" y="2517391"/>
            <a:ext cx="1678391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QG5 operational review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86996" y="3007407"/>
            <a:ext cx="1678391" cy="676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600" dirty="0">
                <a:solidFill>
                  <a:srgbClr val="B7C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 key lifecycle, incident response, retention, ownership, resource limits, and clean CI evidence before naming an offline RC.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628650" y="4139022"/>
            <a:ext cx="7886700" cy="7282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28650" y="4139022"/>
            <a:ext cx="7886700" cy="7144"/>
          </a:xfrm>
          <a:prstGeom prst="rect">
            <a:avLst/>
          </a:prstGeom>
          <a:solidFill>
            <a:srgbClr val="4A5A60"/>
          </a:solidFill>
          <a:ln/>
        </p:spPr>
      </p:sp>
      <p:sp>
        <p:nvSpPr>
          <p:cNvPr id="28" name="Text 25"/>
          <p:cNvSpPr/>
          <p:nvPr/>
        </p:nvSpPr>
        <p:spPr>
          <a:xfrm>
            <a:off x="628650" y="4267609"/>
            <a:ext cx="3571875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RULE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628650" y="4428344"/>
            <a:ext cx="3571875" cy="43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 only when every gate emits a replayable artifact.</a:t>
            </a:r>
            <a:r>
              <a:rPr lang="en-US" sz="650" dirty="0">
                <a:solidFill>
                  <a:srgbClr val="C1C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Missing evidence is a blocker or explicit `unverifiable` state—</a:t>
            </a:r>
            <a:r>
              <a:rPr lang="en-US" sz="650" dirty="0">
                <a:solidFill>
                  <a:srgbClr val="C1C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an implied success.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586288" y="4267609"/>
            <a:ext cx="3571875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NON-GOAL PERSISTS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4586288" y="4428344"/>
            <a:ext cx="3571875" cy="287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C1C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an offline RC would not authorize production consensus, live key custody, network discovery, or a physical-theory claim.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628650" y="5053031"/>
            <a:ext cx="7886700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768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CHAIN: Ed25519 vectors → persistent checkpoint/proof replay → QG5 review → clean release-evidence bundle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2026-08-19T11:54:10Z</dcterms:created>
  <dcterms:modified xsi:type="dcterms:W3CDTF">2026-08-19T11:54:10Z</dcterms:modified>
</cp:coreProperties>
</file>