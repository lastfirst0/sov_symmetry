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1463"/>
            <a:ext cx="26081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SOVEREIGN ENGINE / IMPLEMENTATION BRIEF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711386" y="276820"/>
            <a:ext cx="197541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CONTRACT V0.1 · AUGUST 2026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57200" y="1716900"/>
            <a:ext cx="494581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1" kern="0" dirty="0">
                <a:solidFill>
                  <a:srgbClr val="D936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6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EVIDENCE-FIRST BUILD SYSTEM </a:t>
            </a:r>
            <a:r>
              <a:rPr lang="en-US" sz="1050" spc="1" kern="0" dirty="0">
                <a:solidFill>
                  <a:srgbClr val="D936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877634"/>
            <a:ext cx="4945819" cy="980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5200"/>
              </a:lnSpc>
              <a:buNone/>
            </a:pPr>
            <a:r>
              <a:rPr lang="en-US" sz="3800" b="1" spc="-3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Evidence–</a:t>
            </a:r>
            <a:r>
              <a:rPr lang="en-US" sz="3800" b="1" spc="-3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800" b="1" spc="-3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 </a:t>
            </a:r>
            <a:r>
              <a:rPr lang="en-US" sz="3800" b="1" spc="-3" kern="0" dirty="0">
                <a:solidFill>
                  <a:srgbClr val="E54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072315"/>
            <a:ext cx="4643438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FD8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bounded executable kernel for canonical data, typed invariants, replayable evidence, and controlled subsystem growth.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60294" y="1350615"/>
            <a:ext cx="22264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460294" y="1507778"/>
            <a:ext cx="2226450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reference SDK and deterministic fixture corpus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60294" y="2033513"/>
            <a:ext cx="22264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460294" y="2190676"/>
            <a:ext cx="2226450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parity harness against shared vectors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60294" y="2716411"/>
            <a:ext cx="22264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BOUNDED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460294" y="2873573"/>
            <a:ext cx="2226450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local evidence and audit primitives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60294" y="3399309"/>
            <a:ext cx="22264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460294" y="3556471"/>
            <a:ext cx="2226450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signing, network service, and quorum operation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711303"/>
            <a:ext cx="8229600" cy="2178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4711303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32747"/>
            <a:ext cx="244868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→ claim → core → evidence → adapter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278657" y="4832747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10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539062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POLICY / 01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10766"/>
            <a:ext cx="539062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meaning, evidence, and adapters separate.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556232" y="635794"/>
            <a:ext cx="213056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IS THE ONLY VERDICT SETTER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457200" y="946547"/>
            <a:ext cx="5107781" cy="3679031"/>
          </a:xfrm>
          <a:prstGeom prst="rect">
            <a:avLst/>
          </a:prstGeom>
          <a:solidFill>
            <a:srgbClr val="102321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46547"/>
            <a:ext cx="5107781" cy="7144"/>
          </a:xfrm>
          <a:prstGeom prst="rect">
            <a:avLst/>
          </a:prstGeom>
          <a:solidFill>
            <a:srgbClr val="345D4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72" y="1375172"/>
            <a:ext cx="4643438" cy="28217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7888" y="1225153"/>
            <a:ext cx="2728913" cy="657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higher layer may explain, store, transport, or inspect a result. None may silently upgrade it.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57888" y="2096970"/>
            <a:ext cx="242888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3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6300788" y="2096970"/>
            <a:ext cx="2386013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50" b="1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r>
              <a:rPr lang="en-US" sz="90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preserves originals and authority.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957888" y="2454548"/>
            <a:ext cx="242888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3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6300788" y="2454548"/>
            <a:ext cx="2386013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50" b="1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</a:t>
            </a:r>
            <a:r>
              <a:rPr lang="en-US" sz="90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records assumptions and falsifiers.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957888" y="2812126"/>
            <a:ext cx="242888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3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6300788" y="2812126"/>
            <a:ext cx="2386013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50" b="1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r>
              <a:rPr lang="en-US" sz="90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owns deterministic evaluation.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957888" y="3169704"/>
            <a:ext cx="242888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3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6300788" y="3169704"/>
            <a:ext cx="2386013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50" b="1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r>
              <a:rPr lang="en-US" sz="90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records outputs, reasons, and limits.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957888" y="3527282"/>
            <a:ext cx="242888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C3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6300788" y="3527282"/>
            <a:ext cx="2386013" cy="1432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850" b="1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</a:t>
            </a:r>
            <a:r>
              <a:rPr lang="en-US" sz="90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renders without mutating semantics.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957888" y="3834854"/>
            <a:ext cx="2728913" cy="376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PROHIBITED SHORTCUTS: UI default injection · dynamic evaluator loading · narrative-to-verdict promotion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457200" y="4754166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57200" y="4754166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4861322"/>
            <a:ext cx="180736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planes / one-way authority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8278657" y="4861322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300724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CONTRACT V0.1 / DETERMINISTIC BOUNDARY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10766"/>
            <a:ext cx="300724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now deterministic.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825728" y="242888"/>
            <a:ext cx="2861072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NETWORK · NO KEYS · NO MUTABLE VERDICT STATE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457200" y="1175147"/>
            <a:ext cx="8229600" cy="657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75147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825228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9" name="Text 6"/>
          <p:cNvSpPr/>
          <p:nvPr/>
        </p:nvSpPr>
        <p:spPr>
          <a:xfrm>
            <a:off x="915237" y="1375172"/>
            <a:ext cx="168051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A9C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canonical_body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74342" y="1375172"/>
            <a:ext cx="1200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72985" y="1375172"/>
            <a:ext cx="10803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JCS bytes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31903" y="1375172"/>
            <a:ext cx="1200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30545" y="1375172"/>
            <a:ext cx="8402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49423" y="1375172"/>
            <a:ext cx="1200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48065" y="1375172"/>
            <a:ext cx="22806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spc="-1" kern="0" dirty="0">
                <a:solidFill>
                  <a:srgbClr val="A9C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sov:sha256:&lt;digest&gt;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118122"/>
            <a:ext cx="8229600" cy="22931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118122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18" name="Text 15"/>
          <p:cNvSpPr/>
          <p:nvPr/>
        </p:nvSpPr>
        <p:spPr>
          <a:xfrm>
            <a:off x="642938" y="2275284"/>
            <a:ext cx="236458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CANONICALIZATION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42938" y="2443163"/>
            <a:ext cx="23645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byte representation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2938" y="2689622"/>
            <a:ext cx="2364581" cy="292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UTF-16 key order, duplicate-key rejection, UTF-8, and no raw mathematical floats.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86138" y="2275284"/>
            <a:ext cx="236458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VALIDATION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386138" y="2443163"/>
            <a:ext cx="23645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+ semantics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386138" y="2689622"/>
            <a:ext cx="2364581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shape is necessary; reference kinds, dimensions, slots, and scalar constraints are checked next.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29338" y="2275284"/>
            <a:ext cx="23717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SCALARS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129338" y="2443163"/>
            <a:ext cx="23717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by default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129338" y="2689622"/>
            <a:ext cx="2371725" cy="292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Integers and reduced rationals support predicate meaning without hidden numerical drift.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2938" y="3418284"/>
            <a:ext cx="236458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ERRORS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42938" y="3586163"/>
            <a:ext cx="23645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failure path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2938" y="3832622"/>
            <a:ext cx="2364581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operation, missing reference, unsupported scalar, and predicate failure do not blur together.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386138" y="3418284"/>
            <a:ext cx="236458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RESULTS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3386138" y="3586163"/>
            <a:ext cx="23645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terminal states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386138" y="3832622"/>
            <a:ext cx="44587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FD4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917733" y="3832622"/>
            <a:ext cx="2229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F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226421" y="3832622"/>
            <a:ext cx="6687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7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unverifiable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386138" y="4011216"/>
            <a:ext cx="2364581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and release state remain separate.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129338" y="3418284"/>
            <a:ext cx="23717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VERSIONING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129338" y="3586163"/>
            <a:ext cx="23717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registry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129338" y="3832622"/>
            <a:ext cx="2371725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Operations, conventions, schemas, and migrations are explicit artifacts—not dynamic imports or defaults.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546997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7200" y="4546997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41" name="Text 38"/>
          <p:cNvSpPr/>
          <p:nvPr/>
        </p:nvSpPr>
        <p:spPr>
          <a:xfrm>
            <a:off x="457200" y="4647009"/>
            <a:ext cx="204060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semantics precede adapters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8278657" y="4647009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545643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IMPLEMENTATION / PYTHON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03622"/>
            <a:ext cx="545643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enough to inspect. Strict enough to refuse.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04069" y="632222"/>
            <a:ext cx="158273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SOV_EVIDENCE_GEOMETRY_CORE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7200" y="1380530"/>
            <a:ext cx="8572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/ 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471613" y="1192337"/>
            <a:ext cx="32218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JSON intake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71613" y="1399505"/>
            <a:ext cx="322183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duplicate keys, non-finite constants, and malformed document structure before semantics are considered.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50606" y="1384102"/>
            <a:ext cx="103584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PARSE_STRICT_JSON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57200" y="1930598"/>
            <a:ext cx="8572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 / 02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471613" y="1742405"/>
            <a:ext cx="32218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representation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471613" y="1949574"/>
            <a:ext cx="322183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stable UTF-8 contract bytes; raw floating-point values are not admitted into mathematical payloads.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50606" y="1934170"/>
            <a:ext cx="103584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CANONICALIZE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457200" y="2480667"/>
            <a:ext cx="8572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/ 03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471613" y="2292362"/>
            <a:ext cx="32218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44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content ID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71613" y="2499531"/>
            <a:ext cx="3221831" cy="265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 canonical body to </a:t>
            </a:r>
            <a:r>
              <a:rPr lang="en-US" sz="650" spc="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SOV:SHA256:&lt;DIGEST&gt;</a:t>
            </a: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a mismatched ID is </a:t>
            </a: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typed failure.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50606" y="2484239"/>
            <a:ext cx="103584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DERIVE_ID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57200" y="3030736"/>
            <a:ext cx="8572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/ 04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471613" y="2842543"/>
            <a:ext cx="32218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+ semantic validation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471613" y="3049712"/>
            <a:ext cx="3221831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reference kinds, manifold dimensions, sparse components, scalar form, and status consistency.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50606" y="3034308"/>
            <a:ext cx="103584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VALIDATE_CORE_RECORD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457200" y="3580805"/>
            <a:ext cx="8572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 / 05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471613" y="3392500"/>
            <a:ext cx="32218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invariant registry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471613" y="3599669"/>
            <a:ext cx="3221831" cy="265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only known operations. Unsupported requests become </a:t>
            </a:r>
            <a:r>
              <a:rPr lang="en-US" sz="650" spc="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UNVERIFIABLE</a:t>
            </a:r>
            <a:r>
              <a:rPr lang="en-US" sz="800" dirty="0">
                <a:solidFill>
                  <a:srgbClr val="CAD7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never improvised execution.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850606" y="3584377"/>
            <a:ext cx="103584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50" spc="1" kern="0" dirty="0">
                <a:solidFill>
                  <a:srgbClr val="A8C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REFERENCEINTERPRETER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257925" y="1214438"/>
            <a:ext cx="242887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stores.</a:t>
            </a:r>
            <a:r>
              <a:rPr lang="en-US" sz="13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3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semantic boundary.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257925" y="1762274"/>
            <a:ext cx="2428875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in-memory store enables focused reference tests. The file store adds atomic local replay without modifying the object model.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57925" y="2513205"/>
            <a:ext cx="242887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CHECKS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257925" y="2681083"/>
            <a:ext cx="24288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tensor.dimension.v1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257925" y="2838245"/>
            <a:ext cx="24288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tensor.symmetry.v1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6257925" y="2995408"/>
            <a:ext cx="24288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metric.inverse.v1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257925" y="3152570"/>
            <a:ext cx="24288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connection.torsion_free.v1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257925" y="3309733"/>
            <a:ext cx="24288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evidence.replay.v1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6257925" y="3581195"/>
            <a:ext cx="2428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dirty="0">
                <a:solidFill>
                  <a:srgbClr val="D6D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EXCLUDED BY DESIGN:</a:t>
            </a:r>
            <a:r>
              <a:rPr lang="en-US" sz="950" dirty="0">
                <a:solidFill>
                  <a:srgbClr val="D6D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6D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runtime imports · agent </a:t>
            </a:r>
            <a:r>
              <a:rPr lang="en-US" sz="950" dirty="0">
                <a:solidFill>
                  <a:srgbClr val="D6D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· network I/O · key </a:t>
            </a:r>
            <a:r>
              <a:rPr lang="en-US" sz="950" dirty="0">
                <a:solidFill>
                  <a:srgbClr val="D6D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custody · dynamic evaluator </a:t>
            </a:r>
            <a:r>
              <a:rPr lang="en-US" sz="950" dirty="0">
                <a:solidFill>
                  <a:srgbClr val="D6DE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· GU physical verdicts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166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" y="4754166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861322"/>
            <a:ext cx="250701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kernel / local-only / fail-closed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8278657" y="4861322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598043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CROSS-LANGUAGE GATE / G2 FOUNDATION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10766"/>
            <a:ext cx="598043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parity: shared vectors, not parallel assumptions.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556232" y="242888"/>
            <a:ext cx="213056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FOCUSED CRATE · SOV-CONTRACT-PARITY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0" y="732234"/>
            <a:ext cx="6893719" cy="54515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1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Rust path does not invent its own fixtures. It consumes Python-reference objects, recomputes their canonical bytes and IDs, then reproduces the named invariant outcome.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577429"/>
            <a:ext cx="8229600" cy="1357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577429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927598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10" name="Text 7"/>
          <p:cNvSpPr/>
          <p:nvPr/>
        </p:nvSpPr>
        <p:spPr>
          <a:xfrm>
            <a:off x="628650" y="1756023"/>
            <a:ext cx="19811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AUTHORITATIVE VECTOR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28650" y="1931045"/>
            <a:ext cx="198116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reference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8650" y="2216795"/>
            <a:ext cx="1981163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immutable Core Contract records and scenario expectations from the same canonical object model.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81263" y="1577429"/>
            <a:ext cx="628650" cy="1357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74A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3581363" y="1756023"/>
            <a:ext cx="198121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SHARED ARTIFACT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581363" y="1931045"/>
            <a:ext cx="198121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vector set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581363" y="2216795"/>
            <a:ext cx="1981219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 object bodies, final IDs, operation IDs, inputs, terminal status, and reason codes into one test corpus.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34031" y="1577429"/>
            <a:ext cx="628650" cy="1357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74AD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534131" y="1756023"/>
            <a:ext cx="198121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INDEPENDENT CHECK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534131" y="1931045"/>
            <a:ext cx="198121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harness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534131" y="2216795"/>
            <a:ext cx="1981219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D3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Recompute SHA-256 IDs and evaluate the bounded predicate subset without importing the legacy runtime.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184773"/>
            <a:ext cx="8229600" cy="11144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184773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23" name="Text 20"/>
          <p:cNvSpPr/>
          <p:nvPr/>
        </p:nvSpPr>
        <p:spPr>
          <a:xfrm>
            <a:off x="628650" y="3327648"/>
            <a:ext cx="266746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INVARIANT SCENARIOS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28650" y="3509814"/>
            <a:ext cx="2667465" cy="76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inverse </a:t>
            </a:r>
            <a:r>
              <a:rPr lang="en-US" sz="650" dirty="0">
                <a:solidFill>
                  <a:srgbClr val="E85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inverse </a:t>
            </a:r>
            <a:r>
              <a:rPr lang="en-US" sz="650" dirty="0">
                <a:solidFill>
                  <a:srgbClr val="E85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 symmetry </a:t>
            </a:r>
            <a:r>
              <a:rPr lang="en-US" sz="650" dirty="0">
                <a:solidFill>
                  <a:srgbClr val="E85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 symmetry </a:t>
            </a:r>
            <a:r>
              <a:rPr lang="en-US" sz="650" dirty="0">
                <a:solidFill>
                  <a:srgbClr val="E85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operation </a:t>
            </a:r>
            <a:r>
              <a:rPr lang="en-US" sz="650" dirty="0">
                <a:solidFill>
                  <a:srgbClr val="E85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unverifiable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646159" y="3327648"/>
            <a:ext cx="280464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 SURFACES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646159" y="3509814"/>
            <a:ext cx="2804647" cy="76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bytes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IDs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selection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status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reason codes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6800850" y="3327648"/>
            <a:ext cx="1714500" cy="347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950" spc="-2" kern="0" dirty="0">
                <a:solidFill>
                  <a:srgbClr val="E54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2/2</a:t>
            </a:r>
            <a:endParaRPr lang="en-US" sz="2950" dirty="0"/>
          </a:p>
        </p:txBody>
      </p:sp>
      <p:sp>
        <p:nvSpPr>
          <p:cNvPr id="28" name="Text 25"/>
          <p:cNvSpPr/>
          <p:nvPr/>
        </p:nvSpPr>
        <p:spPr>
          <a:xfrm>
            <a:off x="6800850" y="3767658"/>
            <a:ext cx="1714500" cy="34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D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TESTS PASS</a:t>
            </a:r>
            <a:r>
              <a:rPr lang="en-US" sz="600" dirty="0">
                <a:solidFill>
                  <a:srgbClr val="D3D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00" dirty="0">
                <a:solidFill>
                  <a:srgbClr val="D3D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hash vector + cross-</a:t>
            </a:r>
            <a:r>
              <a:rPr lang="en-US" sz="600" dirty="0">
                <a:solidFill>
                  <a:srgbClr val="D3DD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scenarios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457200" y="4434929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57200" y="4434929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534942"/>
            <a:ext cx="285677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 claim: bounded vectors and predicates only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8278657" y="4534942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322629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PERSISTENCE / LOCAL REFERENCE IMPLEMENTATION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17909"/>
            <a:ext cx="32262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local evidence.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99615" y="242888"/>
            <a:ext cx="328718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WRITER · LOCAL FILESYSTEM · REPLAYABLE MANIFEST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7200" y="846534"/>
            <a:ext cx="607218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100" dirty="0">
                <a:solidFill>
                  <a:srgbClr val="D0DC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persistence layer stores validated canonical records by content ID, then preserves a replayable local trail of exactly what was written.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51980"/>
            <a:ext cx="8229600" cy="1628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551980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173611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10" name="Text 7"/>
          <p:cNvSpPr/>
          <p:nvPr/>
        </p:nvSpPr>
        <p:spPr>
          <a:xfrm>
            <a:off x="585788" y="1730573"/>
            <a:ext cx="11144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VALIDATE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85788" y="1955602"/>
            <a:ext cx="1114425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before write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788" y="2371279"/>
            <a:ext cx="1114425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Schema, semantic references, and derived identity must resolve before bytes touch durable storage.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828800" y="1551980"/>
            <a:ext cx="342900" cy="1614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CA9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300288" y="1730573"/>
            <a:ext cx="11144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ADDRESS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300288" y="1955602"/>
            <a:ext cx="1114425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selects path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00288" y="2371279"/>
            <a:ext cx="1114425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ID maps to an object path; identical content is idempotent, different bytes are rejected.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43300" y="1551980"/>
            <a:ext cx="342900" cy="1614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CA9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014788" y="1730573"/>
            <a:ext cx="11144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COMMIT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014788" y="1955602"/>
            <a:ext cx="1114425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local write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14788" y="2371279"/>
            <a:ext cx="1114425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 file, file sync, atomic rename, then a canonical manifest entry form the local commit sequence.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57800" y="1551980"/>
            <a:ext cx="342900" cy="1614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CA9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729288" y="1730573"/>
            <a:ext cx="11144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REOPEN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729288" y="1955602"/>
            <a:ext cx="1114425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Replay the ledger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29288" y="2371279"/>
            <a:ext cx="1114425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fresh store instance reads objects and recomputes the manifest root without relying on process memory.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72300" y="1551980"/>
            <a:ext cx="342900" cy="1614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CA9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443788" y="1730573"/>
            <a:ext cx="11144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DETECT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443788" y="1955602"/>
            <a:ext cx="1114425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 tampering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43788" y="2371279"/>
            <a:ext cx="1114425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Missing, altered, duplicated, or manifest-mismatched records stop verification with typed evidence errors.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3502223"/>
            <a:ext cx="469768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NOW SUPPORTED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57200" y="3670102"/>
            <a:ext cx="4697685" cy="3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reopen, manifest replay, record-hash comparison, content-address collision detection, and a deterministic local root.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554935" y="3502223"/>
            <a:ext cx="313186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 REMAINS EXPLICIT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554935" y="3670102"/>
            <a:ext cx="3131865" cy="496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000" dirty="0">
                <a:solidFill>
                  <a:srgbClr val="E54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claimed:</a:t>
            </a: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WORM media, replication, public </a:t>
            </a: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transparency, distributed consensus, or cryptographic </a:t>
            </a: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signing service.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324034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57200" y="4324034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424046"/>
            <a:ext cx="355641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is an adapter; canonical core semantics remain upstream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8278657" y="4424046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319682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LAYER / EXECUTABLE LOCAL PRIMITIVES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10766"/>
            <a:ext cx="319682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Executable audit primitives.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043179" y="639366"/>
            <a:ext cx="164362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STATUS ≠ CORE VERDICT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7200" y="1243013"/>
            <a:ext cx="2607469" cy="65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45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 exactly what was evaluated—then make the binding inspectable.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2052656"/>
            <a:ext cx="2607469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E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audit layer begins after a core result exists. It never decides an invariant and never rewrites canonical evidence.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2730531"/>
            <a:ext cx="2607469" cy="63423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REFERENCE PROFILE</a:t>
            </a: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writer · unsigned events</a:t>
            </a: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public log · no key custody</a:t>
            </a: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65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production transparency claim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3407569" y="1560575"/>
            <a:ext cx="54019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BIND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407569" y="1721309"/>
            <a:ext cx="1578769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DSSE PAE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407569" y="1965257"/>
            <a:ext cx="1578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BD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Pre-authentication encoding commits both payload type and exact serialized bytes.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86338" y="1417700"/>
            <a:ext cx="2714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1560575"/>
            <a:ext cx="54019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NAME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257800" y="1721309"/>
            <a:ext cx="1578769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event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257800" y="1965257"/>
            <a:ext cx="1578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BD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event body receives a deterministic audit content identifier.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36569" y="1417700"/>
            <a:ext cx="2714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08031" y="1560575"/>
            <a:ext cx="66018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COMMIT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108031" y="1721309"/>
            <a:ext cx="1578769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Merkle checkpoint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108031" y="1965257"/>
            <a:ext cx="15787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BD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Domain-separated leaf and node hashes produce a local log root.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57800" y="2489262"/>
            <a:ext cx="157876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407569" y="2903600"/>
            <a:ext cx="66018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REPLAY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407569" y="3064334"/>
            <a:ext cx="1578769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proof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407569" y="3308282"/>
            <a:ext cx="15787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BD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Prefix-replay checks that an earlier local tree is preserved by a later tree.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986338" y="2760725"/>
            <a:ext cx="2714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257800" y="2903600"/>
            <a:ext cx="72023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INSPECT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257800" y="3064334"/>
            <a:ext cx="1578769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Inclusion proof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257800" y="3308282"/>
            <a:ext cx="1578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BD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path recomputes the named event’s membership in a checkpoint root.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36569" y="2760725"/>
            <a:ext cx="2714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08031" y="2903600"/>
            <a:ext cx="66018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CLOSED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108031" y="3064334"/>
            <a:ext cx="1578769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Tamper detection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108031" y="3308282"/>
            <a:ext cx="1578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BD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 payload, leaf hash, path, root, or tree size returns a failed verification.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4185624"/>
            <a:ext cx="8229600" cy="4613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57200" y="4185624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299924"/>
            <a:ext cx="2628900" cy="34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EF5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Implemented: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DSSE PAE byte vector, events, 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checkpoints, inclusion and prefix-replay checks.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3257550" y="4299924"/>
            <a:ext cx="2628900" cy="34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EF5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Bounded: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audit attests to exact bytes and selected 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history—not truth beyond the core scope.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057900" y="4299924"/>
            <a:ext cx="2628900" cy="34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EF5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Deferred: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signatures, key policy enforcement, 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witnesses, public log operation, and production </a:t>
            </a:r>
            <a:r>
              <a:rPr lang="en-US" sz="600" dirty="0">
                <a:solidFill>
                  <a:srgbClr val="A9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service.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457200" y="4768453"/>
            <a:ext cx="8229600" cy="1964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" y="4768453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4868466"/>
            <a:ext cx="332318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first · signatures later · policy before network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8278657" y="4868466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532862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EVIDENCE / BOUNDARY STATEMENT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10766"/>
            <a:ext cx="532862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test evidence supports—and does not.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190952" y="635794"/>
            <a:ext cx="249584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IS SCOPED TO THE TESTED CONTRACT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457200" y="960834"/>
            <a:ext cx="8229600" cy="36647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60834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17997"/>
            <a:ext cx="380761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EXECUTED AND REPRODUCIBLE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57200" y="1343025"/>
            <a:ext cx="3429000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implemented kernel is testable as software.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7200" y="1998799"/>
            <a:ext cx="828675" cy="4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165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414463" y="1998799"/>
            <a:ext cx="2850356" cy="477627"/>
          </a:xfrm>
          <a:prstGeom prst="rect">
            <a:avLst/>
          </a:prstGeom>
          <a:noFill/>
          <a:ln/>
        </p:spPr>
        <p:txBody>
          <a:bodyPr wrap="square" lIns="0" tIns="8509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focused tests: canonicalization, schemas, invariant outcomes, replay, persistence, audit proofs, and tamper cases.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2583582"/>
            <a:ext cx="828675" cy="4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165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414463" y="2583582"/>
            <a:ext cx="2850356" cy="477627"/>
          </a:xfrm>
          <a:prstGeom prst="rect">
            <a:avLst/>
          </a:prstGeom>
          <a:noFill/>
          <a:ln/>
        </p:spPr>
        <p:txBody>
          <a:bodyPr wrap="square" lIns="0" tIns="8509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parity tests: exact canonical hash vector plus shared Python-generated IDs, statuses, and reason codes.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3168365"/>
            <a:ext cx="828675" cy="4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165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414463" y="3168365"/>
            <a:ext cx="2850356" cy="477627"/>
          </a:xfrm>
          <a:prstGeom prst="rect">
            <a:avLst/>
          </a:prstGeom>
          <a:noFill/>
          <a:ln/>
        </p:spPr>
        <p:txBody>
          <a:bodyPr wrap="square" lIns="0" tIns="8509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fixture cases: valid objects, invalid requests, failed predicates, tamper, determinism, and unverifiable paths.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3753148"/>
            <a:ext cx="828675" cy="320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165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414463" y="3753148"/>
            <a:ext cx="2850356" cy="320799"/>
          </a:xfrm>
          <a:prstGeom prst="rect">
            <a:avLst/>
          </a:prstGeom>
          <a:noFill/>
          <a:ln/>
        </p:spPr>
        <p:txBody>
          <a:bodyPr wrap="square" lIns="0" tIns="8509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Reusable skill validated: source authority, contract-first design, falsification, parity, and release gates.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4238253"/>
            <a:ext cx="3807619" cy="35283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ASSERTION: these results support reproducibility of the named implementation paths and fixtures.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872038" y="1117997"/>
            <a:ext cx="381476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EXPLICITLY DEFERRED OR UNSUPPORTED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872038" y="1343025"/>
            <a:ext cx="3429000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Passing software checks is not a universal truth claim.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114925" y="2077380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production signing.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DSSE PAE is implemented; keys, signature 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policy, custody, and revocation are not.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14925" y="2520293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network transparency service.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Merkle log is local, single-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writer, and test-scoped.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14925" y="2963205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operating quorum.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Multi-node aggregation remains an offline 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policy/profile specification.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14925" y="3406118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physical validation claim.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work does not verify Geometric </a:t>
            </a:r>
            <a:r>
              <a:rPr lang="en-US" sz="950" dirty="0">
                <a:solidFill>
                  <a:srgbClr val="D6D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or any external physical hypothesis.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72038" y="3941899"/>
            <a:ext cx="3814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54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rule:</a:t>
            </a:r>
            <a:r>
              <a:rPr lang="en-US" sz="10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expand only when the next subsystem passes its own </a:t>
            </a:r>
            <a:r>
              <a:rPr lang="en-US" sz="10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threat, oracle, and replay gate.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4754166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4754166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61322"/>
            <a:ext cx="285677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evidence ≠ physical interpretation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8278657" y="4861322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2888"/>
            <a:ext cx="34242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AND RELEASE DISCIPLINE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339328"/>
            <a:ext cx="34242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Trust-order architecture and gates.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64839" y="507206"/>
            <a:ext cx="292196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4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 FLOWS INWARD · ADAPTERS REMAIN OUTSIDE</a:t>
            </a:r>
            <a:endParaRPr lang="en-US" sz="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647"/>
            <a:ext cx="11144250" cy="5000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1132284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outward from the </a:t>
            </a:r>
            <a:r>
              <a:rPr lang="en-US" sz="85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core</a:t>
            </a: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never use a later layer to patch an earlier ambiguity.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0" y="1264444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0" y="1396603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Contract and static predicates establish the only verdict boundary.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0" y="1528763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0" y="1660922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 proves selected evidence can survive clean local replay.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0" y="1793081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0" y="1925241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binds exact events to checkpoints and proof verification.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0" y="2057400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0" y="2189559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quorum may aggregate compatible signed results under a separate policy.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0" y="2321719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0" y="2453878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API, dashboard, and explanations are read-only adapters to evidence semantics.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0" y="2586038"/>
            <a:ext cx="91440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 / DETERMINISM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0" y="2739628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bytes, IDs, fixtures, typed errors.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0" y="2871788"/>
            <a:ext cx="91440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 / PARITY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0" y="3025378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and Rust agree on shared vectors.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0" y="3157538"/>
            <a:ext cx="91440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 / REPLAY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0" y="3311128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restore reproduces stored evidence and manifest root.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0" y="3443288"/>
            <a:ext cx="91440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 / AUDIT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0" y="3596878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Payload binding and proof tamper cases fail closed.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0" y="3729038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DEFERRED:</a:t>
            </a: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production signing · network log · quorum operation · P2P/consensus. Their policy and threat gates are not satisfied by core tests.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0" y="3861197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→ persistence → audit → offline quorum → read-only adapters</a:t>
            </a:r>
            <a:r>
              <a:rPr lang="en-US" sz="85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1463"/>
            <a:ext cx="571868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SEQUENCE / NEXT GATED WAVE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57200" y="439341"/>
            <a:ext cx="5718683" cy="3360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450" b="1" spc="-1" kern="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 only when the invariant survives.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530182" y="678935"/>
            <a:ext cx="115661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FEATURE LEAPFROG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7200" y="925395"/>
            <a:ext cx="6072188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2DD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is intentionally narrow: each layer earns the right to exist by preserving the core contract beneath it.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689776"/>
            <a:ext cx="8229600" cy="15287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689776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211395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10" name="Text 7"/>
          <p:cNvSpPr/>
          <p:nvPr/>
        </p:nvSpPr>
        <p:spPr>
          <a:xfrm>
            <a:off x="564356" y="2082682"/>
            <a:ext cx="9131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54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/ REFERENCE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64356" y="2279135"/>
            <a:ext cx="1271588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core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4356" y="2510861"/>
            <a:ext cx="127158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SDK, Rust parity harness, local persistence, and audit primitives are executable and test-scoped.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943100" y="1689776"/>
            <a:ext cx="200025" cy="1528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1A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50281" y="1882657"/>
            <a:ext cx="66961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/ PARITY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250281" y="2079110"/>
            <a:ext cx="1271588" cy="32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Broaden Rust agreement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50281" y="2471124"/>
            <a:ext cx="127158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canonical bytes, IDs, errors, and additional invariant fixtures before a dual-core release claim.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629025" y="1689776"/>
            <a:ext cx="200025" cy="1528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1A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936206" y="1882657"/>
            <a:ext cx="66961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G3 / REPLAY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936206" y="2079110"/>
            <a:ext cx="1271588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restore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36206" y="2310836"/>
            <a:ext cx="1271588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restore must recreate selected evidence, manifest roots, and tamper detection under controlled failure cases.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14950" y="1689776"/>
            <a:ext cx="200025" cy="1528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1A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22131" y="1882657"/>
            <a:ext cx="60878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G4 / AUDIT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622131" y="2079110"/>
            <a:ext cx="1271588" cy="32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before signatures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22131" y="2471124"/>
            <a:ext cx="127158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threat model, key policy, signing fixtures, proof tests, and incident drill before attestation expansion.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000875" y="1689776"/>
            <a:ext cx="200025" cy="1528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1A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08056" y="1882657"/>
            <a:ext cx="115661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G5–G7 / EXTERNALIZE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308056" y="2079110"/>
            <a:ext cx="1271588" cy="32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1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Quorum and release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08056" y="2471124"/>
            <a:ext cx="127158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CED9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threshold tests, user auditability, reproducible release packet, then a go/no-go for service exposure.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3575726"/>
            <a:ext cx="464343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STOP CONDITIONS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57200" y="3743604"/>
            <a:ext cx="4643438" cy="50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8400"/>
              </a:lnSpc>
              <a:buNone/>
            </a:pPr>
            <a:r>
              <a:rPr lang="en-US" sz="1000" dirty="0">
                <a:solidFill>
                  <a:srgbClr val="E54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 and reopen the prior gate</a:t>
            </a: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if canonical bytes diverge, IDs collide, an oracle is </a:t>
            </a: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absent, a proof is unverifiable, an explanation hides its limit, or a policy is </a:t>
            </a: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ambiguous.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72113" y="3575726"/>
            <a:ext cx="321468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DEFERRED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472113" y="3743604"/>
            <a:ext cx="3214688" cy="3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8400"/>
              </a:lnSpc>
              <a:buNone/>
            </a:pPr>
            <a:r>
              <a:rPr lang="en-US" sz="10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signing · key custody · network log · P2P consensus · production quorum · physical-claim evaluator.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415842"/>
            <a:ext cx="8229600" cy="2035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57200" y="4415842"/>
            <a:ext cx="8229600" cy="7144"/>
          </a:xfrm>
          <a:prstGeom prst="rect">
            <a:avLst/>
          </a:prstGeom>
          <a:solidFill>
            <a:srgbClr val="315A4E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515855"/>
            <a:ext cx="367300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→ persistence → audit → offline quorum → adapter / release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8278657" y="4515855"/>
            <a:ext cx="40814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CC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2026-08-19T11:54:10Z</dcterms:created>
  <dcterms:modified xsi:type="dcterms:W3CDTF">2026-08-19T11:54:10Z</dcterms:modified>
</cp:coreProperties>
</file>