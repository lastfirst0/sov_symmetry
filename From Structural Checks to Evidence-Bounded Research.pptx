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892969"/>
            <a:ext cx="507490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 RESEARCH ARCHITECTURE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85800" y="1185863"/>
            <a:ext cx="4643438" cy="13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1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Structural Checks to Evidence-Bounded Research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85800" y="2691017"/>
            <a:ext cx="44291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C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companion layer for data provenance, uncertainty, external analysis, and neutral third-party adapter admission.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0765" y="1214438"/>
            <a:ext cx="660127" cy="471488"/>
          </a:xfrm>
          <a:prstGeom prst="rect">
            <a:avLst/>
          </a:prstGeom>
          <a:solidFill>
            <a:srgbClr val="222526"/>
          </a:solidFill>
          <a:ln w="9144">
            <a:solidFill>
              <a:srgbClr val="D646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0765" y="1214438"/>
            <a:ext cx="660127" cy="471488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DATASET</a:t>
            </a: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IDENTITY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7139453" y="2214563"/>
            <a:ext cx="827280" cy="471488"/>
          </a:xfrm>
          <a:prstGeom prst="rect">
            <a:avLst/>
          </a:prstGeom>
          <a:solidFill>
            <a:srgbClr val="222526"/>
          </a:solidFill>
          <a:ln w="9144">
            <a:solidFill>
              <a:srgbClr val="D646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9453" y="2214563"/>
            <a:ext cx="827280" cy="471488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METHOD +</a:t>
            </a: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UNCERTAINTY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210765" y="3214688"/>
            <a:ext cx="660127" cy="471488"/>
          </a:xfrm>
          <a:prstGeom prst="rect">
            <a:avLst/>
          </a:prstGeom>
          <a:solidFill>
            <a:srgbClr val="222526"/>
          </a:solidFill>
          <a:ln w="9144">
            <a:solidFill>
              <a:srgbClr val="D646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0765" y="3214688"/>
            <a:ext cx="660127" cy="471488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SCOPED</a:t>
            </a: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EVIDENCE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210765" y="4632722"/>
            <a:ext cx="281179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AA19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 DOES NOT BECOME A THEORY VERDICT BY DEFAULT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WHY A NEW LAYER IS NEEDED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42938" y="664369"/>
            <a:ext cx="78581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dirty="0">
                <a:solidFill>
                  <a:srgbClr val="1E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kernel needs an evidence companion.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42938" y="1696641"/>
            <a:ext cx="36075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766F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STRUCTURAL KERNEL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42938" y="1960959"/>
            <a:ext cx="3607594" cy="522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650" dirty="0">
                <a:solidFill>
                  <a:srgbClr val="1E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 whether a declared finite structure satisfies a named predicate.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2938" y="2626444"/>
            <a:ext cx="3607594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50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replay a receipt, compare a matrix, inspect a graph, or check a tensor relation. Those are bounded computational facts.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22044" y="1696641"/>
            <a:ext cx="32575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766F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EMPIRICAL CLAIM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922044" y="1960959"/>
            <a:ext cx="3257550" cy="783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650" dirty="0">
                <a:solidFill>
                  <a:srgbClr val="1E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data identity, lineage, uncertainty, and an external analysis method.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922044" y="2887749"/>
            <a:ext cx="3257550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50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dataset alone does not establish an observation, model fit, causal conclusion, or theory. The missing process must remain visible.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2938" y="4482703"/>
            <a:ext cx="7858125" cy="5072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42938" y="4482703"/>
            <a:ext cx="7858125" cy="7144"/>
          </a:xfrm>
          <a:prstGeom prst="rect">
            <a:avLst/>
          </a:prstGeom>
          <a:solidFill>
            <a:srgbClr val="B8AFA4"/>
          </a:solidFill>
          <a:ln/>
        </p:spPr>
      </p:sp>
      <p:sp>
        <p:nvSpPr>
          <p:cNvPr id="13" name="Text 10"/>
          <p:cNvSpPr/>
          <p:nvPr/>
        </p:nvSpPr>
        <p:spPr>
          <a:xfrm>
            <a:off x="642938" y="4482703"/>
            <a:ext cx="7858125" cy="507206"/>
          </a:xfrm>
          <a:prstGeom prst="rect">
            <a:avLst/>
          </a:prstGeom>
          <a:noFill/>
          <a:ln/>
        </p:spPr>
        <p:txBody>
          <a:bodyPr wrap="square" lIns="0" tIns="16154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response:</a:t>
            </a:r>
            <a:r>
              <a:rPr lang="en-US" sz="1150" dirty="0">
                <a:solidFill>
                  <a:srgbClr val="1E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record evidence without letting the deterministic kernel turn empirical or interpretive claims into automatic </a:t>
            </a:r>
            <a:r>
              <a:rPr lang="en-US" sz="1150" dirty="0">
                <a:solidFill>
                  <a:srgbClr val="1E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 values.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28625"/>
            <a:ext cx="78867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SOV.EMPIRICAL_CLAIM_PACKET · VERSION 0.1.0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28650" y="664369"/>
            <a:ext cx="788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claims become versioned packets.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650" y="1543050"/>
            <a:ext cx="2682869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statement carries the evidence needed to understand its limits.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28650" y="2652117"/>
            <a:ext cx="2682869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6B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packet can be validated for completeness and lineage. It cannot convert a measurement or model output into a theory-level verdict by itself.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04425" y="1385888"/>
            <a:ext cx="4810869" cy="2893219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8" name="Text 5"/>
          <p:cNvSpPr/>
          <p:nvPr/>
        </p:nvSpPr>
        <p:spPr>
          <a:xfrm>
            <a:off x="3925881" y="1578769"/>
            <a:ext cx="4367957" cy="2089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"packet_id": "empirical:…",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"claim_class": </a:t>
            </a:r>
            <a:r>
              <a:rPr lang="en-US" sz="750" b="1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"empirical"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"framework_id": "provenance-only",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"statement": "bounded observation/question",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"target_quantity": { unit, scope },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"datasets": [ identity + hash + access ],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"provenance": { entities, activities, agents },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"uncertainty": { components + method },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"analysis_binding": { protocol + output },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"governance": { access + review },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"non_claims": [ … ]
</a:t>
            </a:r>
            <a:r>
              <a:rPr lang="en-US" sz="80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8650" y="4407694"/>
            <a:ext cx="78867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7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REQUIRED: IDENTITY · LINEAGE · UNCERTAINTY · METHOD BINDING · EXPLICIT NON-CLAIMS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14338"/>
            <a:ext cx="791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PROVENANCE AND LINEAGE · PROV-ALIGNED DESIGN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14363" y="642938"/>
            <a:ext cx="7915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makes evidence traceable.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14363" y="1135856"/>
            <a:ext cx="6357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C0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empirical packet records the things used, the activities performed, the responsible agents, and the derivations produced—without claiming that provenance alone establishes data quality or a scientific conclusion.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14363" y="1878806"/>
            <a:ext cx="1750219" cy="1257300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7" name="Text 4"/>
          <p:cNvSpPr/>
          <p:nvPr/>
        </p:nvSpPr>
        <p:spPr>
          <a:xfrm>
            <a:off x="750094" y="2028825"/>
            <a:ext cx="147875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· ENTITY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750094" y="2218134"/>
            <a:ext cx="147875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25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version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0094" y="2498527"/>
            <a:ext cx="1478756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51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identifier, hash or stated hash absence, schema, collection window, and license.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364581" y="2421731"/>
            <a:ext cx="278606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11" name="Shape 8"/>
          <p:cNvSpPr/>
          <p:nvPr/>
        </p:nvSpPr>
        <p:spPr>
          <a:xfrm>
            <a:off x="2643188" y="1878806"/>
            <a:ext cx="1750219" cy="1257300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12" name="Text 9"/>
          <p:cNvSpPr/>
          <p:nvPr/>
        </p:nvSpPr>
        <p:spPr>
          <a:xfrm>
            <a:off x="2778919" y="2028825"/>
            <a:ext cx="147875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· ACTIVITY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778919" y="2218134"/>
            <a:ext cx="147875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25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78919" y="2498527"/>
            <a:ext cx="1478756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51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Method/software version, declared parameters, execution environment, and timestamp.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393406" y="2421731"/>
            <a:ext cx="278606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72013" y="1878806"/>
            <a:ext cx="1750219" cy="1257300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17" name="Text 14"/>
          <p:cNvSpPr/>
          <p:nvPr/>
        </p:nvSpPr>
        <p:spPr>
          <a:xfrm>
            <a:off x="4807744" y="2028825"/>
            <a:ext cx="147875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· AGENT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807744" y="2218134"/>
            <a:ext cx="147875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25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Responsibility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7744" y="2498527"/>
            <a:ext cx="1478756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51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Collector, custodian, analyst, or organization with a named role in the activity.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422231" y="2421731"/>
            <a:ext cx="278606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700838" y="1878806"/>
            <a:ext cx="1750219" cy="1257300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22" name="Text 19"/>
          <p:cNvSpPr/>
          <p:nvPr/>
        </p:nvSpPr>
        <p:spPr>
          <a:xfrm>
            <a:off x="6836569" y="2028825"/>
            <a:ext cx="147875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· DERIVATION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836569" y="2218134"/>
            <a:ext cx="147875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25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evidence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36569" y="2498527"/>
            <a:ext cx="1478756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51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entity linked back to its inputs, process, and stated access conditions.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14363" y="3979069"/>
            <a:ext cx="7915275" cy="5950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14363" y="3979069"/>
            <a:ext cx="7915275" cy="7144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27" name="Text 24"/>
          <p:cNvSpPr/>
          <p:nvPr/>
        </p:nvSpPr>
        <p:spPr>
          <a:xfrm>
            <a:off x="614363" y="4121944"/>
            <a:ext cx="17930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IDENTITY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14363" y="4296966"/>
            <a:ext cx="1793081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identity supports comparison and drift detection.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593181" y="4121944"/>
            <a:ext cx="17930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REPRODUCIBILITY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593181" y="4296966"/>
            <a:ext cx="1793081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steps are explicit rather than implied by a label.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572000" y="4121944"/>
            <a:ext cx="17930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ACCESS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572000" y="4296966"/>
            <a:ext cx="1793081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or unavailable data remain visible as a boundary.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550819" y="4121944"/>
            <a:ext cx="17930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PROVENANCE OF PROVENANCE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6550819" y="4296966"/>
            <a:ext cx="1793081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metadata itself is versioned and reviewable.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14363" y="4752715"/>
            <a:ext cx="791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AA29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SOURCE IDENTITY + ACTIVITY LINEAGE + RESPONSIBILITY + DERIVATION = INSPECTABLE EVIDENCE CONTEXT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28625"/>
            <a:ext cx="78867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EMPIRICAL PACKET · UNCERTAINTY REQUIREMENT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28650" y="657225"/>
            <a:ext cx="78867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dirty="0">
                <a:solidFill>
                  <a:srgbClr val="1D1F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must stay attached.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28650" y="1168003"/>
            <a:ext cx="78867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5C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numerical estimate is incomplete until its uncertainty construction and interpretation basis are visible.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8650" y="1782366"/>
            <a:ext cx="7886700" cy="1928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28650" y="1782366"/>
            <a:ext cx="7886700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8" name="Text 5"/>
          <p:cNvSpPr/>
          <p:nvPr/>
        </p:nvSpPr>
        <p:spPr>
          <a:xfrm>
            <a:off x="757238" y="1960959"/>
            <a:ext cx="131299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57238" y="2178844"/>
            <a:ext cx="1312999" cy="200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dirty="0">
                <a:solidFill>
                  <a:srgbClr val="1D1F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7238" y="2486583"/>
            <a:ext cx="1312999" cy="45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50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or modeled value, unit, target quantity, and stated scope.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334555" y="1960959"/>
            <a:ext cx="131299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334555" y="2178844"/>
            <a:ext cx="1312999" cy="200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dirty="0">
                <a:solidFill>
                  <a:srgbClr val="1D1F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34555" y="2486583"/>
            <a:ext cx="1312999" cy="6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50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and other uncertainty sources, with documented evaluation method.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911873" y="1960959"/>
            <a:ext cx="131299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911873" y="2178844"/>
            <a:ext cx="1312999" cy="200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dirty="0">
                <a:solidFill>
                  <a:srgbClr val="1D1F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911873" y="2486583"/>
            <a:ext cx="1312999" cy="45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50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rule or protocol for combining components into a standard uncertainty.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489191" y="1960959"/>
            <a:ext cx="131299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89191" y="2178844"/>
            <a:ext cx="1312999" cy="200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dirty="0">
                <a:solidFill>
                  <a:srgbClr val="1D1F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9191" y="2486583"/>
            <a:ext cx="1312999" cy="45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50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uncertainty and coverage factor, when reported.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066508" y="1960959"/>
            <a:ext cx="132014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7066508" y="2178844"/>
            <a:ext cx="1320143" cy="200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dirty="0">
                <a:solidFill>
                  <a:srgbClr val="1D1F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66508" y="2486583"/>
            <a:ext cx="1320143" cy="45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504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stated reason for any interval, confidence, or probability interpretation.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28650" y="4011216"/>
            <a:ext cx="7886700" cy="892969"/>
          </a:xfrm>
          <a:prstGeom prst="rect">
            <a:avLst/>
          </a:prstGeom>
          <a:solidFill>
            <a:srgbClr val="1B1D1E"/>
          </a:solidFill>
          <a:ln/>
        </p:spPr>
      </p:sp>
      <p:sp>
        <p:nvSpPr>
          <p:cNvPr id="24" name="Text 21"/>
          <p:cNvSpPr/>
          <p:nvPr/>
        </p:nvSpPr>
        <p:spPr>
          <a:xfrm>
            <a:off x="828675" y="4175522"/>
            <a:ext cx="74866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 SILENT INTERPRETATION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28675" y="4371975"/>
            <a:ext cx="7486650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coverage factor or uncertainty number does not automatically justify a confidence statement. The packet must record the basis—or state that no basis was supplied.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28650" y="5011341"/>
            <a:ext cx="78867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86F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INFORMED BY NIST TN 1297 REPORTING GUIDANCE · PACKET RECORDS UNCERTAINTY, NOT CERTAINTY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28625"/>
            <a:ext cx="78867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EMPIRICAL CLAIM LIFECYCLE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28650" y="664369"/>
            <a:ext cx="7886700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27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is bound, not assumed.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28650" y="1143000"/>
            <a:ext cx="571500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8C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packet records the evidence process before an external method can produce an analysis receipt. The structural kernel never substitutes its own empirical verdict.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8650" y="1910172"/>
            <a:ext cx="7886700" cy="1571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28650" y="1910172"/>
            <a:ext cx="7886700" cy="7144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8" name="Shape 5"/>
          <p:cNvSpPr/>
          <p:nvPr/>
        </p:nvSpPr>
        <p:spPr>
          <a:xfrm>
            <a:off x="628650" y="2253072"/>
            <a:ext cx="1243013" cy="942975"/>
          </a:xfrm>
          <a:prstGeom prst="rect">
            <a:avLst/>
          </a:prstGeom>
          <a:solidFill>
            <a:srgbClr val="232526"/>
          </a:solidFill>
          <a:ln/>
        </p:spPr>
      </p:sp>
      <p:sp>
        <p:nvSpPr>
          <p:cNvPr id="9" name="Text 6"/>
          <p:cNvSpPr/>
          <p:nvPr/>
        </p:nvSpPr>
        <p:spPr>
          <a:xfrm>
            <a:off x="742950" y="2367372"/>
            <a:ext cx="10358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· DESCRIBED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742950" y="2563825"/>
            <a:ext cx="1035844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named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2950" y="3028169"/>
            <a:ext cx="1035844" cy="376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scope, data lineage, and uncertainty fields are present.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214563" y="2253072"/>
            <a:ext cx="1243013" cy="942975"/>
          </a:xfrm>
          <a:prstGeom prst="rect">
            <a:avLst/>
          </a:prstGeom>
          <a:solidFill>
            <a:srgbClr val="232526"/>
          </a:solidFill>
          <a:ln/>
        </p:spPr>
      </p:sp>
      <p:sp>
        <p:nvSpPr>
          <p:cNvPr id="13" name="Text 10"/>
          <p:cNvSpPr/>
          <p:nvPr/>
        </p:nvSpPr>
        <p:spPr>
          <a:xfrm>
            <a:off x="2328863" y="2367372"/>
            <a:ext cx="10358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· BOUND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328863" y="2563825"/>
            <a:ext cx="103584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frozen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328863" y="2831716"/>
            <a:ext cx="1035844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Protocol, software or procedure version, inputs, and output type are declared.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3800475" y="2253072"/>
            <a:ext cx="1243013" cy="942975"/>
          </a:xfrm>
          <a:prstGeom prst="rect">
            <a:avLst/>
          </a:prstGeom>
          <a:solidFill>
            <a:srgbClr val="232526"/>
          </a:solidFill>
          <a:ln/>
        </p:spPr>
      </p:sp>
      <p:sp>
        <p:nvSpPr>
          <p:cNvPr id="17" name="Text 14"/>
          <p:cNvSpPr/>
          <p:nvPr/>
        </p:nvSpPr>
        <p:spPr>
          <a:xfrm>
            <a:off x="3914775" y="2367372"/>
            <a:ext cx="10358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· EXECUTED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914775" y="2563825"/>
            <a:ext cx="1035844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 attached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914775" y="3028169"/>
            <a:ext cx="1035844" cy="376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external process records what ran and what it produced.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386388" y="2253072"/>
            <a:ext cx="1243013" cy="942975"/>
          </a:xfrm>
          <a:prstGeom prst="rect">
            <a:avLst/>
          </a:prstGeom>
          <a:solidFill>
            <a:srgbClr val="232526"/>
          </a:solidFill>
          <a:ln/>
        </p:spPr>
      </p:sp>
      <p:sp>
        <p:nvSpPr>
          <p:cNvPr id="21" name="Text 18"/>
          <p:cNvSpPr/>
          <p:nvPr/>
        </p:nvSpPr>
        <p:spPr>
          <a:xfrm>
            <a:off x="5500688" y="2367372"/>
            <a:ext cx="10358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· REVIEWED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500688" y="2563825"/>
            <a:ext cx="103584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checked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500688" y="2831716"/>
            <a:ext cx="1035844" cy="376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review confirms the stated method and limits.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6972300" y="2253072"/>
            <a:ext cx="1243013" cy="942975"/>
          </a:xfrm>
          <a:prstGeom prst="rect">
            <a:avLst/>
          </a:prstGeom>
          <a:solidFill>
            <a:srgbClr val="232526"/>
          </a:solidFill>
          <a:ln/>
        </p:spPr>
      </p:sp>
      <p:sp>
        <p:nvSpPr>
          <p:cNvPr id="25" name="Text 22"/>
          <p:cNvSpPr/>
          <p:nvPr/>
        </p:nvSpPr>
        <p:spPr>
          <a:xfrm>
            <a:off x="7086600" y="2367372"/>
            <a:ext cx="10358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· WITHDRAWN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086600" y="2563825"/>
            <a:ext cx="1035844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retained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086600" y="3028169"/>
            <a:ext cx="1035844" cy="376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blocked packet remains identifiable with an explicit reason.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628650" y="3581809"/>
            <a:ext cx="7886700" cy="1014413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29" name="Text 26"/>
          <p:cNvSpPr/>
          <p:nvPr/>
        </p:nvSpPr>
        <p:spPr>
          <a:xfrm>
            <a:off x="828675" y="3760403"/>
            <a:ext cx="230999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92E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ANALYSIS BINDING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828675" y="3942569"/>
            <a:ext cx="2309999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300" dirty="0">
                <a:solidFill>
                  <a:srgbClr val="2022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named external process—not a hidden default.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38724" y="3738972"/>
            <a:ext cx="4797977" cy="46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453F3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REQUIRED: method/protocol ID · version or container hash · declared inputs · parameter declaration · output schema · decision rule if any · independent review requirement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538724" y="4275367"/>
            <a:ext cx="4797977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534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resulting analysis may report an estimate, interval, fit, or other scoped output. It must not be </a:t>
            </a:r>
            <a:r>
              <a:rPr lang="en-US" sz="800" dirty="0">
                <a:solidFill>
                  <a:srgbClr val="534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 into </a:t>
            </a:r>
            <a:r>
              <a:rPr lang="en-US" sz="800" dirty="0">
                <a:solidFill>
                  <a:srgbClr val="D64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theory is verified.”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28650" y="4717666"/>
            <a:ext cx="85153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AA19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STRUCTURAL KERNEL STATUS FOR AN EMPIRICAL CLAIM BEFORE EXTERNAL ANALYSIS: UNVERIFIABLE · REASON: EXTERNAL METHOD NOT YET EXECUTED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35769"/>
            <a:ext cx="78581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FIRST EXTERNAL ADAPTER · NEUTRAL ADMISSION ARCHITECTURE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42938" y="671513"/>
            <a:ext cx="78581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adapters prove neutral governance.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42938" y="1189434"/>
            <a:ext cx="6000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9C1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admission is a test of whether the kernel can accept an independently sourced bounded predicate without granting its source framework special authority.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2938" y="2039541"/>
            <a:ext cx="3000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WHAT ADMISSION PROVES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42938" y="2296716"/>
            <a:ext cx="3000375" cy="757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6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evidence discipline applies outside the original project.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42938" y="3196884"/>
            <a:ext cx="3000375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contributes a small finite object, a named predicate, explicit assumptions, fixtures, replay behavior, audit evidence, and non-claims.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2938" y="3871745"/>
            <a:ext cx="30003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OBJECT SCHEMA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PREDICATE SPECIFICATION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FROZEN FIXTURES + MUTATIONS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INDEPENDENT REVIEW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064794" y="2796778"/>
            <a:ext cx="1014413" cy="421481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11" name="Text 8"/>
          <p:cNvSpPr/>
          <p:nvPr/>
        </p:nvSpPr>
        <p:spPr>
          <a:xfrm>
            <a:off x="4064794" y="2796778"/>
            <a:ext cx="1014413" cy="42148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EIGHT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ADMISSION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GATES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500688" y="2039541"/>
            <a:ext cx="3000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WHAT ADMISSION DOES NOT PROVE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500688" y="2296716"/>
            <a:ext cx="3000375" cy="504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6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endorse, validate, or rank the source framework.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500688" y="2944453"/>
            <a:ext cx="3000375" cy="71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provenance cannot choose an evaluator. The same input and check must produce the same receipt under multiple labels, and no real framework is preselected for the pilot.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00688" y="3799024"/>
            <a:ext cx="3000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HIDDEN THEORY BRANCH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THEORY-LEVEL VERDICT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</a:t>
            </a:r>
            <a:r>
              <a:rPr lang="en-US" sz="750" dirty="0">
                <a:solidFill>
                  <a:srgbClr val="ABA3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AUTOMATIC SCIENTIFIC CONFIRMATION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2938" y="4761309"/>
            <a:ext cx="7858125" cy="2321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2938" y="4761309"/>
            <a:ext cx="7858125" cy="7144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8" name="Text 15"/>
          <p:cNvSpPr/>
          <p:nvPr/>
        </p:nvSpPr>
        <p:spPr>
          <a:xfrm>
            <a:off x="642938" y="4761309"/>
            <a:ext cx="7858125" cy="232172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E96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SUCCESS STATEMENT: THIS VERSION DETERMINISTICALLY EVALUATES THE STATED PREDICATE OVER THE DECLARED FINITE OBJECT.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14338"/>
            <a:ext cx="791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FIRST EXTERNAL ADAPTER · NEUTRAL ADMISSION ARCHITECTURE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14363" y="650081"/>
            <a:ext cx="7915275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gates protect fair admission.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14363" y="1153716"/>
            <a:ext cx="7915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8C0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candidate earns a scoped adapter release through transparent evidence—not by the prestige or ambition of its source framework.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14363" y="1560909"/>
            <a:ext cx="7915275" cy="2928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14363" y="1560909"/>
            <a:ext cx="7915275" cy="7144"/>
          </a:xfrm>
          <a:prstGeom prst="rect">
            <a:avLst/>
          </a:prstGeom>
          <a:solidFill>
            <a:srgbClr val="FCFBF9"/>
          </a:solidFill>
          <a:ln/>
        </p:spPr>
      </p:sp>
      <p:sp>
        <p:nvSpPr>
          <p:cNvPr id="8" name="Shape 5"/>
          <p:cNvSpPr/>
          <p:nvPr/>
        </p:nvSpPr>
        <p:spPr>
          <a:xfrm>
            <a:off x="614363" y="1703784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9" name="Shape 6"/>
          <p:cNvSpPr/>
          <p:nvPr/>
        </p:nvSpPr>
        <p:spPr>
          <a:xfrm>
            <a:off x="2586038" y="1703784"/>
            <a:ext cx="7144" cy="121443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0" name="Text 7"/>
          <p:cNvSpPr/>
          <p:nvPr/>
        </p:nvSpPr>
        <p:spPr>
          <a:xfrm>
            <a:off x="771525" y="1818084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 · INTENT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71525" y="2007394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1525" y="2293144"/>
            <a:ext cx="1664494" cy="2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predicate and non-claims readable without the source theory.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593181" y="1703784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14" name="Shape 11"/>
          <p:cNvSpPr/>
          <p:nvPr/>
        </p:nvSpPr>
        <p:spPr>
          <a:xfrm>
            <a:off x="4564856" y="1703784"/>
            <a:ext cx="7144" cy="121443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5" name="Text 12"/>
          <p:cNvSpPr/>
          <p:nvPr/>
        </p:nvSpPr>
        <p:spPr>
          <a:xfrm>
            <a:off x="2750344" y="1818084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 · SEMANTICS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750344" y="2007394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50344" y="2293144"/>
            <a:ext cx="1664494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object, dimensions, assumptions, and tolerance policy are explicit.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72000" y="1703784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19" name="Shape 16"/>
          <p:cNvSpPr/>
          <p:nvPr/>
        </p:nvSpPr>
        <p:spPr>
          <a:xfrm>
            <a:off x="6543675" y="1703784"/>
            <a:ext cx="7144" cy="121443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0" name="Text 17"/>
          <p:cNvSpPr/>
          <p:nvPr/>
        </p:nvSpPr>
        <p:spPr>
          <a:xfrm>
            <a:off x="4729163" y="1818084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 · EVIDENCE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729163" y="2007394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Fixtures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29163" y="2293144"/>
            <a:ext cx="1664494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positive, negative, malformed, boundary, mutation, and neutrality cases.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550819" y="1703784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24" name="Text 21"/>
          <p:cNvSpPr/>
          <p:nvPr/>
        </p:nvSpPr>
        <p:spPr>
          <a:xfrm>
            <a:off x="6707981" y="1818084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 · REFERENCE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707981" y="2007394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07981" y="2293144"/>
            <a:ext cx="1664494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reference evaluator runs deterministically without network or global state.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14363" y="3146822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28" name="Shape 25"/>
          <p:cNvSpPr/>
          <p:nvPr/>
        </p:nvSpPr>
        <p:spPr>
          <a:xfrm>
            <a:off x="2586038" y="3146822"/>
            <a:ext cx="7144" cy="121443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9" name="Text 26"/>
          <p:cNvSpPr/>
          <p:nvPr/>
        </p:nvSpPr>
        <p:spPr>
          <a:xfrm>
            <a:off x="771525" y="3261122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 · NEUTRALITY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71525" y="3450431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71525" y="3736181"/>
            <a:ext cx="1664494" cy="2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 and check under three labels yields the same receipt ID.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593181" y="3146822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33" name="Shape 30"/>
          <p:cNvSpPr/>
          <p:nvPr/>
        </p:nvSpPr>
        <p:spPr>
          <a:xfrm>
            <a:off x="4564856" y="3146822"/>
            <a:ext cx="7144" cy="121443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34" name="Text 31"/>
          <p:cNvSpPr/>
          <p:nvPr/>
        </p:nvSpPr>
        <p:spPr>
          <a:xfrm>
            <a:off x="2750344" y="3261122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 · ASSURANCE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2750344" y="3450431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750344" y="3736181"/>
            <a:ext cx="1664494" cy="27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Receipt, replay, and recorded local audit evidence are inspectable.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4572000" y="3146822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38" name="Shape 35"/>
          <p:cNvSpPr/>
          <p:nvPr/>
        </p:nvSpPr>
        <p:spPr>
          <a:xfrm>
            <a:off x="6543675" y="3146822"/>
            <a:ext cx="7144" cy="121443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39" name="Text 36"/>
          <p:cNvSpPr/>
          <p:nvPr/>
        </p:nvSpPr>
        <p:spPr>
          <a:xfrm>
            <a:off x="4729163" y="3261122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 · REVIEW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4729163" y="3450431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roles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729163" y="3736181"/>
            <a:ext cx="1664494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semantics and implementation findings must both be resolved.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550819" y="3146822"/>
            <a:ext cx="1978819" cy="1214438"/>
          </a:xfrm>
          <a:prstGeom prst="rect">
            <a:avLst/>
          </a:prstGeom>
          <a:solidFill>
            <a:srgbClr val="202324"/>
          </a:solidFill>
          <a:ln/>
        </p:spPr>
      </p:sp>
      <p:sp>
        <p:nvSpPr>
          <p:cNvPr id="43" name="Text 40"/>
          <p:cNvSpPr/>
          <p:nvPr/>
        </p:nvSpPr>
        <p:spPr>
          <a:xfrm>
            <a:off x="6707981" y="3261122"/>
            <a:ext cx="1664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 · RELEASE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707981" y="3450431"/>
            <a:ext cx="16644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707981" y="3736181"/>
            <a:ext cx="1664494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package, test report, manifest, scope, and rollback point are published.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14363" y="4589859"/>
            <a:ext cx="79152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BLOCKER RULE:</a:t>
            </a:r>
            <a:r>
              <a:rPr lang="en-US" sz="600" spc="1" kern="0" dirty="0">
                <a:solidFill>
                  <a:srgbClr val="AAA19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ANY UNRESOLVED SEMANTIC, NEUTRALITY, OR EVIDENCE FAILURE STOPS ADMISSION.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28625"/>
            <a:ext cx="78867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FIRST EXTERNAL ADAPTER · PILOT SELECTION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28650" y="664369"/>
            <a:ext cx="78867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framework is preselected.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28650" y="1175147"/>
            <a:ext cx="642937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7C0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pilot starts only when a candidate submits a bounded, independently readable predicate and agrees to the same evidence gates applied to every other source.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8650" y="1878025"/>
            <a:ext cx="3075775" cy="2786063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7" name="Text 4"/>
          <p:cNvSpPr/>
          <p:nvPr/>
        </p:nvSpPr>
        <p:spPr>
          <a:xfrm>
            <a:off x="842963" y="2078050"/>
            <a:ext cx="26471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92E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CANDIDATE MUST OFFER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842963" y="2303078"/>
            <a:ext cx="2647150" cy="4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500" dirty="0">
                <a:solidFill>
                  <a:srgbClr val="2022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small, open, checkable contribution.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2963" y="2879713"/>
            <a:ext cx="2647150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object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stable notation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50" b="1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predicate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explicit assumptions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50" b="1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fixtures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clear license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50" b="1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reference evaluator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no hidden services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50" b="1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non-claims</a:t>
            </a:r>
            <a:r>
              <a:rPr lang="en-US" sz="800" dirty="0">
                <a:solidFill>
                  <a:srgbClr val="4C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willing maintainers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964725" y="2871006"/>
            <a:ext cx="1214438" cy="464344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11" name="Text 8"/>
          <p:cNvSpPr/>
          <p:nvPr/>
        </p:nvSpPr>
        <p:spPr>
          <a:xfrm>
            <a:off x="3964725" y="2871006"/>
            <a:ext cx="1214438" cy="464344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ctr" indent="0" marL="0">
              <a:lnSpc>
                <a:spcPct val="110400"/>
              </a:lnSpc>
              <a:buNone/>
            </a:pP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NEUTRAL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ADMISSION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BOUNDARY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718070" y="2078050"/>
            <a:ext cx="27971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SCOPED SUCCESS STATEMENT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718070" y="2303078"/>
            <a:ext cx="2797169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5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 proves only deterministic evaluation of the declared predicate.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18070" y="3118024"/>
            <a:ext cx="2797169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prove that the source framework is true, complete, preferred, scientifically confirmed, or more fundamental than alternatives.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18070" y="3857179"/>
            <a:ext cx="2797169" cy="555761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“This adapter version evaluates this predicate over this declared finite object.”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8650" y="4821250"/>
            <a:ext cx="78867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SELECTION RULE:</a:t>
            </a:r>
            <a:r>
              <a:rPr lang="en-US" sz="600" dirty="0">
                <a:solidFill>
                  <a:srgbClr val="A49C9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THE FIRST PILOT IS CHOSEN FOR EVALUABILITY AND OPEN EVIDENCE—NOT FOR ONTOLOGICAL PROMINENCE.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14338"/>
            <a:ext cx="791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NEXT-STAGE RESEARCH ROADMAP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14363" y="650081"/>
            <a:ext cx="7915275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tracks, one evidence discipline.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14363" y="1153716"/>
            <a:ext cx="79152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0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empirical layer makes data and uncertainty inspectable. The external-adapter path makes framework contributions fairly admissible.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14363" y="1639491"/>
            <a:ext cx="7915275" cy="23574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14363" y="1639491"/>
            <a:ext cx="7915275" cy="7144"/>
          </a:xfrm>
          <a:prstGeom prst="rect">
            <a:avLst/>
          </a:prstGeom>
          <a:solidFill>
            <a:srgbClr val="FCFBF9"/>
          </a:solidFill>
          <a:ln/>
        </p:spPr>
      </p:sp>
      <p:sp>
        <p:nvSpPr>
          <p:cNvPr id="8" name="Text 5"/>
          <p:cNvSpPr/>
          <p:nvPr/>
        </p:nvSpPr>
        <p:spPr>
          <a:xfrm>
            <a:off x="614363" y="1753791"/>
            <a:ext cx="13573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TRACK A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14363" y="1943100"/>
            <a:ext cx="135731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5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evidence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4363" y="2454548"/>
            <a:ext cx="1357313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BD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and bind evidence without forcing a theory verdict.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336006" y="1753791"/>
            <a:ext cx="17737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A1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336006" y="1935956"/>
            <a:ext cx="1773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 schema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36006" y="2171700"/>
            <a:ext cx="1773771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C8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data lineage, access, license, target quantity, and non-claims.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336006" y="2519065"/>
            <a:ext cx="1773771" cy="2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A7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NOT: a claim that data are sufficient.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452677" y="1753791"/>
            <a:ext cx="17737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A2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452677" y="1935956"/>
            <a:ext cx="1773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model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52677" y="2171700"/>
            <a:ext cx="1773771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C8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Components, combination, coverage, assumptions, and interpretation basis.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452677" y="2519065"/>
            <a:ext cx="1773771" cy="2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A7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NOT: an automatic confidence claim.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569348" y="1753791"/>
            <a:ext cx="17737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A3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569348" y="1935956"/>
            <a:ext cx="1773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binding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69348" y="2171700"/>
            <a:ext cx="1773771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C8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protocol, executable/version, inputs, outputs, and independent review.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569348" y="2657029"/>
            <a:ext cx="1773771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A7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NOT: a kernel empirical verdict.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14363" y="2832497"/>
            <a:ext cx="13573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TRACK B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14363" y="3021806"/>
            <a:ext cx="135731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5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adapter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14363" y="3313249"/>
            <a:ext cx="1357313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BD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 one independently sourced predicate without special ontology.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336006" y="2832497"/>
            <a:ext cx="17737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B1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336006" y="3014663"/>
            <a:ext cx="1773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brief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336006" y="3250406"/>
            <a:ext cx="1773771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C8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finite object, readable predicate, open fixtures, and explicit scope.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336006" y="3597771"/>
            <a:ext cx="1773771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A7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NOT: a preselected framework.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452677" y="2832497"/>
            <a:ext cx="17737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B2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452677" y="3014663"/>
            <a:ext cx="1773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gates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452677" y="3250406"/>
            <a:ext cx="1773771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C8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Semantics, fixtures, replay, neutrality, assurance, review, and release.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452677" y="3597771"/>
            <a:ext cx="1773771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A7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NOT: source prestige as evidence.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6569348" y="2832497"/>
            <a:ext cx="17737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B3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6569348" y="3014663"/>
            <a:ext cx="1773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Scoped release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69348" y="3250406"/>
            <a:ext cx="1773771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C8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package, manifest, tests, receipt behavior, and rollback point.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569348" y="3597771"/>
            <a:ext cx="1773771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A7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NOT: theory-level endorsement.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0" y="4082653"/>
            <a:ext cx="9144000" cy="792956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39" name="Text 36"/>
          <p:cNvSpPr/>
          <p:nvPr/>
        </p:nvSpPr>
        <p:spPr>
          <a:xfrm>
            <a:off x="192881" y="4225528"/>
            <a:ext cx="87653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SHARED CONVERGENCE RULE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192881" y="4414838"/>
            <a:ext cx="87653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new capability must make </a:t>
            </a:r>
            <a:r>
              <a:rPr lang="en-US" sz="125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identity, assumptions, method, evidence, scope, replay, and non-claims</a:t>
            </a:r>
            <a:r>
              <a:rPr lang="en-US" sz="1250" dirty="0">
                <a:solidFill>
                  <a:srgbClr val="232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visible before it can </a:t>
            </a:r>
            <a:r>
              <a:rPr lang="en-US" sz="1250" dirty="0">
                <a:solidFill>
                  <a:srgbClr val="232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 a receipt or public claim.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14363" y="4982766"/>
            <a:ext cx="79152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F978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EVIDENCE PORTABILITY · FAIR ADMISSION · EXPLICIT UNCERTAINTY · NO HIDDEN ONTOLOGY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71563"/>
            <a:ext cx="9144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EMPIRICAL EVIDENCE LAYER + NEUTRAL ADAPTER ADMISSION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1357313" y="1428750"/>
            <a:ext cx="6429375" cy="141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6400"/>
              </a:lnSpc>
              <a:buNone/>
            </a:pPr>
            <a:r>
              <a:rPr lang="en-US" sz="33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evidence </a:t>
            </a:r>
            <a:r>
              <a:rPr lang="en-US" sz="335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portable.</a:t>
            </a:r>
            <a:r>
              <a:rPr lang="en-US" sz="33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3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process </a:t>
            </a:r>
            <a:r>
              <a:rPr lang="en-US" sz="335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inspectable.</a:t>
            </a:r>
            <a:r>
              <a:rPr lang="en-US" sz="33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3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uncertainty </a:t>
            </a:r>
            <a:r>
              <a:rPr lang="en-US" sz="335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honest.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2035969" y="3404890"/>
            <a:ext cx="5072063" cy="6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3600"/>
              </a:lnSpc>
              <a:buNone/>
            </a:pPr>
            <a:r>
              <a:rPr lang="en-US" sz="1150" dirty="0">
                <a:solidFill>
                  <a:srgbClr val="C9C1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versioned evidence packet and fair admission process can improve research traceability—without turning data, methods, or frameworks into automatic authority.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0" y="3542072"/>
            <a:ext cx="91440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1" kern="0" dirty="0">
                <a:solidFill>
                  <a:srgbClr val="A39B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IDENTITY · PROVENANCE · UNCERTAINTY · EXTERNAL METHOD · REVIEW · EXPLICIT NON-CLAIM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2026-08-19T11:54:12Z</dcterms:created>
  <dcterms:modified xsi:type="dcterms:W3CDTF">2026-08-19T11:54:12Z</dcterms:modified>
</cp:coreProperties>
</file>