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163594"/>
            <a:ext cx="495486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STAKEHOLDER BRIEFING · UNIVERSAL KERNEL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14375" y="1485063"/>
            <a:ext cx="4643438" cy="1327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000" b="1" dirty="0">
                <a:solidFill>
                  <a:srgbClr val="F3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Engine:</a:t>
            </a:r>
            <a:r>
              <a:rPr lang="en-US" sz="3000" b="1" dirty="0">
                <a:solidFill>
                  <a:srgbClr val="F3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000" b="1" dirty="0">
                <a:solidFill>
                  <a:srgbClr val="F3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Theory-Agnostic</a:t>
            </a:r>
            <a:r>
              <a:rPr lang="en-US" sz="3000" b="1" dirty="0">
                <a:solidFill>
                  <a:srgbClr val="F3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000" b="1" dirty="0">
                <a:solidFill>
                  <a:srgbClr val="F3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Kernel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14375" y="3012653"/>
            <a:ext cx="4214813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C1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common evidence layer below theories—built to compare declared structures fairly, verify named checks precisely, and preserve uncertainty honestly.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90717" y="1321594"/>
            <a:ext cx="660127" cy="471488"/>
          </a:xfrm>
          <a:prstGeom prst="rect">
            <a:avLst/>
          </a:prstGeom>
          <a:solidFill>
            <a:srgbClr val="202324"/>
          </a:solidFill>
          <a:ln w="9144">
            <a:solidFill>
              <a:srgbClr val="D646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0717" y="1321594"/>
            <a:ext cx="660127" cy="471488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DECLARED</a:t>
            </a: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CLAIM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6976542" y="2286000"/>
            <a:ext cx="492975" cy="471488"/>
          </a:xfrm>
          <a:prstGeom prst="rect">
            <a:avLst/>
          </a:prstGeom>
          <a:solidFill>
            <a:srgbClr val="202324"/>
          </a:solidFill>
          <a:ln w="9144">
            <a:solidFill>
              <a:srgbClr val="D646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76542" y="2286000"/>
            <a:ext cx="492975" cy="471488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NAMED</a:t>
            </a: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CHECK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019279" y="3328988"/>
            <a:ext cx="827280" cy="471488"/>
          </a:xfrm>
          <a:prstGeom prst="rect">
            <a:avLst/>
          </a:prstGeom>
          <a:solidFill>
            <a:srgbClr val="202324"/>
          </a:solidFill>
          <a:ln w="9144">
            <a:solidFill>
              <a:srgbClr val="D646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19279" y="3328988"/>
            <a:ext cx="827280" cy="471488"/>
          </a:xfrm>
          <a:prstGeom prst="rect">
            <a:avLst/>
          </a:prstGeom>
          <a:noFill/>
          <a:ln/>
        </p:spPr>
        <p:txBody>
          <a:bodyPr wrap="none" lIns="119126" tIns="119126" rIns="119126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INSPECTABLE</a:t>
            </a: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F3EDE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RECEIPT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090717" y="4611291"/>
            <a:ext cx="263604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BA49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 LABELS ARE PROVENANCE, NOT ONTOLOGY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485775"/>
            <a:ext cx="78295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PRODUCT CORRECTION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57225" y="721519"/>
            <a:ext cx="7829550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9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correction changes the product.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7225" y="1810941"/>
            <a:ext cx="35933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56F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RISK TO AVOID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57225" y="2082403"/>
            <a:ext cx="3593306" cy="55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800" dirty="0">
                <a:solidFill>
                  <a:srgbClr val="19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local check quietly becomes an implied theory or worldview.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7225" y="2793318"/>
            <a:ext cx="3593306" cy="57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50" dirty="0">
                <a:solidFill>
                  <a:srgbClr val="514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name can create accidental authority: the user sees a passing result and assumes the whole framework has been validated.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22044" y="1810941"/>
            <a:ext cx="32432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56F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KERNEL ROLE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922044" y="2082403"/>
            <a:ext cx="3243263" cy="830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800" dirty="0">
                <a:solidFill>
                  <a:srgbClr val="19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framework label is </a:t>
            </a:r>
            <a:r>
              <a:rPr lang="en-US" sz="1700" b="1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</a:t>
            </a:r>
            <a:r>
              <a:rPr lang="en-US" sz="1800" dirty="0">
                <a:solidFill>
                  <a:srgbClr val="19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never evaluator </a:t>
            </a:r>
            <a:r>
              <a:rPr lang="en-US" sz="1800" dirty="0">
                <a:solidFill>
                  <a:srgbClr val="191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22044" y="3070194"/>
            <a:ext cx="3243263" cy="761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50" dirty="0">
                <a:solidFill>
                  <a:srgbClr val="514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evaluates only a declared object and named predicate. A receipt supports that narrow statement—and no broader scientific, interpretive, or metaphysical conclusion.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7225" y="4539853"/>
            <a:ext cx="78295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56F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KEEP RESEARCH DIVERSE · KEEP EVALUATION EXPLICIT · KEEP NON-CLAIMS VISIBLE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64344"/>
            <a:ext cx="7858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UNIVERSAL ADAPTER CONTRACT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42938" y="707231"/>
            <a:ext cx="7858125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enter as explicit packets.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2938" y="1460897"/>
            <a:ext cx="290750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kernel can only assess what the packet makes visible.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2938" y="2400300"/>
            <a:ext cx="2907506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ID</a:t>
            </a: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tells us where a claim came from. It </a:t>
            </a: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choose a special evaluator.</a:t>
            </a: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850" b="1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class</a:t>
            </a: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empirical, interpretive, or </a:t>
            </a: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metaphysical statements from being forced into a </a:t>
            </a: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verdict.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43350" y="1460897"/>
            <a:ext cx="4557713" cy="2786063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8" name="Text 5"/>
          <p:cNvSpPr/>
          <p:nvPr/>
        </p:nvSpPr>
        <p:spPr>
          <a:xfrm>
            <a:off x="4186238" y="1660922"/>
            <a:ext cx="4071938" cy="1736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"schema": "sov.structural_claim_packet",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"framework_id": </a:t>
            </a:r>
            <a:r>
              <a:rPr lang="en-US" sz="800" b="1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"framework:example"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"claim_id": "claim:matrix-symmetry",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"claim_class": "structural",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"check": "matrix.symmetric.v1",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"input": [[1, 2], [2, 4]],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"assumptions": ["exact finite equality"],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"source_refs": ["declared provenance"]
</a:t>
            </a:r>
            <a:r>
              <a:rPr lang="en-US" sz="850" dirty="0">
                <a:solidFill>
                  <a:srgbClr val="2527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86238" y="3526334"/>
            <a:ext cx="40719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46E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RED = PROVENANCE ONLY · THE CHECK AND INPUT DETERMINE THE RECEIPT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392906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COMPARATIVE ADAPTER EVIDENCE · 7 FRAMEWORK LABELS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14363" y="621506"/>
            <a:ext cx="7915275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1EA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structure. Same receipt.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14363" y="1117997"/>
            <a:ext cx="7915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7BE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adapter reads framework labels as provenance only; the named check and declared input determine the result.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4363" y="1710928"/>
            <a:ext cx="187032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AA19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SHARED STRUCTURAL CLAIM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14363" y="1985963"/>
            <a:ext cx="187032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= [ 1 2 ]</a:t>
            </a:r>
            <a:r>
              <a:rPr lang="en-US" sz="16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16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[ 2 4 ]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4363" y="2764631"/>
            <a:ext cx="187032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matrix.symmetric.v1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34767" y="1553766"/>
            <a:ext cx="293708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AA19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PROVENANCE LABELS SUBMITTED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306217" y="1759148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framework:geometric-unity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306217" y="2087761"/>
            <a:ext cx="12858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framework:causal-set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06217" y="2416373"/>
            <a:ext cx="186451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framework:exceptional-algebra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06217" y="2744986"/>
            <a:ext cx="18002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framework:amplitudes-twistor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06217" y="3073598"/>
            <a:ext cx="212169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framework:noncommutative-geometry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06217" y="340221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framework:holographic-qec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06217" y="3730823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1EA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framework:custom-research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371890" y="1553766"/>
            <a:ext cx="2157803" cy="3000375"/>
          </a:xfrm>
          <a:prstGeom prst="rect">
            <a:avLst/>
          </a:prstGeom>
          <a:solidFill>
            <a:srgbClr val="EEE7DA"/>
          </a:solidFill>
          <a:ln/>
        </p:spPr>
      </p:sp>
      <p:sp>
        <p:nvSpPr>
          <p:cNvPr id="18" name="Text 15"/>
          <p:cNvSpPr/>
          <p:nvPr/>
        </p:nvSpPr>
        <p:spPr>
          <a:xfrm>
            <a:off x="6543340" y="1739503"/>
            <a:ext cx="181490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B52F2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ONE IDENTICAL OUTCOME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543340" y="1985963"/>
            <a:ext cx="181490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32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43340" y="2475309"/>
            <a:ext cx="1814903" cy="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0" dirty="0">
                <a:solidFill>
                  <a:srgbClr val="4A47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sov:sha256:38b2c892520739e9e602202e2b8a3e78ff4f8ba80b2159d1bf09f0539d07fbd8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543340" y="3019630"/>
            <a:ext cx="181490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23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demonstrates </a:t>
            </a:r>
            <a:r>
              <a:rPr lang="en-US" sz="750" b="1" dirty="0">
                <a:solidFill>
                  <a:srgbClr val="23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neutrality</a:t>
            </a:r>
            <a:r>
              <a:rPr lang="en-US" sz="800" dirty="0">
                <a:solidFill>
                  <a:srgbClr val="23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one declared check. It </a:t>
            </a:r>
            <a:r>
              <a:rPr lang="en-US" sz="800" dirty="0">
                <a:solidFill>
                  <a:srgbClr val="23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</a:t>
            </a:r>
            <a:r>
              <a:rPr lang="en-US" sz="800" dirty="0">
                <a:solidFill>
                  <a:srgbClr val="D64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sz="800" dirty="0">
                <a:solidFill>
                  <a:srgbClr val="23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that the </a:t>
            </a:r>
            <a:r>
              <a:rPr lang="en-US" sz="800" dirty="0">
                <a:solidFill>
                  <a:srgbClr val="232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are equivalent.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4363" y="4711303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AA19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RESULT: THE SAME INPUT PRODUCED THE SAME RECEIPT ID UNDER ALL SEVEN LABELS.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42913"/>
            <a:ext cx="78581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RECEIPT MODEL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42938" y="678656"/>
            <a:ext cx="7858125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honest outcomes.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2938" y="1203722"/>
            <a:ext cx="78581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5D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result is local to the declared check, input, and stated assumptions.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42938" y="1746647"/>
            <a:ext cx="7858125" cy="22145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1746647"/>
            <a:ext cx="7858125" cy="7144"/>
          </a:xfrm>
          <a:prstGeom prst="rect">
            <a:avLst/>
          </a:prstGeom>
          <a:solidFill>
            <a:srgbClr val="B9B0A5"/>
          </a:solidFill>
          <a:ln/>
        </p:spPr>
      </p:sp>
      <p:sp>
        <p:nvSpPr>
          <p:cNvPr id="8" name="Shape 5"/>
          <p:cNvSpPr/>
          <p:nvPr/>
        </p:nvSpPr>
        <p:spPr>
          <a:xfrm>
            <a:off x="642938" y="3954066"/>
            <a:ext cx="7858125" cy="7144"/>
          </a:xfrm>
          <a:prstGeom prst="rect">
            <a:avLst/>
          </a:prstGeom>
          <a:solidFill>
            <a:srgbClr val="B9B0A5"/>
          </a:solidFill>
          <a:ln/>
        </p:spPr>
      </p:sp>
      <p:sp>
        <p:nvSpPr>
          <p:cNvPr id="9" name="Text 6"/>
          <p:cNvSpPr/>
          <p:nvPr/>
        </p:nvSpPr>
        <p:spPr>
          <a:xfrm>
            <a:off x="885825" y="1989534"/>
            <a:ext cx="213330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66F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VERIFIED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885825" y="2253853"/>
            <a:ext cx="2133302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766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in this check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85825" y="2807494"/>
            <a:ext cx="2133302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named predicate held for the declared structure. The receipt records exactly what was checked and its scope.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12046" y="1989534"/>
            <a:ext cx="212615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66F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512046" y="2253853"/>
            <a:ext cx="2126159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539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hold in this check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512046" y="3061097"/>
            <a:ext cx="2126159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was sufficient, and a mismatch or violation was found. The receipt identifies where it occurred.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31123" y="1989534"/>
            <a:ext cx="212615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766F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UNVERIFIABLE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6131123" y="2253853"/>
            <a:ext cx="212615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be checked here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131123" y="2807494"/>
            <a:ext cx="2126159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input, representation, or evidence process is not sufficient. The kernel does not guess or disguise uncertainty.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2938" y="4239816"/>
            <a:ext cx="7143750" cy="44358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2938" y="4239816"/>
            <a:ext cx="35719" cy="443582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20" name="Text 17"/>
          <p:cNvSpPr/>
          <p:nvPr/>
        </p:nvSpPr>
        <p:spPr>
          <a:xfrm>
            <a:off x="642938" y="4239816"/>
            <a:ext cx="7143750" cy="443582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these outcomes proves—or disproves—an entire scientific framework, interpretation, or theory of reality.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2938" y="4811985"/>
            <a:ext cx="78581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56F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LOCAL RESULT · EXPLICIT SCOPE · NO THEORY-LEVEL PROMOTION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14338"/>
            <a:ext cx="79152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CURRENT UNIVERSAL ADAPTER PORTFOLIO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14363" y="642938"/>
            <a:ext cx="7915275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portfolio is growing carefully.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14363" y="1139428"/>
            <a:ext cx="5715000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capability is a bounded object plus a named predicate, fixtures, replay path, scope, and non-claim—not a shortcut to a framework-level conclusion.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14363" y="1763055"/>
            <a:ext cx="7915275" cy="3000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14363" y="1763055"/>
            <a:ext cx="7915275" cy="7144"/>
          </a:xfrm>
          <a:prstGeom prst="rect">
            <a:avLst/>
          </a:prstGeom>
          <a:solidFill>
            <a:srgbClr val="FCFBF9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2041661"/>
            <a:ext cx="31892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MATRIX.SYMMETRIC.V1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14363" y="2213111"/>
            <a:ext cx="31892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symmetry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4363" y="2455999"/>
            <a:ext cx="31892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equality to transpose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340400" y="2041661"/>
            <a:ext cx="31892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MATRIX.IDENTITY.V1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340400" y="2213111"/>
            <a:ext cx="31892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structure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40400" y="2455999"/>
            <a:ext cx="31892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one, off-diagonal zero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4363" y="2848905"/>
            <a:ext cx="31892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MATRIX.INVERSE.V1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14363" y="3020355"/>
            <a:ext cx="31892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Declared inverse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4363" y="3263243"/>
            <a:ext cx="31892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 product equals identity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340400" y="2848905"/>
            <a:ext cx="31892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RELATION.PARTIAL_ORDER.V1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340400" y="3020355"/>
            <a:ext cx="31892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partial order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40400" y="3263243"/>
            <a:ext cx="31892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Reflexive, antisymmetric, transitive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363" y="3656149"/>
            <a:ext cx="31892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GRAPH.UNDIRECTED_CONNECTED.V1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614363" y="3827599"/>
            <a:ext cx="31892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connectivity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4363" y="4070486"/>
            <a:ext cx="31892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Reachability in a simple undirected graph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40400" y="3656149"/>
            <a:ext cx="31892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TENSOR.RANK3_LAST_INDICES_SYMMETRIC.V1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340400" y="3827599"/>
            <a:ext cx="31892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 index symmetry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40400" y="4070486"/>
            <a:ext cx="31892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7C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final-index component symmetry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4363" y="4777718"/>
            <a:ext cx="7915275" cy="2560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14363" y="4777718"/>
            <a:ext cx="7915275" cy="7144"/>
          </a:xfrm>
          <a:prstGeom prst="rect">
            <a:avLst/>
          </a:prstGeom>
          <a:solidFill>
            <a:srgbClr val="FCFBF9"/>
          </a:solidFill>
          <a:ln/>
        </p:spPr>
      </p:sp>
      <p:sp>
        <p:nvSpPr>
          <p:cNvPr id="28" name="Text 25"/>
          <p:cNvSpPr/>
          <p:nvPr/>
        </p:nvSpPr>
        <p:spPr>
          <a:xfrm>
            <a:off x="614363" y="4777718"/>
            <a:ext cx="7915275" cy="256059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F2ECD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ADMISSION RULE:</a:t>
            </a:r>
            <a:r>
              <a:rPr lang="en-US" sz="650" dirty="0">
                <a:solidFill>
                  <a:srgbClr val="A69F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explicit object · predicate · assumptions · positive/negative/malformed fixtures · receipt scope · replay · audit · non-claims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650" y="0"/>
            <a:ext cx="7886700" cy="11287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28650" y="1121569"/>
            <a:ext cx="7886700" cy="7144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5" name="Text 2"/>
          <p:cNvSpPr/>
          <p:nvPr/>
        </p:nvSpPr>
        <p:spPr>
          <a:xfrm>
            <a:off x="628650" y="442913"/>
            <a:ext cx="78867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PROGRESSIVE ASSURANCE · OPTIONAL DEPTH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28650" y="671513"/>
            <a:ext cx="78867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27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Assurance is optional and inspectable.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28650" y="1371600"/>
            <a:ext cx="5572125" cy="421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1150" dirty="0">
                <a:solidFill>
                  <a:srgbClr val="D5CE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user can read the result. Advanced users can independently retrace the evidence—one bounded layer at a time.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8650" y="3150059"/>
            <a:ext cx="1570174" cy="842963"/>
          </a:xfrm>
          <a:prstGeom prst="rect">
            <a:avLst/>
          </a:prstGeom>
          <a:solidFill>
            <a:srgbClr val="222526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" y="3150059"/>
            <a:ext cx="1570174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0" name="Text 7"/>
          <p:cNvSpPr/>
          <p:nvPr/>
        </p:nvSpPr>
        <p:spPr>
          <a:xfrm>
            <a:off x="771525" y="3321509"/>
            <a:ext cx="12987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· EVERYDAY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71525" y="3521534"/>
            <a:ext cx="12987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Readable receipt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1525" y="3794782"/>
            <a:ext cx="129871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8C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checked, why it held or failed, and the scope.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205968" y="2914315"/>
            <a:ext cx="1570174" cy="1078706"/>
          </a:xfrm>
          <a:prstGeom prst="rect">
            <a:avLst/>
          </a:prstGeom>
          <a:solidFill>
            <a:srgbClr val="222526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5968" y="2914315"/>
            <a:ext cx="1570174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5" name="Text 12"/>
          <p:cNvSpPr/>
          <p:nvPr/>
        </p:nvSpPr>
        <p:spPr>
          <a:xfrm>
            <a:off x="2348843" y="3085765"/>
            <a:ext cx="12987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· REPLAY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2348843" y="3285790"/>
            <a:ext cx="129871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 provenance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348843" y="3746562"/>
            <a:ext cx="1298711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8C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input and named check reproduce the same receipt ID.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783285" y="2678571"/>
            <a:ext cx="1570174" cy="1314450"/>
          </a:xfrm>
          <a:prstGeom prst="rect">
            <a:avLst/>
          </a:prstGeom>
          <a:solidFill>
            <a:srgbClr val="222526"/>
          </a:solidFill>
          <a:ln/>
        </p:spPr>
      </p:sp>
      <p:sp>
        <p:nvSpPr>
          <p:cNvPr id="19" name="Shape 16"/>
          <p:cNvSpPr/>
          <p:nvPr/>
        </p:nvSpPr>
        <p:spPr>
          <a:xfrm>
            <a:off x="3783285" y="2678571"/>
            <a:ext cx="1570174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20" name="Text 17"/>
          <p:cNvSpPr/>
          <p:nvPr/>
        </p:nvSpPr>
        <p:spPr>
          <a:xfrm>
            <a:off x="3926160" y="2850021"/>
            <a:ext cx="12987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· LOCAL RECORD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926160" y="3050046"/>
            <a:ext cx="12987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attachment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26160" y="3323295"/>
            <a:ext cx="1298711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8C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local bundle, event, and checkpoint artifacts.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60603" y="2442828"/>
            <a:ext cx="1570174" cy="1550194"/>
          </a:xfrm>
          <a:prstGeom prst="rect">
            <a:avLst/>
          </a:prstGeom>
          <a:solidFill>
            <a:srgbClr val="222526"/>
          </a:solidFill>
          <a:ln/>
        </p:spPr>
      </p:sp>
      <p:sp>
        <p:nvSpPr>
          <p:cNvPr id="24" name="Shape 21"/>
          <p:cNvSpPr/>
          <p:nvPr/>
        </p:nvSpPr>
        <p:spPr>
          <a:xfrm>
            <a:off x="5360603" y="2442828"/>
            <a:ext cx="1570174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25" name="Text 22"/>
          <p:cNvSpPr/>
          <p:nvPr/>
        </p:nvSpPr>
        <p:spPr>
          <a:xfrm>
            <a:off x="5503478" y="2614278"/>
            <a:ext cx="12987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· INCLUSION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503478" y="2814303"/>
            <a:ext cx="12987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Merkle proof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03478" y="3087551"/>
            <a:ext cx="1298711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8C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recorded event is checked against its local checkpoint root.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937921" y="2207084"/>
            <a:ext cx="1570174" cy="1785938"/>
          </a:xfrm>
          <a:prstGeom prst="rect">
            <a:avLst/>
          </a:prstGeom>
          <a:solidFill>
            <a:srgbClr val="222526"/>
          </a:solidFill>
          <a:ln/>
        </p:spPr>
      </p:sp>
      <p:sp>
        <p:nvSpPr>
          <p:cNvPr id="29" name="Shape 26"/>
          <p:cNvSpPr/>
          <p:nvPr/>
        </p:nvSpPr>
        <p:spPr>
          <a:xfrm>
            <a:off x="6937921" y="2207084"/>
            <a:ext cx="1570174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30" name="Text 27"/>
          <p:cNvSpPr/>
          <p:nvPr/>
        </p:nvSpPr>
        <p:spPr>
          <a:xfrm>
            <a:off x="7080796" y="2378534"/>
            <a:ext cx="129871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· FIXTURE CRYPTO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080796" y="2578559"/>
            <a:ext cx="129871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Ed25519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080796" y="2851807"/>
            <a:ext cx="1298711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8C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test vector is checked against an active policy-listed key.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28650" y="4164471"/>
            <a:ext cx="46613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4ADA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ABSENT EVIDENCE IS NEVER TREATED AS TRUST · EACH LAYER STATES ITS OWN SCOPE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309202" y="4168043"/>
            <a:ext cx="320614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LOCAL EVIDENCE ≠ PUBLIC LOG OR PRODUCTION CONSENSUS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457200"/>
            <a:ext cx="78295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ARCHIVAL CONTEXT POLICY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57225" y="692944"/>
            <a:ext cx="7829550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is preserved, not privileged.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7225" y="1232297"/>
            <a:ext cx="60721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9C1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Theory-specific documents remain valuable provenance. They do not define evaluator semantics or turn a local receipt into a theory-level verdict.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7225" y="1889522"/>
            <a:ext cx="2975204" cy="2571750"/>
          </a:xfrm>
          <a:prstGeom prst="rect">
            <a:avLst/>
          </a:prstGeom>
          <a:solidFill>
            <a:srgbClr val="EEE8DC"/>
          </a:solidFill>
          <a:ln/>
        </p:spPr>
      </p:sp>
      <p:sp>
        <p:nvSpPr>
          <p:cNvPr id="7" name="Text 4"/>
          <p:cNvSpPr/>
          <p:nvPr/>
        </p:nvSpPr>
        <p:spPr>
          <a:xfrm>
            <a:off x="900113" y="2118122"/>
            <a:ext cx="248942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8322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ARCHIVAL RESEARCH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900113" y="2375297"/>
            <a:ext cx="2489429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600" dirty="0">
                <a:solidFill>
                  <a:srgbClr val="2022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source trail intact.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00113" y="2743870"/>
            <a:ext cx="2489429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transcripts, meaning-layer notes, research comparisons, and prior decks are indexed rather than erased.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42988" y="3411587"/>
            <a:ext cx="234655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where a claim originated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42988" y="3577679"/>
            <a:ext cx="234655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competing ideas and assumptions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42988" y="3743771"/>
            <a:ext cx="234655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4000"/>
              </a:lnSpc>
              <a:buSzPct val="100000"/>
              <a:buChar char="•"/>
            </a:pPr>
            <a:r>
              <a:rPr lang="en-US" sz="800" dirty="0">
                <a:solidFill>
                  <a:srgbClr val="2022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future adapter proposals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05262" y="2918222"/>
            <a:ext cx="1028700" cy="51077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14" name="Text 11"/>
          <p:cNvSpPr/>
          <p:nvPr/>
        </p:nvSpPr>
        <p:spPr>
          <a:xfrm>
            <a:off x="3705262" y="2918222"/>
            <a:ext cx="1028700" cy="510778"/>
          </a:xfrm>
          <a:prstGeom prst="rect">
            <a:avLst/>
          </a:prstGeom>
          <a:noFill/>
          <a:ln/>
        </p:spPr>
        <p:txBody>
          <a:bodyPr wrap="none" lIns="68072" tIns="93599" rIns="68072" bIns="93599" rtlCol="0" anchor="t">
            <a:spAutoFit/>
          </a:bodyPr>
          <a:lstStyle/>
          <a:p>
            <a:pPr algn="ctr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EXPLICIT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ADMISSION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spc="1" kern="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BOUNDARY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106888" y="2110978"/>
            <a:ext cx="33798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ACTIVE KERNEL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106888" y="2368153"/>
            <a:ext cx="337983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6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bounded claims cross the boundary.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06888" y="2976711"/>
            <a:ext cx="3379831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C9C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future adapter must name its object, predicate, assumptions, fixtures, receipt scope, replay behavior, audit behavior, and non-claims. A framework name remains provenance only.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06888" y="3744441"/>
            <a:ext cx="3379831" cy="564356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source text, tradition, or theory label can silently become active kernel ontology.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7225" y="4618434"/>
            <a:ext cx="78295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F99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47 THEORY-SPECIFIC HISTORICAL RECORDS INDEXED AS ARCHIVAL CONTEXT · ACTIVE POLICY: THEORY-AGNOSTIC UNIVERSAL KERNEL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9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28625"/>
            <a:ext cx="78867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UNIVERSAL ADAPTER PORTFOLIO · NEXT GATES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28650" y="664369"/>
            <a:ext cx="78867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admission rule for every adapter.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28650" y="1175147"/>
            <a:ext cx="78867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5C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roadmap expands what can be checked without choosing what theory should win.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8650" y="1710928"/>
            <a:ext cx="7886700" cy="22145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28650" y="1710928"/>
            <a:ext cx="7886700" cy="14288"/>
          </a:xfrm>
          <a:prstGeom prst="rect">
            <a:avLst/>
          </a:prstGeom>
          <a:solidFill>
            <a:srgbClr val="D64635"/>
          </a:solidFill>
          <a:ln/>
        </p:spPr>
      </p:sp>
      <p:sp>
        <p:nvSpPr>
          <p:cNvPr id="8" name="Text 5"/>
          <p:cNvSpPr/>
          <p:nvPr/>
        </p:nvSpPr>
        <p:spPr>
          <a:xfrm>
            <a:off x="792956" y="1903809"/>
            <a:ext cx="16359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U2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92956" y="2125266"/>
            <a:ext cx="1635919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invariant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956" y="2458845"/>
            <a:ext cx="1635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finite graph predicate with fixed fixtures, replay, and mutation evidence.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92956" y="3096034"/>
            <a:ext cx="1635919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dirty="0">
                <a:solidFill>
                  <a:srgbClr val="786F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NON-CLAIM: no network or emergent-spacetime ontology.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764631" y="1903809"/>
            <a:ext cx="16359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U3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764631" y="2125266"/>
            <a:ext cx="1635919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 relation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764631" y="2458845"/>
            <a:ext cx="1635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finite indexed-tensor predicate with explicit dimensions and conventions.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764631" y="3096034"/>
            <a:ext cx="1635919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dirty="0">
                <a:solidFill>
                  <a:srgbClr val="786F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NON-CLAIM: no physical field-theory validation.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736306" y="1903809"/>
            <a:ext cx="16359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U4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736306" y="2125266"/>
            <a:ext cx="1635919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descriptor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736306" y="2458845"/>
            <a:ext cx="16359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packet for provenance, uncertainty, protocol, and external statistical process.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36306" y="3096034"/>
            <a:ext cx="1635919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dirty="0">
                <a:solidFill>
                  <a:srgbClr val="786F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NON-CLAIM: data alone is not theory proof.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707981" y="1903809"/>
            <a:ext cx="16430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U5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6707981" y="2125266"/>
            <a:ext cx="1643063" cy="212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50" dirty="0">
                <a:solidFill>
                  <a:srgbClr val="1C1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bridge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707981" y="2458845"/>
            <a:ext cx="16430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1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theorem/source/assumption binding to a named code predicate.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07981" y="3096034"/>
            <a:ext cx="1643063" cy="25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dirty="0">
                <a:solidFill>
                  <a:srgbClr val="786F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NON-CLAIM: no proof of an entire runtime or framework.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628650" y="4068366"/>
            <a:ext cx="7886700" cy="871538"/>
          </a:xfrm>
          <a:prstGeom prst="rect">
            <a:avLst/>
          </a:prstGeom>
          <a:solidFill>
            <a:srgbClr val="1B1D1E"/>
          </a:solidFill>
          <a:ln/>
        </p:spPr>
      </p:sp>
      <p:sp>
        <p:nvSpPr>
          <p:cNvPr id="25" name="Text 22"/>
          <p:cNvSpPr/>
          <p:nvPr/>
        </p:nvSpPr>
        <p:spPr>
          <a:xfrm>
            <a:off x="828675" y="4232672"/>
            <a:ext cx="74866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SINGLE ADMISSION RULE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828675" y="4429125"/>
            <a:ext cx="748665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· predicate · assumptions · fixtures · receipt scope · replay · audit · non-claims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28650" y="5047059"/>
            <a:ext cx="78867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776F6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FRAMEWORK NAMES MAY ENTER AS PROVENANCE · THEY MAY NOT ENTER AS HIDDEN EVALUATION PRIVILEGE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171575"/>
            <a:ext cx="9144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spc="2" kern="0" dirty="0">
                <a:solidFill>
                  <a:srgbClr val="D6463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SOVEREIGN ENGINE · THEORY-AGNOSTIC EVIDENCE LAYER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1357313" y="1528763"/>
            <a:ext cx="6429375" cy="1365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6400"/>
              </a:lnSpc>
              <a:buNone/>
            </a:pPr>
            <a:r>
              <a:rPr lang="en-US" sz="32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claims </a:t>
            </a:r>
            <a:r>
              <a:rPr lang="en-US" sz="320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fairly.</a:t>
            </a:r>
            <a:r>
              <a:rPr lang="en-US" sz="32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2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structures </a:t>
            </a:r>
            <a:r>
              <a:rPr lang="en-US" sz="320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precisely.</a:t>
            </a:r>
            <a:r>
              <a:rPr lang="en-US" sz="32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200" dirty="0">
                <a:solidFill>
                  <a:srgbClr val="F2EC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uncertainty </a:t>
            </a:r>
            <a:r>
              <a:rPr lang="en-US" sz="3200" dirty="0">
                <a:solidFill>
                  <a:srgbClr val="D64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07406" y="3472979"/>
            <a:ext cx="4929188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3600"/>
              </a:lnSpc>
              <a:buNone/>
            </a:pPr>
            <a:r>
              <a:rPr lang="en-US" sz="1100" dirty="0">
                <a:solidFill>
                  <a:srgbClr val="C9C1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common, inspectable foundation below theories—without asking any one theory to become the kernel’s ontology.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4611291"/>
            <a:ext cx="91440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1" kern="0" dirty="0">
                <a:solidFill>
                  <a:srgbClr val="9D968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DECLARED CLAIM · NAMED CHECK · REPLAYABLE RECEIPT · EXPLICIT NON-CLAIM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2026-08-19T11:54:09Z</dcterms:created>
  <dcterms:modified xsi:type="dcterms:W3CDTF">2026-08-19T11:54:09Z</dcterms:modified>
</cp:coreProperties>
</file>