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looking at a reconstruction of the Geometric Unity transcript and the Sovereign Engine repository. We are translating complex tensor calculus and fiber bundles into verifiable software operations. Let's examine how geometry becomes an auditable meaning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Sovereign Engine is not just a single tool. It operates as four distinct systems at once. We built a geometry-native AI runtime, a verifiable knowledge kernel, a cross-domain translation platform, and an interactive embodiment layer. Building on our introduction to auditable geometry, these four systems let us represent abstract states, preserve validation gates, translate across domains, and render hidden structures perceptible. Let's look at how the underlying geometric arena is constructed.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Geometric Unity changes the arena of physics, not just the equations within it. We start with a classical four-dimensional base space and pair it with the ten independent components of a local symmetric metric. This gives us a fourteen-dimensional total space. Remember that this fourteen-dimensional count is mathematical structure from bundle theory. It is not an established proof of a fourteen-dimensional physical universe. The engine uses this typed state space to preserve base, fiber, and observation context. Let's see how the observer fits into this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framework, the observer is never just a passive point in space. It is a complete relationship package linking base points, fibers, sections, connections, pullbacks, and observation maps. A projection is never the whole object by itself. We must preserve its context and gluing rules. The software translates this by keeping track of local coordinates and provenance for every projection. While standard mathematics gives us the bundle vocabulary, using it as an engine for meaning is our project-level interpretation. Let's examine the tensor calculus that supplies our physical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Tensor calculus gives us the exact physical vocabulary we need. Each object answers a different geometric question. The metric defines length, angle, and volume. The connection handles transport between nearby points. Curvature measures path dependence, while torsion and contortion track non-Levi-Civita deformations. While these objects are established mathematics, our engine turns each one into a typed state, a registered operation, an invariant check, and a replayable record. Let's look at how this tensor vocabulary builds into a testable chain of curvature.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now we trace how this vocabulary builds into a complete testable chain. We start with the connection, move to the Riemann tensor, and contract down to the Ricci scalar and the Einstein tensor. Notice the contracted Bianchi identity on the screen. It guarantees that the geometric side of the equation satisfies a divergence constraint. Our software doesn't just calculate these values. It records every single contraction, convention, assumption, and numerical residual into an inspectable evidence record. So when we look at conservation laws, we aren't relying on hand-waving. We are verifying structural invariants step by step. From here, we step down into gauge geometry to see how operator language operates inside the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the gauge geometry that explains the transcript's frequent D-squared language. When the transcript uses shorthand like D-squared becoming curvature, it is actually pointing to a typed operator relation. Here you see the gauge potential, the field strength, and the covariant exterior derivative mapped directly into executable code. When we apply that covariant derivative twice, the result naturally produces the curvature action on the representation. The engine checks the bundle, the degree, the bracket conventions, and the residual of the Bianchi identity as an active, executable invariant. We don't guess if the gauge field is closed or non-trivial; we compute the invariant directly. And that precision carries over when we look at spinors and spectral hypotheses.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have to draw a hard line between standard mathematics and unverified physical hypotheses. The Dirac operator and the block operators shown here are well-established tools. They couple Clifford multiplication to connections and package differential complexes cleanly. But what the transcript claims about three generations and 14-dimensional truncations is a different story entirely. Those are hypotheses, not mathematical magic. The engine treats them as symbolic objects with specific representations, actions, and boundary conditions. If an ambitious spectral claim lacks an explicit representation or an empirical bridge, the engine flags it. We keep the math rigorous while refusing to smuggle in physical predictions without evidence. To maintain this discipline, the engine relies on a surprisingly small and trusted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 brings us to the design of the engine's trusted core itself. We designed this core to be intentionally small because it doesn't need to know every physical theory in existence. It just needs to make operations typed, replayable, and completely honest about unknowns. Every input goes through canonicalization, strict type-checking, registered operations, invariant verification, and immutable record-keeping. The core only ever yields one of three statuses: verified, fail, or unverifiable. There are no silent guesses and no hand-waving allowances. If the required evidence or assumptions are missing, the system tells you so plainly. This architecture turns abstract tensor equations into robust software contracts that you can audit, test, and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APIs turn abstract math into software contracts that demand explicit proof at every step. We implement this through structured endpoints for manifolds, metrics, connections, curvature, and Dirac operators. Every single response carries its own evidence, including operation IDs, inputs, outputs, assumptions, and cryptographic hashes. Status semantics are strict. A result is verified, failed, or unverifiable, and the system never silently converts an unresolved geometric unity hypothesis into a physical fact. Moving forward, let's look at how we sequence this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Development follows a staged verification spine that builds the smallest deterministic kernel first. We start at tier zero with canonical abstract syntax trees and move through typed tensors, connections, curvature, and differential forms. Spinor interfaces and evidence ledgers come next, followed by logos adapters and versioned geometric unity hypothesis modules. Our failure policy is absolute. Unknown operations and incomplete definitions return unverifiable rather than a plausible guess. Let's examine how this translates to our final guiding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Geometry does not magically make every statement true. It makes representations, transformations, assumptions, and evidence fully inspectable. Sovereignty means identity, provenance, verification, operational independence, and human interpretability. Our next implementation milestone is building a reproducible tensor kernel before making any stronger theory of everything claims. Thank you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7144" y="-7144"/>
            <a:ext cx="9158288" cy="5143500"/>
          </a:xfrm>
          <a:prstGeom prst="rect">
            <a:avLst/>
          </a:prstGeom>
        </p:spPr>
      </p:pic>
      <p:sp>
        <p:nvSpPr>
          <p:cNvPr id="4" name="Shape 0"/>
          <p:cNvSpPr/>
          <p:nvPr/>
        </p:nvSpPr>
        <p:spPr>
          <a:xfrm>
            <a:off x="-7144" y="-7144"/>
            <a:ext cx="6858000" cy="5143500"/>
          </a:xfrm>
          <a:prstGeom prst="rect">
            <a:avLst/>
          </a:prstGeom>
          <a:solidFill>
            <a:srgbClr val="000000">
              <a:alpha val="0"/>
            </a:srgbClr>
          </a:solidFill>
          <a:ln/>
        </p:spPr>
      </p:sp>
      <p:sp>
        <p:nvSpPr>
          <p:cNvPr id="5" name="Shape 1"/>
          <p:cNvSpPr/>
          <p:nvPr/>
        </p:nvSpPr>
        <p:spPr>
          <a:xfrm>
            <a:off x="6843713" y="-7144"/>
            <a:ext cx="7144" cy="5143500"/>
          </a:xfrm>
          <a:prstGeom prst="rect">
            <a:avLst/>
          </a:prstGeom>
          <a:solidFill>
            <a:srgbClr val="0A192F"/>
          </a:solidFill>
          <a:ln/>
        </p:spPr>
      </p:sp>
      <p:sp>
        <p:nvSpPr>
          <p:cNvPr id="6" name="Text 2"/>
          <p:cNvSpPr/>
          <p:nvPr/>
        </p:nvSpPr>
        <p:spPr>
          <a:xfrm>
            <a:off x="607219" y="650081"/>
            <a:ext cx="5729288" cy="137127"/>
          </a:xfrm>
          <a:prstGeom prst="rect">
            <a:avLst/>
          </a:prstGeom>
          <a:noFill/>
          <a:ln/>
        </p:spPr>
        <p:txBody>
          <a:bodyPr wrap="none" lIns="0" tIns="0" rIns="0" bIns="0" rtlCol="0" anchor="t">
            <a:spAutoFit/>
          </a:bodyPr>
          <a:lstStyle/>
          <a:p>
            <a:pPr algn="l" indent="0" marL="0">
              <a:lnSpc>
                <a:spcPct val="96000"/>
              </a:lnSpc>
              <a:buNone/>
            </a:pPr>
            <a:r>
              <a:rPr lang="en-US" sz="800" b="1" spc="2" kern="0" dirty="0">
                <a:solidFill>
                  <a:srgbClr val="D90429"/>
                </a:solidFill>
                <a:latin typeface="SFMono-Regular" pitchFamily="34" charset="0"/>
                <a:ea typeface="SFMono-Regular" pitchFamily="34" charset="-122"/>
                <a:cs typeface="SFMono-Regular" pitchFamily="34" charset="-120"/>
              </a:rPr>
              <a:t>SOVEREIGN ENGINE / MEANING LAYER</a:t>
            </a:r>
            <a:endParaRPr lang="en-US" sz="800" dirty="0"/>
          </a:p>
        </p:txBody>
      </p:sp>
      <p:sp>
        <p:nvSpPr>
          <p:cNvPr id="7" name="Text 3"/>
          <p:cNvSpPr/>
          <p:nvPr/>
        </p:nvSpPr>
        <p:spPr>
          <a:xfrm>
            <a:off x="607219" y="987233"/>
            <a:ext cx="5729288" cy="932594"/>
          </a:xfrm>
          <a:prstGeom prst="rect">
            <a:avLst/>
          </a:prstGeom>
          <a:noFill/>
          <a:ln/>
        </p:spPr>
        <p:txBody>
          <a:bodyPr wrap="square" lIns="0" tIns="0" rIns="0" bIns="0" rtlCol="0" anchor="t">
            <a:spAutoFit/>
          </a:bodyPr>
          <a:lstStyle/>
          <a:p>
            <a:pPr algn="l" indent="0" marL="0">
              <a:lnSpc>
                <a:spcPct val="81600"/>
              </a:lnSpc>
              <a:buNone/>
            </a:pPr>
            <a:r>
              <a:rPr lang="en-US" sz="3300" b="1" spc="-2" kern="0" dirty="0">
                <a:solidFill>
                  <a:srgbClr val="0A192F"/>
                </a:solidFill>
                <a:latin typeface="Georgia" pitchFamily="34" charset="0"/>
                <a:ea typeface="Georgia" pitchFamily="34" charset="-122"/>
                <a:cs typeface="Georgia" pitchFamily="34" charset="-120"/>
              </a:rPr>
              <a:t>Geometry becomes an auditable meaning system</a:t>
            </a:r>
            <a:endParaRPr lang="en-US" sz="3300" dirty="0"/>
          </a:p>
        </p:txBody>
      </p:sp>
      <p:sp>
        <p:nvSpPr>
          <p:cNvPr id="8" name="Text 4"/>
          <p:cNvSpPr/>
          <p:nvPr/>
        </p:nvSpPr>
        <p:spPr>
          <a:xfrm>
            <a:off x="607219" y="2091277"/>
            <a:ext cx="5143500" cy="683623"/>
          </a:xfrm>
          <a:prstGeom prst="rect">
            <a:avLst/>
          </a:prstGeom>
          <a:noFill/>
          <a:ln/>
        </p:spPr>
        <p:txBody>
          <a:bodyPr wrap="square" lIns="0" tIns="0" rIns="0" bIns="0" rtlCol="0" anchor="t">
            <a:spAutoFit/>
          </a:bodyPr>
          <a:lstStyle/>
          <a:p>
            <a:pPr algn="l" indent="0" marL="0">
              <a:lnSpc>
                <a:spcPct val="116000"/>
              </a:lnSpc>
              <a:buNone/>
            </a:pPr>
            <a:r>
              <a:rPr lang="en-US" sz="1150" dirty="0">
                <a:solidFill>
                  <a:srgbClr val="334155"/>
                </a:solidFill>
                <a:latin typeface="SFMono-Regular" pitchFamily="34" charset="0"/>
                <a:ea typeface="SFMono-Regular" pitchFamily="34" charset="-122"/>
                <a:cs typeface="SFMono-Regular" pitchFamily="34" charset="-120"/>
              </a:rPr>
              <a:t>A reconstruction of the Geometric Unity transcript and repository—translated from tensor calculus and bundles into verifiable software operations.</a:t>
            </a:r>
            <a:endParaRPr lang="en-US" sz="1150" dirty="0"/>
          </a:p>
        </p:txBody>
      </p:sp>
      <p:sp>
        <p:nvSpPr>
          <p:cNvPr id="9" name="Text 5"/>
          <p:cNvSpPr/>
          <p:nvPr/>
        </p:nvSpPr>
        <p:spPr>
          <a:xfrm>
            <a:off x="607219" y="4380570"/>
            <a:ext cx="5729288" cy="455749"/>
          </a:xfrm>
          <a:prstGeom prst="rect">
            <a:avLst/>
          </a:prstGeom>
          <a:noFill/>
          <a:ln/>
        </p:spPr>
        <p:txBody>
          <a:bodyPr wrap="square" lIns="0" tIns="153035" rIns="0" bIns="0" rtlCol="0" anchor="t">
            <a:spAutoFit/>
          </a:bodyPr>
          <a:lstStyle/>
          <a:p>
            <a:pPr algn="l" indent="0" marL="0">
              <a:lnSpc>
                <a:spcPct val="128000"/>
              </a:lnSpc>
              <a:buNone/>
            </a:pPr>
            <a:r>
              <a:rPr lang="en-US" sz="750" dirty="0">
                <a:solidFill>
                  <a:srgbClr val="334155"/>
                </a:solidFill>
                <a:latin typeface="SFMono-Regular" pitchFamily="34" charset="0"/>
                <a:ea typeface="SFMono-Regular" pitchFamily="34" charset="-122"/>
                <a:cs typeface="SFMono-Regular" pitchFamily="34" charset="-120"/>
              </a:rPr>
              <a:t>Prepared by Manus AI</a:t>
            </a:r>
            <a:r>
              <a:rPr lang="en-US" sz="750" dirty="0">
                <a:solidFill>
                  <a:srgbClr val="334155"/>
                </a:solidFill>
                <a:latin typeface="SFMono-Regular" pitchFamily="34" charset="0"/>
                <a:ea typeface="SFMono-Regular" pitchFamily="34" charset="-122"/>
                <a:cs typeface="SFMono-Regular" pitchFamily="34" charset="-120"/>
              </a:rPr>
              <a:t>
</a:t>
            </a:r>
            <a:r>
              <a:rPr lang="en-US" sz="750" dirty="0">
                <a:solidFill>
                  <a:srgbClr val="334155"/>
                </a:solidFill>
                <a:latin typeface="SFMono-Regular" pitchFamily="34" charset="0"/>
                <a:ea typeface="SFMono-Regular" pitchFamily="34" charset="-122"/>
                <a:cs typeface="SFMono-Regular" pitchFamily="34" charset="-120"/>
              </a:rPr>
              <a:t>Research architecture brief · 2026</a:t>
            </a:r>
            <a:endParaRPr lang="en-US" sz="750" dirty="0"/>
          </a:p>
        </p:txBody>
      </p:sp>
      <p:sp>
        <p:nvSpPr>
          <p:cNvPr id="10" name="Text 6"/>
          <p:cNvSpPr/>
          <p:nvPr/>
        </p:nvSpPr>
        <p:spPr>
          <a:xfrm>
            <a:off x="7791049" y="1607344"/>
            <a:ext cx="405614" cy="1771650"/>
          </a:xfrm>
          <a:prstGeom prst="rect">
            <a:avLst/>
          </a:prstGeom>
          <a:noFill/>
          <a:ln/>
        </p:spPr>
        <p:txBody>
          <a:bodyPr wrap="none" lIns="0" tIns="0" rIns="0" bIns="0" rtlCol="0" anchor="t">
            <a:spAutoFit/>
          </a:bodyPr>
          <a:lstStyle/>
          <a:p>
            <a:pPr algn="l" indent="0" marL="0">
              <a:lnSpc>
                <a:spcPct val="64000"/>
              </a:lnSpc>
              <a:buNone/>
            </a:pPr>
            <a:r>
              <a:rPr lang="en-US" sz="17100" dirty="0">
                <a:solidFill>
                  <a:srgbClr val="D90429"/>
                </a:solidFill>
                <a:latin typeface="Georgia" pitchFamily="34" charset="0"/>
                <a:ea typeface="Georgia" pitchFamily="34" charset="-122"/>
                <a:cs typeface="Georgia" pitchFamily="34" charset="-120"/>
              </a:rPr>
              <a:t>[</a:t>
            </a:r>
            <a:endParaRPr lang="en-US" sz="17100" dirty="0"/>
          </a:p>
        </p:txBody>
      </p:sp>
      <p:sp>
        <p:nvSpPr>
          <p:cNvPr id="11" name="Text 7"/>
          <p:cNvSpPr/>
          <p:nvPr/>
        </p:nvSpPr>
        <p:spPr>
          <a:xfrm>
            <a:off x="8739708" y="321469"/>
            <a:ext cx="111398" cy="1190160"/>
          </a:xfrm>
          <a:prstGeom prst="rect">
            <a:avLst/>
          </a:prstGeom>
          <a:noFill/>
          <a:ln/>
        </p:spPr>
        <p:txBody>
          <a:bodyPr wrap="square" lIns="0" tIns="0" rIns="0" bIns="0" rtlCol="0" anchor="t">
            <a:spAutoFit/>
          </a:bodyPr>
          <a:lstStyle/>
          <a:p>
            <a:pPr algn="l" indent="0" marL="0">
              <a:lnSpc>
                <a:spcPct val="96000"/>
              </a:lnSpc>
              <a:buNone/>
            </a:pPr>
            <a:r>
              <a:rPr lang="en-US" sz="650" b="1" spc="2" kern="0" dirty="0">
                <a:solidFill>
                  <a:srgbClr val="0A192F"/>
                </a:solidFill>
                <a:latin typeface="SFMono-Regular" pitchFamily="34" charset="0"/>
                <a:ea typeface="SFMono-Regular" pitchFamily="34" charset="-122"/>
                <a:cs typeface="SFMono-Regular" pitchFamily="34" charset="-120"/>
              </a:rPr>
              <a:t>X⁴ → Y¹⁴ → ENGINE</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14338" y="471488"/>
            <a:ext cx="6100763" cy="119993"/>
          </a:xfrm>
          <a:prstGeom prst="rect">
            <a:avLst/>
          </a:prstGeom>
          <a:noFill/>
          <a:ln/>
        </p:spPr>
        <p:txBody>
          <a:bodyPr wrap="none" lIns="0" tIns="0" rIns="0" bIns="0" rtlCol="0" anchor="t">
            <a:spAutoFit/>
          </a:bodyPr>
          <a:lstStyle/>
          <a:p>
            <a:pPr algn="l" indent="0" marL="0">
              <a:lnSpc>
                <a:spcPct val="96000"/>
              </a:lnSpc>
              <a:buNone/>
            </a:pPr>
            <a:r>
              <a:rPr lang="en-US" sz="700" b="1" spc="2" kern="0" dirty="0">
                <a:solidFill>
                  <a:srgbClr val="D90429"/>
                </a:solidFill>
                <a:latin typeface="SFMono-Regular" pitchFamily="34" charset="0"/>
                <a:ea typeface="SFMono-Regular" pitchFamily="34" charset="-122"/>
                <a:cs typeface="SFMono-Regular" pitchFamily="34" charset="-120"/>
              </a:rPr>
              <a:t>01 / PROJECT IDENTITY</a:t>
            </a:r>
            <a:endParaRPr lang="en-US" sz="700" dirty="0"/>
          </a:p>
        </p:txBody>
      </p:sp>
      <p:sp>
        <p:nvSpPr>
          <p:cNvPr id="5" name="Text 1"/>
          <p:cNvSpPr/>
          <p:nvPr/>
        </p:nvSpPr>
        <p:spPr>
          <a:xfrm>
            <a:off x="414338" y="720068"/>
            <a:ext cx="5429250" cy="324036"/>
          </a:xfrm>
          <a:prstGeom prst="rect">
            <a:avLst/>
          </a:prstGeom>
          <a:noFill/>
          <a:ln/>
        </p:spPr>
        <p:txBody>
          <a:bodyPr wrap="none" lIns="0" tIns="0" rIns="0" bIns="0" rtlCol="0" anchor="t">
            <a:spAutoFit/>
          </a:bodyPr>
          <a:lstStyle/>
          <a:p>
            <a:pPr algn="l" indent="0" marL="0">
              <a:lnSpc>
                <a:spcPct val="86400"/>
              </a:lnSpc>
              <a:buNone/>
            </a:pPr>
            <a:r>
              <a:rPr lang="en-US" sz="2100" b="1" spc="-1" kern="0" dirty="0">
                <a:solidFill>
                  <a:srgbClr val="0A192F"/>
                </a:solidFill>
                <a:latin typeface="Georgia" pitchFamily="34" charset="0"/>
                <a:ea typeface="Georgia" pitchFamily="34" charset="-122"/>
                <a:cs typeface="Georgia" pitchFamily="34" charset="-120"/>
              </a:rPr>
              <a:t>The project is four systems at once</a:t>
            </a:r>
            <a:endParaRPr lang="en-US" sz="2100" dirty="0"/>
          </a:p>
        </p:txBody>
      </p:sp>
      <p:sp>
        <p:nvSpPr>
          <p:cNvPr id="6" name="Text 2"/>
          <p:cNvSpPr/>
          <p:nvPr/>
        </p:nvSpPr>
        <p:spPr>
          <a:xfrm>
            <a:off x="414338" y="1294135"/>
            <a:ext cx="1428750" cy="528526"/>
          </a:xfrm>
          <a:prstGeom prst="rect">
            <a:avLst/>
          </a:prstGeom>
          <a:noFill/>
          <a:ln/>
        </p:spPr>
        <p:txBody>
          <a:bodyPr wrap="square" lIns="0" tIns="0" rIns="0" bIns="0" rtlCol="0" anchor="t">
            <a:spAutoFit/>
          </a:bodyPr>
          <a:lstStyle/>
          <a:p>
            <a:pPr algn="l" indent="0" marL="0">
              <a:lnSpc>
                <a:spcPct val="80000"/>
              </a:lnSpc>
              <a:buNone/>
            </a:pPr>
            <a:r>
              <a:rPr lang="en-US" sz="1100" b="1" dirty="0">
                <a:solidFill>
                  <a:srgbClr val="D90429"/>
                </a:solidFill>
                <a:latin typeface="SFMono-Regular" pitchFamily="34" charset="0"/>
                <a:ea typeface="SFMono-Regular" pitchFamily="34" charset="-122"/>
                <a:cs typeface="SFMono-Regular" pitchFamily="34" charset="-120"/>
              </a:rPr>
              <a:t>01 · RUNTIME</a:t>
            </a:r>
            <a:endParaRPr lang="en-US" sz="1100" dirty="0"/>
          </a:p>
        </p:txBody>
      </p:sp>
      <p:sp>
        <p:nvSpPr>
          <p:cNvPr id="7" name="Text 3"/>
          <p:cNvSpPr/>
          <p:nvPr/>
        </p:nvSpPr>
        <p:spPr>
          <a:xfrm>
            <a:off x="1928813" y="1294135"/>
            <a:ext cx="3914775" cy="154260"/>
          </a:xfrm>
          <a:prstGeom prst="rect">
            <a:avLst/>
          </a:prstGeom>
          <a:noFill/>
          <a:ln/>
        </p:spPr>
        <p:txBody>
          <a:bodyPr wrap="none" lIns="0" tIns="0" rIns="0" bIns="0" rtlCol="0" anchor="t">
            <a:spAutoFit/>
          </a:bodyPr>
          <a:lstStyle/>
          <a:p>
            <a:pPr algn="l" indent="0" marL="0">
              <a:lnSpc>
                <a:spcPct val="96000"/>
              </a:lnSpc>
              <a:buNone/>
            </a:pPr>
            <a:r>
              <a:rPr lang="en-US" sz="900" b="1" dirty="0">
                <a:solidFill>
                  <a:srgbClr val="0A192F"/>
                </a:solidFill>
                <a:latin typeface="Georgia" pitchFamily="34" charset="0"/>
                <a:ea typeface="Georgia" pitchFamily="34" charset="-122"/>
                <a:cs typeface="Georgia" pitchFamily="34" charset="-120"/>
              </a:rPr>
              <a:t>Geometry-native AI runtime</a:t>
            </a:r>
            <a:endParaRPr lang="en-US" sz="900" dirty="0"/>
          </a:p>
        </p:txBody>
      </p:sp>
      <p:sp>
        <p:nvSpPr>
          <p:cNvPr id="8" name="Text 4"/>
          <p:cNvSpPr/>
          <p:nvPr/>
        </p:nvSpPr>
        <p:spPr>
          <a:xfrm>
            <a:off x="1928813" y="1491258"/>
            <a:ext cx="3914775" cy="331403"/>
          </a:xfrm>
          <a:prstGeom prst="rect">
            <a:avLst/>
          </a:prstGeom>
          <a:noFill/>
          <a:ln/>
        </p:spPr>
        <p:txBody>
          <a:bodyPr wrap="square" lIns="0" tIns="0" rIns="0" bIns="0" rtlCol="0" anchor="t">
            <a:spAutoFit/>
          </a:bodyPr>
          <a:lstStyle/>
          <a:p>
            <a:pPr algn="l" indent="0" marL="0">
              <a:lnSpc>
                <a:spcPct val="116000"/>
              </a:lnSpc>
              <a:buNone/>
            </a:pPr>
            <a:r>
              <a:rPr lang="en-US" sz="850" dirty="0">
                <a:solidFill>
                  <a:srgbClr val="334155"/>
                </a:solidFill>
                <a:latin typeface="SFMono-Regular" pitchFamily="34" charset="0"/>
                <a:ea typeface="SFMono-Regular" pitchFamily="34" charset="-122"/>
                <a:cs typeface="SFMono-Regular" pitchFamily="34" charset="-120"/>
              </a:rPr>
              <a:t>State and reasoning are represented as constrained geometric objects and transformations.</a:t>
            </a:r>
            <a:endParaRPr lang="en-US" sz="850" dirty="0"/>
          </a:p>
        </p:txBody>
      </p:sp>
      <p:sp>
        <p:nvSpPr>
          <p:cNvPr id="9" name="Text 5"/>
          <p:cNvSpPr/>
          <p:nvPr/>
        </p:nvSpPr>
        <p:spPr>
          <a:xfrm>
            <a:off x="414338" y="1972680"/>
            <a:ext cx="1428750" cy="528526"/>
          </a:xfrm>
          <a:prstGeom prst="rect">
            <a:avLst/>
          </a:prstGeom>
          <a:noFill/>
          <a:ln/>
        </p:spPr>
        <p:txBody>
          <a:bodyPr wrap="square" lIns="0" tIns="0" rIns="0" bIns="0" rtlCol="0" anchor="t">
            <a:spAutoFit/>
          </a:bodyPr>
          <a:lstStyle/>
          <a:p>
            <a:pPr algn="l" indent="0" marL="0">
              <a:lnSpc>
                <a:spcPct val="80000"/>
              </a:lnSpc>
              <a:buNone/>
            </a:pPr>
            <a:r>
              <a:rPr lang="en-US" sz="1100" b="1" dirty="0">
                <a:solidFill>
                  <a:srgbClr val="D90429"/>
                </a:solidFill>
                <a:latin typeface="SFMono-Regular" pitchFamily="34" charset="0"/>
                <a:ea typeface="SFMono-Regular" pitchFamily="34" charset="-122"/>
                <a:cs typeface="SFMono-Regular" pitchFamily="34" charset="-120"/>
              </a:rPr>
              <a:t>02 · KERNEL</a:t>
            </a:r>
            <a:endParaRPr lang="en-US" sz="1100" dirty="0"/>
          </a:p>
        </p:txBody>
      </p:sp>
      <p:sp>
        <p:nvSpPr>
          <p:cNvPr id="10" name="Text 6"/>
          <p:cNvSpPr/>
          <p:nvPr/>
        </p:nvSpPr>
        <p:spPr>
          <a:xfrm>
            <a:off x="1928813" y="1972680"/>
            <a:ext cx="3914775" cy="154260"/>
          </a:xfrm>
          <a:prstGeom prst="rect">
            <a:avLst/>
          </a:prstGeom>
          <a:noFill/>
          <a:ln/>
        </p:spPr>
        <p:txBody>
          <a:bodyPr wrap="none" lIns="0" tIns="0" rIns="0" bIns="0" rtlCol="0" anchor="t">
            <a:spAutoFit/>
          </a:bodyPr>
          <a:lstStyle/>
          <a:p>
            <a:pPr algn="l" indent="0" marL="0">
              <a:lnSpc>
                <a:spcPct val="96000"/>
              </a:lnSpc>
              <a:buNone/>
            </a:pPr>
            <a:r>
              <a:rPr lang="en-US" sz="900" b="1" dirty="0">
                <a:solidFill>
                  <a:srgbClr val="0A192F"/>
                </a:solidFill>
                <a:latin typeface="Georgia" pitchFamily="34" charset="0"/>
                <a:ea typeface="Georgia" pitchFamily="34" charset="-122"/>
                <a:cs typeface="Georgia" pitchFamily="34" charset="-120"/>
              </a:rPr>
              <a:t>Verifiable knowledge kernel</a:t>
            </a:r>
            <a:endParaRPr lang="en-US" sz="900" dirty="0"/>
          </a:p>
        </p:txBody>
      </p:sp>
      <p:sp>
        <p:nvSpPr>
          <p:cNvPr id="11" name="Text 7"/>
          <p:cNvSpPr/>
          <p:nvPr/>
        </p:nvSpPr>
        <p:spPr>
          <a:xfrm>
            <a:off x="1928813" y="2169802"/>
            <a:ext cx="3914775" cy="331403"/>
          </a:xfrm>
          <a:prstGeom prst="rect">
            <a:avLst/>
          </a:prstGeom>
          <a:noFill/>
          <a:ln/>
        </p:spPr>
        <p:txBody>
          <a:bodyPr wrap="square" lIns="0" tIns="0" rIns="0" bIns="0" rtlCol="0" anchor="t">
            <a:spAutoFit/>
          </a:bodyPr>
          <a:lstStyle/>
          <a:p>
            <a:pPr algn="l" indent="0" marL="0">
              <a:lnSpc>
                <a:spcPct val="116000"/>
              </a:lnSpc>
              <a:buNone/>
            </a:pPr>
            <a:r>
              <a:rPr lang="en-US" sz="850" dirty="0">
                <a:solidFill>
                  <a:srgbClr val="334155"/>
                </a:solidFill>
                <a:latin typeface="SFMono-Regular" pitchFamily="34" charset="0"/>
                <a:ea typeface="SFMono-Regular" pitchFamily="34" charset="-122"/>
                <a:cs typeface="SFMono-Regular" pitchFamily="34" charset="-120"/>
              </a:rPr>
              <a:t>Objects, relations, transformations, identities, and validation gates are explicit.</a:t>
            </a:r>
            <a:endParaRPr lang="en-US" sz="850" dirty="0"/>
          </a:p>
        </p:txBody>
      </p:sp>
      <p:sp>
        <p:nvSpPr>
          <p:cNvPr id="12" name="Text 8"/>
          <p:cNvSpPr/>
          <p:nvPr/>
        </p:nvSpPr>
        <p:spPr>
          <a:xfrm>
            <a:off x="414338" y="2651224"/>
            <a:ext cx="1428750" cy="528526"/>
          </a:xfrm>
          <a:prstGeom prst="rect">
            <a:avLst/>
          </a:prstGeom>
          <a:noFill/>
          <a:ln/>
        </p:spPr>
        <p:txBody>
          <a:bodyPr wrap="square" lIns="0" tIns="0" rIns="0" bIns="0" rtlCol="0" anchor="t">
            <a:spAutoFit/>
          </a:bodyPr>
          <a:lstStyle/>
          <a:p>
            <a:pPr algn="l" indent="0" marL="0">
              <a:lnSpc>
                <a:spcPct val="80000"/>
              </a:lnSpc>
              <a:buNone/>
            </a:pPr>
            <a:r>
              <a:rPr lang="en-US" sz="1100" b="1" dirty="0">
                <a:solidFill>
                  <a:srgbClr val="D90429"/>
                </a:solidFill>
                <a:latin typeface="SFMono-Regular" pitchFamily="34" charset="0"/>
                <a:ea typeface="SFMono-Regular" pitchFamily="34" charset="-122"/>
                <a:cs typeface="SFMono-Regular" pitchFamily="34" charset="-120"/>
              </a:rPr>
              <a:t>03 · TRANSLATION</a:t>
            </a:r>
            <a:endParaRPr lang="en-US" sz="1100" dirty="0"/>
          </a:p>
        </p:txBody>
      </p:sp>
      <p:sp>
        <p:nvSpPr>
          <p:cNvPr id="13" name="Text 9"/>
          <p:cNvSpPr/>
          <p:nvPr/>
        </p:nvSpPr>
        <p:spPr>
          <a:xfrm>
            <a:off x="1928813" y="2651224"/>
            <a:ext cx="3914775" cy="154260"/>
          </a:xfrm>
          <a:prstGeom prst="rect">
            <a:avLst/>
          </a:prstGeom>
          <a:noFill/>
          <a:ln/>
        </p:spPr>
        <p:txBody>
          <a:bodyPr wrap="none" lIns="0" tIns="0" rIns="0" bIns="0" rtlCol="0" anchor="t">
            <a:spAutoFit/>
          </a:bodyPr>
          <a:lstStyle/>
          <a:p>
            <a:pPr algn="l" indent="0" marL="0">
              <a:lnSpc>
                <a:spcPct val="96000"/>
              </a:lnSpc>
              <a:buNone/>
            </a:pPr>
            <a:r>
              <a:rPr lang="en-US" sz="900" b="1" dirty="0">
                <a:solidFill>
                  <a:srgbClr val="0A192F"/>
                </a:solidFill>
                <a:latin typeface="Georgia" pitchFamily="34" charset="0"/>
                <a:ea typeface="Georgia" pitchFamily="34" charset="-122"/>
                <a:cs typeface="Georgia" pitchFamily="34" charset="-120"/>
              </a:rPr>
              <a:t>Cross-domain translation platform</a:t>
            </a:r>
            <a:endParaRPr lang="en-US" sz="900" dirty="0"/>
          </a:p>
        </p:txBody>
      </p:sp>
      <p:sp>
        <p:nvSpPr>
          <p:cNvPr id="14" name="Text 10"/>
          <p:cNvSpPr/>
          <p:nvPr/>
        </p:nvSpPr>
        <p:spPr>
          <a:xfrm>
            <a:off x="1928813" y="2848347"/>
            <a:ext cx="3914775" cy="331403"/>
          </a:xfrm>
          <a:prstGeom prst="rect">
            <a:avLst/>
          </a:prstGeom>
          <a:noFill/>
          <a:ln/>
        </p:spPr>
        <p:txBody>
          <a:bodyPr wrap="square" lIns="0" tIns="0" rIns="0" bIns="0" rtlCol="0" anchor="t">
            <a:spAutoFit/>
          </a:bodyPr>
          <a:lstStyle/>
          <a:p>
            <a:pPr algn="l" indent="0" marL="0">
              <a:lnSpc>
                <a:spcPct val="116000"/>
              </a:lnSpc>
              <a:buNone/>
            </a:pPr>
            <a:r>
              <a:rPr lang="en-US" sz="850" dirty="0">
                <a:solidFill>
                  <a:srgbClr val="334155"/>
                </a:solidFill>
                <a:latin typeface="SFMono-Regular" pitchFamily="34" charset="0"/>
                <a:ea typeface="SFMono-Regular" pitchFamily="34" charset="-122"/>
                <a:cs typeface="SFMono-Regular" pitchFamily="34" charset="-120"/>
              </a:rPr>
              <a:t>Language, science, music, data, and embodied systems are mapped through shared invariants.</a:t>
            </a:r>
            <a:endParaRPr lang="en-US" sz="850" dirty="0"/>
          </a:p>
        </p:txBody>
      </p:sp>
      <p:sp>
        <p:nvSpPr>
          <p:cNvPr id="15" name="Text 11"/>
          <p:cNvSpPr/>
          <p:nvPr/>
        </p:nvSpPr>
        <p:spPr>
          <a:xfrm>
            <a:off x="414338" y="3329769"/>
            <a:ext cx="1428750" cy="528526"/>
          </a:xfrm>
          <a:prstGeom prst="rect">
            <a:avLst/>
          </a:prstGeom>
          <a:noFill/>
          <a:ln/>
        </p:spPr>
        <p:txBody>
          <a:bodyPr wrap="square" lIns="0" tIns="0" rIns="0" bIns="0" rtlCol="0" anchor="t">
            <a:spAutoFit/>
          </a:bodyPr>
          <a:lstStyle/>
          <a:p>
            <a:pPr algn="l" indent="0" marL="0">
              <a:lnSpc>
                <a:spcPct val="80000"/>
              </a:lnSpc>
              <a:buNone/>
            </a:pPr>
            <a:r>
              <a:rPr lang="en-US" sz="1100" b="1" dirty="0">
                <a:solidFill>
                  <a:srgbClr val="D90429"/>
                </a:solidFill>
                <a:latin typeface="SFMono-Regular" pitchFamily="34" charset="0"/>
                <a:ea typeface="SFMono-Regular" pitchFamily="34" charset="-122"/>
                <a:cs typeface="SFMono-Regular" pitchFamily="34" charset="-120"/>
              </a:rPr>
              <a:t>04 · EMBODIMENT</a:t>
            </a:r>
            <a:endParaRPr lang="en-US" sz="1100" dirty="0"/>
          </a:p>
        </p:txBody>
      </p:sp>
      <p:sp>
        <p:nvSpPr>
          <p:cNvPr id="16" name="Text 12"/>
          <p:cNvSpPr/>
          <p:nvPr/>
        </p:nvSpPr>
        <p:spPr>
          <a:xfrm>
            <a:off x="1928813" y="3329769"/>
            <a:ext cx="3914775" cy="154260"/>
          </a:xfrm>
          <a:prstGeom prst="rect">
            <a:avLst/>
          </a:prstGeom>
          <a:noFill/>
          <a:ln/>
        </p:spPr>
        <p:txBody>
          <a:bodyPr wrap="none" lIns="0" tIns="0" rIns="0" bIns="0" rtlCol="0" anchor="t">
            <a:spAutoFit/>
          </a:bodyPr>
          <a:lstStyle/>
          <a:p>
            <a:pPr algn="l" indent="0" marL="0">
              <a:lnSpc>
                <a:spcPct val="96000"/>
              </a:lnSpc>
              <a:buNone/>
            </a:pPr>
            <a:r>
              <a:rPr lang="en-US" sz="900" b="1" dirty="0">
                <a:solidFill>
                  <a:srgbClr val="0A192F"/>
                </a:solidFill>
                <a:latin typeface="Georgia" pitchFamily="34" charset="0"/>
                <a:ea typeface="Georgia" pitchFamily="34" charset="-122"/>
                <a:cs typeface="Georgia" pitchFamily="34" charset="-120"/>
              </a:rPr>
              <a:t>Interactive meaning surface</a:t>
            </a:r>
            <a:endParaRPr lang="en-US" sz="900" dirty="0"/>
          </a:p>
        </p:txBody>
      </p:sp>
      <p:sp>
        <p:nvSpPr>
          <p:cNvPr id="17" name="Text 13"/>
          <p:cNvSpPr/>
          <p:nvPr/>
        </p:nvSpPr>
        <p:spPr>
          <a:xfrm>
            <a:off x="1928813" y="3526892"/>
            <a:ext cx="3914775" cy="331403"/>
          </a:xfrm>
          <a:prstGeom prst="rect">
            <a:avLst/>
          </a:prstGeom>
          <a:noFill/>
          <a:ln/>
        </p:spPr>
        <p:txBody>
          <a:bodyPr wrap="square" lIns="0" tIns="0" rIns="0" bIns="0" rtlCol="0" anchor="t">
            <a:spAutoFit/>
          </a:bodyPr>
          <a:lstStyle/>
          <a:p>
            <a:pPr algn="l" indent="0" marL="0">
              <a:lnSpc>
                <a:spcPct val="116000"/>
              </a:lnSpc>
              <a:buNone/>
            </a:pPr>
            <a:r>
              <a:rPr lang="en-US" sz="850" dirty="0">
                <a:solidFill>
                  <a:srgbClr val="334155"/>
                </a:solidFill>
                <a:latin typeface="SFMono-Regular" pitchFamily="34" charset="0"/>
                <a:ea typeface="SFMono-Regular" pitchFamily="34" charset="-122"/>
                <a:cs typeface="SFMono-Regular" pitchFamily="34" charset="-120"/>
              </a:rPr>
              <a:t>Visualizers, games, dashboards, audio, and hardware make hidden structures perceptible.</a:t>
            </a:r>
            <a:endParaRPr lang="en-US" sz="850" dirty="0"/>
          </a:p>
        </p:txBody>
      </p:sp>
      <p:sp>
        <p:nvSpPr>
          <p:cNvPr id="18" name="Shape 14"/>
          <p:cNvSpPr/>
          <p:nvPr/>
        </p:nvSpPr>
        <p:spPr>
          <a:xfrm>
            <a:off x="6858000" y="0"/>
            <a:ext cx="2286000" cy="5143500"/>
          </a:xfrm>
          <a:prstGeom prst="rect">
            <a:avLst/>
          </a:prstGeom>
          <a:solidFill>
            <a:srgbClr val="000000">
              <a:alpha val="0"/>
            </a:srgbClr>
          </a:solidFill>
          <a:ln/>
        </p:spPr>
      </p:sp>
      <p:sp>
        <p:nvSpPr>
          <p:cNvPr id="19" name="Shape 15"/>
          <p:cNvSpPr/>
          <p:nvPr/>
        </p:nvSpPr>
        <p:spPr>
          <a:xfrm>
            <a:off x="6858000" y="0"/>
            <a:ext cx="7144" cy="5143500"/>
          </a:xfrm>
          <a:prstGeom prst="rect">
            <a:avLst/>
          </a:prstGeom>
          <a:solidFill>
            <a:srgbClr val="0A192F"/>
          </a:solidFill>
          <a:ln/>
        </p:spPr>
      </p:sp>
      <p:pic>
        <p:nvPicPr>
          <p:cNvPr id="20" name="Image 1" descr="preencoded.png">    </p:cNvPr>
          <p:cNvPicPr>
            <a:picLocks noChangeAspect="1"/>
          </p:cNvPicPr>
          <p:nvPr/>
        </p:nvPicPr>
        <p:blipFill>
          <a:blip r:embed="rId2"/>
          <a:stretch>
            <a:fillRect/>
          </a:stretch>
        </p:blipFill>
        <p:spPr>
          <a:xfrm>
            <a:off x="7000875" y="285750"/>
            <a:ext cx="1857375" cy="1500188"/>
          </a:xfrm>
          <a:prstGeom prst="rect">
            <a:avLst/>
          </a:prstGeom>
        </p:spPr>
      </p:pic>
      <p:sp>
        <p:nvSpPr>
          <p:cNvPr id="21" name="Text 16"/>
          <p:cNvSpPr/>
          <p:nvPr/>
        </p:nvSpPr>
        <p:spPr>
          <a:xfrm>
            <a:off x="7000875" y="1871663"/>
            <a:ext cx="2000250" cy="561454"/>
          </a:xfrm>
          <a:prstGeom prst="rect">
            <a:avLst/>
          </a:prstGeom>
          <a:noFill/>
          <a:ln/>
        </p:spPr>
        <p:txBody>
          <a:bodyPr wrap="square" lIns="0" tIns="68072" rIns="0" bIns="0" rtlCol="0" anchor="t">
            <a:spAutoFit/>
          </a:bodyPr>
          <a:lstStyle/>
          <a:p>
            <a:pPr algn="l" indent="0" marL="0">
              <a:lnSpc>
                <a:spcPct val="116000"/>
              </a:lnSpc>
              <a:buNone/>
            </a:pPr>
            <a:r>
              <a:rPr lang="en-US" sz="600" dirty="0">
                <a:solidFill>
                  <a:srgbClr val="475569"/>
                </a:solidFill>
                <a:latin typeface="SFMono-Regular" pitchFamily="34" charset="0"/>
                <a:ea typeface="SFMono-Regular" pitchFamily="34" charset="-122"/>
                <a:cs typeface="SFMono-Regular" pitchFamily="34" charset="-120"/>
              </a:rPr>
              <a:t>Conceptual model of the five interlocking planes; values are representative concept-family counts, not a capability score.</a:t>
            </a:r>
            <a:endParaRPr lang="en-US" sz="600" dirty="0"/>
          </a:p>
        </p:txBody>
      </p:sp>
      <p:sp>
        <p:nvSpPr>
          <p:cNvPr id="22" name="Text 17"/>
          <p:cNvSpPr/>
          <p:nvPr/>
        </p:nvSpPr>
        <p:spPr>
          <a:xfrm>
            <a:off x="7656649" y="4929188"/>
            <a:ext cx="1230176"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0A192F"/>
                </a:solidFill>
                <a:latin typeface="SFMono-Regular" pitchFamily="34" charset="0"/>
                <a:ea typeface="SFMono-Regular" pitchFamily="34" charset="-122"/>
                <a:cs typeface="SFMono-Regular" pitchFamily="34" charset="-120"/>
              </a:rPr>
              <a:t>SOVEREIGN ENGINE / 02</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7144"/>
            <a:ext cx="9144000" cy="5143500"/>
          </a:xfrm>
          <a:prstGeom prst="rect">
            <a:avLst/>
          </a:prstGeom>
        </p:spPr>
      </p:pic>
      <p:sp>
        <p:nvSpPr>
          <p:cNvPr id="4" name="Text 0"/>
          <p:cNvSpPr/>
          <p:nvPr/>
        </p:nvSpPr>
        <p:spPr>
          <a:xfrm>
            <a:off x="557213" y="450056"/>
            <a:ext cx="5843588" cy="119993"/>
          </a:xfrm>
          <a:prstGeom prst="rect">
            <a:avLst/>
          </a:prstGeom>
          <a:noFill/>
          <a:ln/>
        </p:spPr>
        <p:txBody>
          <a:bodyPr wrap="none" lIns="0" tIns="0" rIns="0" bIns="0" rtlCol="0" anchor="t">
            <a:spAutoFit/>
          </a:bodyPr>
          <a:lstStyle/>
          <a:p>
            <a:pPr algn="l" indent="0" marL="0">
              <a:lnSpc>
                <a:spcPct val="96000"/>
              </a:lnSpc>
              <a:buNone/>
            </a:pPr>
            <a:r>
              <a:rPr lang="en-US" sz="700" b="1" spc="2" kern="0" dirty="0">
                <a:solidFill>
                  <a:srgbClr val="D90429"/>
                </a:solidFill>
                <a:latin typeface="SFMono-Regular" pitchFamily="34" charset="0"/>
                <a:ea typeface="SFMono-Regular" pitchFamily="34" charset="-122"/>
                <a:cs typeface="SFMono-Regular" pitchFamily="34" charset="-120"/>
              </a:rPr>
              <a:t>02 / GEOMETRIC UNITY</a:t>
            </a:r>
            <a:endParaRPr lang="en-US" sz="700" dirty="0"/>
          </a:p>
        </p:txBody>
      </p:sp>
      <p:sp>
        <p:nvSpPr>
          <p:cNvPr id="5" name="Text 1"/>
          <p:cNvSpPr/>
          <p:nvPr/>
        </p:nvSpPr>
        <p:spPr>
          <a:xfrm>
            <a:off x="557213" y="698636"/>
            <a:ext cx="5843588" cy="314995"/>
          </a:xfrm>
          <a:prstGeom prst="rect">
            <a:avLst/>
          </a:prstGeom>
          <a:noFill/>
          <a:ln/>
        </p:spPr>
        <p:txBody>
          <a:bodyPr wrap="none" lIns="0" tIns="0" rIns="0" bIns="0" rtlCol="0" anchor="t">
            <a:spAutoFit/>
          </a:bodyPr>
          <a:lstStyle/>
          <a:p>
            <a:pPr algn="l" indent="0" marL="0">
              <a:lnSpc>
                <a:spcPct val="84000"/>
              </a:lnSpc>
              <a:buNone/>
            </a:pPr>
            <a:r>
              <a:rPr lang="en-US" sz="2100" b="1" dirty="0">
                <a:solidFill>
                  <a:srgbClr val="0A192F"/>
                </a:solidFill>
                <a:latin typeface="Georgia" pitchFamily="34" charset="0"/>
                <a:ea typeface="Georgia" pitchFamily="34" charset="-122"/>
                <a:cs typeface="Georgia" pitchFamily="34" charset="-120"/>
              </a:rPr>
              <a:t>GU changes the arena, not just the equation</a:t>
            </a:r>
            <a:endParaRPr lang="en-US" sz="2100" dirty="0"/>
          </a:p>
        </p:txBody>
      </p:sp>
      <p:sp>
        <p:nvSpPr>
          <p:cNvPr id="6" name="Text 2"/>
          <p:cNvSpPr/>
          <p:nvPr/>
        </p:nvSpPr>
        <p:spPr>
          <a:xfrm>
            <a:off x="557213" y="1285094"/>
            <a:ext cx="5843588" cy="1128713"/>
          </a:xfrm>
          <a:prstGeom prst="rect">
            <a:avLst/>
          </a:prstGeom>
          <a:noFill/>
          <a:ln/>
        </p:spPr>
        <p:txBody>
          <a:bodyPr wrap="square" lIns="0" tIns="204089" rIns="0" bIns="204089" rtlCol="0" anchor="t">
            <a:spAutoFit/>
          </a:bodyPr>
          <a:lstStyle/>
          <a:p>
            <a:pPr algn="l" indent="0" marL="0">
              <a:lnSpc>
                <a:spcPct val="120000"/>
              </a:lnSpc>
              <a:buNone/>
            </a:pPr>
            <a:r>
              <a:rPr lang="en-US" sz="1900" dirty="0">
                <a:solidFill>
                  <a:srgbClr val="0A192F"/>
                </a:solidFill>
                <a:latin typeface="SFMono-Regular" pitchFamily="34" charset="0"/>
                <a:ea typeface="SFMono-Regular" pitchFamily="34" charset="-122"/>
                <a:cs typeface="SFMono-Regular" pitchFamily="34" charset="-120"/>
              </a:rPr>
              <a:t>dim Sym²(T*X⁴) = </a:t>
            </a:r>
            <a:r>
              <a:rPr lang="en-US" sz="1800" b="1" dirty="0">
                <a:solidFill>
                  <a:srgbClr val="D90429"/>
                </a:solidFill>
                <a:latin typeface="SFMono-Regular" pitchFamily="34" charset="0"/>
                <a:ea typeface="SFMono-Regular" pitchFamily="34" charset="-122"/>
                <a:cs typeface="SFMono-Regular" pitchFamily="34" charset="-120"/>
              </a:rPr>
              <a:t>4(4+1)/2 = 10</a:t>
            </a:r>
            <a:r>
              <a:rPr lang="en-US" sz="1900" dirty="0">
                <a:solidFill>
                  <a:srgbClr val="0A192F"/>
                </a:solidFill>
                <a:latin typeface="SFMono-Regular" pitchFamily="34" charset="0"/>
                <a:ea typeface="SFMono-Regular" pitchFamily="34" charset="-122"/>
                <a:cs typeface="SFMono-Regular" pitchFamily="34" charset="-120"/>
              </a:rPr>
              <a:t>
</a:t>
            </a:r>
            <a:r>
              <a:rPr lang="en-US" sz="1900" dirty="0">
                <a:solidFill>
                  <a:srgbClr val="0A192F"/>
                </a:solidFill>
                <a:latin typeface="SFMono-Regular" pitchFamily="34" charset="0"/>
                <a:ea typeface="SFMono-Regular" pitchFamily="34" charset="-122"/>
                <a:cs typeface="SFMono-Regular" pitchFamily="34" charset="-120"/>
              </a:rPr>
              <a:t>dim Y¹⁴ = 4 + 10 = </a:t>
            </a:r>
            <a:r>
              <a:rPr lang="en-US" sz="1800" b="1" dirty="0">
                <a:solidFill>
                  <a:srgbClr val="D90429"/>
                </a:solidFill>
                <a:latin typeface="SFMono-Regular" pitchFamily="34" charset="0"/>
                <a:ea typeface="SFMono-Regular" pitchFamily="34" charset="-122"/>
                <a:cs typeface="SFMono-Regular" pitchFamily="34" charset="-120"/>
              </a:rPr>
              <a:t>14</a:t>
            </a:r>
            <a:endParaRPr lang="en-US" sz="1900" dirty="0"/>
          </a:p>
        </p:txBody>
      </p:sp>
      <p:sp>
        <p:nvSpPr>
          <p:cNvPr id="7" name="Text 3"/>
          <p:cNvSpPr/>
          <p:nvPr/>
        </p:nvSpPr>
        <p:spPr>
          <a:xfrm>
            <a:off x="557213" y="2585256"/>
            <a:ext cx="5715000" cy="546497"/>
          </a:xfrm>
          <a:prstGeom prst="rect">
            <a:avLst/>
          </a:prstGeom>
          <a:noFill/>
          <a:ln/>
        </p:spPr>
        <p:txBody>
          <a:bodyPr wrap="square" lIns="0" tIns="0" rIns="0" bIns="0" rtlCol="0" anchor="t">
            <a:spAutoFit/>
          </a:bodyPr>
          <a:lstStyle/>
          <a:p>
            <a:pPr algn="l" indent="0" marL="0">
              <a:lnSpc>
                <a:spcPct val="120000"/>
              </a:lnSpc>
              <a:buNone/>
            </a:pPr>
            <a:r>
              <a:rPr lang="en-US" sz="900" dirty="0">
                <a:solidFill>
                  <a:srgbClr val="334155"/>
                </a:solidFill>
                <a:latin typeface="SFMono-Regular" pitchFamily="34" charset="0"/>
                <a:ea typeface="SFMono-Regular" pitchFamily="34" charset="-122"/>
                <a:cs typeface="SFMono-Regular" pitchFamily="34" charset="-120"/>
              </a:rPr>
              <a:t>A classical four-dimensional base is paired with the independent components of a local symmetric metric. The construction preserves the relationship between an observable point and the possible geometries above it.</a:t>
            </a:r>
            <a:endParaRPr lang="en-US" sz="900" dirty="0"/>
          </a:p>
        </p:txBody>
      </p:sp>
      <p:sp>
        <p:nvSpPr>
          <p:cNvPr id="8" name="Shape 4"/>
          <p:cNvSpPr/>
          <p:nvPr/>
        </p:nvSpPr>
        <p:spPr>
          <a:xfrm>
            <a:off x="6858000" y="-7144"/>
            <a:ext cx="2286000" cy="5143500"/>
          </a:xfrm>
          <a:prstGeom prst="rect">
            <a:avLst/>
          </a:prstGeom>
          <a:solidFill>
            <a:srgbClr val="000000">
              <a:alpha val="0"/>
            </a:srgbClr>
          </a:solidFill>
          <a:ln/>
        </p:spPr>
      </p:sp>
      <p:sp>
        <p:nvSpPr>
          <p:cNvPr id="9" name="Shape 5"/>
          <p:cNvSpPr/>
          <p:nvPr/>
        </p:nvSpPr>
        <p:spPr>
          <a:xfrm>
            <a:off x="6858000" y="-7144"/>
            <a:ext cx="7144" cy="5143500"/>
          </a:xfrm>
          <a:prstGeom prst="rect">
            <a:avLst/>
          </a:prstGeom>
          <a:solidFill>
            <a:srgbClr val="0A192F"/>
          </a:solidFill>
          <a:ln/>
        </p:spPr>
      </p:sp>
      <p:sp>
        <p:nvSpPr>
          <p:cNvPr id="10" name="Text 6"/>
          <p:cNvSpPr/>
          <p:nvPr/>
        </p:nvSpPr>
        <p:spPr>
          <a:xfrm>
            <a:off x="7100888" y="435769"/>
            <a:ext cx="1800225" cy="180715"/>
          </a:xfrm>
          <a:prstGeom prst="rect">
            <a:avLst/>
          </a:prstGeom>
          <a:noFill/>
          <a:ln/>
        </p:spPr>
        <p:txBody>
          <a:bodyPr wrap="none" lIns="0" tIns="0" rIns="0" bIns="0" rtlCol="0" anchor="t">
            <a:spAutoFit/>
          </a:bodyPr>
          <a:lstStyle/>
          <a:p>
            <a:pPr algn="l" indent="0" marL="0">
              <a:lnSpc>
                <a:spcPct val="92000"/>
              </a:lnSpc>
              <a:buNone/>
            </a:pPr>
            <a:r>
              <a:rPr lang="en-US" sz="1100" b="1" dirty="0">
                <a:solidFill>
                  <a:srgbClr val="0A192F"/>
                </a:solidFill>
                <a:latin typeface="Georgia" pitchFamily="34" charset="0"/>
                <a:ea typeface="Georgia" pitchFamily="34" charset="-122"/>
                <a:cs typeface="Georgia" pitchFamily="34" charset="-120"/>
              </a:rPr>
              <a:t>What the count means</a:t>
            </a:r>
            <a:endParaRPr lang="en-US" sz="1100" dirty="0"/>
          </a:p>
        </p:txBody>
      </p:sp>
      <p:sp>
        <p:nvSpPr>
          <p:cNvPr id="11" name="Text 7"/>
          <p:cNvSpPr/>
          <p:nvPr/>
        </p:nvSpPr>
        <p:spPr>
          <a:xfrm>
            <a:off x="7100888" y="730783"/>
            <a:ext cx="1800225" cy="442913"/>
          </a:xfrm>
          <a:prstGeom prst="rect">
            <a:avLst/>
          </a:prstGeom>
          <a:noFill/>
          <a:ln/>
        </p:spPr>
        <p:txBody>
          <a:bodyPr wrap="square" lIns="0" tIns="136017" rIns="0" bIns="0" rtlCol="0" anchor="t">
            <a:spAutoFit/>
          </a:bodyPr>
          <a:lstStyle/>
          <a:p>
            <a:pPr algn="l" indent="0" marL="0">
              <a:lnSpc>
                <a:spcPct val="120000"/>
              </a:lnSpc>
              <a:buNone/>
            </a:pPr>
            <a:r>
              <a:rPr lang="en-US" sz="750" b="1" dirty="0">
                <a:solidFill>
                  <a:srgbClr val="D90429"/>
                </a:solidFill>
                <a:latin typeface="SFMono-Regular" pitchFamily="34" charset="0"/>
                <a:ea typeface="SFMono-Regular" pitchFamily="34" charset="-122"/>
                <a:cs typeface="SFMono-Regular" pitchFamily="34" charset="-120"/>
              </a:rPr>
              <a:t>Mathematical:</a:t>
            </a:r>
            <a:r>
              <a:rPr lang="en-US" sz="800" dirty="0">
                <a:solidFill>
                  <a:srgbClr val="334155"/>
                </a:solidFill>
                <a:latin typeface="SFMono-Regular" pitchFamily="34" charset="0"/>
                <a:ea typeface="SFMono-Regular" pitchFamily="34" charset="-122"/>
                <a:cs typeface="SFMono-Regular" pitchFamily="34" charset="-120"/>
              </a:rPr>
              <a:t> a bundle </a:t>
            </a:r>
            <a:r>
              <a:rPr lang="en-US" sz="800" dirty="0">
                <a:solidFill>
                  <a:srgbClr val="334155"/>
                </a:solidFill>
                <a:latin typeface="SFMono-Regular" pitchFamily="34" charset="0"/>
                <a:ea typeface="SFMono-Regular" pitchFamily="34" charset="-122"/>
                <a:cs typeface="SFMono-Regular" pitchFamily="34" charset="-120"/>
              </a:rPr>
              <a:t>total-space dimension.</a:t>
            </a:r>
            <a:endParaRPr lang="en-US" sz="750" dirty="0"/>
          </a:p>
        </p:txBody>
      </p:sp>
      <p:sp>
        <p:nvSpPr>
          <p:cNvPr id="12" name="Text 8"/>
          <p:cNvSpPr/>
          <p:nvPr/>
        </p:nvSpPr>
        <p:spPr>
          <a:xfrm>
            <a:off x="7100888" y="1287996"/>
            <a:ext cx="1800225" cy="764381"/>
          </a:xfrm>
          <a:prstGeom prst="rect">
            <a:avLst/>
          </a:prstGeom>
          <a:noFill/>
          <a:ln/>
        </p:spPr>
        <p:txBody>
          <a:bodyPr wrap="square" lIns="0" tIns="136017" rIns="0" bIns="0" rtlCol="0" anchor="t">
            <a:spAutoFit/>
          </a:bodyPr>
          <a:lstStyle/>
          <a:p>
            <a:pPr algn="l" indent="0" marL="0">
              <a:lnSpc>
                <a:spcPct val="120000"/>
              </a:lnSpc>
              <a:buNone/>
            </a:pPr>
            <a:r>
              <a:rPr lang="en-US" sz="750" b="1" dirty="0">
                <a:solidFill>
                  <a:srgbClr val="D90429"/>
                </a:solidFill>
                <a:latin typeface="SFMono-Regular" pitchFamily="34" charset="0"/>
                <a:ea typeface="SFMono-Regular" pitchFamily="34" charset="-122"/>
                <a:cs typeface="SFMono-Regular" pitchFamily="34" charset="-120"/>
              </a:rPr>
              <a:t>Not established:</a:t>
            </a:r>
            <a:r>
              <a:rPr lang="en-US" sz="800" dirty="0">
                <a:solidFill>
                  <a:srgbClr val="334155"/>
                </a:solidFill>
                <a:latin typeface="SFMono-Regular" pitchFamily="34" charset="0"/>
                <a:ea typeface="SFMono-Regular" pitchFamily="34" charset="-122"/>
                <a:cs typeface="SFMono-Regular" pitchFamily="34" charset="-120"/>
              </a:rPr>
              <a:t> a </a:t>
            </a:r>
            <a:r>
              <a:rPr lang="en-US" sz="800" dirty="0">
                <a:solidFill>
                  <a:srgbClr val="334155"/>
                </a:solidFill>
                <a:latin typeface="SFMono-Regular" pitchFamily="34" charset="0"/>
                <a:ea typeface="SFMono-Regular" pitchFamily="34" charset="-122"/>
                <a:cs typeface="SFMono-Regular" pitchFamily="34" charset="-120"/>
              </a:rPr>
              <a:t>demonstrated 14-dimensional </a:t>
            </a:r>
            <a:r>
              <a:rPr lang="en-US" sz="800" dirty="0">
                <a:solidFill>
                  <a:srgbClr val="334155"/>
                </a:solidFill>
                <a:latin typeface="SFMono-Regular" pitchFamily="34" charset="0"/>
                <a:ea typeface="SFMono-Regular" pitchFamily="34" charset="-122"/>
                <a:cs typeface="SFMono-Regular" pitchFamily="34" charset="-120"/>
              </a:rPr>
              <a:t>physical universe or </a:t>
            </a:r>
            <a:r>
              <a:rPr lang="en-US" sz="800" dirty="0">
                <a:solidFill>
                  <a:srgbClr val="334155"/>
                </a:solidFill>
                <a:latin typeface="SFMono-Regular" pitchFamily="34" charset="0"/>
                <a:ea typeface="SFMono-Regular" pitchFamily="34" charset="-122"/>
                <a:cs typeface="SFMono-Regular" pitchFamily="34" charset="-120"/>
              </a:rPr>
              <a:t>Standard Model derivation.</a:t>
            </a:r>
            <a:endParaRPr lang="en-US" sz="750" dirty="0"/>
          </a:p>
        </p:txBody>
      </p:sp>
      <p:sp>
        <p:nvSpPr>
          <p:cNvPr id="13" name="Text 9"/>
          <p:cNvSpPr/>
          <p:nvPr/>
        </p:nvSpPr>
        <p:spPr>
          <a:xfrm>
            <a:off x="7100888" y="2166677"/>
            <a:ext cx="1800225" cy="764381"/>
          </a:xfrm>
          <a:prstGeom prst="rect">
            <a:avLst/>
          </a:prstGeom>
          <a:noFill/>
          <a:ln/>
        </p:spPr>
        <p:txBody>
          <a:bodyPr wrap="square" lIns="0" tIns="136017" rIns="0" bIns="0" rtlCol="0" anchor="t">
            <a:spAutoFit/>
          </a:bodyPr>
          <a:lstStyle/>
          <a:p>
            <a:pPr algn="l" indent="0" marL="0">
              <a:lnSpc>
                <a:spcPct val="120000"/>
              </a:lnSpc>
              <a:buNone/>
            </a:pPr>
            <a:r>
              <a:rPr lang="en-US" sz="750" b="1" dirty="0">
                <a:solidFill>
                  <a:srgbClr val="D90429"/>
                </a:solidFill>
                <a:latin typeface="SFMono-Regular" pitchFamily="34" charset="0"/>
                <a:ea typeface="SFMono-Regular" pitchFamily="34" charset="-122"/>
                <a:cs typeface="SFMono-Regular" pitchFamily="34" charset="-120"/>
              </a:rPr>
              <a:t>Engine translation:</a:t>
            </a:r>
            <a:r>
              <a:rPr lang="en-US" sz="800" dirty="0">
                <a:solidFill>
                  <a:srgbClr val="334155"/>
                </a:solidFill>
                <a:latin typeface="SFMono-Regular" pitchFamily="34" charset="0"/>
                <a:ea typeface="SFMono-Regular" pitchFamily="34" charset="-122"/>
                <a:cs typeface="SFMono-Regular" pitchFamily="34" charset="-120"/>
              </a:rPr>
              <a:t> a typed </a:t>
            </a:r>
            <a:r>
              <a:rPr lang="en-US" sz="800" dirty="0">
                <a:solidFill>
                  <a:srgbClr val="334155"/>
                </a:solidFill>
                <a:latin typeface="SFMono-Regular" pitchFamily="34" charset="0"/>
                <a:ea typeface="SFMono-Regular" pitchFamily="34" charset="-122"/>
                <a:cs typeface="SFMono-Regular" pitchFamily="34" charset="-120"/>
              </a:rPr>
              <a:t>state space that preserves </a:t>
            </a:r>
            <a:r>
              <a:rPr lang="en-US" sz="800" dirty="0">
                <a:solidFill>
                  <a:srgbClr val="334155"/>
                </a:solidFill>
                <a:latin typeface="SFMono-Regular" pitchFamily="34" charset="0"/>
                <a:ea typeface="SFMono-Regular" pitchFamily="34" charset="-122"/>
                <a:cs typeface="SFMono-Regular" pitchFamily="34" charset="-120"/>
              </a:rPr>
              <a:t>base, fiber, projection, </a:t>
            </a:r>
            <a:r>
              <a:rPr lang="en-US" sz="800" dirty="0">
                <a:solidFill>
                  <a:srgbClr val="334155"/>
                </a:solidFill>
                <a:latin typeface="SFMono-Regular" pitchFamily="34" charset="0"/>
                <a:ea typeface="SFMono-Regular" pitchFamily="34" charset="-122"/>
                <a:cs typeface="SFMono-Regular" pitchFamily="34" charset="-120"/>
              </a:rPr>
              <a:t>and observation context.</a:t>
            </a:r>
            <a:endParaRPr lang="en-US" sz="750" dirty="0"/>
          </a:p>
        </p:txBody>
      </p:sp>
      <p:sp>
        <p:nvSpPr>
          <p:cNvPr id="14" name="Text 10"/>
          <p:cNvSpPr/>
          <p:nvPr/>
        </p:nvSpPr>
        <p:spPr>
          <a:xfrm>
            <a:off x="7656649" y="4893469"/>
            <a:ext cx="1230176"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0A192F"/>
                </a:solidFill>
                <a:latin typeface="SFMono-Regular" pitchFamily="34" charset="0"/>
                <a:ea typeface="SFMono-Regular" pitchFamily="34" charset="-122"/>
                <a:cs typeface="SFMono-Regular" pitchFamily="34" charset="-120"/>
              </a:rPr>
              <a:t>SOVEREIGN ENGINE / 03</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57213" y="457200"/>
            <a:ext cx="5886450" cy="119993"/>
          </a:xfrm>
          <a:prstGeom prst="rect">
            <a:avLst/>
          </a:prstGeom>
          <a:noFill/>
          <a:ln/>
        </p:spPr>
        <p:txBody>
          <a:bodyPr wrap="none" lIns="0" tIns="0" rIns="0" bIns="0" rtlCol="0" anchor="t">
            <a:spAutoFit/>
          </a:bodyPr>
          <a:lstStyle/>
          <a:p>
            <a:pPr algn="l" indent="0" marL="0">
              <a:lnSpc>
                <a:spcPct val="96000"/>
              </a:lnSpc>
              <a:buNone/>
            </a:pPr>
            <a:r>
              <a:rPr lang="en-US" sz="700" b="1" spc="2" kern="0" dirty="0">
                <a:solidFill>
                  <a:srgbClr val="D90429"/>
                </a:solidFill>
                <a:latin typeface="SFMono-Regular" pitchFamily="34" charset="0"/>
                <a:ea typeface="SFMono-Regular" pitchFamily="34" charset="-122"/>
                <a:cs typeface="SFMono-Regular" pitchFamily="34" charset="-120"/>
              </a:rPr>
              <a:t>03 / OBSERVERSE AS STRUCTURE</a:t>
            </a:r>
            <a:endParaRPr lang="en-US" sz="700" dirty="0"/>
          </a:p>
        </p:txBody>
      </p:sp>
      <p:sp>
        <p:nvSpPr>
          <p:cNvPr id="5" name="Text 1"/>
          <p:cNvSpPr/>
          <p:nvPr/>
        </p:nvSpPr>
        <p:spPr>
          <a:xfrm>
            <a:off x="557213" y="705780"/>
            <a:ext cx="5429250" cy="318008"/>
          </a:xfrm>
          <a:prstGeom prst="rect">
            <a:avLst/>
          </a:prstGeom>
          <a:noFill/>
          <a:ln/>
        </p:spPr>
        <p:txBody>
          <a:bodyPr wrap="none" lIns="0" tIns="0" rIns="0" bIns="0" rtlCol="0" anchor="t">
            <a:spAutoFit/>
          </a:bodyPr>
          <a:lstStyle/>
          <a:p>
            <a:pPr algn="l" indent="0" marL="0">
              <a:lnSpc>
                <a:spcPct val="84800"/>
              </a:lnSpc>
              <a:buNone/>
            </a:pPr>
            <a:r>
              <a:rPr lang="en-US" sz="2100" b="1" spc="-1" kern="0" dirty="0">
                <a:solidFill>
                  <a:srgbClr val="0A192F"/>
                </a:solidFill>
                <a:latin typeface="Georgia" pitchFamily="34" charset="0"/>
                <a:ea typeface="Georgia" pitchFamily="34" charset="-122"/>
                <a:cs typeface="Georgia" pitchFamily="34" charset="-120"/>
              </a:rPr>
              <a:t>The observer is a relationship package</a:t>
            </a:r>
            <a:endParaRPr lang="en-US" sz="2100" dirty="0"/>
          </a:p>
        </p:txBody>
      </p:sp>
      <p:sp>
        <p:nvSpPr>
          <p:cNvPr id="6" name="Text 2"/>
          <p:cNvSpPr/>
          <p:nvPr/>
        </p:nvSpPr>
        <p:spPr>
          <a:xfrm>
            <a:off x="557213" y="1566714"/>
            <a:ext cx="687251" cy="164306"/>
          </a:xfrm>
          <a:prstGeom prst="rect">
            <a:avLst/>
          </a:prstGeom>
          <a:noFill/>
          <a:ln/>
        </p:spPr>
        <p:txBody>
          <a:bodyPr wrap="none" lIns="0" tIns="0" rIns="0" bIns="0" rtlCol="0" anchor="t">
            <a:spAutoFit/>
          </a:bodyPr>
          <a:lstStyle/>
          <a:p>
            <a:pPr algn="ctr" indent="0" marL="0">
              <a:lnSpc>
                <a:spcPct val="80000"/>
              </a:lnSpc>
              <a:buNone/>
            </a:pPr>
            <a:r>
              <a:rPr lang="en-US" sz="1150" b="1" dirty="0">
                <a:solidFill>
                  <a:srgbClr val="D90429"/>
                </a:solidFill>
                <a:latin typeface="Georgia" pitchFamily="34" charset="0"/>
                <a:ea typeface="Georgia" pitchFamily="34" charset="-122"/>
                <a:cs typeface="Georgia" pitchFamily="34" charset="-120"/>
              </a:rPr>
              <a:t>X</a:t>
            </a:r>
            <a:endParaRPr lang="en-US" sz="1150" dirty="0"/>
          </a:p>
        </p:txBody>
      </p:sp>
      <p:sp>
        <p:nvSpPr>
          <p:cNvPr id="7" name="Text 3"/>
          <p:cNvSpPr/>
          <p:nvPr/>
        </p:nvSpPr>
        <p:spPr>
          <a:xfrm>
            <a:off x="557213" y="1795314"/>
            <a:ext cx="687251" cy="128588"/>
          </a:xfrm>
          <a:prstGeom prst="rect">
            <a:avLst/>
          </a:prstGeom>
          <a:noFill/>
          <a:ln/>
        </p:spPr>
        <p:txBody>
          <a:bodyPr wrap="none" lIns="0" tIns="0" rIns="0" bIns="0" rtlCol="0" anchor="t">
            <a:spAutoFit/>
          </a:bodyPr>
          <a:lstStyle/>
          <a:p>
            <a:pPr algn="ctr" indent="0" marL="0">
              <a:lnSpc>
                <a:spcPct val="96000"/>
              </a:lnSpc>
              <a:buNone/>
            </a:pPr>
            <a:r>
              <a:rPr lang="en-US" sz="750" b="1" dirty="0">
                <a:solidFill>
                  <a:srgbClr val="0A192F"/>
                </a:solidFill>
                <a:latin typeface="SFMono-Regular" pitchFamily="34" charset="0"/>
                <a:ea typeface="SFMono-Regular" pitchFamily="34" charset="-122"/>
                <a:cs typeface="SFMono-Regular" pitchFamily="34" charset="-120"/>
              </a:rPr>
              <a:t>base point</a:t>
            </a:r>
            <a:endParaRPr lang="en-US" sz="750" dirty="0"/>
          </a:p>
        </p:txBody>
      </p:sp>
      <p:sp>
        <p:nvSpPr>
          <p:cNvPr id="8" name="Text 4"/>
          <p:cNvSpPr/>
          <p:nvPr/>
        </p:nvSpPr>
        <p:spPr>
          <a:xfrm>
            <a:off x="1315901" y="1652439"/>
            <a:ext cx="128588" cy="185738"/>
          </a:xfrm>
          <a:prstGeom prst="rect">
            <a:avLst/>
          </a:prstGeom>
          <a:noFill/>
          <a:ln/>
        </p:spPr>
        <p:txBody>
          <a:bodyPr wrap="none" lIns="0" tIns="0" rIns="0" bIns="0" rtlCol="0" anchor="t">
            <a:spAutoFit/>
          </a:bodyPr>
          <a:lstStyle/>
          <a:p>
            <a:pPr algn="ctr" indent="0" marL="0">
              <a:lnSpc>
                <a:spcPct val="80000"/>
              </a:lnSpc>
              <a:buNone/>
            </a:pPr>
            <a:r>
              <a:rPr lang="en-US" sz="1400" dirty="0">
                <a:solidFill>
                  <a:srgbClr val="D90429"/>
                </a:solidFill>
                <a:latin typeface="Georgia" pitchFamily="34" charset="0"/>
                <a:ea typeface="Georgia" pitchFamily="34" charset="-122"/>
                <a:cs typeface="Georgia" pitchFamily="34" charset="-120"/>
              </a:rPr>
              <a:t>→</a:t>
            </a:r>
            <a:endParaRPr lang="en-US" sz="1400" dirty="0"/>
          </a:p>
        </p:txBody>
      </p:sp>
      <p:sp>
        <p:nvSpPr>
          <p:cNvPr id="9" name="Text 5"/>
          <p:cNvSpPr/>
          <p:nvPr/>
        </p:nvSpPr>
        <p:spPr>
          <a:xfrm>
            <a:off x="1515926" y="1502420"/>
            <a:ext cx="687251" cy="164306"/>
          </a:xfrm>
          <a:prstGeom prst="rect">
            <a:avLst/>
          </a:prstGeom>
          <a:noFill/>
          <a:ln/>
        </p:spPr>
        <p:txBody>
          <a:bodyPr wrap="none" lIns="0" tIns="0" rIns="0" bIns="0" rtlCol="0" anchor="t">
            <a:spAutoFit/>
          </a:bodyPr>
          <a:lstStyle/>
          <a:p>
            <a:pPr algn="ctr" indent="0" marL="0">
              <a:lnSpc>
                <a:spcPct val="80000"/>
              </a:lnSpc>
              <a:buNone/>
            </a:pPr>
            <a:r>
              <a:rPr lang="en-US" sz="1150" b="1" dirty="0">
                <a:solidFill>
                  <a:srgbClr val="D90429"/>
                </a:solidFill>
                <a:latin typeface="Georgia" pitchFamily="34" charset="0"/>
                <a:ea typeface="Georgia" pitchFamily="34" charset="-122"/>
                <a:cs typeface="Georgia" pitchFamily="34" charset="-120"/>
              </a:rPr>
              <a:t>Fₓ</a:t>
            </a:r>
            <a:endParaRPr lang="en-US" sz="1150" dirty="0"/>
          </a:p>
        </p:txBody>
      </p:sp>
      <p:sp>
        <p:nvSpPr>
          <p:cNvPr id="10" name="Text 6"/>
          <p:cNvSpPr/>
          <p:nvPr/>
        </p:nvSpPr>
        <p:spPr>
          <a:xfrm>
            <a:off x="1515926" y="1731020"/>
            <a:ext cx="687251" cy="257175"/>
          </a:xfrm>
          <a:prstGeom prst="rect">
            <a:avLst/>
          </a:prstGeom>
          <a:noFill/>
          <a:ln/>
        </p:spPr>
        <p:txBody>
          <a:bodyPr wrap="square" lIns="0" tIns="0" rIns="0" bIns="0" rtlCol="0" anchor="t">
            <a:spAutoFit/>
          </a:bodyPr>
          <a:lstStyle/>
          <a:p>
            <a:pPr algn="ctr" indent="0" marL="0">
              <a:lnSpc>
                <a:spcPct val="96000"/>
              </a:lnSpc>
              <a:buNone/>
            </a:pPr>
            <a:r>
              <a:rPr lang="en-US" sz="750" b="1" dirty="0">
                <a:solidFill>
                  <a:srgbClr val="0A192F"/>
                </a:solidFill>
                <a:latin typeface="SFMono-Regular" pitchFamily="34" charset="0"/>
                <a:ea typeface="SFMono-Regular" pitchFamily="34" charset="-122"/>
                <a:cs typeface="SFMono-Regular" pitchFamily="34" charset="-120"/>
              </a:rPr>
              <a:t>metric fiber</a:t>
            </a:r>
            <a:endParaRPr lang="en-US" sz="750" dirty="0"/>
          </a:p>
        </p:txBody>
      </p:sp>
      <p:sp>
        <p:nvSpPr>
          <p:cNvPr id="11" name="Text 7"/>
          <p:cNvSpPr/>
          <p:nvPr/>
        </p:nvSpPr>
        <p:spPr>
          <a:xfrm>
            <a:off x="2274615" y="1652439"/>
            <a:ext cx="128588" cy="185738"/>
          </a:xfrm>
          <a:prstGeom prst="rect">
            <a:avLst/>
          </a:prstGeom>
          <a:noFill/>
          <a:ln/>
        </p:spPr>
        <p:txBody>
          <a:bodyPr wrap="none" lIns="0" tIns="0" rIns="0" bIns="0" rtlCol="0" anchor="t">
            <a:spAutoFit/>
          </a:bodyPr>
          <a:lstStyle/>
          <a:p>
            <a:pPr algn="ctr" indent="0" marL="0">
              <a:lnSpc>
                <a:spcPct val="80000"/>
              </a:lnSpc>
              <a:buNone/>
            </a:pPr>
            <a:r>
              <a:rPr lang="en-US" sz="1400" dirty="0">
                <a:solidFill>
                  <a:srgbClr val="D90429"/>
                </a:solidFill>
                <a:latin typeface="Georgia" pitchFamily="34" charset="0"/>
                <a:ea typeface="Georgia" pitchFamily="34" charset="-122"/>
                <a:cs typeface="Georgia" pitchFamily="34" charset="-120"/>
              </a:rPr>
              <a:t>→</a:t>
            </a:r>
            <a:endParaRPr lang="en-US" sz="1400" dirty="0"/>
          </a:p>
        </p:txBody>
      </p:sp>
      <p:sp>
        <p:nvSpPr>
          <p:cNvPr id="12" name="Text 8"/>
          <p:cNvSpPr/>
          <p:nvPr/>
        </p:nvSpPr>
        <p:spPr>
          <a:xfrm>
            <a:off x="2474640" y="1566714"/>
            <a:ext cx="687251" cy="164306"/>
          </a:xfrm>
          <a:prstGeom prst="rect">
            <a:avLst/>
          </a:prstGeom>
          <a:noFill/>
          <a:ln/>
        </p:spPr>
        <p:txBody>
          <a:bodyPr wrap="none" lIns="0" tIns="0" rIns="0" bIns="0" rtlCol="0" anchor="t">
            <a:spAutoFit/>
          </a:bodyPr>
          <a:lstStyle/>
          <a:p>
            <a:pPr algn="ctr" indent="0" marL="0">
              <a:lnSpc>
                <a:spcPct val="80000"/>
              </a:lnSpc>
              <a:buNone/>
            </a:pPr>
            <a:r>
              <a:rPr lang="en-US" sz="1150" b="1" dirty="0">
                <a:solidFill>
                  <a:srgbClr val="D90429"/>
                </a:solidFill>
                <a:latin typeface="Georgia" pitchFamily="34" charset="0"/>
                <a:ea typeface="Georgia" pitchFamily="34" charset="-122"/>
                <a:cs typeface="Georgia" pitchFamily="34" charset="-120"/>
              </a:rPr>
              <a:t>σ</a:t>
            </a:r>
            <a:endParaRPr lang="en-US" sz="1150" dirty="0"/>
          </a:p>
        </p:txBody>
      </p:sp>
      <p:sp>
        <p:nvSpPr>
          <p:cNvPr id="13" name="Text 9"/>
          <p:cNvSpPr/>
          <p:nvPr/>
        </p:nvSpPr>
        <p:spPr>
          <a:xfrm>
            <a:off x="2474640" y="1795314"/>
            <a:ext cx="687251" cy="128588"/>
          </a:xfrm>
          <a:prstGeom prst="rect">
            <a:avLst/>
          </a:prstGeom>
          <a:noFill/>
          <a:ln/>
        </p:spPr>
        <p:txBody>
          <a:bodyPr wrap="none" lIns="0" tIns="0" rIns="0" bIns="0" rtlCol="0" anchor="t">
            <a:spAutoFit/>
          </a:bodyPr>
          <a:lstStyle/>
          <a:p>
            <a:pPr algn="ctr" indent="0" marL="0">
              <a:lnSpc>
                <a:spcPct val="96000"/>
              </a:lnSpc>
              <a:buNone/>
            </a:pPr>
            <a:r>
              <a:rPr lang="en-US" sz="750" b="1" dirty="0">
                <a:solidFill>
                  <a:srgbClr val="0A192F"/>
                </a:solidFill>
                <a:latin typeface="SFMono-Regular" pitchFamily="34" charset="0"/>
                <a:ea typeface="SFMono-Regular" pitchFamily="34" charset="-122"/>
                <a:cs typeface="SFMono-Regular" pitchFamily="34" charset="-120"/>
              </a:rPr>
              <a:t>section</a:t>
            </a:r>
            <a:endParaRPr lang="en-US" sz="750" dirty="0"/>
          </a:p>
        </p:txBody>
      </p:sp>
      <p:sp>
        <p:nvSpPr>
          <p:cNvPr id="14" name="Text 10"/>
          <p:cNvSpPr/>
          <p:nvPr/>
        </p:nvSpPr>
        <p:spPr>
          <a:xfrm>
            <a:off x="3233328" y="1652439"/>
            <a:ext cx="128588" cy="185738"/>
          </a:xfrm>
          <a:prstGeom prst="rect">
            <a:avLst/>
          </a:prstGeom>
          <a:noFill/>
          <a:ln/>
        </p:spPr>
        <p:txBody>
          <a:bodyPr wrap="none" lIns="0" tIns="0" rIns="0" bIns="0" rtlCol="0" anchor="t">
            <a:spAutoFit/>
          </a:bodyPr>
          <a:lstStyle/>
          <a:p>
            <a:pPr algn="ctr" indent="0" marL="0">
              <a:lnSpc>
                <a:spcPct val="80000"/>
              </a:lnSpc>
              <a:buNone/>
            </a:pPr>
            <a:r>
              <a:rPr lang="en-US" sz="1400" dirty="0">
                <a:solidFill>
                  <a:srgbClr val="D90429"/>
                </a:solidFill>
                <a:latin typeface="Georgia" pitchFamily="34" charset="0"/>
                <a:ea typeface="Georgia" pitchFamily="34" charset="-122"/>
                <a:cs typeface="Georgia" pitchFamily="34" charset="-120"/>
              </a:rPr>
              <a:t>→</a:t>
            </a:r>
            <a:endParaRPr lang="en-US" sz="1400" dirty="0"/>
          </a:p>
        </p:txBody>
      </p:sp>
      <p:sp>
        <p:nvSpPr>
          <p:cNvPr id="15" name="Text 11"/>
          <p:cNvSpPr/>
          <p:nvPr/>
        </p:nvSpPr>
        <p:spPr>
          <a:xfrm>
            <a:off x="3433353" y="1566714"/>
            <a:ext cx="687251" cy="164306"/>
          </a:xfrm>
          <a:prstGeom prst="rect">
            <a:avLst/>
          </a:prstGeom>
          <a:noFill/>
          <a:ln/>
        </p:spPr>
        <p:txBody>
          <a:bodyPr wrap="none" lIns="0" tIns="0" rIns="0" bIns="0" rtlCol="0" anchor="t">
            <a:spAutoFit/>
          </a:bodyPr>
          <a:lstStyle/>
          <a:p>
            <a:pPr algn="ctr" indent="0" marL="0">
              <a:lnSpc>
                <a:spcPct val="80000"/>
              </a:lnSpc>
              <a:buNone/>
            </a:pPr>
            <a:r>
              <a:rPr lang="en-US" sz="1150" b="1" dirty="0">
                <a:solidFill>
                  <a:srgbClr val="D90429"/>
                </a:solidFill>
                <a:latin typeface="Georgia" pitchFamily="34" charset="0"/>
                <a:ea typeface="Georgia" pitchFamily="34" charset="-122"/>
                <a:cs typeface="Georgia" pitchFamily="34" charset="-120"/>
              </a:rPr>
              <a:t>∇</a:t>
            </a:r>
            <a:endParaRPr lang="en-US" sz="1150" dirty="0"/>
          </a:p>
        </p:txBody>
      </p:sp>
      <p:sp>
        <p:nvSpPr>
          <p:cNvPr id="16" name="Text 12"/>
          <p:cNvSpPr/>
          <p:nvPr/>
        </p:nvSpPr>
        <p:spPr>
          <a:xfrm>
            <a:off x="3433353" y="1795314"/>
            <a:ext cx="687251" cy="128588"/>
          </a:xfrm>
          <a:prstGeom prst="rect">
            <a:avLst/>
          </a:prstGeom>
          <a:noFill/>
          <a:ln/>
        </p:spPr>
        <p:txBody>
          <a:bodyPr wrap="none" lIns="0" tIns="0" rIns="0" bIns="0" rtlCol="0" anchor="t">
            <a:spAutoFit/>
          </a:bodyPr>
          <a:lstStyle/>
          <a:p>
            <a:pPr algn="ctr" indent="0" marL="0">
              <a:lnSpc>
                <a:spcPct val="96000"/>
              </a:lnSpc>
              <a:buNone/>
            </a:pPr>
            <a:r>
              <a:rPr lang="en-US" sz="750" b="1" dirty="0">
                <a:solidFill>
                  <a:srgbClr val="0A192F"/>
                </a:solidFill>
                <a:latin typeface="SFMono-Regular" pitchFamily="34" charset="0"/>
                <a:ea typeface="SFMono-Regular" pitchFamily="34" charset="-122"/>
                <a:cs typeface="SFMono-Regular" pitchFamily="34" charset="-120"/>
              </a:rPr>
              <a:t>connection</a:t>
            </a:r>
            <a:endParaRPr lang="en-US" sz="750" dirty="0"/>
          </a:p>
        </p:txBody>
      </p:sp>
      <p:sp>
        <p:nvSpPr>
          <p:cNvPr id="17" name="Text 13"/>
          <p:cNvSpPr/>
          <p:nvPr/>
        </p:nvSpPr>
        <p:spPr>
          <a:xfrm>
            <a:off x="4192042" y="1652439"/>
            <a:ext cx="128588" cy="185738"/>
          </a:xfrm>
          <a:prstGeom prst="rect">
            <a:avLst/>
          </a:prstGeom>
          <a:noFill/>
          <a:ln/>
        </p:spPr>
        <p:txBody>
          <a:bodyPr wrap="none" lIns="0" tIns="0" rIns="0" bIns="0" rtlCol="0" anchor="t">
            <a:spAutoFit/>
          </a:bodyPr>
          <a:lstStyle/>
          <a:p>
            <a:pPr algn="ctr" indent="0" marL="0">
              <a:lnSpc>
                <a:spcPct val="80000"/>
              </a:lnSpc>
              <a:buNone/>
            </a:pPr>
            <a:r>
              <a:rPr lang="en-US" sz="1400" dirty="0">
                <a:solidFill>
                  <a:srgbClr val="D90429"/>
                </a:solidFill>
                <a:latin typeface="Georgia" pitchFamily="34" charset="0"/>
                <a:ea typeface="Georgia" pitchFamily="34" charset="-122"/>
                <a:cs typeface="Georgia" pitchFamily="34" charset="-120"/>
              </a:rPr>
              <a:t>→</a:t>
            </a:r>
            <a:endParaRPr lang="en-US" sz="1400" dirty="0"/>
          </a:p>
        </p:txBody>
      </p:sp>
      <p:sp>
        <p:nvSpPr>
          <p:cNvPr id="18" name="Text 14"/>
          <p:cNvSpPr/>
          <p:nvPr/>
        </p:nvSpPr>
        <p:spPr>
          <a:xfrm>
            <a:off x="4392067" y="1566714"/>
            <a:ext cx="687251" cy="164306"/>
          </a:xfrm>
          <a:prstGeom prst="rect">
            <a:avLst/>
          </a:prstGeom>
          <a:noFill/>
          <a:ln/>
        </p:spPr>
        <p:txBody>
          <a:bodyPr wrap="none" lIns="0" tIns="0" rIns="0" bIns="0" rtlCol="0" anchor="t">
            <a:spAutoFit/>
          </a:bodyPr>
          <a:lstStyle/>
          <a:p>
            <a:pPr algn="ctr" indent="0" marL="0">
              <a:lnSpc>
                <a:spcPct val="80000"/>
              </a:lnSpc>
              <a:buNone/>
            </a:pPr>
            <a:r>
              <a:rPr lang="en-US" sz="1150" b="1" dirty="0">
                <a:solidFill>
                  <a:srgbClr val="D90429"/>
                </a:solidFill>
                <a:latin typeface="Georgia" pitchFamily="34" charset="0"/>
                <a:ea typeface="Georgia" pitchFamily="34" charset="-122"/>
                <a:cs typeface="Georgia" pitchFamily="34" charset="-120"/>
              </a:rPr>
              <a:t>π*</a:t>
            </a:r>
            <a:endParaRPr lang="en-US" sz="1150" dirty="0"/>
          </a:p>
        </p:txBody>
      </p:sp>
      <p:sp>
        <p:nvSpPr>
          <p:cNvPr id="19" name="Text 15"/>
          <p:cNvSpPr/>
          <p:nvPr/>
        </p:nvSpPr>
        <p:spPr>
          <a:xfrm>
            <a:off x="4392067" y="1795314"/>
            <a:ext cx="687251" cy="128588"/>
          </a:xfrm>
          <a:prstGeom prst="rect">
            <a:avLst/>
          </a:prstGeom>
          <a:noFill/>
          <a:ln/>
        </p:spPr>
        <p:txBody>
          <a:bodyPr wrap="none" lIns="0" tIns="0" rIns="0" bIns="0" rtlCol="0" anchor="t">
            <a:spAutoFit/>
          </a:bodyPr>
          <a:lstStyle/>
          <a:p>
            <a:pPr algn="ctr" indent="0" marL="0">
              <a:lnSpc>
                <a:spcPct val="96000"/>
              </a:lnSpc>
              <a:buNone/>
            </a:pPr>
            <a:r>
              <a:rPr lang="en-US" sz="750" b="1" dirty="0">
                <a:solidFill>
                  <a:srgbClr val="0A192F"/>
                </a:solidFill>
                <a:latin typeface="SFMono-Regular" pitchFamily="34" charset="0"/>
                <a:ea typeface="SFMono-Regular" pitchFamily="34" charset="-122"/>
                <a:cs typeface="SFMono-Regular" pitchFamily="34" charset="-120"/>
              </a:rPr>
              <a:t>pullback</a:t>
            </a:r>
            <a:endParaRPr lang="en-US" sz="750" dirty="0"/>
          </a:p>
        </p:txBody>
      </p:sp>
      <p:sp>
        <p:nvSpPr>
          <p:cNvPr id="20" name="Text 16"/>
          <p:cNvSpPr/>
          <p:nvPr/>
        </p:nvSpPr>
        <p:spPr>
          <a:xfrm>
            <a:off x="5150755" y="1652439"/>
            <a:ext cx="128588" cy="185738"/>
          </a:xfrm>
          <a:prstGeom prst="rect">
            <a:avLst/>
          </a:prstGeom>
          <a:noFill/>
          <a:ln/>
        </p:spPr>
        <p:txBody>
          <a:bodyPr wrap="none" lIns="0" tIns="0" rIns="0" bIns="0" rtlCol="0" anchor="t">
            <a:spAutoFit/>
          </a:bodyPr>
          <a:lstStyle/>
          <a:p>
            <a:pPr algn="ctr" indent="0" marL="0">
              <a:lnSpc>
                <a:spcPct val="80000"/>
              </a:lnSpc>
              <a:buNone/>
            </a:pPr>
            <a:r>
              <a:rPr lang="en-US" sz="1400" dirty="0">
                <a:solidFill>
                  <a:srgbClr val="D90429"/>
                </a:solidFill>
                <a:latin typeface="Georgia" pitchFamily="34" charset="0"/>
                <a:ea typeface="Georgia" pitchFamily="34" charset="-122"/>
                <a:cs typeface="Georgia" pitchFamily="34" charset="-120"/>
              </a:rPr>
              <a:t>→</a:t>
            </a:r>
            <a:endParaRPr lang="en-US" sz="1400" dirty="0"/>
          </a:p>
        </p:txBody>
      </p:sp>
      <p:sp>
        <p:nvSpPr>
          <p:cNvPr id="21" name="Text 17"/>
          <p:cNvSpPr/>
          <p:nvPr/>
        </p:nvSpPr>
        <p:spPr>
          <a:xfrm>
            <a:off x="5350780" y="1566714"/>
            <a:ext cx="707231" cy="164306"/>
          </a:xfrm>
          <a:prstGeom prst="rect">
            <a:avLst/>
          </a:prstGeom>
          <a:noFill/>
          <a:ln/>
        </p:spPr>
        <p:txBody>
          <a:bodyPr wrap="none" lIns="0" tIns="0" rIns="0" bIns="0" rtlCol="0" anchor="t">
            <a:spAutoFit/>
          </a:bodyPr>
          <a:lstStyle/>
          <a:p>
            <a:pPr algn="ctr" indent="0" marL="0">
              <a:lnSpc>
                <a:spcPct val="80000"/>
              </a:lnSpc>
              <a:buNone/>
            </a:pPr>
            <a:r>
              <a:rPr lang="en-US" sz="1150" b="1" dirty="0">
                <a:solidFill>
                  <a:srgbClr val="D90429"/>
                </a:solidFill>
                <a:latin typeface="Georgia" pitchFamily="34" charset="0"/>
                <a:ea typeface="Georgia" pitchFamily="34" charset="-122"/>
                <a:cs typeface="Georgia" pitchFamily="34" charset="-120"/>
              </a:rPr>
              <a:t>O</a:t>
            </a:r>
            <a:endParaRPr lang="en-US" sz="1150" dirty="0"/>
          </a:p>
        </p:txBody>
      </p:sp>
      <p:sp>
        <p:nvSpPr>
          <p:cNvPr id="22" name="Text 18"/>
          <p:cNvSpPr/>
          <p:nvPr/>
        </p:nvSpPr>
        <p:spPr>
          <a:xfrm>
            <a:off x="5350780" y="1795314"/>
            <a:ext cx="707231" cy="128588"/>
          </a:xfrm>
          <a:prstGeom prst="rect">
            <a:avLst/>
          </a:prstGeom>
          <a:noFill/>
          <a:ln/>
        </p:spPr>
        <p:txBody>
          <a:bodyPr wrap="none" lIns="0" tIns="0" rIns="0" bIns="0" rtlCol="0" anchor="t">
            <a:spAutoFit/>
          </a:bodyPr>
          <a:lstStyle/>
          <a:p>
            <a:pPr algn="ctr" indent="0" marL="0">
              <a:lnSpc>
                <a:spcPct val="96000"/>
              </a:lnSpc>
              <a:buNone/>
            </a:pPr>
            <a:r>
              <a:rPr lang="en-US" sz="750" b="1" dirty="0">
                <a:solidFill>
                  <a:srgbClr val="0A192F"/>
                </a:solidFill>
                <a:latin typeface="SFMono-Regular" pitchFamily="34" charset="0"/>
                <a:ea typeface="SFMono-Regular" pitchFamily="34" charset="-122"/>
                <a:cs typeface="SFMono-Regular" pitchFamily="34" charset="-120"/>
              </a:rPr>
              <a:t>observation</a:t>
            </a:r>
            <a:endParaRPr lang="en-US" sz="750" dirty="0"/>
          </a:p>
        </p:txBody>
      </p:sp>
      <p:sp>
        <p:nvSpPr>
          <p:cNvPr id="23" name="Text 19"/>
          <p:cNvSpPr/>
          <p:nvPr/>
        </p:nvSpPr>
        <p:spPr>
          <a:xfrm>
            <a:off x="557213" y="2338239"/>
            <a:ext cx="5429250" cy="553696"/>
          </a:xfrm>
          <a:prstGeom prst="rect">
            <a:avLst/>
          </a:prstGeom>
          <a:noFill/>
          <a:ln/>
        </p:spPr>
        <p:txBody>
          <a:bodyPr wrap="square" lIns="0" tIns="0" rIns="0" bIns="0" rtlCol="0" anchor="t">
            <a:spAutoFit/>
          </a:bodyPr>
          <a:lstStyle/>
          <a:p>
            <a:pPr algn="l" indent="0" marL="0">
              <a:lnSpc>
                <a:spcPct val="121600"/>
              </a:lnSpc>
              <a:buNone/>
            </a:pPr>
            <a:r>
              <a:rPr lang="en-US" sz="900" dirty="0">
                <a:solidFill>
                  <a:srgbClr val="334155"/>
                </a:solidFill>
                <a:latin typeface="SFMono-Regular" pitchFamily="34" charset="0"/>
                <a:ea typeface="SFMono-Regular" pitchFamily="34" charset="-122"/>
                <a:cs typeface="SFMono-Regular" pitchFamily="34" charset="-120"/>
              </a:rPr>
              <a:t>The transcript’s observer is not merely a point in the total space. It is the coordinated package of spaces, fibers, sections, transport rules, and projections that determines what can be represented and what can be seen.</a:t>
            </a:r>
            <a:endParaRPr lang="en-US" sz="900" dirty="0"/>
          </a:p>
        </p:txBody>
      </p:sp>
      <p:sp>
        <p:nvSpPr>
          <p:cNvPr id="24" name="Shape 20"/>
          <p:cNvSpPr/>
          <p:nvPr/>
        </p:nvSpPr>
        <p:spPr>
          <a:xfrm>
            <a:off x="6858000" y="0"/>
            <a:ext cx="2286000" cy="5143500"/>
          </a:xfrm>
          <a:prstGeom prst="rect">
            <a:avLst/>
          </a:prstGeom>
          <a:solidFill>
            <a:srgbClr val="000000">
              <a:alpha val="0"/>
            </a:srgbClr>
          </a:solidFill>
          <a:ln/>
        </p:spPr>
      </p:sp>
      <p:sp>
        <p:nvSpPr>
          <p:cNvPr id="25" name="Shape 21"/>
          <p:cNvSpPr/>
          <p:nvPr/>
        </p:nvSpPr>
        <p:spPr>
          <a:xfrm>
            <a:off x="6858000" y="0"/>
            <a:ext cx="7144" cy="5143500"/>
          </a:xfrm>
          <a:prstGeom prst="rect">
            <a:avLst/>
          </a:prstGeom>
          <a:solidFill>
            <a:srgbClr val="0A192F"/>
          </a:solidFill>
          <a:ln/>
        </p:spPr>
      </p:sp>
      <p:sp>
        <p:nvSpPr>
          <p:cNvPr id="26" name="Text 22"/>
          <p:cNvSpPr/>
          <p:nvPr/>
        </p:nvSpPr>
        <p:spPr>
          <a:xfrm>
            <a:off x="7100888" y="342900"/>
            <a:ext cx="1800225" cy="191988"/>
          </a:xfrm>
          <a:prstGeom prst="rect">
            <a:avLst/>
          </a:prstGeom>
          <a:noFill/>
          <a:ln/>
        </p:spPr>
        <p:txBody>
          <a:bodyPr wrap="none" lIns="0" tIns="0" rIns="0" bIns="0" rtlCol="0" anchor="t">
            <a:spAutoFit/>
          </a:bodyPr>
          <a:lstStyle/>
          <a:p>
            <a:pPr algn="l" indent="0" marL="0">
              <a:lnSpc>
                <a:spcPct val="89600"/>
              </a:lnSpc>
              <a:buNone/>
            </a:pPr>
            <a:r>
              <a:rPr lang="en-US" sz="1200" b="1" dirty="0">
                <a:solidFill>
                  <a:srgbClr val="0A192F"/>
                </a:solidFill>
                <a:latin typeface="Georgia" pitchFamily="34" charset="0"/>
                <a:ea typeface="Georgia" pitchFamily="34" charset="-122"/>
                <a:cs typeface="Georgia" pitchFamily="34" charset="-120"/>
              </a:rPr>
              <a:t>Software consequence</a:t>
            </a:r>
            <a:endParaRPr lang="en-US" sz="1200" dirty="0"/>
          </a:p>
        </p:txBody>
      </p:sp>
      <p:sp>
        <p:nvSpPr>
          <p:cNvPr id="27" name="Text 23"/>
          <p:cNvSpPr/>
          <p:nvPr/>
        </p:nvSpPr>
        <p:spPr>
          <a:xfrm>
            <a:off x="7100888" y="677763"/>
            <a:ext cx="1800225" cy="951905"/>
          </a:xfrm>
          <a:prstGeom prst="rect">
            <a:avLst/>
          </a:prstGeom>
          <a:noFill/>
          <a:ln/>
        </p:spPr>
        <p:txBody>
          <a:bodyPr wrap="square" lIns="0" tIns="136017" rIns="0" bIns="0" rtlCol="0" anchor="t">
            <a:spAutoFit/>
          </a:bodyPr>
          <a:lstStyle/>
          <a:p>
            <a:pPr algn="l" indent="0" marL="0">
              <a:lnSpc>
                <a:spcPct val="124000"/>
              </a:lnSpc>
              <a:buNone/>
            </a:pPr>
            <a:r>
              <a:rPr lang="en-US" sz="750" b="1" dirty="0">
                <a:solidFill>
                  <a:srgbClr val="D90429"/>
                </a:solidFill>
                <a:latin typeface="SFMono-Regular" pitchFamily="34" charset="0"/>
                <a:ea typeface="SFMono-Regular" pitchFamily="34" charset="-122"/>
                <a:cs typeface="SFMono-Regular" pitchFamily="34" charset="-120"/>
              </a:rPr>
              <a:t>Preserve context.</a:t>
            </a:r>
            <a:r>
              <a:rPr lang="en-US" sz="800" dirty="0">
                <a:solidFill>
                  <a:srgbClr val="334155"/>
                </a:solidFill>
                <a:latin typeface="SFMono-Regular" pitchFamily="34" charset="0"/>
                <a:ea typeface="SFMono-Regular" pitchFamily="34" charset="-122"/>
                <a:cs typeface="SFMono-Regular" pitchFamily="34" charset="-120"/>
              </a:rPr>
              <a:t> A </a:t>
            </a:r>
            <a:r>
              <a:rPr lang="en-US" sz="800" dirty="0">
                <a:solidFill>
                  <a:srgbClr val="334155"/>
                </a:solidFill>
                <a:latin typeface="SFMono-Regular" pitchFamily="34" charset="0"/>
                <a:ea typeface="SFMono-Regular" pitchFamily="34" charset="-122"/>
                <a:cs typeface="SFMono-Regular" pitchFamily="34" charset="-120"/>
              </a:rPr>
              <a:t>projection is not the whole </a:t>
            </a:r>
            <a:r>
              <a:rPr lang="en-US" sz="800" dirty="0">
                <a:solidFill>
                  <a:srgbClr val="334155"/>
                </a:solidFill>
                <a:latin typeface="SFMono-Regular" pitchFamily="34" charset="0"/>
                <a:ea typeface="SFMono-Regular" pitchFamily="34" charset="-122"/>
                <a:cs typeface="SFMono-Regular" pitchFamily="34" charset="-120"/>
              </a:rPr>
              <a:t>object; retain the base, </a:t>
            </a:r>
            <a:r>
              <a:rPr lang="en-US" sz="800" dirty="0">
                <a:solidFill>
                  <a:srgbClr val="334155"/>
                </a:solidFill>
                <a:latin typeface="SFMono-Regular" pitchFamily="34" charset="0"/>
                <a:ea typeface="SFMono-Regular" pitchFamily="34" charset="-122"/>
                <a:cs typeface="SFMono-Regular" pitchFamily="34" charset="-120"/>
              </a:rPr>
              <a:t>fiber, map, local </a:t>
            </a:r>
            <a:r>
              <a:rPr lang="en-US" sz="800" dirty="0">
                <a:solidFill>
                  <a:srgbClr val="334155"/>
                </a:solidFill>
                <a:latin typeface="SFMono-Regular" pitchFamily="34" charset="0"/>
                <a:ea typeface="SFMono-Regular" pitchFamily="34" charset="-122"/>
                <a:cs typeface="SFMono-Regular" pitchFamily="34" charset="-120"/>
              </a:rPr>
              <a:t>coordinates, and </a:t>
            </a:r>
            <a:r>
              <a:rPr lang="en-US" sz="800" dirty="0">
                <a:solidFill>
                  <a:srgbClr val="334155"/>
                </a:solidFill>
                <a:latin typeface="SFMono-Regular" pitchFamily="34" charset="0"/>
                <a:ea typeface="SFMono-Regular" pitchFamily="34" charset="-122"/>
                <a:cs typeface="SFMono-Regular" pitchFamily="34" charset="-120"/>
              </a:rPr>
              <a:t>provenance.</a:t>
            </a:r>
            <a:endParaRPr lang="en-US" sz="750" dirty="0"/>
          </a:p>
        </p:txBody>
      </p:sp>
      <p:sp>
        <p:nvSpPr>
          <p:cNvPr id="28" name="Text 24"/>
          <p:cNvSpPr/>
          <p:nvPr/>
        </p:nvSpPr>
        <p:spPr>
          <a:xfrm>
            <a:off x="7100888" y="1743968"/>
            <a:ext cx="1800225" cy="951905"/>
          </a:xfrm>
          <a:prstGeom prst="rect">
            <a:avLst/>
          </a:prstGeom>
          <a:noFill/>
          <a:ln/>
        </p:spPr>
        <p:txBody>
          <a:bodyPr wrap="square" lIns="0" tIns="136017" rIns="0" bIns="0" rtlCol="0" anchor="t">
            <a:spAutoFit/>
          </a:bodyPr>
          <a:lstStyle/>
          <a:p>
            <a:pPr algn="l" indent="0" marL="0">
              <a:lnSpc>
                <a:spcPct val="124000"/>
              </a:lnSpc>
              <a:buNone/>
            </a:pPr>
            <a:r>
              <a:rPr lang="en-US" sz="750" b="1" dirty="0">
                <a:solidFill>
                  <a:srgbClr val="D90429"/>
                </a:solidFill>
                <a:latin typeface="SFMono-Regular" pitchFamily="34" charset="0"/>
                <a:ea typeface="SFMono-Regular" pitchFamily="34" charset="-122"/>
                <a:cs typeface="SFMono-Regular" pitchFamily="34" charset="-120"/>
              </a:rPr>
              <a:t>Make transport explicit.</a:t>
            </a:r>
            <a:r>
              <a:rPr lang="en-US" sz="800" dirty="0">
                <a:solidFill>
                  <a:srgbClr val="334155"/>
                </a:solidFill>
                <a:latin typeface="SFMono-Regular" pitchFamily="34" charset="0"/>
                <a:ea typeface="SFMono-Regular" pitchFamily="34" charset="-122"/>
                <a:cs typeface="SFMono-Regular" pitchFamily="34" charset="-120"/>
              </a:rPr>
              <a:t> Every update or translation </a:t>
            </a:r>
            <a:r>
              <a:rPr lang="en-US" sz="800" dirty="0">
                <a:solidFill>
                  <a:srgbClr val="334155"/>
                </a:solidFill>
                <a:latin typeface="SFMono-Regular" pitchFamily="34" charset="0"/>
                <a:ea typeface="SFMono-Regular" pitchFamily="34" charset="-122"/>
                <a:cs typeface="SFMono-Regular" pitchFamily="34" charset="-120"/>
              </a:rPr>
              <a:t>carries the connection or </a:t>
            </a:r>
            <a:r>
              <a:rPr lang="en-US" sz="800" dirty="0">
                <a:solidFill>
                  <a:srgbClr val="334155"/>
                </a:solidFill>
                <a:latin typeface="SFMono-Regular" pitchFamily="34" charset="0"/>
                <a:ea typeface="SFMono-Regular" pitchFamily="34" charset="-122"/>
                <a:cs typeface="SFMono-Regular" pitchFamily="34" charset="-120"/>
              </a:rPr>
              <a:t>transformation that relates </a:t>
            </a:r>
            <a:r>
              <a:rPr lang="en-US" sz="800" dirty="0">
                <a:solidFill>
                  <a:srgbClr val="334155"/>
                </a:solidFill>
                <a:latin typeface="SFMono-Regular" pitchFamily="34" charset="0"/>
                <a:ea typeface="SFMono-Regular" pitchFamily="34" charset="-122"/>
                <a:cs typeface="SFMono-Regular" pitchFamily="34" charset="-120"/>
              </a:rPr>
              <a:t>one local state to another.</a:t>
            </a:r>
            <a:endParaRPr lang="en-US" sz="750" dirty="0"/>
          </a:p>
        </p:txBody>
      </p:sp>
      <p:sp>
        <p:nvSpPr>
          <p:cNvPr id="29" name="Text 25"/>
          <p:cNvSpPr/>
          <p:nvPr/>
        </p:nvSpPr>
        <p:spPr>
          <a:xfrm>
            <a:off x="7100888" y="2810173"/>
            <a:ext cx="1800225" cy="1117997"/>
          </a:xfrm>
          <a:prstGeom prst="rect">
            <a:avLst/>
          </a:prstGeom>
          <a:noFill/>
          <a:ln/>
        </p:spPr>
        <p:txBody>
          <a:bodyPr wrap="square" lIns="0" tIns="136017" rIns="0" bIns="0" rtlCol="0" anchor="t">
            <a:spAutoFit/>
          </a:bodyPr>
          <a:lstStyle/>
          <a:p>
            <a:pPr algn="l" indent="0" marL="0">
              <a:lnSpc>
                <a:spcPct val="124000"/>
              </a:lnSpc>
              <a:buNone/>
            </a:pPr>
            <a:r>
              <a:rPr lang="en-US" sz="750" b="1" dirty="0">
                <a:solidFill>
                  <a:srgbClr val="D90429"/>
                </a:solidFill>
                <a:latin typeface="SFMono-Regular" pitchFamily="34" charset="0"/>
                <a:ea typeface="SFMono-Regular" pitchFamily="34" charset="-122"/>
                <a:cs typeface="SFMono-Regular" pitchFamily="34" charset="-120"/>
              </a:rPr>
              <a:t>Separate fact from analogy.</a:t>
            </a:r>
            <a:r>
              <a:rPr lang="en-US" sz="800" dirty="0">
                <a:solidFill>
                  <a:srgbClr val="334155"/>
                </a:solidFill>
                <a:latin typeface="SFMono-Regular" pitchFamily="34" charset="0"/>
                <a:ea typeface="SFMono-Regular" pitchFamily="34" charset="-122"/>
                <a:cs typeface="SFMono-Regular" pitchFamily="34" charset="-120"/>
              </a:rPr>
              <a:t> The bundle vocabulary is </a:t>
            </a:r>
            <a:r>
              <a:rPr lang="en-US" sz="800" dirty="0">
                <a:solidFill>
                  <a:srgbClr val="334155"/>
                </a:solidFill>
                <a:latin typeface="SFMono-Regular" pitchFamily="34" charset="0"/>
                <a:ea typeface="SFMono-Regular" pitchFamily="34" charset="-122"/>
                <a:cs typeface="SFMono-Regular" pitchFamily="34" charset="-120"/>
              </a:rPr>
              <a:t>standard mathematics; its </a:t>
            </a:r>
            <a:r>
              <a:rPr lang="en-US" sz="800" dirty="0">
                <a:solidFill>
                  <a:srgbClr val="334155"/>
                </a:solidFill>
                <a:latin typeface="SFMono-Regular" pitchFamily="34" charset="0"/>
                <a:ea typeface="SFMono-Regular" pitchFamily="34" charset="-122"/>
                <a:cs typeface="SFMono-Regular" pitchFamily="34" charset="-120"/>
              </a:rPr>
              <a:t>role as a meaning engine is </a:t>
            </a:r>
            <a:r>
              <a:rPr lang="en-US" sz="800" dirty="0">
                <a:solidFill>
                  <a:srgbClr val="334155"/>
                </a:solidFill>
                <a:latin typeface="SFMono-Regular" pitchFamily="34" charset="0"/>
                <a:ea typeface="SFMono-Regular" pitchFamily="34" charset="-122"/>
                <a:cs typeface="SFMono-Regular" pitchFamily="34" charset="-120"/>
              </a:rPr>
              <a:t>a project-level </a:t>
            </a:r>
            <a:r>
              <a:rPr lang="en-US" sz="800" dirty="0">
                <a:solidFill>
                  <a:srgbClr val="334155"/>
                </a:solidFill>
                <a:latin typeface="SFMono-Regular" pitchFamily="34" charset="0"/>
                <a:ea typeface="SFMono-Regular" pitchFamily="34" charset="-122"/>
                <a:cs typeface="SFMono-Regular" pitchFamily="34" charset="-120"/>
              </a:rPr>
              <a:t>interpretation.</a:t>
            </a:r>
            <a:endParaRPr lang="en-US" sz="750" dirty="0"/>
          </a:p>
        </p:txBody>
      </p:sp>
      <p:sp>
        <p:nvSpPr>
          <p:cNvPr id="30" name="Text 26"/>
          <p:cNvSpPr/>
          <p:nvPr/>
        </p:nvSpPr>
        <p:spPr>
          <a:xfrm>
            <a:off x="7656649" y="4900613"/>
            <a:ext cx="1230176"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0A192F"/>
                </a:solidFill>
                <a:latin typeface="SFMono-Regular" pitchFamily="34" charset="0"/>
                <a:ea typeface="SFMono-Regular" pitchFamily="34" charset="-122"/>
                <a:cs typeface="SFMono-Regular" pitchFamily="34" charset="-120"/>
              </a:rPr>
              <a:t>SOVEREIGN ENGINE / 04</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57213" y="428625"/>
            <a:ext cx="8029575" cy="119993"/>
          </a:xfrm>
          <a:prstGeom prst="rect">
            <a:avLst/>
          </a:prstGeom>
          <a:noFill/>
          <a:ln/>
        </p:spPr>
        <p:txBody>
          <a:bodyPr wrap="none" lIns="0" tIns="0" rIns="0" bIns="0" rtlCol="0" anchor="t">
            <a:spAutoFit/>
          </a:bodyPr>
          <a:lstStyle/>
          <a:p>
            <a:pPr algn="l" indent="0" marL="0">
              <a:lnSpc>
                <a:spcPct val="96000"/>
              </a:lnSpc>
              <a:buNone/>
            </a:pPr>
            <a:r>
              <a:rPr lang="en-US" sz="700" b="1" spc="2" kern="0" dirty="0">
                <a:solidFill>
                  <a:srgbClr val="D90429"/>
                </a:solidFill>
                <a:latin typeface="SFMono-Regular" pitchFamily="34" charset="0"/>
                <a:ea typeface="SFMono-Regular" pitchFamily="34" charset="-122"/>
                <a:cs typeface="SFMono-Regular" pitchFamily="34" charset="-120"/>
              </a:rPr>
              <a:t>04 / TENSOR CALCULUS</a:t>
            </a:r>
            <a:endParaRPr lang="en-US" sz="700" dirty="0"/>
          </a:p>
        </p:txBody>
      </p:sp>
      <p:sp>
        <p:nvSpPr>
          <p:cNvPr id="5" name="Text 1"/>
          <p:cNvSpPr/>
          <p:nvPr/>
        </p:nvSpPr>
        <p:spPr>
          <a:xfrm>
            <a:off x="557213" y="662918"/>
            <a:ext cx="6429375" cy="318008"/>
          </a:xfrm>
          <a:prstGeom prst="rect">
            <a:avLst/>
          </a:prstGeom>
          <a:noFill/>
          <a:ln/>
        </p:spPr>
        <p:txBody>
          <a:bodyPr wrap="none" lIns="0" tIns="0" rIns="0" bIns="0" rtlCol="0" anchor="t">
            <a:spAutoFit/>
          </a:bodyPr>
          <a:lstStyle/>
          <a:p>
            <a:pPr algn="l" indent="0" marL="0">
              <a:lnSpc>
                <a:spcPct val="84800"/>
              </a:lnSpc>
              <a:buNone/>
            </a:pPr>
            <a:r>
              <a:rPr lang="en-US" sz="2100" b="1" spc="-1" kern="0" dirty="0">
                <a:solidFill>
                  <a:srgbClr val="0A192F"/>
                </a:solidFill>
                <a:latin typeface="Georgia" pitchFamily="34" charset="0"/>
                <a:ea typeface="Georgia" pitchFamily="34" charset="-122"/>
                <a:cs typeface="Georgia" pitchFamily="34" charset="-120"/>
              </a:rPr>
              <a:t>Tensor calculus supplies the physical vocabulary</a:t>
            </a:r>
            <a:endParaRPr lang="en-US" sz="2100" dirty="0"/>
          </a:p>
        </p:txBody>
      </p:sp>
      <p:sp>
        <p:nvSpPr>
          <p:cNvPr id="6" name="Text 2"/>
          <p:cNvSpPr/>
          <p:nvPr/>
        </p:nvSpPr>
        <p:spPr>
          <a:xfrm>
            <a:off x="557213" y="1038076"/>
            <a:ext cx="6643688" cy="352165"/>
          </a:xfrm>
          <a:prstGeom prst="rect">
            <a:avLst/>
          </a:prstGeom>
          <a:noFill/>
          <a:ln/>
        </p:spPr>
        <p:txBody>
          <a:bodyPr wrap="square" lIns="0" tIns="0" rIns="0" bIns="0" rtlCol="0" anchor="t">
            <a:spAutoFit/>
          </a:bodyPr>
          <a:lstStyle/>
          <a:p>
            <a:pPr algn="l" indent="0" marL="0">
              <a:lnSpc>
                <a:spcPct val="116000"/>
              </a:lnSpc>
              <a:buNone/>
            </a:pPr>
            <a:r>
              <a:rPr lang="en-US" sz="900" dirty="0">
                <a:solidFill>
                  <a:srgbClr val="334155"/>
                </a:solidFill>
                <a:latin typeface="SFMono-Regular" pitchFamily="34" charset="0"/>
                <a:ea typeface="SFMono-Regular" pitchFamily="34" charset="-122"/>
                <a:cs typeface="SFMono-Regular" pitchFamily="34" charset="-120"/>
              </a:rPr>
              <a:t>Each object answers a different question about geometry; the Engine must preserve those distinctions rather than collapse them.</a:t>
            </a:r>
            <a:endParaRPr lang="en-US" sz="900" dirty="0"/>
          </a:p>
        </p:txBody>
      </p:sp>
      <p:sp>
        <p:nvSpPr>
          <p:cNvPr id="7" name="Shape 3"/>
          <p:cNvSpPr/>
          <p:nvPr/>
        </p:nvSpPr>
        <p:spPr>
          <a:xfrm>
            <a:off x="557213" y="1533116"/>
            <a:ext cx="8029575" cy="1846492"/>
          </a:xfrm>
          <a:prstGeom prst="rect">
            <a:avLst/>
          </a:prstGeom>
          <a:solidFill>
            <a:srgbClr val="000000">
              <a:alpha val="0"/>
            </a:srgbClr>
          </a:solidFill>
          <a:ln/>
        </p:spPr>
      </p:sp>
      <p:sp>
        <p:nvSpPr>
          <p:cNvPr id="8" name="Shape 4"/>
          <p:cNvSpPr/>
          <p:nvPr/>
        </p:nvSpPr>
        <p:spPr>
          <a:xfrm>
            <a:off x="557213" y="1533116"/>
            <a:ext cx="8029575" cy="7144"/>
          </a:xfrm>
          <a:prstGeom prst="rect">
            <a:avLst/>
          </a:prstGeom>
          <a:solidFill>
            <a:srgbClr val="0A192F"/>
          </a:solidFill>
          <a:ln/>
        </p:spPr>
      </p:sp>
      <p:sp>
        <p:nvSpPr>
          <p:cNvPr id="9" name="Shape 5"/>
          <p:cNvSpPr/>
          <p:nvPr/>
        </p:nvSpPr>
        <p:spPr>
          <a:xfrm>
            <a:off x="557213" y="3372464"/>
            <a:ext cx="8029575" cy="7144"/>
          </a:xfrm>
          <a:prstGeom prst="rect">
            <a:avLst/>
          </a:prstGeom>
          <a:solidFill>
            <a:srgbClr val="0A192F"/>
          </a:solidFill>
          <a:ln/>
        </p:spPr>
      </p:sp>
      <p:sp>
        <p:nvSpPr>
          <p:cNvPr id="10" name="Text 6"/>
          <p:cNvSpPr/>
          <p:nvPr/>
        </p:nvSpPr>
        <p:spPr>
          <a:xfrm>
            <a:off x="614363" y="1558119"/>
            <a:ext cx="107156" cy="242888"/>
          </a:xfrm>
          <a:prstGeom prst="rect">
            <a:avLst/>
          </a:prstGeom>
          <a:noFill/>
          <a:ln/>
        </p:spPr>
        <p:txBody>
          <a:bodyPr wrap="none" lIns="0" tIns="0" rIns="0" bIns="0" rtlCol="0" anchor="t">
            <a:spAutoFit/>
          </a:bodyPr>
          <a:lstStyle/>
          <a:p>
            <a:pPr algn="l" indent="0" marL="0">
              <a:lnSpc>
                <a:spcPct val="80000"/>
              </a:lnSpc>
              <a:buNone/>
            </a:pPr>
            <a:r>
              <a:rPr lang="en-US" sz="1250" b="1" dirty="0">
                <a:solidFill>
                  <a:srgbClr val="D90429"/>
                </a:solidFill>
                <a:latin typeface="SFMono-Regular" pitchFamily="34" charset="0"/>
                <a:ea typeface="SFMono-Regular" pitchFamily="34" charset="-122"/>
                <a:cs typeface="SFMono-Regular" pitchFamily="34" charset="-120"/>
              </a:rPr>
              <a:t>g</a:t>
            </a:r>
            <a:endParaRPr lang="en-US" sz="1250" dirty="0"/>
          </a:p>
        </p:txBody>
      </p:sp>
      <p:sp>
        <p:nvSpPr>
          <p:cNvPr id="11" name="Text 7"/>
          <p:cNvSpPr/>
          <p:nvPr/>
        </p:nvSpPr>
        <p:spPr>
          <a:xfrm>
            <a:off x="721519" y="1629556"/>
            <a:ext cx="178594" cy="203597"/>
          </a:xfrm>
          <a:prstGeom prst="rect">
            <a:avLst/>
          </a:prstGeom>
          <a:noFill/>
          <a:ln/>
        </p:spPr>
        <p:txBody>
          <a:bodyPr wrap="none" lIns="0" tIns="0" rIns="0" bIns="0" rtlCol="0" anchor="t">
            <a:spAutoFit/>
          </a:bodyPr>
          <a:lstStyle/>
          <a:p>
            <a:pPr algn="l" indent="0" marL="0">
              <a:lnSpc>
                <a:spcPct val="80013"/>
              </a:lnSpc>
              <a:buNone/>
            </a:pPr>
            <a:r>
              <a:rPr lang="en-US" sz="1050" b="1" baseline="-40000" dirty="0">
                <a:solidFill>
                  <a:srgbClr val="D90429"/>
                </a:solidFill>
                <a:latin typeface="SFMono-Regular" pitchFamily="34" charset="0"/>
                <a:ea typeface="SFMono-Regular" pitchFamily="34" charset="-122"/>
                <a:cs typeface="SFMono-Regular" pitchFamily="34" charset="-120"/>
              </a:rPr>
              <a:t>μν</a:t>
            </a:r>
            <a:endParaRPr lang="en-US" sz="1050" dirty="0"/>
          </a:p>
        </p:txBody>
      </p:sp>
      <p:sp>
        <p:nvSpPr>
          <p:cNvPr id="12" name="Text 8"/>
          <p:cNvSpPr/>
          <p:nvPr/>
        </p:nvSpPr>
        <p:spPr>
          <a:xfrm>
            <a:off x="614363" y="1878416"/>
            <a:ext cx="1484449" cy="164976"/>
          </a:xfrm>
          <a:prstGeom prst="rect">
            <a:avLst/>
          </a:prstGeom>
          <a:noFill/>
          <a:ln/>
        </p:spPr>
        <p:txBody>
          <a:bodyPr wrap="none" lIns="0" tIns="0" rIns="0" bIns="0" rtlCol="0" anchor="t">
            <a:spAutoFit/>
          </a:bodyPr>
          <a:lstStyle/>
          <a:p>
            <a:pPr algn="l" indent="0" marL="0">
              <a:lnSpc>
                <a:spcPct val="88000"/>
              </a:lnSpc>
              <a:buNone/>
            </a:pPr>
            <a:r>
              <a:rPr lang="en-US" sz="1050" b="1" dirty="0">
                <a:solidFill>
                  <a:srgbClr val="0A192F"/>
                </a:solidFill>
                <a:latin typeface="Georgia" pitchFamily="34" charset="0"/>
                <a:ea typeface="Georgia" pitchFamily="34" charset="-122"/>
                <a:cs typeface="Georgia" pitchFamily="34" charset="-120"/>
              </a:rPr>
              <a:t>Metric</a:t>
            </a:r>
            <a:endParaRPr lang="en-US" sz="1050" dirty="0"/>
          </a:p>
        </p:txBody>
      </p:sp>
      <p:sp>
        <p:nvSpPr>
          <p:cNvPr id="13" name="Text 9"/>
          <p:cNvSpPr/>
          <p:nvPr/>
        </p:nvSpPr>
        <p:spPr>
          <a:xfrm>
            <a:off x="614363" y="2100542"/>
            <a:ext cx="1484449" cy="120718"/>
          </a:xfrm>
          <a:prstGeom prst="rect">
            <a:avLst/>
          </a:prstGeom>
          <a:noFill/>
          <a:ln/>
        </p:spPr>
        <p:txBody>
          <a:bodyPr wrap="none" lIns="0" tIns="0" rIns="0" bIns="0" rtlCol="0" anchor="t">
            <a:spAutoFit/>
          </a:bodyPr>
          <a:lstStyle/>
          <a:p>
            <a:pPr algn="l" indent="0" marL="0">
              <a:lnSpc>
                <a:spcPct val="104000"/>
              </a:lnSpc>
              <a:buNone/>
            </a:pPr>
            <a:r>
              <a:rPr lang="en-US" sz="650" b="1" dirty="0">
                <a:solidFill>
                  <a:srgbClr val="0A192F"/>
                </a:solidFill>
                <a:latin typeface="SFMono-Regular" pitchFamily="34" charset="0"/>
                <a:ea typeface="SFMono-Regular" pitchFamily="34" charset="-122"/>
                <a:cs typeface="SFMono-Regular" pitchFamily="34" charset="-120"/>
              </a:rPr>
              <a:t>PHYSICAL QUESTION</a:t>
            </a:r>
            <a:endParaRPr lang="en-US" sz="650" dirty="0"/>
          </a:p>
        </p:txBody>
      </p:sp>
      <p:sp>
        <p:nvSpPr>
          <p:cNvPr id="14" name="Text 10"/>
          <p:cNvSpPr/>
          <p:nvPr/>
        </p:nvSpPr>
        <p:spPr>
          <a:xfrm>
            <a:off x="614363" y="2264122"/>
            <a:ext cx="1484449" cy="425946"/>
          </a:xfrm>
          <a:prstGeom prst="rect">
            <a:avLst/>
          </a:prstGeom>
          <a:noFill/>
          <a:ln/>
        </p:spPr>
        <p:txBody>
          <a:bodyPr wrap="square" lIns="0" tIns="0" rIns="0" bIns="0" rtlCol="0" anchor="t">
            <a:spAutoFit/>
          </a:bodyPr>
          <a:lstStyle/>
          <a:p>
            <a:pPr algn="l" indent="0" marL="0">
              <a:lnSpc>
                <a:spcPct val="113600"/>
              </a:lnSpc>
              <a:buNone/>
            </a:pPr>
            <a:r>
              <a:rPr lang="en-US" sz="750" dirty="0">
                <a:solidFill>
                  <a:srgbClr val="475569"/>
                </a:solidFill>
                <a:latin typeface="SFMono-Regular" pitchFamily="34" charset="0"/>
                <a:ea typeface="SFMono-Regular" pitchFamily="34" charset="-122"/>
                <a:cs typeface="SFMono-Regular" pitchFamily="34" charset="-120"/>
              </a:rPr>
              <a:t>What counts as length, angle, causal direction, and volume?</a:t>
            </a:r>
            <a:endParaRPr lang="en-US" sz="750" dirty="0"/>
          </a:p>
        </p:txBody>
      </p:sp>
      <p:sp>
        <p:nvSpPr>
          <p:cNvPr id="15" name="Text 11"/>
          <p:cNvSpPr/>
          <p:nvPr/>
        </p:nvSpPr>
        <p:spPr>
          <a:xfrm>
            <a:off x="614363" y="2775793"/>
            <a:ext cx="1484449" cy="120718"/>
          </a:xfrm>
          <a:prstGeom prst="rect">
            <a:avLst/>
          </a:prstGeom>
          <a:noFill/>
          <a:ln/>
        </p:spPr>
        <p:txBody>
          <a:bodyPr wrap="none" lIns="0" tIns="0" rIns="0" bIns="0" rtlCol="0" anchor="t">
            <a:spAutoFit/>
          </a:bodyPr>
          <a:lstStyle/>
          <a:p>
            <a:pPr algn="l" indent="0" marL="0">
              <a:lnSpc>
                <a:spcPct val="104000"/>
              </a:lnSpc>
              <a:buNone/>
            </a:pPr>
            <a:r>
              <a:rPr lang="en-US" sz="650" b="1" dirty="0">
                <a:solidFill>
                  <a:srgbClr val="D90429"/>
                </a:solidFill>
                <a:latin typeface="SFMono-Regular" pitchFamily="34" charset="0"/>
                <a:ea typeface="SFMono-Regular" pitchFamily="34" charset="-122"/>
                <a:cs typeface="SFMono-Regular" pitchFamily="34" charset="-120"/>
              </a:rPr>
              <a:t>ENGINE ANALOGUE</a:t>
            </a:r>
            <a:endParaRPr lang="en-US" sz="650" dirty="0"/>
          </a:p>
        </p:txBody>
      </p:sp>
      <p:sp>
        <p:nvSpPr>
          <p:cNvPr id="16" name="Text 12"/>
          <p:cNvSpPr/>
          <p:nvPr/>
        </p:nvSpPr>
        <p:spPr>
          <a:xfrm>
            <a:off x="614363" y="2939374"/>
            <a:ext cx="1484449" cy="425946"/>
          </a:xfrm>
          <a:prstGeom prst="rect">
            <a:avLst/>
          </a:prstGeom>
          <a:noFill/>
          <a:ln/>
        </p:spPr>
        <p:txBody>
          <a:bodyPr wrap="square" lIns="0" tIns="0" rIns="0" bIns="0" rtlCol="0" anchor="t">
            <a:spAutoFit/>
          </a:bodyPr>
          <a:lstStyle/>
          <a:p>
            <a:pPr algn="l" indent="0" marL="0">
              <a:lnSpc>
                <a:spcPct val="113600"/>
              </a:lnSpc>
              <a:buNone/>
            </a:pPr>
            <a:r>
              <a:rPr lang="en-US" sz="750" dirty="0">
                <a:solidFill>
                  <a:srgbClr val="475569"/>
                </a:solidFill>
                <a:latin typeface="SFMono-Regular" pitchFamily="34" charset="0"/>
                <a:ea typeface="SFMono-Regular" pitchFamily="34" charset="-122"/>
                <a:cs typeface="SFMono-Regular" pitchFamily="34" charset="-120"/>
              </a:rPr>
              <a:t>Coordinate and metric context for a state space.</a:t>
            </a:r>
            <a:endParaRPr lang="en-US" sz="750" dirty="0"/>
          </a:p>
        </p:txBody>
      </p:sp>
      <p:sp>
        <p:nvSpPr>
          <p:cNvPr id="17" name="Shape 13"/>
          <p:cNvSpPr/>
          <p:nvPr/>
        </p:nvSpPr>
        <p:spPr>
          <a:xfrm>
            <a:off x="2020230" y="2061753"/>
            <a:ext cx="164306" cy="164306"/>
          </a:xfrm>
          <a:prstGeom prst="rect">
            <a:avLst/>
          </a:prstGeom>
          <a:solidFill>
            <a:srgbClr val="FFFFFF"/>
          </a:solidFill>
          <a:ln/>
        </p:spPr>
      </p:sp>
      <p:sp>
        <p:nvSpPr>
          <p:cNvPr id="18" name="Text 14"/>
          <p:cNvSpPr/>
          <p:nvPr/>
        </p:nvSpPr>
        <p:spPr>
          <a:xfrm>
            <a:off x="2020230" y="2061753"/>
            <a:ext cx="164306" cy="164306"/>
          </a:xfrm>
          <a:prstGeom prst="rect">
            <a:avLst/>
          </a:prstGeom>
          <a:noFill/>
          <a:ln/>
        </p:spPr>
        <p:txBody>
          <a:bodyPr wrap="none" lIns="34036" tIns="0" rIns="34036" bIns="0" rtlCol="0" anchor="t">
            <a:spAutoFit/>
          </a:bodyPr>
          <a:lstStyle/>
          <a:p>
            <a:pPr algn="l" indent="0" marL="0">
              <a:lnSpc>
                <a:spcPct val="80000"/>
              </a:lnSpc>
              <a:buNone/>
            </a:pPr>
            <a:r>
              <a:rPr lang="en-US" sz="1150" b="1" dirty="0">
                <a:solidFill>
                  <a:srgbClr val="D90429"/>
                </a:solidFill>
                <a:latin typeface="Georgia" pitchFamily="34" charset="0"/>
                <a:ea typeface="Georgia" pitchFamily="34" charset="-122"/>
                <a:cs typeface="Georgia" pitchFamily="34" charset="-120"/>
              </a:rPr>
              <a:t>→</a:t>
            </a:r>
            <a:endParaRPr lang="en-US" sz="1150" dirty="0"/>
          </a:p>
        </p:txBody>
      </p:sp>
      <p:sp>
        <p:nvSpPr>
          <p:cNvPr id="19" name="Text 15"/>
          <p:cNvSpPr/>
          <p:nvPr/>
        </p:nvSpPr>
        <p:spPr>
          <a:xfrm>
            <a:off x="2220255" y="1590266"/>
            <a:ext cx="1484449" cy="178594"/>
          </a:xfrm>
          <a:prstGeom prst="rect">
            <a:avLst/>
          </a:prstGeom>
          <a:noFill/>
          <a:ln/>
        </p:spPr>
        <p:txBody>
          <a:bodyPr wrap="none" lIns="0" tIns="0" rIns="0" bIns="0" rtlCol="0" anchor="t">
            <a:spAutoFit/>
          </a:bodyPr>
          <a:lstStyle/>
          <a:p>
            <a:pPr algn="l" indent="0" marL="0">
              <a:lnSpc>
                <a:spcPct val="80000"/>
              </a:lnSpc>
              <a:buNone/>
            </a:pPr>
            <a:r>
              <a:rPr lang="en-US" sz="1250" b="1" dirty="0">
                <a:solidFill>
                  <a:srgbClr val="D90429"/>
                </a:solidFill>
                <a:latin typeface="SFMono-Regular" pitchFamily="34" charset="0"/>
                <a:ea typeface="SFMono-Regular" pitchFamily="34" charset="-122"/>
                <a:cs typeface="SFMono-Regular" pitchFamily="34" charset="-120"/>
              </a:rPr>
              <a:t>∇</a:t>
            </a:r>
            <a:endParaRPr lang="en-US" sz="1250" dirty="0"/>
          </a:p>
        </p:txBody>
      </p:sp>
      <p:sp>
        <p:nvSpPr>
          <p:cNvPr id="20" name="Text 16"/>
          <p:cNvSpPr/>
          <p:nvPr/>
        </p:nvSpPr>
        <p:spPr>
          <a:xfrm>
            <a:off x="2220255" y="1840297"/>
            <a:ext cx="1484449" cy="164976"/>
          </a:xfrm>
          <a:prstGeom prst="rect">
            <a:avLst/>
          </a:prstGeom>
          <a:noFill/>
          <a:ln/>
        </p:spPr>
        <p:txBody>
          <a:bodyPr wrap="none" lIns="0" tIns="0" rIns="0" bIns="0" rtlCol="0" anchor="t">
            <a:spAutoFit/>
          </a:bodyPr>
          <a:lstStyle/>
          <a:p>
            <a:pPr algn="l" indent="0" marL="0">
              <a:lnSpc>
                <a:spcPct val="88000"/>
              </a:lnSpc>
              <a:buNone/>
            </a:pPr>
            <a:r>
              <a:rPr lang="en-US" sz="1050" b="1" dirty="0">
                <a:solidFill>
                  <a:srgbClr val="0A192F"/>
                </a:solidFill>
                <a:latin typeface="Georgia" pitchFamily="34" charset="0"/>
                <a:ea typeface="Georgia" pitchFamily="34" charset="-122"/>
                <a:cs typeface="Georgia" pitchFamily="34" charset="-120"/>
              </a:rPr>
              <a:t>Connection</a:t>
            </a:r>
            <a:endParaRPr lang="en-US" sz="1050" dirty="0"/>
          </a:p>
        </p:txBody>
      </p:sp>
      <p:sp>
        <p:nvSpPr>
          <p:cNvPr id="21" name="Text 17"/>
          <p:cNvSpPr/>
          <p:nvPr/>
        </p:nvSpPr>
        <p:spPr>
          <a:xfrm>
            <a:off x="2220255" y="2062423"/>
            <a:ext cx="1484449" cy="120718"/>
          </a:xfrm>
          <a:prstGeom prst="rect">
            <a:avLst/>
          </a:prstGeom>
          <a:noFill/>
          <a:ln/>
        </p:spPr>
        <p:txBody>
          <a:bodyPr wrap="none" lIns="0" tIns="0" rIns="0" bIns="0" rtlCol="0" anchor="t">
            <a:spAutoFit/>
          </a:bodyPr>
          <a:lstStyle/>
          <a:p>
            <a:pPr algn="l" indent="0" marL="0">
              <a:lnSpc>
                <a:spcPct val="104000"/>
              </a:lnSpc>
              <a:buNone/>
            </a:pPr>
            <a:r>
              <a:rPr lang="en-US" sz="650" b="1" dirty="0">
                <a:solidFill>
                  <a:srgbClr val="0A192F"/>
                </a:solidFill>
                <a:latin typeface="SFMono-Regular" pitchFamily="34" charset="0"/>
                <a:ea typeface="SFMono-Regular" pitchFamily="34" charset="-122"/>
                <a:cs typeface="SFMono-Regular" pitchFamily="34" charset="-120"/>
              </a:rPr>
              <a:t>PHYSICAL QUESTION</a:t>
            </a:r>
            <a:endParaRPr lang="en-US" sz="650" dirty="0"/>
          </a:p>
        </p:txBody>
      </p:sp>
      <p:sp>
        <p:nvSpPr>
          <p:cNvPr id="22" name="Text 18"/>
          <p:cNvSpPr/>
          <p:nvPr/>
        </p:nvSpPr>
        <p:spPr>
          <a:xfrm>
            <a:off x="2220255" y="2226004"/>
            <a:ext cx="1484449" cy="425946"/>
          </a:xfrm>
          <a:prstGeom prst="rect">
            <a:avLst/>
          </a:prstGeom>
          <a:noFill/>
          <a:ln/>
        </p:spPr>
        <p:txBody>
          <a:bodyPr wrap="square" lIns="0" tIns="0" rIns="0" bIns="0" rtlCol="0" anchor="t">
            <a:spAutoFit/>
          </a:bodyPr>
          <a:lstStyle/>
          <a:p>
            <a:pPr algn="l" indent="0" marL="0">
              <a:lnSpc>
                <a:spcPct val="113600"/>
              </a:lnSpc>
              <a:buNone/>
            </a:pPr>
            <a:r>
              <a:rPr lang="en-US" sz="750" dirty="0">
                <a:solidFill>
                  <a:srgbClr val="475569"/>
                </a:solidFill>
                <a:latin typeface="SFMono-Regular" pitchFamily="34" charset="0"/>
                <a:ea typeface="SFMono-Regular" pitchFamily="34" charset="-122"/>
                <a:cs typeface="SFMono-Regular" pitchFamily="34" charset="-120"/>
              </a:rPr>
              <a:t>How are vectors compared or transported between nearby points?</a:t>
            </a:r>
            <a:endParaRPr lang="en-US" sz="750" dirty="0"/>
          </a:p>
        </p:txBody>
      </p:sp>
      <p:sp>
        <p:nvSpPr>
          <p:cNvPr id="23" name="Text 19"/>
          <p:cNvSpPr/>
          <p:nvPr/>
        </p:nvSpPr>
        <p:spPr>
          <a:xfrm>
            <a:off x="2220255" y="2737675"/>
            <a:ext cx="1484449" cy="120718"/>
          </a:xfrm>
          <a:prstGeom prst="rect">
            <a:avLst/>
          </a:prstGeom>
          <a:noFill/>
          <a:ln/>
        </p:spPr>
        <p:txBody>
          <a:bodyPr wrap="none" lIns="0" tIns="0" rIns="0" bIns="0" rtlCol="0" anchor="t">
            <a:spAutoFit/>
          </a:bodyPr>
          <a:lstStyle/>
          <a:p>
            <a:pPr algn="l" indent="0" marL="0">
              <a:lnSpc>
                <a:spcPct val="104000"/>
              </a:lnSpc>
              <a:buNone/>
            </a:pPr>
            <a:r>
              <a:rPr lang="en-US" sz="650" b="1" dirty="0">
                <a:solidFill>
                  <a:srgbClr val="D90429"/>
                </a:solidFill>
                <a:latin typeface="SFMono-Regular" pitchFamily="34" charset="0"/>
                <a:ea typeface="SFMono-Regular" pitchFamily="34" charset="-122"/>
                <a:cs typeface="SFMono-Regular" pitchFamily="34" charset="-120"/>
              </a:rPr>
              <a:t>ENGINE ANALOGUE</a:t>
            </a:r>
            <a:endParaRPr lang="en-US" sz="650" dirty="0"/>
          </a:p>
        </p:txBody>
      </p:sp>
      <p:sp>
        <p:nvSpPr>
          <p:cNvPr id="24" name="Text 20"/>
          <p:cNvSpPr/>
          <p:nvPr/>
        </p:nvSpPr>
        <p:spPr>
          <a:xfrm>
            <a:off x="2220255" y="2901255"/>
            <a:ext cx="1484449" cy="283964"/>
          </a:xfrm>
          <a:prstGeom prst="rect">
            <a:avLst/>
          </a:prstGeom>
          <a:noFill/>
          <a:ln/>
        </p:spPr>
        <p:txBody>
          <a:bodyPr wrap="square" lIns="0" tIns="0" rIns="0" bIns="0" rtlCol="0" anchor="t">
            <a:spAutoFit/>
          </a:bodyPr>
          <a:lstStyle/>
          <a:p>
            <a:pPr algn="l" indent="0" marL="0">
              <a:lnSpc>
                <a:spcPct val="113600"/>
              </a:lnSpc>
              <a:buNone/>
            </a:pPr>
            <a:r>
              <a:rPr lang="en-US" sz="750" dirty="0">
                <a:solidFill>
                  <a:srgbClr val="475569"/>
                </a:solidFill>
                <a:latin typeface="SFMono-Regular" pitchFamily="34" charset="0"/>
                <a:ea typeface="SFMono-Regular" pitchFamily="34" charset="-122"/>
                <a:cs typeface="SFMono-Regular" pitchFamily="34" charset="-120"/>
              </a:rPr>
              <a:t>Typed transition and transport rule.</a:t>
            </a:r>
            <a:endParaRPr lang="en-US" sz="750" dirty="0"/>
          </a:p>
        </p:txBody>
      </p:sp>
      <p:sp>
        <p:nvSpPr>
          <p:cNvPr id="25" name="Shape 21"/>
          <p:cNvSpPr/>
          <p:nvPr/>
        </p:nvSpPr>
        <p:spPr>
          <a:xfrm>
            <a:off x="3626123" y="2061753"/>
            <a:ext cx="164306" cy="164306"/>
          </a:xfrm>
          <a:prstGeom prst="rect">
            <a:avLst/>
          </a:prstGeom>
          <a:solidFill>
            <a:srgbClr val="FFFFFF"/>
          </a:solidFill>
          <a:ln/>
        </p:spPr>
      </p:sp>
      <p:sp>
        <p:nvSpPr>
          <p:cNvPr id="26" name="Text 22"/>
          <p:cNvSpPr/>
          <p:nvPr/>
        </p:nvSpPr>
        <p:spPr>
          <a:xfrm>
            <a:off x="3626123" y="2061753"/>
            <a:ext cx="164306" cy="164306"/>
          </a:xfrm>
          <a:prstGeom prst="rect">
            <a:avLst/>
          </a:prstGeom>
          <a:noFill/>
          <a:ln/>
        </p:spPr>
        <p:txBody>
          <a:bodyPr wrap="none" lIns="34036" tIns="0" rIns="34036" bIns="0" rtlCol="0" anchor="t">
            <a:spAutoFit/>
          </a:bodyPr>
          <a:lstStyle/>
          <a:p>
            <a:pPr algn="l" indent="0" marL="0">
              <a:lnSpc>
                <a:spcPct val="80000"/>
              </a:lnSpc>
              <a:buNone/>
            </a:pPr>
            <a:r>
              <a:rPr lang="en-US" sz="1150" b="1" dirty="0">
                <a:solidFill>
                  <a:srgbClr val="D90429"/>
                </a:solidFill>
                <a:latin typeface="Georgia" pitchFamily="34" charset="0"/>
                <a:ea typeface="Georgia" pitchFamily="34" charset="-122"/>
                <a:cs typeface="Georgia" pitchFamily="34" charset="-120"/>
              </a:rPr>
              <a:t>→</a:t>
            </a:r>
            <a:endParaRPr lang="en-US" sz="1150" dirty="0"/>
          </a:p>
        </p:txBody>
      </p:sp>
      <p:sp>
        <p:nvSpPr>
          <p:cNvPr id="27" name="Text 23"/>
          <p:cNvSpPr/>
          <p:nvPr/>
        </p:nvSpPr>
        <p:spPr>
          <a:xfrm>
            <a:off x="3826148" y="1590266"/>
            <a:ext cx="1484505" cy="178594"/>
          </a:xfrm>
          <a:prstGeom prst="rect">
            <a:avLst/>
          </a:prstGeom>
          <a:noFill/>
          <a:ln/>
        </p:spPr>
        <p:txBody>
          <a:bodyPr wrap="none" lIns="0" tIns="0" rIns="0" bIns="0" rtlCol="0" anchor="t">
            <a:spAutoFit/>
          </a:bodyPr>
          <a:lstStyle/>
          <a:p>
            <a:pPr algn="l" indent="0" marL="0">
              <a:lnSpc>
                <a:spcPct val="80000"/>
              </a:lnSpc>
              <a:buNone/>
            </a:pPr>
            <a:r>
              <a:rPr lang="en-US" sz="1250" b="1" dirty="0">
                <a:solidFill>
                  <a:srgbClr val="D90429"/>
                </a:solidFill>
                <a:latin typeface="SFMono-Regular" pitchFamily="34" charset="0"/>
                <a:ea typeface="SFMono-Regular" pitchFamily="34" charset="-122"/>
                <a:cs typeface="SFMono-Regular" pitchFamily="34" charset="-120"/>
              </a:rPr>
              <a:t>R</a:t>
            </a:r>
            <a:endParaRPr lang="en-US" sz="1250" dirty="0"/>
          </a:p>
        </p:txBody>
      </p:sp>
      <p:sp>
        <p:nvSpPr>
          <p:cNvPr id="28" name="Text 24"/>
          <p:cNvSpPr/>
          <p:nvPr/>
        </p:nvSpPr>
        <p:spPr>
          <a:xfrm>
            <a:off x="3826148" y="1840297"/>
            <a:ext cx="1484505" cy="164976"/>
          </a:xfrm>
          <a:prstGeom prst="rect">
            <a:avLst/>
          </a:prstGeom>
          <a:noFill/>
          <a:ln/>
        </p:spPr>
        <p:txBody>
          <a:bodyPr wrap="none" lIns="0" tIns="0" rIns="0" bIns="0" rtlCol="0" anchor="t">
            <a:spAutoFit/>
          </a:bodyPr>
          <a:lstStyle/>
          <a:p>
            <a:pPr algn="l" indent="0" marL="0">
              <a:lnSpc>
                <a:spcPct val="88000"/>
              </a:lnSpc>
              <a:buNone/>
            </a:pPr>
            <a:r>
              <a:rPr lang="en-US" sz="1050" b="1" dirty="0">
                <a:solidFill>
                  <a:srgbClr val="0A192F"/>
                </a:solidFill>
                <a:latin typeface="Georgia" pitchFamily="34" charset="0"/>
                <a:ea typeface="Georgia" pitchFamily="34" charset="-122"/>
                <a:cs typeface="Georgia" pitchFamily="34" charset="-120"/>
              </a:rPr>
              <a:t>Curvature</a:t>
            </a:r>
            <a:endParaRPr lang="en-US" sz="1050" dirty="0"/>
          </a:p>
        </p:txBody>
      </p:sp>
      <p:sp>
        <p:nvSpPr>
          <p:cNvPr id="29" name="Text 25"/>
          <p:cNvSpPr/>
          <p:nvPr/>
        </p:nvSpPr>
        <p:spPr>
          <a:xfrm>
            <a:off x="3826148" y="2062423"/>
            <a:ext cx="1484505" cy="120718"/>
          </a:xfrm>
          <a:prstGeom prst="rect">
            <a:avLst/>
          </a:prstGeom>
          <a:noFill/>
          <a:ln/>
        </p:spPr>
        <p:txBody>
          <a:bodyPr wrap="none" lIns="0" tIns="0" rIns="0" bIns="0" rtlCol="0" anchor="t">
            <a:spAutoFit/>
          </a:bodyPr>
          <a:lstStyle/>
          <a:p>
            <a:pPr algn="l" indent="0" marL="0">
              <a:lnSpc>
                <a:spcPct val="104000"/>
              </a:lnSpc>
              <a:buNone/>
            </a:pPr>
            <a:r>
              <a:rPr lang="en-US" sz="650" b="1" dirty="0">
                <a:solidFill>
                  <a:srgbClr val="0A192F"/>
                </a:solidFill>
                <a:latin typeface="SFMono-Regular" pitchFamily="34" charset="0"/>
                <a:ea typeface="SFMono-Regular" pitchFamily="34" charset="-122"/>
                <a:cs typeface="SFMono-Regular" pitchFamily="34" charset="-120"/>
              </a:rPr>
              <a:t>PHYSICAL QUESTION</a:t>
            </a:r>
            <a:endParaRPr lang="en-US" sz="650" dirty="0"/>
          </a:p>
        </p:txBody>
      </p:sp>
      <p:sp>
        <p:nvSpPr>
          <p:cNvPr id="30" name="Text 26"/>
          <p:cNvSpPr/>
          <p:nvPr/>
        </p:nvSpPr>
        <p:spPr>
          <a:xfrm>
            <a:off x="3826148" y="2226004"/>
            <a:ext cx="1484505" cy="283964"/>
          </a:xfrm>
          <a:prstGeom prst="rect">
            <a:avLst/>
          </a:prstGeom>
          <a:noFill/>
          <a:ln/>
        </p:spPr>
        <p:txBody>
          <a:bodyPr wrap="square" lIns="0" tIns="0" rIns="0" bIns="0" rtlCol="0" anchor="t">
            <a:spAutoFit/>
          </a:bodyPr>
          <a:lstStyle/>
          <a:p>
            <a:pPr algn="l" indent="0" marL="0">
              <a:lnSpc>
                <a:spcPct val="113600"/>
              </a:lnSpc>
              <a:buNone/>
            </a:pPr>
            <a:r>
              <a:rPr lang="en-US" sz="750" dirty="0">
                <a:solidFill>
                  <a:srgbClr val="475569"/>
                </a:solidFill>
                <a:latin typeface="SFMono-Regular" pitchFamily="34" charset="0"/>
                <a:ea typeface="SFMono-Regular" pitchFamily="34" charset="-122"/>
                <a:cs typeface="SFMono-Regular" pitchFamily="34" charset="-120"/>
              </a:rPr>
              <a:t>Does transport depend on the path around a loop?</a:t>
            </a:r>
            <a:endParaRPr lang="en-US" sz="750" dirty="0"/>
          </a:p>
        </p:txBody>
      </p:sp>
      <p:sp>
        <p:nvSpPr>
          <p:cNvPr id="31" name="Text 27"/>
          <p:cNvSpPr/>
          <p:nvPr/>
        </p:nvSpPr>
        <p:spPr>
          <a:xfrm>
            <a:off x="3826148" y="2595693"/>
            <a:ext cx="1484505" cy="120718"/>
          </a:xfrm>
          <a:prstGeom prst="rect">
            <a:avLst/>
          </a:prstGeom>
          <a:noFill/>
          <a:ln/>
        </p:spPr>
        <p:txBody>
          <a:bodyPr wrap="none" lIns="0" tIns="0" rIns="0" bIns="0" rtlCol="0" anchor="t">
            <a:spAutoFit/>
          </a:bodyPr>
          <a:lstStyle/>
          <a:p>
            <a:pPr algn="l" indent="0" marL="0">
              <a:lnSpc>
                <a:spcPct val="104000"/>
              </a:lnSpc>
              <a:buNone/>
            </a:pPr>
            <a:r>
              <a:rPr lang="en-US" sz="650" b="1" dirty="0">
                <a:solidFill>
                  <a:srgbClr val="D90429"/>
                </a:solidFill>
                <a:latin typeface="SFMono-Regular" pitchFamily="34" charset="0"/>
                <a:ea typeface="SFMono-Regular" pitchFamily="34" charset="-122"/>
                <a:cs typeface="SFMono-Regular" pitchFamily="34" charset="-120"/>
              </a:rPr>
              <a:t>ENGINE ANALOGUE</a:t>
            </a:r>
            <a:endParaRPr lang="en-US" sz="650" dirty="0"/>
          </a:p>
        </p:txBody>
      </p:sp>
      <p:sp>
        <p:nvSpPr>
          <p:cNvPr id="32" name="Text 28"/>
          <p:cNvSpPr/>
          <p:nvPr/>
        </p:nvSpPr>
        <p:spPr>
          <a:xfrm>
            <a:off x="3826148" y="2759273"/>
            <a:ext cx="1484505" cy="283964"/>
          </a:xfrm>
          <a:prstGeom prst="rect">
            <a:avLst/>
          </a:prstGeom>
          <a:noFill/>
          <a:ln/>
        </p:spPr>
        <p:txBody>
          <a:bodyPr wrap="square" lIns="0" tIns="0" rIns="0" bIns="0" rtlCol="0" anchor="t">
            <a:spAutoFit/>
          </a:bodyPr>
          <a:lstStyle/>
          <a:p>
            <a:pPr algn="l" indent="0" marL="0">
              <a:lnSpc>
                <a:spcPct val="113600"/>
              </a:lnSpc>
              <a:buNone/>
            </a:pPr>
            <a:r>
              <a:rPr lang="en-US" sz="750" dirty="0">
                <a:solidFill>
                  <a:srgbClr val="475569"/>
                </a:solidFill>
                <a:latin typeface="SFMono-Regular" pitchFamily="34" charset="0"/>
                <a:ea typeface="SFMono-Regular" pitchFamily="34" charset="-122"/>
                <a:cs typeface="SFMono-Regular" pitchFamily="34" charset="-120"/>
              </a:rPr>
              <a:t>Accumulated geometric inconsistency.</a:t>
            </a:r>
            <a:endParaRPr lang="en-US" sz="750" dirty="0"/>
          </a:p>
        </p:txBody>
      </p:sp>
      <p:sp>
        <p:nvSpPr>
          <p:cNvPr id="33" name="Shape 29"/>
          <p:cNvSpPr/>
          <p:nvPr/>
        </p:nvSpPr>
        <p:spPr>
          <a:xfrm>
            <a:off x="5232071" y="2061753"/>
            <a:ext cx="164306" cy="164306"/>
          </a:xfrm>
          <a:prstGeom prst="rect">
            <a:avLst/>
          </a:prstGeom>
          <a:solidFill>
            <a:srgbClr val="FFFFFF"/>
          </a:solidFill>
          <a:ln/>
        </p:spPr>
      </p:sp>
      <p:sp>
        <p:nvSpPr>
          <p:cNvPr id="34" name="Text 30"/>
          <p:cNvSpPr/>
          <p:nvPr/>
        </p:nvSpPr>
        <p:spPr>
          <a:xfrm>
            <a:off x="5232071" y="2061753"/>
            <a:ext cx="164306" cy="164306"/>
          </a:xfrm>
          <a:prstGeom prst="rect">
            <a:avLst/>
          </a:prstGeom>
          <a:noFill/>
          <a:ln/>
        </p:spPr>
        <p:txBody>
          <a:bodyPr wrap="none" lIns="34036" tIns="0" rIns="34036" bIns="0" rtlCol="0" anchor="t">
            <a:spAutoFit/>
          </a:bodyPr>
          <a:lstStyle/>
          <a:p>
            <a:pPr algn="l" indent="0" marL="0">
              <a:lnSpc>
                <a:spcPct val="80000"/>
              </a:lnSpc>
              <a:buNone/>
            </a:pPr>
            <a:r>
              <a:rPr lang="en-US" sz="1150" b="1" dirty="0">
                <a:solidFill>
                  <a:srgbClr val="D90429"/>
                </a:solidFill>
                <a:latin typeface="Georgia" pitchFamily="34" charset="0"/>
                <a:ea typeface="Georgia" pitchFamily="34" charset="-122"/>
                <a:cs typeface="Georgia" pitchFamily="34" charset="-120"/>
              </a:rPr>
              <a:t>→</a:t>
            </a:r>
            <a:endParaRPr lang="en-US" sz="1150" dirty="0"/>
          </a:p>
        </p:txBody>
      </p:sp>
      <p:sp>
        <p:nvSpPr>
          <p:cNvPr id="35" name="Text 31"/>
          <p:cNvSpPr/>
          <p:nvPr/>
        </p:nvSpPr>
        <p:spPr>
          <a:xfrm>
            <a:off x="5432096" y="1590266"/>
            <a:ext cx="1484449" cy="178594"/>
          </a:xfrm>
          <a:prstGeom prst="rect">
            <a:avLst/>
          </a:prstGeom>
          <a:noFill/>
          <a:ln/>
        </p:spPr>
        <p:txBody>
          <a:bodyPr wrap="none" lIns="0" tIns="0" rIns="0" bIns="0" rtlCol="0" anchor="t">
            <a:spAutoFit/>
          </a:bodyPr>
          <a:lstStyle/>
          <a:p>
            <a:pPr algn="l" indent="0" marL="0">
              <a:lnSpc>
                <a:spcPct val="80000"/>
              </a:lnSpc>
              <a:buNone/>
            </a:pPr>
            <a:r>
              <a:rPr lang="en-US" sz="1250" b="1" dirty="0">
                <a:solidFill>
                  <a:srgbClr val="D90429"/>
                </a:solidFill>
                <a:latin typeface="SFMono-Regular" pitchFamily="34" charset="0"/>
                <a:ea typeface="SFMono-Regular" pitchFamily="34" charset="-122"/>
                <a:cs typeface="SFMono-Regular" pitchFamily="34" charset="-120"/>
              </a:rPr>
              <a:t>T</a:t>
            </a:r>
            <a:endParaRPr lang="en-US" sz="1250" dirty="0"/>
          </a:p>
        </p:txBody>
      </p:sp>
      <p:sp>
        <p:nvSpPr>
          <p:cNvPr id="36" name="Text 32"/>
          <p:cNvSpPr/>
          <p:nvPr/>
        </p:nvSpPr>
        <p:spPr>
          <a:xfrm>
            <a:off x="5432096" y="1840297"/>
            <a:ext cx="1484449" cy="164976"/>
          </a:xfrm>
          <a:prstGeom prst="rect">
            <a:avLst/>
          </a:prstGeom>
          <a:noFill/>
          <a:ln/>
        </p:spPr>
        <p:txBody>
          <a:bodyPr wrap="none" lIns="0" tIns="0" rIns="0" bIns="0" rtlCol="0" anchor="t">
            <a:spAutoFit/>
          </a:bodyPr>
          <a:lstStyle/>
          <a:p>
            <a:pPr algn="l" indent="0" marL="0">
              <a:lnSpc>
                <a:spcPct val="88000"/>
              </a:lnSpc>
              <a:buNone/>
            </a:pPr>
            <a:r>
              <a:rPr lang="en-US" sz="1050" b="1" dirty="0">
                <a:solidFill>
                  <a:srgbClr val="0A192F"/>
                </a:solidFill>
                <a:latin typeface="Georgia" pitchFamily="34" charset="0"/>
                <a:ea typeface="Georgia" pitchFamily="34" charset="-122"/>
                <a:cs typeface="Georgia" pitchFamily="34" charset="-120"/>
              </a:rPr>
              <a:t>Torsion</a:t>
            </a:r>
            <a:endParaRPr lang="en-US" sz="1050" dirty="0"/>
          </a:p>
        </p:txBody>
      </p:sp>
      <p:sp>
        <p:nvSpPr>
          <p:cNvPr id="37" name="Text 33"/>
          <p:cNvSpPr/>
          <p:nvPr/>
        </p:nvSpPr>
        <p:spPr>
          <a:xfrm>
            <a:off x="5432096" y="2062423"/>
            <a:ext cx="1484449" cy="120718"/>
          </a:xfrm>
          <a:prstGeom prst="rect">
            <a:avLst/>
          </a:prstGeom>
          <a:noFill/>
          <a:ln/>
        </p:spPr>
        <p:txBody>
          <a:bodyPr wrap="none" lIns="0" tIns="0" rIns="0" bIns="0" rtlCol="0" anchor="t">
            <a:spAutoFit/>
          </a:bodyPr>
          <a:lstStyle/>
          <a:p>
            <a:pPr algn="l" indent="0" marL="0">
              <a:lnSpc>
                <a:spcPct val="104000"/>
              </a:lnSpc>
              <a:buNone/>
            </a:pPr>
            <a:r>
              <a:rPr lang="en-US" sz="650" b="1" dirty="0">
                <a:solidFill>
                  <a:srgbClr val="0A192F"/>
                </a:solidFill>
                <a:latin typeface="SFMono-Regular" pitchFamily="34" charset="0"/>
                <a:ea typeface="SFMono-Regular" pitchFamily="34" charset="-122"/>
                <a:cs typeface="SFMono-Regular" pitchFamily="34" charset="-120"/>
              </a:rPr>
              <a:t>PHYSICAL QUESTION</a:t>
            </a:r>
            <a:endParaRPr lang="en-US" sz="650" dirty="0"/>
          </a:p>
        </p:txBody>
      </p:sp>
      <p:sp>
        <p:nvSpPr>
          <p:cNvPr id="38" name="Text 34"/>
          <p:cNvSpPr/>
          <p:nvPr/>
        </p:nvSpPr>
        <p:spPr>
          <a:xfrm>
            <a:off x="5432096" y="2226004"/>
            <a:ext cx="1484449" cy="425946"/>
          </a:xfrm>
          <a:prstGeom prst="rect">
            <a:avLst/>
          </a:prstGeom>
          <a:noFill/>
          <a:ln/>
        </p:spPr>
        <p:txBody>
          <a:bodyPr wrap="square" lIns="0" tIns="0" rIns="0" bIns="0" rtlCol="0" anchor="t">
            <a:spAutoFit/>
          </a:bodyPr>
          <a:lstStyle/>
          <a:p>
            <a:pPr algn="l" indent="0" marL="0">
              <a:lnSpc>
                <a:spcPct val="113600"/>
              </a:lnSpc>
              <a:buNone/>
            </a:pPr>
            <a:r>
              <a:rPr lang="en-US" sz="750" dirty="0">
                <a:solidFill>
                  <a:srgbClr val="475569"/>
                </a:solidFill>
                <a:latin typeface="SFMono-Regular" pitchFamily="34" charset="0"/>
                <a:ea typeface="SFMono-Regular" pitchFamily="34" charset="-122"/>
                <a:cs typeface="SFMono-Regular" pitchFamily="34" charset="-120"/>
              </a:rPr>
              <a:t>Does the connection reproduce the bracket of directions?</a:t>
            </a:r>
            <a:endParaRPr lang="en-US" sz="750" dirty="0"/>
          </a:p>
        </p:txBody>
      </p:sp>
      <p:sp>
        <p:nvSpPr>
          <p:cNvPr id="39" name="Text 35"/>
          <p:cNvSpPr/>
          <p:nvPr/>
        </p:nvSpPr>
        <p:spPr>
          <a:xfrm>
            <a:off x="5432096" y="2737675"/>
            <a:ext cx="1484449" cy="120718"/>
          </a:xfrm>
          <a:prstGeom prst="rect">
            <a:avLst/>
          </a:prstGeom>
          <a:noFill/>
          <a:ln/>
        </p:spPr>
        <p:txBody>
          <a:bodyPr wrap="none" lIns="0" tIns="0" rIns="0" bIns="0" rtlCol="0" anchor="t">
            <a:spAutoFit/>
          </a:bodyPr>
          <a:lstStyle/>
          <a:p>
            <a:pPr algn="l" indent="0" marL="0">
              <a:lnSpc>
                <a:spcPct val="104000"/>
              </a:lnSpc>
              <a:buNone/>
            </a:pPr>
            <a:r>
              <a:rPr lang="en-US" sz="650" b="1" dirty="0">
                <a:solidFill>
                  <a:srgbClr val="D90429"/>
                </a:solidFill>
                <a:latin typeface="SFMono-Regular" pitchFamily="34" charset="0"/>
                <a:ea typeface="SFMono-Regular" pitchFamily="34" charset="-122"/>
                <a:cs typeface="SFMono-Regular" pitchFamily="34" charset="-120"/>
              </a:rPr>
              <a:t>ENGINE ANALOGUE</a:t>
            </a:r>
            <a:endParaRPr lang="en-US" sz="650" dirty="0"/>
          </a:p>
        </p:txBody>
      </p:sp>
      <p:sp>
        <p:nvSpPr>
          <p:cNvPr id="40" name="Text 36"/>
          <p:cNvSpPr/>
          <p:nvPr/>
        </p:nvSpPr>
        <p:spPr>
          <a:xfrm>
            <a:off x="5432096" y="2901255"/>
            <a:ext cx="1484449" cy="283964"/>
          </a:xfrm>
          <a:prstGeom prst="rect">
            <a:avLst/>
          </a:prstGeom>
          <a:noFill/>
          <a:ln/>
        </p:spPr>
        <p:txBody>
          <a:bodyPr wrap="square" lIns="0" tIns="0" rIns="0" bIns="0" rtlCol="0" anchor="t">
            <a:spAutoFit/>
          </a:bodyPr>
          <a:lstStyle/>
          <a:p>
            <a:pPr algn="l" indent="0" marL="0">
              <a:lnSpc>
                <a:spcPct val="113600"/>
              </a:lnSpc>
              <a:buNone/>
            </a:pPr>
            <a:r>
              <a:rPr lang="en-US" sz="750" dirty="0">
                <a:solidFill>
                  <a:srgbClr val="475569"/>
                </a:solidFill>
                <a:latin typeface="SFMono-Regular" pitchFamily="34" charset="0"/>
                <a:ea typeface="SFMono-Regular" pitchFamily="34" charset="-122"/>
                <a:cs typeface="SFMono-Regular" pitchFamily="34" charset="-120"/>
              </a:rPr>
              <a:t>Noncommutative or displacement defect.</a:t>
            </a:r>
            <a:endParaRPr lang="en-US" sz="750" dirty="0"/>
          </a:p>
        </p:txBody>
      </p:sp>
      <p:sp>
        <p:nvSpPr>
          <p:cNvPr id="41" name="Shape 37"/>
          <p:cNvSpPr/>
          <p:nvPr/>
        </p:nvSpPr>
        <p:spPr>
          <a:xfrm>
            <a:off x="6837964" y="2061753"/>
            <a:ext cx="164306" cy="164306"/>
          </a:xfrm>
          <a:prstGeom prst="rect">
            <a:avLst/>
          </a:prstGeom>
          <a:solidFill>
            <a:srgbClr val="FFFFFF"/>
          </a:solidFill>
          <a:ln/>
        </p:spPr>
      </p:sp>
      <p:sp>
        <p:nvSpPr>
          <p:cNvPr id="42" name="Text 38"/>
          <p:cNvSpPr/>
          <p:nvPr/>
        </p:nvSpPr>
        <p:spPr>
          <a:xfrm>
            <a:off x="6837964" y="2061753"/>
            <a:ext cx="164306" cy="164306"/>
          </a:xfrm>
          <a:prstGeom prst="rect">
            <a:avLst/>
          </a:prstGeom>
          <a:noFill/>
          <a:ln/>
        </p:spPr>
        <p:txBody>
          <a:bodyPr wrap="none" lIns="34036" tIns="0" rIns="34036" bIns="0" rtlCol="0" anchor="t">
            <a:spAutoFit/>
          </a:bodyPr>
          <a:lstStyle/>
          <a:p>
            <a:pPr algn="l" indent="0" marL="0">
              <a:lnSpc>
                <a:spcPct val="80000"/>
              </a:lnSpc>
              <a:buNone/>
            </a:pPr>
            <a:r>
              <a:rPr lang="en-US" sz="1150" b="1" dirty="0">
                <a:solidFill>
                  <a:srgbClr val="D90429"/>
                </a:solidFill>
                <a:latin typeface="Georgia" pitchFamily="34" charset="0"/>
                <a:ea typeface="Georgia" pitchFamily="34" charset="-122"/>
                <a:cs typeface="Georgia" pitchFamily="34" charset="-120"/>
              </a:rPr>
              <a:t>→</a:t>
            </a:r>
            <a:endParaRPr lang="en-US" sz="1150" dirty="0"/>
          </a:p>
        </p:txBody>
      </p:sp>
      <p:sp>
        <p:nvSpPr>
          <p:cNvPr id="43" name="Text 39"/>
          <p:cNvSpPr/>
          <p:nvPr/>
        </p:nvSpPr>
        <p:spPr>
          <a:xfrm>
            <a:off x="7037989" y="1590266"/>
            <a:ext cx="1491648" cy="178594"/>
          </a:xfrm>
          <a:prstGeom prst="rect">
            <a:avLst/>
          </a:prstGeom>
          <a:noFill/>
          <a:ln/>
        </p:spPr>
        <p:txBody>
          <a:bodyPr wrap="none" lIns="0" tIns="0" rIns="0" bIns="0" rtlCol="0" anchor="t">
            <a:spAutoFit/>
          </a:bodyPr>
          <a:lstStyle/>
          <a:p>
            <a:pPr algn="l" indent="0" marL="0">
              <a:lnSpc>
                <a:spcPct val="80000"/>
              </a:lnSpc>
              <a:buNone/>
            </a:pPr>
            <a:r>
              <a:rPr lang="en-US" sz="1250" b="1" dirty="0">
                <a:solidFill>
                  <a:srgbClr val="D90429"/>
                </a:solidFill>
                <a:latin typeface="SFMono-Regular" pitchFamily="34" charset="0"/>
                <a:ea typeface="SFMono-Regular" pitchFamily="34" charset="-122"/>
                <a:cs typeface="SFMono-Regular" pitchFamily="34" charset="-120"/>
              </a:rPr>
              <a:t>K</a:t>
            </a:r>
            <a:endParaRPr lang="en-US" sz="1250" dirty="0"/>
          </a:p>
        </p:txBody>
      </p:sp>
      <p:sp>
        <p:nvSpPr>
          <p:cNvPr id="44" name="Text 40"/>
          <p:cNvSpPr/>
          <p:nvPr/>
        </p:nvSpPr>
        <p:spPr>
          <a:xfrm>
            <a:off x="7037989" y="1840297"/>
            <a:ext cx="1491648" cy="164976"/>
          </a:xfrm>
          <a:prstGeom prst="rect">
            <a:avLst/>
          </a:prstGeom>
          <a:noFill/>
          <a:ln/>
        </p:spPr>
        <p:txBody>
          <a:bodyPr wrap="none" lIns="0" tIns="0" rIns="0" bIns="0" rtlCol="0" anchor="t">
            <a:spAutoFit/>
          </a:bodyPr>
          <a:lstStyle/>
          <a:p>
            <a:pPr algn="l" indent="0" marL="0">
              <a:lnSpc>
                <a:spcPct val="88000"/>
              </a:lnSpc>
              <a:buNone/>
            </a:pPr>
            <a:r>
              <a:rPr lang="en-US" sz="1050" b="1" dirty="0">
                <a:solidFill>
                  <a:srgbClr val="0A192F"/>
                </a:solidFill>
                <a:latin typeface="Georgia" pitchFamily="34" charset="0"/>
                <a:ea typeface="Georgia" pitchFamily="34" charset="-122"/>
                <a:cs typeface="Georgia" pitchFamily="34" charset="-120"/>
              </a:rPr>
              <a:t>Contortion</a:t>
            </a:r>
            <a:endParaRPr lang="en-US" sz="1050" dirty="0"/>
          </a:p>
        </p:txBody>
      </p:sp>
      <p:sp>
        <p:nvSpPr>
          <p:cNvPr id="45" name="Text 41"/>
          <p:cNvSpPr/>
          <p:nvPr/>
        </p:nvSpPr>
        <p:spPr>
          <a:xfrm>
            <a:off x="7037989" y="2062423"/>
            <a:ext cx="1491648" cy="120718"/>
          </a:xfrm>
          <a:prstGeom prst="rect">
            <a:avLst/>
          </a:prstGeom>
          <a:noFill/>
          <a:ln/>
        </p:spPr>
        <p:txBody>
          <a:bodyPr wrap="none" lIns="0" tIns="0" rIns="0" bIns="0" rtlCol="0" anchor="t">
            <a:spAutoFit/>
          </a:bodyPr>
          <a:lstStyle/>
          <a:p>
            <a:pPr algn="l" indent="0" marL="0">
              <a:lnSpc>
                <a:spcPct val="104000"/>
              </a:lnSpc>
              <a:buNone/>
            </a:pPr>
            <a:r>
              <a:rPr lang="en-US" sz="650" b="1" dirty="0">
                <a:solidFill>
                  <a:srgbClr val="0A192F"/>
                </a:solidFill>
                <a:latin typeface="SFMono-Regular" pitchFamily="34" charset="0"/>
                <a:ea typeface="SFMono-Regular" pitchFamily="34" charset="-122"/>
                <a:cs typeface="SFMono-Regular" pitchFamily="34" charset="-120"/>
              </a:rPr>
              <a:t>PHYSICAL QUESTION</a:t>
            </a:r>
            <a:endParaRPr lang="en-US" sz="650" dirty="0"/>
          </a:p>
        </p:txBody>
      </p:sp>
      <p:sp>
        <p:nvSpPr>
          <p:cNvPr id="46" name="Text 42"/>
          <p:cNvSpPr/>
          <p:nvPr/>
        </p:nvSpPr>
        <p:spPr>
          <a:xfrm>
            <a:off x="7037989" y="2226004"/>
            <a:ext cx="1491648" cy="425946"/>
          </a:xfrm>
          <a:prstGeom prst="rect">
            <a:avLst/>
          </a:prstGeom>
          <a:noFill/>
          <a:ln/>
        </p:spPr>
        <p:txBody>
          <a:bodyPr wrap="square" lIns="0" tIns="0" rIns="0" bIns="0" rtlCol="0" anchor="t">
            <a:spAutoFit/>
          </a:bodyPr>
          <a:lstStyle/>
          <a:p>
            <a:pPr algn="l" indent="0" marL="0">
              <a:lnSpc>
                <a:spcPct val="113600"/>
              </a:lnSpc>
              <a:buNone/>
            </a:pPr>
            <a:r>
              <a:rPr lang="en-US" sz="750" dirty="0">
                <a:solidFill>
                  <a:srgbClr val="475569"/>
                </a:solidFill>
                <a:latin typeface="SFMono-Regular" pitchFamily="34" charset="0"/>
                <a:ea typeface="SFMono-Regular" pitchFamily="34" charset="-122"/>
                <a:cs typeface="SFMono-Regular" pitchFamily="34" charset="-120"/>
              </a:rPr>
              <a:t>How does a general connection differ from Levi–Civita?</a:t>
            </a:r>
            <a:endParaRPr lang="en-US" sz="750" dirty="0"/>
          </a:p>
        </p:txBody>
      </p:sp>
      <p:sp>
        <p:nvSpPr>
          <p:cNvPr id="47" name="Text 43"/>
          <p:cNvSpPr/>
          <p:nvPr/>
        </p:nvSpPr>
        <p:spPr>
          <a:xfrm>
            <a:off x="7037989" y="2737675"/>
            <a:ext cx="1491648" cy="120718"/>
          </a:xfrm>
          <a:prstGeom prst="rect">
            <a:avLst/>
          </a:prstGeom>
          <a:noFill/>
          <a:ln/>
        </p:spPr>
        <p:txBody>
          <a:bodyPr wrap="none" lIns="0" tIns="0" rIns="0" bIns="0" rtlCol="0" anchor="t">
            <a:spAutoFit/>
          </a:bodyPr>
          <a:lstStyle/>
          <a:p>
            <a:pPr algn="l" indent="0" marL="0">
              <a:lnSpc>
                <a:spcPct val="104000"/>
              </a:lnSpc>
              <a:buNone/>
            </a:pPr>
            <a:r>
              <a:rPr lang="en-US" sz="650" b="1" dirty="0">
                <a:solidFill>
                  <a:srgbClr val="D90429"/>
                </a:solidFill>
                <a:latin typeface="SFMono-Regular" pitchFamily="34" charset="0"/>
                <a:ea typeface="SFMono-Regular" pitchFamily="34" charset="-122"/>
                <a:cs typeface="SFMono-Regular" pitchFamily="34" charset="-120"/>
              </a:rPr>
              <a:t>ENGINE ANALOGUE</a:t>
            </a:r>
            <a:endParaRPr lang="en-US" sz="650" dirty="0"/>
          </a:p>
        </p:txBody>
      </p:sp>
      <p:sp>
        <p:nvSpPr>
          <p:cNvPr id="48" name="Text 44"/>
          <p:cNvSpPr/>
          <p:nvPr/>
        </p:nvSpPr>
        <p:spPr>
          <a:xfrm>
            <a:off x="7037989" y="2901255"/>
            <a:ext cx="1491648" cy="283964"/>
          </a:xfrm>
          <a:prstGeom prst="rect">
            <a:avLst/>
          </a:prstGeom>
          <a:noFill/>
          <a:ln/>
        </p:spPr>
        <p:txBody>
          <a:bodyPr wrap="square" lIns="0" tIns="0" rIns="0" bIns="0" rtlCol="0" anchor="t">
            <a:spAutoFit/>
          </a:bodyPr>
          <a:lstStyle/>
          <a:p>
            <a:pPr algn="l" indent="0" marL="0">
              <a:lnSpc>
                <a:spcPct val="113600"/>
              </a:lnSpc>
              <a:buNone/>
            </a:pPr>
            <a:r>
              <a:rPr lang="en-US" sz="750" dirty="0">
                <a:solidFill>
                  <a:srgbClr val="475569"/>
                </a:solidFill>
                <a:latin typeface="SFMono-Regular" pitchFamily="34" charset="0"/>
                <a:ea typeface="SFMono-Regular" pitchFamily="34" charset="-122"/>
                <a:cs typeface="SFMono-Regular" pitchFamily="34" charset="-120"/>
              </a:rPr>
              <a:t>Explicit deformation tensor with provenance.</a:t>
            </a:r>
            <a:endParaRPr lang="en-US" sz="750" dirty="0"/>
          </a:p>
        </p:txBody>
      </p:sp>
      <p:sp>
        <p:nvSpPr>
          <p:cNvPr id="49" name="Text 45"/>
          <p:cNvSpPr/>
          <p:nvPr/>
        </p:nvSpPr>
        <p:spPr>
          <a:xfrm>
            <a:off x="557213" y="3486764"/>
            <a:ext cx="3900488" cy="111398"/>
          </a:xfrm>
          <a:prstGeom prst="rect">
            <a:avLst/>
          </a:prstGeom>
          <a:noFill/>
          <a:ln/>
        </p:spPr>
        <p:txBody>
          <a:bodyPr wrap="none" lIns="0" tIns="0" rIns="0" bIns="0" rtlCol="0" anchor="t">
            <a:spAutoFit/>
          </a:bodyPr>
          <a:lstStyle/>
          <a:p>
            <a:pPr algn="l" indent="0" marL="0">
              <a:lnSpc>
                <a:spcPct val="96000"/>
              </a:lnSpc>
              <a:buNone/>
            </a:pPr>
            <a:r>
              <a:rPr lang="en-US" sz="650" b="1" spc="1" kern="0" dirty="0">
                <a:solidFill>
                  <a:srgbClr val="D90429"/>
                </a:solidFill>
                <a:latin typeface="SFMono-Regular" pitchFamily="34" charset="0"/>
                <a:ea typeface="SFMono-Regular" pitchFamily="34" charset="-122"/>
                <a:cs typeface="SFMono-Regular" pitchFamily="34" charset="-120"/>
              </a:rPr>
              <a:t>ESTABLISHED MATHEMATICS</a:t>
            </a:r>
            <a:endParaRPr lang="en-US" sz="650" dirty="0"/>
          </a:p>
        </p:txBody>
      </p:sp>
      <p:sp>
        <p:nvSpPr>
          <p:cNvPr id="50" name="Text 46"/>
          <p:cNvSpPr/>
          <p:nvPr/>
        </p:nvSpPr>
        <p:spPr>
          <a:xfrm>
            <a:off x="557213" y="3641024"/>
            <a:ext cx="3900488" cy="289992"/>
          </a:xfrm>
          <a:prstGeom prst="rect">
            <a:avLst/>
          </a:prstGeom>
          <a:noFill/>
          <a:ln/>
        </p:spPr>
        <p:txBody>
          <a:bodyPr wrap="square" lIns="0" tIns="0" rIns="0" bIns="0" rtlCol="0" anchor="t">
            <a:spAutoFit/>
          </a:bodyPr>
          <a:lstStyle/>
          <a:p>
            <a:pPr algn="l" indent="0" marL="0">
              <a:lnSpc>
                <a:spcPct val="116000"/>
              </a:lnSpc>
              <a:buNone/>
            </a:pPr>
            <a:r>
              <a:rPr lang="en-US" sz="750" dirty="0">
                <a:solidFill>
                  <a:srgbClr val="334155"/>
                </a:solidFill>
                <a:latin typeface="SFMono-Regular" pitchFamily="34" charset="0"/>
                <a:ea typeface="SFMono-Regular" pitchFamily="34" charset="-122"/>
                <a:cs typeface="SFMono-Regular" pitchFamily="34" charset="-120"/>
              </a:rPr>
              <a:t>Metric, connection, curvature, torsion, and contortion are distinct objects with distinct index structure and rules.</a:t>
            </a:r>
            <a:endParaRPr lang="en-US" sz="750" dirty="0"/>
          </a:p>
        </p:txBody>
      </p:sp>
      <p:sp>
        <p:nvSpPr>
          <p:cNvPr id="51" name="Text 47"/>
          <p:cNvSpPr/>
          <p:nvPr/>
        </p:nvSpPr>
        <p:spPr>
          <a:xfrm>
            <a:off x="4686300" y="3486764"/>
            <a:ext cx="3900488" cy="111398"/>
          </a:xfrm>
          <a:prstGeom prst="rect">
            <a:avLst/>
          </a:prstGeom>
          <a:noFill/>
          <a:ln/>
        </p:spPr>
        <p:txBody>
          <a:bodyPr wrap="none" lIns="0" tIns="0" rIns="0" bIns="0" rtlCol="0" anchor="t">
            <a:spAutoFit/>
          </a:bodyPr>
          <a:lstStyle/>
          <a:p>
            <a:pPr algn="l" indent="0" marL="0">
              <a:lnSpc>
                <a:spcPct val="96000"/>
              </a:lnSpc>
              <a:buNone/>
            </a:pPr>
            <a:r>
              <a:rPr lang="en-US" sz="650" b="1" spc="1" kern="0" dirty="0">
                <a:solidFill>
                  <a:srgbClr val="D90429"/>
                </a:solidFill>
                <a:latin typeface="SFMono-Regular" pitchFamily="34" charset="0"/>
                <a:ea typeface="SFMono-Regular" pitchFamily="34" charset="-122"/>
                <a:cs typeface="SFMono-Regular" pitchFamily="34" charset="-120"/>
              </a:rPr>
              <a:t>PROJECT INTERPRETATION</a:t>
            </a:r>
            <a:endParaRPr lang="en-US" sz="650" dirty="0"/>
          </a:p>
        </p:txBody>
      </p:sp>
      <p:sp>
        <p:nvSpPr>
          <p:cNvPr id="52" name="Text 48"/>
          <p:cNvSpPr/>
          <p:nvPr/>
        </p:nvSpPr>
        <p:spPr>
          <a:xfrm>
            <a:off x="4686300" y="3641024"/>
            <a:ext cx="3900488" cy="289992"/>
          </a:xfrm>
          <a:prstGeom prst="rect">
            <a:avLst/>
          </a:prstGeom>
          <a:noFill/>
          <a:ln/>
        </p:spPr>
        <p:txBody>
          <a:bodyPr wrap="square" lIns="0" tIns="0" rIns="0" bIns="0" rtlCol="0" anchor="t">
            <a:spAutoFit/>
          </a:bodyPr>
          <a:lstStyle/>
          <a:p>
            <a:pPr algn="l" indent="0" marL="0">
              <a:lnSpc>
                <a:spcPct val="116000"/>
              </a:lnSpc>
              <a:buNone/>
            </a:pPr>
            <a:r>
              <a:rPr lang="en-US" sz="750" dirty="0">
                <a:solidFill>
                  <a:srgbClr val="334155"/>
                </a:solidFill>
                <a:latin typeface="SFMono-Regular" pitchFamily="34" charset="0"/>
                <a:ea typeface="SFMono-Regular" pitchFamily="34" charset="-122"/>
                <a:cs typeface="SFMono-Regular" pitchFamily="34" charset="-120"/>
              </a:rPr>
              <a:t>Sovereign Engine turns each object into a typed state, registered operation, invariant check, and replayable record.</a:t>
            </a:r>
            <a:endParaRPr lang="en-US" sz="750" dirty="0"/>
          </a:p>
        </p:txBody>
      </p:sp>
      <p:sp>
        <p:nvSpPr>
          <p:cNvPr id="53" name="Text 49"/>
          <p:cNvSpPr/>
          <p:nvPr/>
        </p:nvSpPr>
        <p:spPr>
          <a:xfrm>
            <a:off x="4686300" y="3973878"/>
            <a:ext cx="3900488" cy="85725"/>
          </a:xfrm>
          <a:prstGeom prst="rect">
            <a:avLst/>
          </a:prstGeom>
          <a:noFill/>
          <a:ln/>
        </p:spPr>
        <p:txBody>
          <a:bodyPr wrap="none" lIns="0" tIns="0" rIns="0" bIns="0" rtlCol="0" anchor="t">
            <a:spAutoFit/>
          </a:bodyPr>
          <a:lstStyle/>
          <a:p>
            <a:pPr algn="r" indent="0" marL="0">
              <a:lnSpc>
                <a:spcPct val="80000"/>
              </a:lnSpc>
              <a:buNone/>
            </a:pPr>
            <a:r>
              <a:rPr lang="en-US" sz="600" b="1" spc="1" kern="0" dirty="0">
                <a:solidFill>
                  <a:srgbClr val="0A192F"/>
                </a:solidFill>
                <a:latin typeface="SFMono-Regular" pitchFamily="34" charset="0"/>
                <a:ea typeface="SFMono-Regular" pitchFamily="34" charset="-122"/>
                <a:cs typeface="SFMono-Regular" pitchFamily="34" charset="-120"/>
              </a:rPr>
              <a:t>SOVEREIGN ENGINE / 04</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14350" y="414338"/>
            <a:ext cx="6115050" cy="119993"/>
          </a:xfrm>
          <a:prstGeom prst="rect">
            <a:avLst/>
          </a:prstGeom>
          <a:noFill/>
          <a:ln/>
        </p:spPr>
        <p:txBody>
          <a:bodyPr wrap="none" lIns="0" tIns="0" rIns="0" bIns="0" rtlCol="0" anchor="t">
            <a:spAutoFit/>
          </a:bodyPr>
          <a:lstStyle/>
          <a:p>
            <a:pPr algn="l" indent="0" marL="0">
              <a:lnSpc>
                <a:spcPct val="96000"/>
              </a:lnSpc>
              <a:buNone/>
            </a:pPr>
            <a:r>
              <a:rPr lang="en-US" sz="700" b="1" spc="2" kern="0" dirty="0">
                <a:solidFill>
                  <a:srgbClr val="D90429"/>
                </a:solidFill>
                <a:latin typeface="SFMono-Regular" pitchFamily="34" charset="0"/>
                <a:ea typeface="SFMono-Regular" pitchFamily="34" charset="-122"/>
                <a:cs typeface="SFMono-Regular" pitchFamily="34" charset="-120"/>
              </a:rPr>
              <a:t>05 / TENSOR CALCULUS</a:t>
            </a:r>
            <a:endParaRPr lang="en-US" sz="700" dirty="0"/>
          </a:p>
        </p:txBody>
      </p:sp>
      <p:sp>
        <p:nvSpPr>
          <p:cNvPr id="5" name="Text 1"/>
          <p:cNvSpPr/>
          <p:nvPr/>
        </p:nvSpPr>
        <p:spPr>
          <a:xfrm>
            <a:off x="514350" y="620055"/>
            <a:ext cx="5429250" cy="314995"/>
          </a:xfrm>
          <a:prstGeom prst="rect">
            <a:avLst/>
          </a:prstGeom>
          <a:noFill/>
          <a:ln/>
        </p:spPr>
        <p:txBody>
          <a:bodyPr wrap="none" lIns="0" tIns="0" rIns="0" bIns="0" rtlCol="0" anchor="t">
            <a:spAutoFit/>
          </a:bodyPr>
          <a:lstStyle/>
          <a:p>
            <a:pPr algn="l" indent="0" marL="0">
              <a:lnSpc>
                <a:spcPct val="84000"/>
              </a:lnSpc>
              <a:buNone/>
            </a:pPr>
            <a:r>
              <a:rPr lang="en-US" sz="2100" b="1" spc="-1" kern="0" dirty="0">
                <a:solidFill>
                  <a:srgbClr val="0A192F"/>
                </a:solidFill>
                <a:latin typeface="Georgia" pitchFamily="34" charset="0"/>
                <a:ea typeface="Georgia" pitchFamily="34" charset="-122"/>
                <a:cs typeface="Georgia" pitchFamily="34" charset="-120"/>
              </a:rPr>
              <a:t>Curvature becomes a testable chain</a:t>
            </a:r>
            <a:endParaRPr lang="en-US" sz="2100" dirty="0"/>
          </a:p>
        </p:txBody>
      </p:sp>
      <p:sp>
        <p:nvSpPr>
          <p:cNvPr id="6" name="Text 2"/>
          <p:cNvSpPr/>
          <p:nvPr/>
        </p:nvSpPr>
        <p:spPr>
          <a:xfrm>
            <a:off x="514350" y="1170794"/>
            <a:ext cx="1166775" cy="147842"/>
          </a:xfrm>
          <a:prstGeom prst="rect">
            <a:avLst/>
          </a:prstGeom>
          <a:noFill/>
          <a:ln/>
        </p:spPr>
        <p:txBody>
          <a:bodyPr wrap="none" lIns="0" tIns="0" rIns="0" bIns="0" rtlCol="0" anchor="t">
            <a:spAutoFit/>
          </a:bodyPr>
          <a:lstStyle/>
          <a:p>
            <a:pPr algn="l" indent="0" marL="0">
              <a:lnSpc>
                <a:spcPct val="92000"/>
              </a:lnSpc>
              <a:buNone/>
            </a:pPr>
            <a:r>
              <a:rPr lang="en-US" sz="900" b="1" dirty="0">
                <a:solidFill>
                  <a:srgbClr val="0A192F"/>
                </a:solidFill>
                <a:latin typeface="Georgia" pitchFamily="34" charset="0"/>
                <a:ea typeface="Georgia" pitchFamily="34" charset="-122"/>
                <a:cs typeface="Georgia" pitchFamily="34" charset="-120"/>
              </a:rPr>
              <a:t>Connection</a:t>
            </a:r>
            <a:endParaRPr lang="en-US" sz="900" dirty="0"/>
          </a:p>
        </p:txBody>
      </p:sp>
      <p:sp>
        <p:nvSpPr>
          <p:cNvPr id="7" name="Text 3"/>
          <p:cNvSpPr/>
          <p:nvPr/>
        </p:nvSpPr>
        <p:spPr>
          <a:xfrm>
            <a:off x="514350" y="1390073"/>
            <a:ext cx="1166775" cy="182166"/>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0A192F"/>
                </a:solidFill>
                <a:latin typeface="SFMono-Regular" pitchFamily="34" charset="0"/>
                <a:ea typeface="SFMono-Regular" pitchFamily="34" charset="-122"/>
                <a:cs typeface="SFMono-Regular" pitchFamily="34" charset="-120"/>
              </a:rPr>
              <a:t>Γᵨₘₙ</a:t>
            </a:r>
            <a:endParaRPr lang="en-US" sz="900" dirty="0"/>
          </a:p>
        </p:txBody>
      </p:sp>
      <p:sp>
        <p:nvSpPr>
          <p:cNvPr id="8" name="Text 4"/>
          <p:cNvSpPr/>
          <p:nvPr/>
        </p:nvSpPr>
        <p:spPr>
          <a:xfrm>
            <a:off x="514350" y="1643676"/>
            <a:ext cx="1166775" cy="538460"/>
          </a:xfrm>
          <a:prstGeom prst="rect">
            <a:avLst/>
          </a:prstGeom>
          <a:noFill/>
          <a:ln/>
        </p:spPr>
        <p:txBody>
          <a:bodyPr wrap="square" lIns="0" tIns="0" rIns="0" bIns="0" rtlCol="0" anchor="t">
            <a:spAutoFit/>
          </a:bodyPr>
          <a:lstStyle/>
          <a:p>
            <a:pPr algn="l" indent="0" marL="0">
              <a:lnSpc>
                <a:spcPct val="116000"/>
              </a:lnSpc>
              <a:buNone/>
            </a:pPr>
            <a:r>
              <a:rPr lang="en-US" sz="650" dirty="0">
                <a:solidFill>
                  <a:srgbClr val="475569"/>
                </a:solidFill>
                <a:latin typeface="SFMono-Regular" pitchFamily="34" charset="0"/>
                <a:ea typeface="SFMono-Regular" pitchFamily="34" charset="-122"/>
                <a:cs typeface="SFMono-Regular" pitchFamily="34" charset="-120"/>
              </a:rPr>
              <a:t>Defines comparison and transport between nearby directions.</a:t>
            </a:r>
            <a:endParaRPr lang="en-US" sz="650" dirty="0"/>
          </a:p>
        </p:txBody>
      </p:sp>
      <p:sp>
        <p:nvSpPr>
          <p:cNvPr id="9" name="Text 5"/>
          <p:cNvSpPr/>
          <p:nvPr/>
        </p:nvSpPr>
        <p:spPr>
          <a:xfrm>
            <a:off x="1752563" y="1085069"/>
            <a:ext cx="242888" cy="1097068"/>
          </a:xfrm>
          <a:prstGeom prst="rect">
            <a:avLst/>
          </a:prstGeom>
          <a:noFill/>
          <a:ln/>
        </p:spPr>
        <p:txBody>
          <a:bodyPr wrap="square" lIns="0" tIns="0" rIns="0" bIns="0" rtlCol="0" anchor="ctr">
            <a:spAutoFit/>
          </a:bodyPr>
          <a:lstStyle/>
          <a:p>
            <a:pPr algn="ctr" indent="0" marL="0">
              <a:lnSpc>
                <a:spcPct val="80000"/>
              </a:lnSpc>
              <a:buNone/>
            </a:pPr>
            <a:r>
              <a:rPr lang="en-US" sz="1600" dirty="0">
                <a:solidFill>
                  <a:srgbClr val="D90429"/>
                </a:solidFill>
                <a:latin typeface="Georgia" pitchFamily="34" charset="0"/>
                <a:ea typeface="Georgia" pitchFamily="34" charset="-122"/>
                <a:cs typeface="Georgia" pitchFamily="34" charset="-120"/>
              </a:rPr>
              <a:t>→</a:t>
            </a:r>
            <a:endParaRPr lang="en-US" sz="1600" dirty="0"/>
          </a:p>
        </p:txBody>
      </p:sp>
      <p:sp>
        <p:nvSpPr>
          <p:cNvPr id="10" name="Text 6"/>
          <p:cNvSpPr/>
          <p:nvPr/>
        </p:nvSpPr>
        <p:spPr>
          <a:xfrm>
            <a:off x="1995450" y="1170794"/>
            <a:ext cx="1476412" cy="147842"/>
          </a:xfrm>
          <a:prstGeom prst="rect">
            <a:avLst/>
          </a:prstGeom>
          <a:noFill/>
          <a:ln/>
        </p:spPr>
        <p:txBody>
          <a:bodyPr wrap="none" lIns="0" tIns="0" rIns="0" bIns="0" rtlCol="0" anchor="t">
            <a:spAutoFit/>
          </a:bodyPr>
          <a:lstStyle/>
          <a:p>
            <a:pPr algn="l" indent="0" marL="0">
              <a:lnSpc>
                <a:spcPct val="92000"/>
              </a:lnSpc>
              <a:buNone/>
            </a:pPr>
            <a:r>
              <a:rPr lang="en-US" sz="900" b="1" dirty="0">
                <a:solidFill>
                  <a:srgbClr val="0A192F"/>
                </a:solidFill>
                <a:latin typeface="Georgia" pitchFamily="34" charset="0"/>
                <a:ea typeface="Georgia" pitchFamily="34" charset="-122"/>
                <a:cs typeface="Georgia" pitchFamily="34" charset="-120"/>
              </a:rPr>
              <a:t>Riemann</a:t>
            </a:r>
            <a:endParaRPr lang="en-US" sz="900" dirty="0"/>
          </a:p>
        </p:txBody>
      </p:sp>
      <p:sp>
        <p:nvSpPr>
          <p:cNvPr id="11" name="Text 7"/>
          <p:cNvSpPr/>
          <p:nvPr/>
        </p:nvSpPr>
        <p:spPr>
          <a:xfrm>
            <a:off x="1995450" y="1390073"/>
            <a:ext cx="1476412" cy="182166"/>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0A192F"/>
                </a:solidFill>
                <a:latin typeface="SFMono-Regular" pitchFamily="34" charset="0"/>
                <a:ea typeface="SFMono-Regular" pitchFamily="34" charset="-122"/>
                <a:cs typeface="SFMono-Regular" pitchFamily="34" charset="-120"/>
              </a:rPr>
              <a:t>Rᵨₛₘₙ</a:t>
            </a:r>
            <a:endParaRPr lang="en-US" sz="900" dirty="0"/>
          </a:p>
        </p:txBody>
      </p:sp>
      <p:sp>
        <p:nvSpPr>
          <p:cNvPr id="12" name="Text 8"/>
          <p:cNvSpPr/>
          <p:nvPr/>
        </p:nvSpPr>
        <p:spPr>
          <a:xfrm>
            <a:off x="1995450" y="1643676"/>
            <a:ext cx="1476412" cy="269230"/>
          </a:xfrm>
          <a:prstGeom prst="rect">
            <a:avLst/>
          </a:prstGeom>
          <a:noFill/>
          <a:ln/>
        </p:spPr>
        <p:txBody>
          <a:bodyPr wrap="square" lIns="0" tIns="0" rIns="0" bIns="0" rtlCol="0" anchor="t">
            <a:spAutoFit/>
          </a:bodyPr>
          <a:lstStyle/>
          <a:p>
            <a:pPr algn="l" indent="0" marL="0">
              <a:lnSpc>
                <a:spcPct val="116000"/>
              </a:lnSpc>
              <a:buNone/>
            </a:pPr>
            <a:r>
              <a:rPr lang="en-US" sz="650" dirty="0">
                <a:solidFill>
                  <a:srgbClr val="475569"/>
                </a:solidFill>
                <a:latin typeface="SFMono-Regular" pitchFamily="34" charset="0"/>
                <a:ea typeface="SFMono-Regular" pitchFamily="34" charset="-122"/>
                <a:cs typeface="SFMono-Regular" pitchFamily="34" charset="-120"/>
              </a:rPr>
              <a:t>Measures path dependence of parallel transport.</a:t>
            </a:r>
            <a:endParaRPr lang="en-US" sz="650" dirty="0"/>
          </a:p>
        </p:txBody>
      </p:sp>
      <p:sp>
        <p:nvSpPr>
          <p:cNvPr id="13" name="Text 9"/>
          <p:cNvSpPr/>
          <p:nvPr/>
        </p:nvSpPr>
        <p:spPr>
          <a:xfrm>
            <a:off x="3543300" y="1085069"/>
            <a:ext cx="242888" cy="1097068"/>
          </a:xfrm>
          <a:prstGeom prst="rect">
            <a:avLst/>
          </a:prstGeom>
          <a:noFill/>
          <a:ln/>
        </p:spPr>
        <p:txBody>
          <a:bodyPr wrap="square" lIns="0" tIns="0" rIns="0" bIns="0" rtlCol="0" anchor="ctr">
            <a:spAutoFit/>
          </a:bodyPr>
          <a:lstStyle/>
          <a:p>
            <a:pPr algn="ctr" indent="0" marL="0">
              <a:lnSpc>
                <a:spcPct val="80000"/>
              </a:lnSpc>
              <a:buNone/>
            </a:pPr>
            <a:r>
              <a:rPr lang="en-US" sz="1600" dirty="0">
                <a:solidFill>
                  <a:srgbClr val="D90429"/>
                </a:solidFill>
                <a:latin typeface="Georgia" pitchFamily="34" charset="0"/>
                <a:ea typeface="Georgia" pitchFamily="34" charset="-122"/>
                <a:cs typeface="Georgia" pitchFamily="34" charset="-120"/>
              </a:rPr>
              <a:t>→</a:t>
            </a:r>
            <a:endParaRPr lang="en-US" sz="1600" dirty="0"/>
          </a:p>
        </p:txBody>
      </p:sp>
      <p:sp>
        <p:nvSpPr>
          <p:cNvPr id="14" name="Text 10"/>
          <p:cNvSpPr/>
          <p:nvPr/>
        </p:nvSpPr>
        <p:spPr>
          <a:xfrm>
            <a:off x="3786188" y="1170794"/>
            <a:ext cx="1166775" cy="147842"/>
          </a:xfrm>
          <a:prstGeom prst="rect">
            <a:avLst/>
          </a:prstGeom>
          <a:noFill/>
          <a:ln/>
        </p:spPr>
        <p:txBody>
          <a:bodyPr wrap="none" lIns="0" tIns="0" rIns="0" bIns="0" rtlCol="0" anchor="t">
            <a:spAutoFit/>
          </a:bodyPr>
          <a:lstStyle/>
          <a:p>
            <a:pPr algn="l" indent="0" marL="0">
              <a:lnSpc>
                <a:spcPct val="92000"/>
              </a:lnSpc>
              <a:buNone/>
            </a:pPr>
            <a:r>
              <a:rPr lang="en-US" sz="900" b="1" dirty="0">
                <a:solidFill>
                  <a:srgbClr val="0A192F"/>
                </a:solidFill>
                <a:latin typeface="Georgia" pitchFamily="34" charset="0"/>
                <a:ea typeface="Georgia" pitchFamily="34" charset="-122"/>
                <a:cs typeface="Georgia" pitchFamily="34" charset="-120"/>
              </a:rPr>
              <a:t>Contractions</a:t>
            </a:r>
            <a:endParaRPr lang="en-US" sz="900" dirty="0"/>
          </a:p>
        </p:txBody>
      </p:sp>
      <p:sp>
        <p:nvSpPr>
          <p:cNvPr id="15" name="Text 11"/>
          <p:cNvSpPr/>
          <p:nvPr/>
        </p:nvSpPr>
        <p:spPr>
          <a:xfrm>
            <a:off x="3786188" y="1390073"/>
            <a:ext cx="1166775" cy="364331"/>
          </a:xfrm>
          <a:prstGeom prst="rect">
            <a:avLst/>
          </a:prstGeom>
          <a:noFill/>
          <a:ln/>
        </p:spPr>
        <p:txBody>
          <a:bodyPr wrap="square" lIns="0" tIns="0" rIns="0" bIns="0" rtlCol="0" anchor="t">
            <a:spAutoFit/>
          </a:bodyPr>
          <a:lstStyle/>
          <a:p>
            <a:pPr algn="l" indent="0" marL="0">
              <a:lnSpc>
                <a:spcPct val="120000"/>
              </a:lnSpc>
              <a:buNone/>
            </a:pPr>
            <a:r>
              <a:rPr lang="en-US" sz="900" dirty="0">
                <a:solidFill>
                  <a:srgbClr val="0A192F"/>
                </a:solidFill>
                <a:latin typeface="SFMono-Regular" pitchFamily="34" charset="0"/>
                <a:ea typeface="SFMono-Regular" pitchFamily="34" charset="-122"/>
                <a:cs typeface="SFMono-Regular" pitchFamily="34" charset="-120"/>
              </a:rPr>
              <a:t>Rₛₙ</a:t>
            </a:r>
            <a:r>
              <a:rPr lang="en-US" sz="900" dirty="0">
                <a:solidFill>
                  <a:srgbClr val="0A192F"/>
                </a:solidFill>
                <a:latin typeface="SFMono-Regular" pitchFamily="34" charset="0"/>
                <a:ea typeface="SFMono-Regular" pitchFamily="34" charset="-122"/>
                <a:cs typeface="SFMono-Regular" pitchFamily="34" charset="-120"/>
              </a:rPr>
              <a:t>
</a:t>
            </a:r>
            <a:r>
              <a:rPr lang="en-US" sz="900" dirty="0">
                <a:solidFill>
                  <a:srgbClr val="0A192F"/>
                </a:solidFill>
                <a:latin typeface="SFMono-Regular" pitchFamily="34" charset="0"/>
                <a:ea typeface="SFMono-Regular" pitchFamily="34" charset="-122"/>
                <a:cs typeface="SFMono-Regular" pitchFamily="34" charset="-120"/>
              </a:rPr>
              <a:t>R = gᵐⁿRₘₙ</a:t>
            </a:r>
            <a:endParaRPr lang="en-US" sz="900" dirty="0"/>
          </a:p>
        </p:txBody>
      </p:sp>
      <p:sp>
        <p:nvSpPr>
          <p:cNvPr id="16" name="Text 12"/>
          <p:cNvSpPr/>
          <p:nvPr/>
        </p:nvSpPr>
        <p:spPr>
          <a:xfrm>
            <a:off x="3786188" y="1825842"/>
            <a:ext cx="1166775" cy="269230"/>
          </a:xfrm>
          <a:prstGeom prst="rect">
            <a:avLst/>
          </a:prstGeom>
          <a:noFill/>
          <a:ln/>
        </p:spPr>
        <p:txBody>
          <a:bodyPr wrap="square" lIns="0" tIns="0" rIns="0" bIns="0" rtlCol="0" anchor="t">
            <a:spAutoFit/>
          </a:bodyPr>
          <a:lstStyle/>
          <a:p>
            <a:pPr algn="l" indent="0" marL="0">
              <a:lnSpc>
                <a:spcPct val="116000"/>
              </a:lnSpc>
              <a:buNone/>
            </a:pPr>
            <a:r>
              <a:rPr lang="en-US" sz="650" dirty="0">
                <a:solidFill>
                  <a:srgbClr val="475569"/>
                </a:solidFill>
                <a:latin typeface="SFMono-Regular" pitchFamily="34" charset="0"/>
                <a:ea typeface="SFMono-Regular" pitchFamily="34" charset="-122"/>
                <a:cs typeface="SFMono-Regular" pitchFamily="34" charset="-120"/>
              </a:rPr>
              <a:t>Reduce the 4-index tensor to summaries.</a:t>
            </a:r>
            <a:endParaRPr lang="en-US" sz="650" dirty="0"/>
          </a:p>
        </p:txBody>
      </p:sp>
      <p:sp>
        <p:nvSpPr>
          <p:cNvPr id="17" name="Text 13"/>
          <p:cNvSpPr/>
          <p:nvPr/>
        </p:nvSpPr>
        <p:spPr>
          <a:xfrm>
            <a:off x="5024400" y="1085069"/>
            <a:ext cx="242888" cy="1097068"/>
          </a:xfrm>
          <a:prstGeom prst="rect">
            <a:avLst/>
          </a:prstGeom>
          <a:noFill/>
          <a:ln/>
        </p:spPr>
        <p:txBody>
          <a:bodyPr wrap="square" lIns="0" tIns="0" rIns="0" bIns="0" rtlCol="0" anchor="ctr">
            <a:spAutoFit/>
          </a:bodyPr>
          <a:lstStyle/>
          <a:p>
            <a:pPr algn="ctr" indent="0" marL="0">
              <a:lnSpc>
                <a:spcPct val="80000"/>
              </a:lnSpc>
              <a:buNone/>
            </a:pPr>
            <a:r>
              <a:rPr lang="en-US" sz="1600" dirty="0">
                <a:solidFill>
                  <a:srgbClr val="D90429"/>
                </a:solidFill>
                <a:latin typeface="Georgia" pitchFamily="34" charset="0"/>
                <a:ea typeface="Georgia" pitchFamily="34" charset="-122"/>
                <a:cs typeface="Georgia" pitchFamily="34" charset="-120"/>
              </a:rPr>
              <a:t>→</a:t>
            </a:r>
            <a:endParaRPr lang="en-US" sz="1600" dirty="0"/>
          </a:p>
        </p:txBody>
      </p:sp>
      <p:sp>
        <p:nvSpPr>
          <p:cNvPr id="18" name="Text 14"/>
          <p:cNvSpPr/>
          <p:nvPr/>
        </p:nvSpPr>
        <p:spPr>
          <a:xfrm>
            <a:off x="5267288" y="1170794"/>
            <a:ext cx="1290675" cy="147842"/>
          </a:xfrm>
          <a:prstGeom prst="rect">
            <a:avLst/>
          </a:prstGeom>
          <a:noFill/>
          <a:ln/>
        </p:spPr>
        <p:txBody>
          <a:bodyPr wrap="none" lIns="0" tIns="0" rIns="0" bIns="0" rtlCol="0" anchor="t">
            <a:spAutoFit/>
          </a:bodyPr>
          <a:lstStyle/>
          <a:p>
            <a:pPr algn="l" indent="0" marL="0">
              <a:lnSpc>
                <a:spcPct val="92000"/>
              </a:lnSpc>
              <a:buNone/>
            </a:pPr>
            <a:r>
              <a:rPr lang="en-US" sz="900" b="1" dirty="0">
                <a:solidFill>
                  <a:srgbClr val="0A192F"/>
                </a:solidFill>
                <a:latin typeface="Georgia" pitchFamily="34" charset="0"/>
                <a:ea typeface="Georgia" pitchFamily="34" charset="-122"/>
                <a:cs typeface="Georgia" pitchFamily="34" charset="-120"/>
              </a:rPr>
              <a:t>Einstein tensor</a:t>
            </a:r>
            <a:endParaRPr lang="en-US" sz="900" dirty="0"/>
          </a:p>
        </p:txBody>
      </p:sp>
      <p:sp>
        <p:nvSpPr>
          <p:cNvPr id="19" name="Text 15"/>
          <p:cNvSpPr/>
          <p:nvPr/>
        </p:nvSpPr>
        <p:spPr>
          <a:xfrm>
            <a:off x="5267288" y="1390073"/>
            <a:ext cx="1290675" cy="182166"/>
          </a:xfrm>
          <a:prstGeom prst="rect">
            <a:avLst/>
          </a:prstGeom>
          <a:noFill/>
          <a:ln/>
        </p:spPr>
        <p:txBody>
          <a:bodyPr wrap="none" lIns="0" tIns="0" rIns="0" bIns="0" rtlCol="0" anchor="t">
            <a:spAutoFit/>
          </a:bodyPr>
          <a:lstStyle/>
          <a:p>
            <a:pPr algn="l" indent="0" marL="0">
              <a:lnSpc>
                <a:spcPct val="120000"/>
              </a:lnSpc>
              <a:buNone/>
            </a:pPr>
            <a:r>
              <a:rPr lang="en-US" sz="900" dirty="0">
                <a:solidFill>
                  <a:srgbClr val="0A192F"/>
                </a:solidFill>
                <a:latin typeface="SFMono-Regular" pitchFamily="34" charset="0"/>
                <a:ea typeface="SFMono-Regular" pitchFamily="34" charset="-122"/>
                <a:cs typeface="SFMono-Regular" pitchFamily="34" charset="-120"/>
              </a:rPr>
              <a:t>Gₘₙ = Rₘₙ − ½Rgₘₙ</a:t>
            </a:r>
            <a:endParaRPr lang="en-US" sz="900" dirty="0"/>
          </a:p>
        </p:txBody>
      </p:sp>
      <p:sp>
        <p:nvSpPr>
          <p:cNvPr id="20" name="Text 16"/>
          <p:cNvSpPr/>
          <p:nvPr/>
        </p:nvSpPr>
        <p:spPr>
          <a:xfrm>
            <a:off x="5267288" y="1643676"/>
            <a:ext cx="1290675" cy="269230"/>
          </a:xfrm>
          <a:prstGeom prst="rect">
            <a:avLst/>
          </a:prstGeom>
          <a:noFill/>
          <a:ln/>
        </p:spPr>
        <p:txBody>
          <a:bodyPr wrap="square" lIns="0" tIns="0" rIns="0" bIns="0" rtlCol="0" anchor="t">
            <a:spAutoFit/>
          </a:bodyPr>
          <a:lstStyle/>
          <a:p>
            <a:pPr algn="l" indent="0" marL="0">
              <a:lnSpc>
                <a:spcPct val="116000"/>
              </a:lnSpc>
              <a:buNone/>
            </a:pPr>
            <a:r>
              <a:rPr lang="en-US" sz="650" dirty="0">
                <a:solidFill>
                  <a:srgbClr val="475569"/>
                </a:solidFill>
                <a:latin typeface="SFMono-Regular" pitchFamily="34" charset="0"/>
                <a:ea typeface="SFMono-Regular" pitchFamily="34" charset="-122"/>
                <a:cs typeface="SFMono-Regular" pitchFamily="34" charset="-120"/>
              </a:rPr>
              <a:t>Geometric source term in general relativity.</a:t>
            </a:r>
            <a:endParaRPr lang="en-US" sz="650" dirty="0"/>
          </a:p>
        </p:txBody>
      </p:sp>
      <p:sp>
        <p:nvSpPr>
          <p:cNvPr id="21" name="Text 17"/>
          <p:cNvSpPr/>
          <p:nvPr/>
        </p:nvSpPr>
        <p:spPr>
          <a:xfrm>
            <a:off x="514350" y="2332155"/>
            <a:ext cx="3000375" cy="164306"/>
          </a:xfrm>
          <a:prstGeom prst="rect">
            <a:avLst/>
          </a:prstGeom>
          <a:noFill/>
          <a:ln/>
        </p:spPr>
        <p:txBody>
          <a:bodyPr wrap="none" lIns="0" tIns="0" rIns="0" bIns="0" rtlCol="0" anchor="t">
            <a:spAutoFit/>
          </a:bodyPr>
          <a:lstStyle/>
          <a:p>
            <a:pPr algn="l" indent="0" marL="0">
              <a:lnSpc>
                <a:spcPct val="92000"/>
              </a:lnSpc>
              <a:buNone/>
            </a:pPr>
            <a:r>
              <a:rPr lang="en-US" sz="1000" b="1" dirty="0">
                <a:solidFill>
                  <a:srgbClr val="0A192F"/>
                </a:solidFill>
                <a:latin typeface="Georgia" pitchFamily="34" charset="0"/>
                <a:ea typeface="Georgia" pitchFamily="34" charset="-122"/>
                <a:cs typeface="Georgia" pitchFamily="34" charset="-120"/>
              </a:rPr>
              <a:t>Physical significance</a:t>
            </a:r>
            <a:endParaRPr lang="en-US" sz="1000" dirty="0"/>
          </a:p>
        </p:txBody>
      </p:sp>
      <p:sp>
        <p:nvSpPr>
          <p:cNvPr id="22" name="Text 18"/>
          <p:cNvSpPr/>
          <p:nvPr/>
        </p:nvSpPr>
        <p:spPr>
          <a:xfrm>
            <a:off x="514350" y="2539324"/>
            <a:ext cx="3000375" cy="475673"/>
          </a:xfrm>
          <a:prstGeom prst="rect">
            <a:avLst/>
          </a:prstGeom>
          <a:noFill/>
          <a:ln/>
        </p:spPr>
        <p:txBody>
          <a:bodyPr wrap="square" lIns="0" tIns="0" rIns="0" bIns="0" rtlCol="0" anchor="t">
            <a:spAutoFit/>
          </a:bodyPr>
          <a:lstStyle/>
          <a:p>
            <a:pPr algn="l" indent="0" marL="0">
              <a:lnSpc>
                <a:spcPct val="118400"/>
              </a:lnSpc>
              <a:buNone/>
            </a:pPr>
            <a:r>
              <a:rPr lang="en-US" sz="800" dirty="0">
                <a:solidFill>
                  <a:srgbClr val="334155"/>
                </a:solidFill>
                <a:latin typeface="SFMono-Regular" pitchFamily="34" charset="0"/>
                <a:ea typeface="SFMono-Regular" pitchFamily="34" charset="-122"/>
                <a:cs typeface="SFMono-Regular" pitchFamily="34" charset="-120"/>
              </a:rPr>
              <a:t>The chain turns a transport rule into curvature, then into the contracted object that enters the Einstein field equation.</a:t>
            </a:r>
            <a:endParaRPr lang="en-US" sz="800" dirty="0"/>
          </a:p>
        </p:txBody>
      </p:sp>
      <p:sp>
        <p:nvSpPr>
          <p:cNvPr id="23" name="Text 19"/>
          <p:cNvSpPr/>
          <p:nvPr/>
        </p:nvSpPr>
        <p:spPr>
          <a:xfrm>
            <a:off x="3629025" y="2332155"/>
            <a:ext cx="3000375" cy="164306"/>
          </a:xfrm>
          <a:prstGeom prst="rect">
            <a:avLst/>
          </a:prstGeom>
          <a:noFill/>
          <a:ln/>
        </p:spPr>
        <p:txBody>
          <a:bodyPr wrap="none" lIns="0" tIns="0" rIns="0" bIns="0" rtlCol="0" anchor="t">
            <a:spAutoFit/>
          </a:bodyPr>
          <a:lstStyle/>
          <a:p>
            <a:pPr algn="l" indent="0" marL="0">
              <a:lnSpc>
                <a:spcPct val="92000"/>
              </a:lnSpc>
              <a:buNone/>
            </a:pPr>
            <a:r>
              <a:rPr lang="en-US" sz="1000" b="1" dirty="0">
                <a:solidFill>
                  <a:srgbClr val="0A192F"/>
                </a:solidFill>
                <a:latin typeface="Georgia" pitchFamily="34" charset="0"/>
                <a:ea typeface="Georgia" pitchFamily="34" charset="-122"/>
                <a:cs typeface="Georgia" pitchFamily="34" charset="-120"/>
              </a:rPr>
              <a:t>Engine significance</a:t>
            </a:r>
            <a:endParaRPr lang="en-US" sz="1000" dirty="0"/>
          </a:p>
        </p:txBody>
      </p:sp>
      <p:sp>
        <p:nvSpPr>
          <p:cNvPr id="24" name="Text 20"/>
          <p:cNvSpPr/>
          <p:nvPr/>
        </p:nvSpPr>
        <p:spPr>
          <a:xfrm>
            <a:off x="3629025" y="2539324"/>
            <a:ext cx="3000375" cy="475673"/>
          </a:xfrm>
          <a:prstGeom prst="rect">
            <a:avLst/>
          </a:prstGeom>
          <a:noFill/>
          <a:ln/>
        </p:spPr>
        <p:txBody>
          <a:bodyPr wrap="square" lIns="0" tIns="0" rIns="0" bIns="0" rtlCol="0" anchor="t">
            <a:spAutoFit/>
          </a:bodyPr>
          <a:lstStyle/>
          <a:p>
            <a:pPr algn="l" indent="0" marL="0">
              <a:lnSpc>
                <a:spcPct val="118400"/>
              </a:lnSpc>
              <a:buNone/>
            </a:pPr>
            <a:r>
              <a:rPr lang="en-US" sz="800" dirty="0">
                <a:solidFill>
                  <a:srgbClr val="334155"/>
                </a:solidFill>
                <a:latin typeface="SFMono-Regular" pitchFamily="34" charset="0"/>
                <a:ea typeface="SFMono-Regular" pitchFamily="34" charset="-122"/>
                <a:cs typeface="SFMono-Regular" pitchFamily="34" charset="-120"/>
              </a:rPr>
              <a:t>Every contraction, convention, and numerical residual becomes an inspectable evidence record.</a:t>
            </a:r>
            <a:endParaRPr lang="en-US" sz="800" dirty="0"/>
          </a:p>
        </p:txBody>
      </p:sp>
      <p:sp>
        <p:nvSpPr>
          <p:cNvPr id="25" name="Shape 21"/>
          <p:cNvSpPr/>
          <p:nvPr/>
        </p:nvSpPr>
        <p:spPr>
          <a:xfrm>
            <a:off x="6858000" y="0"/>
            <a:ext cx="2286000" cy="5143500"/>
          </a:xfrm>
          <a:prstGeom prst="rect">
            <a:avLst/>
          </a:prstGeom>
          <a:solidFill>
            <a:srgbClr val="000000">
              <a:alpha val="0"/>
            </a:srgbClr>
          </a:solidFill>
          <a:ln/>
        </p:spPr>
      </p:sp>
      <p:sp>
        <p:nvSpPr>
          <p:cNvPr id="26" name="Shape 22"/>
          <p:cNvSpPr/>
          <p:nvPr/>
        </p:nvSpPr>
        <p:spPr>
          <a:xfrm>
            <a:off x="6858000" y="0"/>
            <a:ext cx="7144" cy="5143500"/>
          </a:xfrm>
          <a:prstGeom prst="rect">
            <a:avLst/>
          </a:prstGeom>
          <a:solidFill>
            <a:srgbClr val="0A192F"/>
          </a:solidFill>
          <a:ln/>
        </p:spPr>
      </p:sp>
      <p:sp>
        <p:nvSpPr>
          <p:cNvPr id="27" name="Text 23"/>
          <p:cNvSpPr/>
          <p:nvPr/>
        </p:nvSpPr>
        <p:spPr>
          <a:xfrm>
            <a:off x="7000875" y="271463"/>
            <a:ext cx="2000250" cy="180715"/>
          </a:xfrm>
          <a:prstGeom prst="rect">
            <a:avLst/>
          </a:prstGeom>
          <a:noFill/>
          <a:ln/>
        </p:spPr>
        <p:txBody>
          <a:bodyPr wrap="none" lIns="0" tIns="0" rIns="0" bIns="0" rtlCol="0" anchor="t">
            <a:spAutoFit/>
          </a:bodyPr>
          <a:lstStyle/>
          <a:p>
            <a:pPr algn="l" indent="0" marL="0">
              <a:lnSpc>
                <a:spcPct val="92000"/>
              </a:lnSpc>
              <a:buNone/>
            </a:pPr>
            <a:r>
              <a:rPr lang="en-US" sz="1100" b="1" dirty="0">
                <a:solidFill>
                  <a:srgbClr val="0A192F"/>
                </a:solidFill>
                <a:latin typeface="Georgia" pitchFamily="34" charset="0"/>
                <a:ea typeface="Georgia" pitchFamily="34" charset="-122"/>
                <a:cs typeface="Georgia" pitchFamily="34" charset="-120"/>
              </a:rPr>
              <a:t>Conservation is an invariant</a:t>
            </a:r>
            <a:endParaRPr lang="en-US" sz="1100" dirty="0"/>
          </a:p>
        </p:txBody>
      </p:sp>
      <p:sp>
        <p:nvSpPr>
          <p:cNvPr id="28" name="Text 24"/>
          <p:cNvSpPr/>
          <p:nvPr/>
        </p:nvSpPr>
        <p:spPr>
          <a:xfrm>
            <a:off x="7000875" y="537902"/>
            <a:ext cx="2000250" cy="424328"/>
          </a:xfrm>
          <a:prstGeom prst="rect">
            <a:avLst/>
          </a:prstGeom>
          <a:noFill/>
          <a:ln/>
        </p:spPr>
        <p:txBody>
          <a:bodyPr wrap="square" lIns="0" tIns="119126" rIns="0" bIns="119126" rtlCol="0" anchor="t">
            <a:spAutoFit/>
          </a:bodyPr>
          <a:lstStyle/>
          <a:p>
            <a:pPr algn="l" indent="0" marL="0">
              <a:lnSpc>
                <a:spcPct val="112000"/>
              </a:lnSpc>
              <a:buNone/>
            </a:pPr>
            <a:r>
              <a:rPr lang="en-US" sz="1050" b="1" dirty="0">
                <a:solidFill>
                  <a:srgbClr val="D90429"/>
                </a:solidFill>
                <a:latin typeface="SFMono-Regular" pitchFamily="34" charset="0"/>
                <a:ea typeface="SFMono-Regular" pitchFamily="34" charset="-122"/>
                <a:cs typeface="SFMono-Regular" pitchFamily="34" charset="-120"/>
              </a:rPr>
              <a:t>∇ᵐGₘₙ = 0</a:t>
            </a:r>
            <a:endParaRPr lang="en-US" sz="1050" dirty="0"/>
          </a:p>
        </p:txBody>
      </p:sp>
      <p:sp>
        <p:nvSpPr>
          <p:cNvPr id="29" name="Text 25"/>
          <p:cNvSpPr/>
          <p:nvPr/>
        </p:nvSpPr>
        <p:spPr>
          <a:xfrm>
            <a:off x="7000875" y="1047955"/>
            <a:ext cx="2000250" cy="1350169"/>
          </a:xfrm>
          <a:prstGeom prst="rect">
            <a:avLst/>
          </a:prstGeom>
          <a:noFill/>
          <a:ln/>
        </p:spPr>
        <p:txBody>
          <a:bodyPr wrap="square" lIns="0" tIns="0" rIns="0" bIns="0" rtlCol="0" anchor="t">
            <a:spAutoFit/>
          </a:bodyPr>
          <a:lstStyle/>
          <a:p>
            <a:pPr algn="l" indent="0" marL="0">
              <a:lnSpc>
                <a:spcPct val="120000"/>
              </a:lnSpc>
              <a:buNone/>
            </a:pPr>
            <a:r>
              <a:rPr lang="en-US" sz="750" dirty="0">
                <a:solidFill>
                  <a:srgbClr val="334155"/>
                </a:solidFill>
                <a:latin typeface="SFMono-Regular" pitchFamily="34" charset="0"/>
                <a:ea typeface="SFMono-Regular" pitchFamily="34" charset="-122"/>
                <a:cs typeface="SFMono-Regular" pitchFamily="34" charset="-120"/>
              </a:rPr>
              <a:t>The contracted Bianchi identity explains why the geometric side of the Einstein equation satisfies a divergence constraint. A variable vacuum term needs additional structure; it cannot simply replace a constant without changing the model.</a:t>
            </a:r>
            <a:endParaRPr lang="en-US" sz="750" dirty="0"/>
          </a:p>
        </p:txBody>
      </p:sp>
      <p:sp>
        <p:nvSpPr>
          <p:cNvPr id="30" name="Text 26"/>
          <p:cNvSpPr/>
          <p:nvPr/>
        </p:nvSpPr>
        <p:spPr>
          <a:xfrm>
            <a:off x="7656649" y="4972050"/>
            <a:ext cx="1230176"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0A192F"/>
                </a:solidFill>
                <a:latin typeface="SFMono-Regular" pitchFamily="34" charset="0"/>
                <a:ea typeface="SFMono-Regular" pitchFamily="34" charset="-122"/>
                <a:cs typeface="SFMono-Regular" pitchFamily="34" charset="-120"/>
              </a:rPr>
              <a:t>SOVEREIGN ENGINE / 06</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57213" y="442913"/>
            <a:ext cx="5872163" cy="119993"/>
          </a:xfrm>
          <a:prstGeom prst="rect">
            <a:avLst/>
          </a:prstGeom>
          <a:noFill/>
          <a:ln/>
        </p:spPr>
        <p:txBody>
          <a:bodyPr wrap="none" lIns="0" tIns="0" rIns="0" bIns="0" rtlCol="0" anchor="t">
            <a:spAutoFit/>
          </a:bodyPr>
          <a:lstStyle/>
          <a:p>
            <a:pPr algn="l" indent="0" marL="0">
              <a:lnSpc>
                <a:spcPct val="96000"/>
              </a:lnSpc>
              <a:buNone/>
            </a:pPr>
            <a:r>
              <a:rPr lang="en-US" sz="700" b="1" spc="2" kern="0" dirty="0">
                <a:solidFill>
                  <a:srgbClr val="D90429"/>
                </a:solidFill>
                <a:latin typeface="SFMono-Regular" pitchFamily="34" charset="0"/>
                <a:ea typeface="SFMono-Regular" pitchFamily="34" charset="-122"/>
                <a:cs typeface="SFMono-Regular" pitchFamily="34" charset="-120"/>
              </a:rPr>
              <a:t>06 / GAUGE GEOMETRY</a:t>
            </a:r>
            <a:endParaRPr lang="en-US" sz="700" dirty="0"/>
          </a:p>
        </p:txBody>
      </p:sp>
      <p:sp>
        <p:nvSpPr>
          <p:cNvPr id="5" name="Text 1"/>
          <p:cNvSpPr/>
          <p:nvPr/>
        </p:nvSpPr>
        <p:spPr>
          <a:xfrm>
            <a:off x="557213" y="677205"/>
            <a:ext cx="5857875" cy="617153"/>
          </a:xfrm>
          <a:prstGeom prst="rect">
            <a:avLst/>
          </a:prstGeom>
          <a:noFill/>
          <a:ln/>
        </p:spPr>
        <p:txBody>
          <a:bodyPr wrap="square" lIns="0" tIns="0" rIns="0" bIns="0" rtlCol="0" anchor="t">
            <a:spAutoFit/>
          </a:bodyPr>
          <a:lstStyle/>
          <a:p>
            <a:pPr algn="l" indent="0" marL="0">
              <a:lnSpc>
                <a:spcPct val="86400"/>
              </a:lnSpc>
              <a:buNone/>
            </a:pPr>
            <a:r>
              <a:rPr lang="en-US" sz="2000" b="1" spc="-1" kern="0" dirty="0">
                <a:solidFill>
                  <a:srgbClr val="0A192F"/>
                </a:solidFill>
                <a:latin typeface="Georgia" pitchFamily="34" charset="0"/>
                <a:ea typeface="Georgia" pitchFamily="34" charset="-122"/>
                <a:cs typeface="Georgia" pitchFamily="34" charset="-120"/>
              </a:rPr>
              <a:t>Gauge geometry explains the transcript’s D² language</a:t>
            </a:r>
            <a:endParaRPr lang="en-US" sz="2000" dirty="0"/>
          </a:p>
        </p:txBody>
      </p:sp>
      <p:sp>
        <p:nvSpPr>
          <p:cNvPr id="6" name="Text 2"/>
          <p:cNvSpPr/>
          <p:nvPr/>
        </p:nvSpPr>
        <p:spPr>
          <a:xfrm>
            <a:off x="557213" y="1672977"/>
            <a:ext cx="2786063" cy="250031"/>
          </a:xfrm>
          <a:prstGeom prst="rect">
            <a:avLst/>
          </a:prstGeom>
          <a:noFill/>
          <a:ln/>
        </p:spPr>
        <p:txBody>
          <a:bodyPr wrap="none" lIns="0" tIns="0" rIns="0" bIns="0" rtlCol="0" anchor="t">
            <a:spAutoFit/>
          </a:bodyPr>
          <a:lstStyle/>
          <a:p>
            <a:pPr algn="l" indent="0" marL="0">
              <a:lnSpc>
                <a:spcPct val="100000"/>
              </a:lnSpc>
              <a:buNone/>
            </a:pPr>
            <a:r>
              <a:rPr lang="en-US" sz="1400" b="1" dirty="0">
                <a:solidFill>
                  <a:srgbClr val="D90429"/>
                </a:solidFill>
                <a:latin typeface="SFMono-Regular" pitchFamily="34" charset="0"/>
                <a:ea typeface="SFMono-Regular" pitchFamily="34" charset="-122"/>
                <a:cs typeface="SFMono-Regular" pitchFamily="34" charset="-120"/>
              </a:rPr>
              <a:t>A</a:t>
            </a:r>
            <a:r>
              <a:rPr lang="en-US" sz="1500" dirty="0">
                <a:solidFill>
                  <a:srgbClr val="0A192F"/>
                </a:solidFill>
                <a:latin typeface="SFMono-Regular" pitchFamily="34" charset="0"/>
                <a:ea typeface="SFMono-Regular" pitchFamily="34" charset="-122"/>
                <a:cs typeface="SFMono-Regular" pitchFamily="34" charset="-120"/>
              </a:rPr>
              <a:t> ∈ Ω¹(X, 𝔤)</a:t>
            </a:r>
            <a:endParaRPr lang="en-US" sz="1400" dirty="0"/>
          </a:p>
        </p:txBody>
      </p:sp>
      <p:sp>
        <p:nvSpPr>
          <p:cNvPr id="7" name="Text 3"/>
          <p:cNvSpPr/>
          <p:nvPr/>
        </p:nvSpPr>
        <p:spPr>
          <a:xfrm>
            <a:off x="3343275" y="1697980"/>
            <a:ext cx="285750" cy="200025"/>
          </a:xfrm>
          <a:prstGeom prst="rect">
            <a:avLst/>
          </a:prstGeom>
          <a:noFill/>
          <a:ln/>
        </p:spPr>
        <p:txBody>
          <a:bodyPr wrap="none" lIns="0" tIns="0" rIns="0" bIns="0" rtlCol="0" anchor="t">
            <a:spAutoFit/>
          </a:bodyPr>
          <a:lstStyle/>
          <a:p>
            <a:pPr algn="ctr" indent="0" marL="0">
              <a:lnSpc>
                <a:spcPct val="80000"/>
              </a:lnSpc>
              <a:buNone/>
            </a:pPr>
            <a:r>
              <a:rPr lang="en-US" sz="1500" dirty="0">
                <a:solidFill>
                  <a:srgbClr val="D90429"/>
                </a:solidFill>
                <a:latin typeface="Georgia" pitchFamily="34" charset="0"/>
                <a:ea typeface="Georgia" pitchFamily="34" charset="-122"/>
                <a:cs typeface="Georgia" pitchFamily="34" charset="-120"/>
              </a:rPr>
              <a:t>→</a:t>
            </a:r>
            <a:endParaRPr lang="en-US" sz="1500" dirty="0"/>
          </a:p>
        </p:txBody>
      </p:sp>
      <p:sp>
        <p:nvSpPr>
          <p:cNvPr id="8" name="Text 4"/>
          <p:cNvSpPr/>
          <p:nvPr/>
        </p:nvSpPr>
        <p:spPr>
          <a:xfrm>
            <a:off x="3629025" y="1672977"/>
            <a:ext cx="2786063" cy="250031"/>
          </a:xfrm>
          <a:prstGeom prst="rect">
            <a:avLst/>
          </a:prstGeom>
          <a:noFill/>
          <a:ln/>
        </p:spPr>
        <p:txBody>
          <a:bodyPr wrap="none" lIns="0" tIns="0" rIns="0" bIns="0" rtlCol="0" anchor="t">
            <a:spAutoFit/>
          </a:bodyPr>
          <a:lstStyle/>
          <a:p>
            <a:pPr algn="l" indent="0" marL="0">
              <a:lnSpc>
                <a:spcPct val="100000"/>
              </a:lnSpc>
              <a:buNone/>
            </a:pPr>
            <a:r>
              <a:rPr lang="en-US" sz="1400" b="1" dirty="0">
                <a:solidFill>
                  <a:srgbClr val="D90429"/>
                </a:solidFill>
                <a:latin typeface="SFMono-Regular" pitchFamily="34" charset="0"/>
                <a:ea typeface="SFMono-Regular" pitchFamily="34" charset="-122"/>
                <a:cs typeface="SFMono-Regular" pitchFamily="34" charset="-120"/>
              </a:rPr>
              <a:t>F</a:t>
            </a:r>
            <a:r>
              <a:rPr lang="en-US" sz="1500" dirty="0">
                <a:solidFill>
                  <a:srgbClr val="0A192F"/>
                </a:solidFill>
                <a:latin typeface="SFMono-Regular" pitchFamily="34" charset="0"/>
                <a:ea typeface="SFMono-Regular" pitchFamily="34" charset="-122"/>
                <a:cs typeface="SFMono-Regular" pitchFamily="34" charset="-120"/>
              </a:rPr>
              <a:t> = dA + A ∧ A</a:t>
            </a:r>
            <a:endParaRPr lang="en-US" sz="1400" dirty="0"/>
          </a:p>
        </p:txBody>
      </p:sp>
      <p:sp>
        <p:nvSpPr>
          <p:cNvPr id="9" name="Text 5"/>
          <p:cNvSpPr/>
          <p:nvPr/>
        </p:nvSpPr>
        <p:spPr>
          <a:xfrm>
            <a:off x="557213" y="2065883"/>
            <a:ext cx="2786063" cy="250031"/>
          </a:xfrm>
          <a:prstGeom prst="rect">
            <a:avLst/>
          </a:prstGeom>
          <a:noFill/>
          <a:ln/>
        </p:spPr>
        <p:txBody>
          <a:bodyPr wrap="none" lIns="0" tIns="0" rIns="0" bIns="0" rtlCol="0" anchor="t">
            <a:spAutoFit/>
          </a:bodyPr>
          <a:lstStyle/>
          <a:p>
            <a:pPr algn="l" indent="0" marL="0">
              <a:lnSpc>
                <a:spcPct val="100000"/>
              </a:lnSpc>
              <a:buNone/>
            </a:pPr>
            <a:r>
              <a:rPr lang="en-US" sz="1400" b="1" dirty="0">
                <a:solidFill>
                  <a:srgbClr val="D90429"/>
                </a:solidFill>
                <a:latin typeface="SFMono-Regular" pitchFamily="34" charset="0"/>
                <a:ea typeface="SFMono-Regular" pitchFamily="34" charset="-122"/>
                <a:cs typeface="SFMono-Regular" pitchFamily="34" charset="-120"/>
              </a:rPr>
              <a:t>D</a:t>
            </a:r>
            <a:r>
              <a:rPr lang="en-US" sz="1500" dirty="0">
                <a:solidFill>
                  <a:srgbClr val="0A192F"/>
                </a:solidFill>
                <a:latin typeface="SFMono-Regular" pitchFamily="34" charset="0"/>
                <a:ea typeface="SFMono-Regular" pitchFamily="34" charset="-122"/>
                <a:cs typeface="SFMono-Regular" pitchFamily="34" charset="-120"/>
              </a:rPr>
              <a:t>ω = dω + [A ∧ ω]</a:t>
            </a:r>
            <a:endParaRPr lang="en-US" sz="1400" dirty="0"/>
          </a:p>
        </p:txBody>
      </p:sp>
      <p:sp>
        <p:nvSpPr>
          <p:cNvPr id="10" name="Text 6"/>
          <p:cNvSpPr/>
          <p:nvPr/>
        </p:nvSpPr>
        <p:spPr>
          <a:xfrm>
            <a:off x="3343275" y="2090886"/>
            <a:ext cx="285750" cy="200025"/>
          </a:xfrm>
          <a:prstGeom prst="rect">
            <a:avLst/>
          </a:prstGeom>
          <a:noFill/>
          <a:ln/>
        </p:spPr>
        <p:txBody>
          <a:bodyPr wrap="none" lIns="0" tIns="0" rIns="0" bIns="0" rtlCol="0" anchor="t">
            <a:spAutoFit/>
          </a:bodyPr>
          <a:lstStyle/>
          <a:p>
            <a:pPr algn="ctr" indent="0" marL="0">
              <a:lnSpc>
                <a:spcPct val="80000"/>
              </a:lnSpc>
              <a:buNone/>
            </a:pPr>
            <a:r>
              <a:rPr lang="en-US" sz="1500" dirty="0">
                <a:solidFill>
                  <a:srgbClr val="D90429"/>
                </a:solidFill>
                <a:latin typeface="Georgia" pitchFamily="34" charset="0"/>
                <a:ea typeface="Georgia" pitchFamily="34" charset="-122"/>
                <a:cs typeface="Georgia" pitchFamily="34" charset="-120"/>
              </a:rPr>
              <a:t>→</a:t>
            </a:r>
            <a:endParaRPr lang="en-US" sz="1500" dirty="0"/>
          </a:p>
        </p:txBody>
      </p:sp>
      <p:sp>
        <p:nvSpPr>
          <p:cNvPr id="11" name="Text 7"/>
          <p:cNvSpPr/>
          <p:nvPr/>
        </p:nvSpPr>
        <p:spPr>
          <a:xfrm>
            <a:off x="3629025" y="2065883"/>
            <a:ext cx="2786063" cy="250031"/>
          </a:xfrm>
          <a:prstGeom prst="rect">
            <a:avLst/>
          </a:prstGeom>
          <a:noFill/>
          <a:ln/>
        </p:spPr>
        <p:txBody>
          <a:bodyPr wrap="none" lIns="0" tIns="0" rIns="0" bIns="0" rtlCol="0" anchor="t">
            <a:spAutoFit/>
          </a:bodyPr>
          <a:lstStyle/>
          <a:p>
            <a:pPr algn="l" indent="0" marL="0">
              <a:lnSpc>
                <a:spcPct val="100000"/>
              </a:lnSpc>
              <a:buNone/>
            </a:pPr>
            <a:r>
              <a:rPr lang="en-US" sz="1400" b="1" dirty="0">
                <a:solidFill>
                  <a:srgbClr val="D90429"/>
                </a:solidFill>
                <a:latin typeface="SFMono-Regular" pitchFamily="34" charset="0"/>
                <a:ea typeface="SFMono-Regular" pitchFamily="34" charset="-122"/>
                <a:cs typeface="SFMono-Regular" pitchFamily="34" charset="-120"/>
              </a:rPr>
              <a:t>D²</a:t>
            </a:r>
            <a:r>
              <a:rPr lang="en-US" sz="1500" dirty="0">
                <a:solidFill>
                  <a:srgbClr val="0A192F"/>
                </a:solidFill>
                <a:latin typeface="SFMono-Regular" pitchFamily="34" charset="0"/>
                <a:ea typeface="SFMono-Regular" pitchFamily="34" charset="-122"/>
                <a:cs typeface="SFMono-Regular" pitchFamily="34" charset="-120"/>
              </a:rPr>
              <a:t>ω = [F ∧ ω]</a:t>
            </a:r>
            <a:endParaRPr lang="en-US" sz="1400" dirty="0"/>
          </a:p>
        </p:txBody>
      </p:sp>
      <p:sp>
        <p:nvSpPr>
          <p:cNvPr id="12" name="Text 8"/>
          <p:cNvSpPr/>
          <p:nvPr/>
        </p:nvSpPr>
        <p:spPr>
          <a:xfrm>
            <a:off x="557213" y="2458789"/>
            <a:ext cx="2786063" cy="250031"/>
          </a:xfrm>
          <a:prstGeom prst="rect">
            <a:avLst/>
          </a:prstGeom>
          <a:noFill/>
          <a:ln/>
        </p:spPr>
        <p:txBody>
          <a:bodyPr wrap="none" lIns="0" tIns="0" rIns="0" bIns="0" rtlCol="0" anchor="t">
            <a:spAutoFit/>
          </a:bodyPr>
          <a:lstStyle/>
          <a:p>
            <a:pPr algn="l" indent="0" marL="0">
              <a:lnSpc>
                <a:spcPct val="100000"/>
              </a:lnSpc>
              <a:buNone/>
            </a:pPr>
            <a:r>
              <a:rPr lang="en-US" sz="1400" b="1" dirty="0">
                <a:solidFill>
                  <a:srgbClr val="D90429"/>
                </a:solidFill>
                <a:latin typeface="SFMono-Regular" pitchFamily="34" charset="0"/>
                <a:ea typeface="SFMono-Regular" pitchFamily="34" charset="-122"/>
                <a:cs typeface="SFMono-Regular" pitchFamily="34" charset="-120"/>
              </a:rPr>
              <a:t>DF</a:t>
            </a:r>
            <a:r>
              <a:rPr lang="en-US" sz="1500" dirty="0">
                <a:solidFill>
                  <a:srgbClr val="0A192F"/>
                </a:solidFill>
                <a:latin typeface="SFMono-Regular" pitchFamily="34" charset="0"/>
                <a:ea typeface="SFMono-Regular" pitchFamily="34" charset="-122"/>
                <a:cs typeface="SFMono-Regular" pitchFamily="34" charset="-120"/>
              </a:rPr>
              <a:t> = 0</a:t>
            </a:r>
            <a:endParaRPr lang="en-US" sz="1400" dirty="0"/>
          </a:p>
        </p:txBody>
      </p:sp>
      <p:sp>
        <p:nvSpPr>
          <p:cNvPr id="13" name="Text 9"/>
          <p:cNvSpPr/>
          <p:nvPr/>
        </p:nvSpPr>
        <p:spPr>
          <a:xfrm>
            <a:off x="3343275" y="2483793"/>
            <a:ext cx="285750" cy="200025"/>
          </a:xfrm>
          <a:prstGeom prst="rect">
            <a:avLst/>
          </a:prstGeom>
          <a:noFill/>
          <a:ln/>
        </p:spPr>
        <p:txBody>
          <a:bodyPr wrap="none" lIns="0" tIns="0" rIns="0" bIns="0" rtlCol="0" anchor="t">
            <a:spAutoFit/>
          </a:bodyPr>
          <a:lstStyle/>
          <a:p>
            <a:pPr algn="ctr" indent="0" marL="0">
              <a:lnSpc>
                <a:spcPct val="80000"/>
              </a:lnSpc>
              <a:buNone/>
            </a:pPr>
            <a:r>
              <a:rPr lang="en-US" sz="1500" dirty="0">
                <a:solidFill>
                  <a:srgbClr val="D90429"/>
                </a:solidFill>
                <a:latin typeface="Georgia" pitchFamily="34" charset="0"/>
                <a:ea typeface="Georgia" pitchFamily="34" charset="-122"/>
                <a:cs typeface="Georgia" pitchFamily="34" charset="-120"/>
              </a:rPr>
              <a:t>→</a:t>
            </a:r>
            <a:endParaRPr lang="en-US" sz="1500" dirty="0"/>
          </a:p>
        </p:txBody>
      </p:sp>
      <p:sp>
        <p:nvSpPr>
          <p:cNvPr id="14" name="Text 10"/>
          <p:cNvSpPr/>
          <p:nvPr/>
        </p:nvSpPr>
        <p:spPr>
          <a:xfrm>
            <a:off x="3629025" y="2458789"/>
            <a:ext cx="2786063" cy="250031"/>
          </a:xfrm>
          <a:prstGeom prst="rect">
            <a:avLst/>
          </a:prstGeom>
          <a:noFill/>
          <a:ln/>
        </p:spPr>
        <p:txBody>
          <a:bodyPr wrap="none" lIns="0" tIns="0" rIns="0" bIns="0" rtlCol="0" anchor="t">
            <a:spAutoFit/>
          </a:bodyPr>
          <a:lstStyle/>
          <a:p>
            <a:pPr algn="l" indent="0" marL="0">
              <a:lnSpc>
                <a:spcPct val="100000"/>
              </a:lnSpc>
              <a:buNone/>
            </a:pPr>
            <a:r>
              <a:rPr lang="en-US" sz="1500" dirty="0">
                <a:solidFill>
                  <a:srgbClr val="0A192F"/>
                </a:solidFill>
                <a:latin typeface="SFMono-Regular" pitchFamily="34" charset="0"/>
                <a:ea typeface="SFMono-Regular" pitchFamily="34" charset="-122"/>
                <a:cs typeface="SFMono-Regular" pitchFamily="34" charset="-120"/>
              </a:rPr>
              <a:t>Bianchi identity</a:t>
            </a:r>
            <a:endParaRPr lang="en-US" sz="1500" dirty="0"/>
          </a:p>
        </p:txBody>
      </p:sp>
      <p:sp>
        <p:nvSpPr>
          <p:cNvPr id="15" name="Text 11"/>
          <p:cNvSpPr/>
          <p:nvPr/>
        </p:nvSpPr>
        <p:spPr>
          <a:xfrm>
            <a:off x="557213" y="3016002"/>
            <a:ext cx="5429250" cy="433983"/>
          </a:xfrm>
          <a:prstGeom prst="rect">
            <a:avLst/>
          </a:prstGeom>
          <a:noFill/>
          <a:ln/>
        </p:spPr>
        <p:txBody>
          <a:bodyPr wrap="square" lIns="0" tIns="0" rIns="0" bIns="0" rtlCol="0" anchor="t">
            <a:spAutoFit/>
          </a:bodyPr>
          <a:lstStyle/>
          <a:p>
            <a:pPr algn="l" indent="0" marL="0">
              <a:lnSpc>
                <a:spcPct val="108000"/>
              </a:lnSpc>
              <a:buNone/>
            </a:pPr>
            <a:r>
              <a:rPr lang="en-US" sz="800" dirty="0">
                <a:solidFill>
                  <a:srgbClr val="475569"/>
                </a:solidFill>
                <a:latin typeface="SFMono-Regular" pitchFamily="34" charset="0"/>
                <a:ea typeface="SFMono-Regular" pitchFamily="34" charset="-122"/>
                <a:cs typeface="SFMono-Regular" pitchFamily="34" charset="-120"/>
              </a:rPr>
              <a:t>The oral shorthand “D² becomes curvature” is best read as a typed operator relation: applying the covariant exterior derivative twice produces the curvature action on the representation carried by ω.</a:t>
            </a:r>
            <a:endParaRPr lang="en-US" sz="800" dirty="0"/>
          </a:p>
        </p:txBody>
      </p:sp>
      <p:sp>
        <p:nvSpPr>
          <p:cNvPr id="16" name="Shape 12"/>
          <p:cNvSpPr/>
          <p:nvPr/>
        </p:nvSpPr>
        <p:spPr>
          <a:xfrm>
            <a:off x="6858000" y="0"/>
            <a:ext cx="2286000" cy="5143500"/>
          </a:xfrm>
          <a:prstGeom prst="rect">
            <a:avLst/>
          </a:prstGeom>
          <a:solidFill>
            <a:srgbClr val="000000">
              <a:alpha val="0"/>
            </a:srgbClr>
          </a:solidFill>
          <a:ln/>
        </p:spPr>
      </p:sp>
      <p:sp>
        <p:nvSpPr>
          <p:cNvPr id="17" name="Shape 13"/>
          <p:cNvSpPr/>
          <p:nvPr/>
        </p:nvSpPr>
        <p:spPr>
          <a:xfrm>
            <a:off x="6858000" y="0"/>
            <a:ext cx="7144" cy="5143500"/>
          </a:xfrm>
          <a:prstGeom prst="rect">
            <a:avLst/>
          </a:prstGeom>
          <a:solidFill>
            <a:srgbClr val="0A192F"/>
          </a:solidFill>
          <a:ln/>
        </p:spPr>
      </p:sp>
      <p:sp>
        <p:nvSpPr>
          <p:cNvPr id="18" name="Text 14"/>
          <p:cNvSpPr/>
          <p:nvPr/>
        </p:nvSpPr>
        <p:spPr>
          <a:xfrm>
            <a:off x="7100888" y="414338"/>
            <a:ext cx="1800225" cy="180715"/>
          </a:xfrm>
          <a:prstGeom prst="rect">
            <a:avLst/>
          </a:prstGeom>
          <a:noFill/>
          <a:ln/>
        </p:spPr>
        <p:txBody>
          <a:bodyPr wrap="none" lIns="0" tIns="0" rIns="0" bIns="0" rtlCol="0" anchor="t">
            <a:spAutoFit/>
          </a:bodyPr>
          <a:lstStyle/>
          <a:p>
            <a:pPr algn="l" indent="0" marL="0">
              <a:lnSpc>
                <a:spcPct val="92000"/>
              </a:lnSpc>
              <a:buNone/>
            </a:pPr>
            <a:r>
              <a:rPr lang="en-US" sz="1100" b="1" dirty="0">
                <a:solidFill>
                  <a:srgbClr val="0A192F"/>
                </a:solidFill>
                <a:latin typeface="Georgia" pitchFamily="34" charset="0"/>
                <a:ea typeface="Georgia" pitchFamily="34" charset="-122"/>
                <a:cs typeface="Georgia" pitchFamily="34" charset="-120"/>
              </a:rPr>
              <a:t>What each symbol means</a:t>
            </a:r>
            <a:endParaRPr lang="en-US" sz="1100" dirty="0"/>
          </a:p>
        </p:txBody>
      </p:sp>
      <p:sp>
        <p:nvSpPr>
          <p:cNvPr id="19" name="Text 15"/>
          <p:cNvSpPr/>
          <p:nvPr/>
        </p:nvSpPr>
        <p:spPr>
          <a:xfrm>
            <a:off x="7100888" y="723640"/>
            <a:ext cx="1800225" cy="728663"/>
          </a:xfrm>
          <a:prstGeom prst="rect">
            <a:avLst/>
          </a:prstGeom>
          <a:noFill/>
          <a:ln/>
        </p:spPr>
        <p:txBody>
          <a:bodyPr wrap="square" lIns="0" tIns="119126" rIns="0" bIns="0" rtlCol="0" anchor="t">
            <a:spAutoFit/>
          </a:bodyPr>
          <a:lstStyle/>
          <a:p>
            <a:pPr algn="l" indent="0" marL="0">
              <a:lnSpc>
                <a:spcPct val="116000"/>
              </a:lnSpc>
              <a:buNone/>
            </a:pPr>
            <a:r>
              <a:rPr lang="en-US" sz="750" b="1" dirty="0">
                <a:solidFill>
                  <a:srgbClr val="D90429"/>
                </a:solidFill>
                <a:latin typeface="SFMono-Regular" pitchFamily="34" charset="0"/>
                <a:ea typeface="SFMono-Regular" pitchFamily="34" charset="-122"/>
                <a:cs typeface="SFMono-Regular" pitchFamily="34" charset="-120"/>
              </a:rPr>
              <a:t>Potential · A</a:t>
            </a:r>
            <a:r>
              <a:rPr lang="en-US" sz="800" dirty="0">
                <a:solidFill>
                  <a:srgbClr val="334155"/>
                </a:solidFill>
                <a:latin typeface="SFMono-Regular" pitchFamily="34" charset="0"/>
                <a:ea typeface="SFMono-Regular" pitchFamily="34" charset="-122"/>
                <a:cs typeface="SFMono-Regular" pitchFamily="34" charset="-120"/>
              </a:rPr>
              <a:t>
</a:t>
            </a:r>
            <a:r>
              <a:rPr lang="en-US" sz="800" dirty="0">
                <a:solidFill>
                  <a:srgbClr val="334155"/>
                </a:solidFill>
                <a:latin typeface="SFMono-Regular" pitchFamily="34" charset="0"/>
                <a:ea typeface="SFMono-Regular" pitchFamily="34" charset="-122"/>
                <a:cs typeface="SFMono-Regular" pitchFamily="34" charset="-120"/>
              </a:rPr>
              <a:t>A local rule for comparing </a:t>
            </a:r>
            <a:r>
              <a:rPr lang="en-US" sz="800" dirty="0">
                <a:solidFill>
                  <a:srgbClr val="334155"/>
                </a:solidFill>
                <a:latin typeface="SFMono-Regular" pitchFamily="34" charset="0"/>
                <a:ea typeface="SFMono-Regular" pitchFamily="34" charset="-122"/>
                <a:cs typeface="SFMono-Regular" pitchFamily="34" charset="-120"/>
              </a:rPr>
              <a:t>or transporting gauge-</a:t>
            </a:r>
            <a:r>
              <a:rPr lang="en-US" sz="800" dirty="0">
                <a:solidFill>
                  <a:srgbClr val="334155"/>
                </a:solidFill>
                <a:latin typeface="SFMono-Regular" pitchFamily="34" charset="0"/>
                <a:ea typeface="SFMono-Regular" pitchFamily="34" charset="-122"/>
                <a:cs typeface="SFMono-Regular" pitchFamily="34" charset="-120"/>
              </a:rPr>
              <a:t>valued states.</a:t>
            </a:r>
            <a:endParaRPr lang="en-US" sz="750" dirty="0"/>
          </a:p>
        </p:txBody>
      </p:sp>
      <p:sp>
        <p:nvSpPr>
          <p:cNvPr id="20" name="Text 16"/>
          <p:cNvSpPr/>
          <p:nvPr/>
        </p:nvSpPr>
        <p:spPr>
          <a:xfrm>
            <a:off x="7100888" y="1609465"/>
            <a:ext cx="1800225" cy="728663"/>
          </a:xfrm>
          <a:prstGeom prst="rect">
            <a:avLst/>
          </a:prstGeom>
          <a:noFill/>
          <a:ln/>
        </p:spPr>
        <p:txBody>
          <a:bodyPr wrap="square" lIns="0" tIns="119126" rIns="0" bIns="0" rtlCol="0" anchor="t">
            <a:spAutoFit/>
          </a:bodyPr>
          <a:lstStyle/>
          <a:p>
            <a:pPr algn="l" indent="0" marL="0">
              <a:lnSpc>
                <a:spcPct val="116000"/>
              </a:lnSpc>
              <a:buNone/>
            </a:pPr>
            <a:r>
              <a:rPr lang="en-US" sz="750" b="1" dirty="0">
                <a:solidFill>
                  <a:srgbClr val="D90429"/>
                </a:solidFill>
                <a:latin typeface="SFMono-Regular" pitchFamily="34" charset="0"/>
                <a:ea typeface="SFMono-Regular" pitchFamily="34" charset="-122"/>
                <a:cs typeface="SFMono-Regular" pitchFamily="34" charset="-120"/>
              </a:rPr>
              <a:t>Field strength · F</a:t>
            </a:r>
            <a:r>
              <a:rPr lang="en-US" sz="800" dirty="0">
                <a:solidFill>
                  <a:srgbClr val="334155"/>
                </a:solidFill>
                <a:latin typeface="SFMono-Regular" pitchFamily="34" charset="0"/>
                <a:ea typeface="SFMono-Regular" pitchFamily="34" charset="-122"/>
                <a:cs typeface="SFMono-Regular" pitchFamily="34" charset="-120"/>
              </a:rPr>
              <a:t>
</a:t>
            </a:r>
            <a:r>
              <a:rPr lang="en-US" sz="800" dirty="0">
                <a:solidFill>
                  <a:srgbClr val="334155"/>
                </a:solidFill>
                <a:latin typeface="SFMono-Regular" pitchFamily="34" charset="0"/>
                <a:ea typeface="SFMono-Regular" pitchFamily="34" charset="-122"/>
                <a:cs typeface="SFMono-Regular" pitchFamily="34" charset="-120"/>
              </a:rPr>
              <a:t>The nontriviality of that </a:t>
            </a:r>
            <a:r>
              <a:rPr lang="en-US" sz="800" dirty="0">
                <a:solidFill>
                  <a:srgbClr val="334155"/>
                </a:solidFill>
                <a:latin typeface="SFMono-Regular" pitchFamily="34" charset="0"/>
                <a:ea typeface="SFMono-Regular" pitchFamily="34" charset="-122"/>
                <a:cs typeface="SFMono-Regular" pitchFamily="34" charset="-120"/>
              </a:rPr>
              <a:t>transport; a curvature 2-</a:t>
            </a:r>
            <a:r>
              <a:rPr lang="en-US" sz="800" dirty="0">
                <a:solidFill>
                  <a:srgbClr val="334155"/>
                </a:solidFill>
                <a:latin typeface="SFMono-Regular" pitchFamily="34" charset="0"/>
                <a:ea typeface="SFMono-Regular" pitchFamily="34" charset="-122"/>
                <a:cs typeface="SFMono-Regular" pitchFamily="34" charset="-120"/>
              </a:rPr>
              <a:t>form.</a:t>
            </a:r>
            <a:endParaRPr lang="en-US" sz="750" dirty="0"/>
          </a:p>
        </p:txBody>
      </p:sp>
      <p:sp>
        <p:nvSpPr>
          <p:cNvPr id="21" name="Text 17"/>
          <p:cNvSpPr/>
          <p:nvPr/>
        </p:nvSpPr>
        <p:spPr>
          <a:xfrm>
            <a:off x="7100888" y="2495290"/>
            <a:ext cx="1800225" cy="728663"/>
          </a:xfrm>
          <a:prstGeom prst="rect">
            <a:avLst/>
          </a:prstGeom>
          <a:noFill/>
          <a:ln/>
        </p:spPr>
        <p:txBody>
          <a:bodyPr wrap="square" lIns="0" tIns="119126" rIns="0" bIns="0" rtlCol="0" anchor="t">
            <a:spAutoFit/>
          </a:bodyPr>
          <a:lstStyle/>
          <a:p>
            <a:pPr algn="l" indent="0" marL="0">
              <a:lnSpc>
                <a:spcPct val="116000"/>
              </a:lnSpc>
              <a:buNone/>
            </a:pPr>
            <a:r>
              <a:rPr lang="en-US" sz="750" b="1" dirty="0">
                <a:solidFill>
                  <a:srgbClr val="D90429"/>
                </a:solidFill>
                <a:latin typeface="SFMono-Regular" pitchFamily="34" charset="0"/>
                <a:ea typeface="SFMono-Regular" pitchFamily="34" charset="-122"/>
                <a:cs typeface="SFMono-Regular" pitchFamily="34" charset="-120"/>
              </a:rPr>
              <a:t>Executable invariant</a:t>
            </a:r>
            <a:r>
              <a:rPr lang="en-US" sz="800" dirty="0">
                <a:solidFill>
                  <a:srgbClr val="334155"/>
                </a:solidFill>
                <a:latin typeface="SFMono-Regular" pitchFamily="34" charset="0"/>
                <a:ea typeface="SFMono-Regular" pitchFamily="34" charset="-122"/>
                <a:cs typeface="SFMono-Regular" pitchFamily="34" charset="-120"/>
              </a:rPr>
              <a:t>
</a:t>
            </a:r>
            <a:r>
              <a:rPr lang="en-US" sz="800" dirty="0">
                <a:solidFill>
                  <a:srgbClr val="334155"/>
                </a:solidFill>
                <a:latin typeface="SFMono-Regular" pitchFamily="34" charset="0"/>
                <a:ea typeface="SFMono-Regular" pitchFamily="34" charset="-122"/>
                <a:cs typeface="SFMono-Regular" pitchFamily="34" charset="-120"/>
              </a:rPr>
              <a:t>The Engine checks degree, </a:t>
            </a:r>
            <a:r>
              <a:rPr lang="en-US" sz="800" dirty="0">
                <a:solidFill>
                  <a:srgbClr val="334155"/>
                </a:solidFill>
                <a:latin typeface="SFMono-Regular" pitchFamily="34" charset="0"/>
                <a:ea typeface="SFMono-Regular" pitchFamily="34" charset="-122"/>
                <a:cs typeface="SFMono-Regular" pitchFamily="34" charset="-120"/>
              </a:rPr>
              <a:t>bundle, bracket convention, </a:t>
            </a:r>
            <a:r>
              <a:rPr lang="en-US" sz="800" dirty="0">
                <a:solidFill>
                  <a:srgbClr val="334155"/>
                </a:solidFill>
                <a:latin typeface="SFMono-Regular" pitchFamily="34" charset="0"/>
                <a:ea typeface="SFMono-Regular" pitchFamily="34" charset="-122"/>
                <a:cs typeface="SFMono-Regular" pitchFamily="34" charset="-120"/>
              </a:rPr>
              <a:t>and the residual of DF=0.</a:t>
            </a:r>
            <a:endParaRPr lang="en-US" sz="750" dirty="0"/>
          </a:p>
        </p:txBody>
      </p:sp>
      <p:sp>
        <p:nvSpPr>
          <p:cNvPr id="22" name="Text 18"/>
          <p:cNvSpPr/>
          <p:nvPr/>
        </p:nvSpPr>
        <p:spPr>
          <a:xfrm>
            <a:off x="7656649" y="4900613"/>
            <a:ext cx="1230176"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0A192F"/>
                </a:solidFill>
                <a:latin typeface="SFMono-Regular" pitchFamily="34" charset="0"/>
                <a:ea typeface="SFMono-Regular" pitchFamily="34" charset="-122"/>
                <a:cs typeface="SFMono-Regular" pitchFamily="34" charset="-120"/>
              </a:rPr>
              <a:t>SOVEREIGN ENGINE / 07</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57213" y="457200"/>
            <a:ext cx="5857875" cy="119993"/>
          </a:xfrm>
          <a:prstGeom prst="rect">
            <a:avLst/>
          </a:prstGeom>
          <a:noFill/>
          <a:ln/>
        </p:spPr>
        <p:txBody>
          <a:bodyPr wrap="none" lIns="0" tIns="0" rIns="0" bIns="0" rtlCol="0" anchor="t">
            <a:spAutoFit/>
          </a:bodyPr>
          <a:lstStyle/>
          <a:p>
            <a:pPr algn="l" indent="0" marL="0">
              <a:lnSpc>
                <a:spcPct val="96000"/>
              </a:lnSpc>
              <a:buNone/>
            </a:pPr>
            <a:r>
              <a:rPr lang="en-US" sz="700" b="1" spc="2" kern="0" dirty="0">
                <a:solidFill>
                  <a:srgbClr val="D90429"/>
                </a:solidFill>
                <a:latin typeface="SFMono-Regular" pitchFamily="34" charset="0"/>
                <a:ea typeface="SFMono-Regular" pitchFamily="34" charset="-122"/>
                <a:cs typeface="SFMono-Regular" pitchFamily="34" charset="-120"/>
              </a:rPr>
              <a:t>07 / SPINOR AND SPECTRAL LAYER</a:t>
            </a:r>
            <a:endParaRPr lang="en-US" sz="700" dirty="0"/>
          </a:p>
        </p:txBody>
      </p:sp>
      <p:sp>
        <p:nvSpPr>
          <p:cNvPr id="5" name="Text 1"/>
          <p:cNvSpPr/>
          <p:nvPr/>
        </p:nvSpPr>
        <p:spPr>
          <a:xfrm>
            <a:off x="557213" y="705780"/>
            <a:ext cx="5857875" cy="605768"/>
          </a:xfrm>
          <a:prstGeom prst="rect">
            <a:avLst/>
          </a:prstGeom>
          <a:noFill/>
          <a:ln/>
        </p:spPr>
        <p:txBody>
          <a:bodyPr wrap="square" lIns="0" tIns="0" rIns="0" bIns="0" rtlCol="0" anchor="t">
            <a:spAutoFit/>
          </a:bodyPr>
          <a:lstStyle/>
          <a:p>
            <a:pPr algn="l" indent="0" marL="0">
              <a:lnSpc>
                <a:spcPct val="84800"/>
              </a:lnSpc>
              <a:buNone/>
            </a:pPr>
            <a:r>
              <a:rPr lang="en-US" sz="2000" b="1" spc="-1" kern="0" dirty="0">
                <a:solidFill>
                  <a:srgbClr val="0A192F"/>
                </a:solidFill>
                <a:latin typeface="Georgia" pitchFamily="34" charset="0"/>
                <a:ea typeface="Georgia" pitchFamily="34" charset="-122"/>
                <a:cs typeface="Georgia" pitchFamily="34" charset="-120"/>
              </a:rPr>
              <a:t>Spinors and rolled-up complexes are hypotheses, not magic</a:t>
            </a:r>
            <a:endParaRPr lang="en-US" sz="2000" dirty="0"/>
          </a:p>
        </p:txBody>
      </p:sp>
      <p:sp>
        <p:nvSpPr>
          <p:cNvPr id="6" name="Text 2"/>
          <p:cNvSpPr/>
          <p:nvPr/>
        </p:nvSpPr>
        <p:spPr>
          <a:xfrm>
            <a:off x="557213" y="1690167"/>
            <a:ext cx="462948" cy="264319"/>
          </a:xfrm>
          <a:prstGeom prst="rect">
            <a:avLst/>
          </a:prstGeom>
          <a:noFill/>
          <a:ln/>
        </p:spPr>
        <p:txBody>
          <a:bodyPr wrap="none" lIns="0" tIns="0" rIns="0" bIns="0" rtlCol="0" anchor="t">
            <a:spAutoFit/>
          </a:bodyPr>
          <a:lstStyle/>
          <a:p>
            <a:pPr algn="l" indent="0" marL="0">
              <a:lnSpc>
                <a:spcPct val="124000"/>
              </a:lnSpc>
              <a:buNone/>
            </a:pPr>
            <a:r>
              <a:rPr lang="en-US" sz="1450" dirty="0">
                <a:solidFill>
                  <a:srgbClr val="0A192F"/>
                </a:solidFill>
                <a:latin typeface="SFMono-Regular" pitchFamily="34" charset="0"/>
                <a:ea typeface="SFMono-Regular" pitchFamily="34" charset="-122"/>
                <a:cs typeface="SFMono-Regular" pitchFamily="34" charset="-120"/>
              </a:rPr>
              <a:t>D̸ =</a:t>
            </a:r>
            <a:endParaRPr lang="en-US" sz="1450" dirty="0"/>
          </a:p>
        </p:txBody>
      </p:sp>
      <p:sp>
        <p:nvSpPr>
          <p:cNvPr id="7" name="Text 3"/>
          <p:cNvSpPr/>
          <p:nvPr/>
        </p:nvSpPr>
        <p:spPr>
          <a:xfrm>
            <a:off x="1020161" y="1690167"/>
            <a:ext cx="115751" cy="264319"/>
          </a:xfrm>
          <a:prstGeom prst="rect">
            <a:avLst/>
          </a:prstGeom>
          <a:noFill/>
          <a:ln/>
        </p:spPr>
        <p:txBody>
          <a:bodyPr wrap="none" lIns="0" tIns="0" rIns="0" bIns="0" rtlCol="0" anchor="t">
            <a:spAutoFit/>
          </a:bodyPr>
          <a:lstStyle/>
          <a:p>
            <a:pPr algn="l" indent="0" marL="0">
              <a:lnSpc>
                <a:spcPct val="124000"/>
              </a:lnSpc>
              <a:buNone/>
            </a:pPr>
            <a:r>
              <a:rPr lang="en-US" sz="1350" b="1" dirty="0">
                <a:solidFill>
                  <a:srgbClr val="D90429"/>
                </a:solidFill>
                <a:latin typeface="SFMono-Regular" pitchFamily="34" charset="0"/>
                <a:ea typeface="SFMono-Regular" pitchFamily="34" charset="-122"/>
                <a:cs typeface="SFMono-Regular" pitchFamily="34" charset="-120"/>
              </a:rPr>
              <a:t>γ</a:t>
            </a:r>
            <a:endParaRPr lang="en-US" sz="1350" dirty="0"/>
          </a:p>
        </p:txBody>
      </p:sp>
      <p:sp>
        <p:nvSpPr>
          <p:cNvPr id="8" name="Text 4"/>
          <p:cNvSpPr/>
          <p:nvPr/>
        </p:nvSpPr>
        <p:spPr>
          <a:xfrm>
            <a:off x="1135912" y="1661592"/>
            <a:ext cx="96496" cy="217884"/>
          </a:xfrm>
          <a:prstGeom prst="rect">
            <a:avLst/>
          </a:prstGeom>
          <a:noFill/>
          <a:ln/>
        </p:spPr>
        <p:txBody>
          <a:bodyPr wrap="none" lIns="0" tIns="0" rIns="0" bIns="0" rtlCol="0" anchor="t">
            <a:spAutoFit/>
          </a:bodyPr>
          <a:lstStyle/>
          <a:p>
            <a:pPr algn="l" indent="0" marL="0">
              <a:lnSpc>
                <a:spcPct val="124000"/>
              </a:lnSpc>
              <a:buNone/>
            </a:pPr>
            <a:r>
              <a:rPr lang="en-US" sz="1100" b="1" baseline="30000" dirty="0">
                <a:solidFill>
                  <a:srgbClr val="D90429"/>
                </a:solidFill>
                <a:latin typeface="SFMono-Regular" pitchFamily="34" charset="0"/>
                <a:ea typeface="SFMono-Regular" pitchFamily="34" charset="-122"/>
                <a:cs typeface="SFMono-Regular" pitchFamily="34" charset="-120"/>
              </a:rPr>
              <a:t>μ</a:t>
            </a:r>
            <a:endParaRPr lang="en-US" sz="1100" dirty="0"/>
          </a:p>
        </p:txBody>
      </p:sp>
      <p:sp>
        <p:nvSpPr>
          <p:cNvPr id="9" name="Text 5"/>
          <p:cNvSpPr/>
          <p:nvPr/>
        </p:nvSpPr>
        <p:spPr>
          <a:xfrm>
            <a:off x="1232408" y="1690167"/>
            <a:ext cx="115751" cy="264319"/>
          </a:xfrm>
          <a:prstGeom prst="rect">
            <a:avLst/>
          </a:prstGeom>
          <a:noFill/>
          <a:ln/>
        </p:spPr>
        <p:txBody>
          <a:bodyPr wrap="none" lIns="0" tIns="0" rIns="0" bIns="0" rtlCol="0" anchor="t">
            <a:spAutoFit/>
          </a:bodyPr>
          <a:lstStyle/>
          <a:p>
            <a:pPr algn="l" indent="0" marL="0">
              <a:lnSpc>
                <a:spcPct val="124000"/>
              </a:lnSpc>
              <a:buNone/>
            </a:pPr>
            <a:r>
              <a:rPr lang="en-US" sz="1350" b="1" dirty="0">
                <a:solidFill>
                  <a:srgbClr val="D90429"/>
                </a:solidFill>
                <a:latin typeface="SFMono-Regular" pitchFamily="34" charset="0"/>
                <a:ea typeface="SFMono-Regular" pitchFamily="34" charset="-122"/>
                <a:cs typeface="SFMono-Regular" pitchFamily="34" charset="-120"/>
              </a:rPr>
              <a:t>∇</a:t>
            </a:r>
            <a:endParaRPr lang="en-US" sz="1350" dirty="0"/>
          </a:p>
        </p:txBody>
      </p:sp>
      <p:sp>
        <p:nvSpPr>
          <p:cNvPr id="10" name="Text 6"/>
          <p:cNvSpPr/>
          <p:nvPr/>
        </p:nvSpPr>
        <p:spPr>
          <a:xfrm>
            <a:off x="1348160" y="1771594"/>
            <a:ext cx="96496" cy="217884"/>
          </a:xfrm>
          <a:prstGeom prst="rect">
            <a:avLst/>
          </a:prstGeom>
          <a:noFill/>
          <a:ln/>
        </p:spPr>
        <p:txBody>
          <a:bodyPr wrap="none" lIns="0" tIns="0" rIns="0" bIns="0" rtlCol="0" anchor="t">
            <a:spAutoFit/>
          </a:bodyPr>
          <a:lstStyle/>
          <a:p>
            <a:pPr algn="l" indent="0" marL="0">
              <a:lnSpc>
                <a:spcPct val="124000"/>
              </a:lnSpc>
              <a:buNone/>
            </a:pPr>
            <a:r>
              <a:rPr lang="en-US" sz="1100" b="1" baseline="-40000" dirty="0">
                <a:solidFill>
                  <a:srgbClr val="D90429"/>
                </a:solidFill>
                <a:latin typeface="SFMono-Regular" pitchFamily="34" charset="0"/>
                <a:ea typeface="SFMono-Regular" pitchFamily="34" charset="-122"/>
                <a:cs typeface="SFMono-Regular" pitchFamily="34" charset="-120"/>
              </a:rPr>
              <a:t>μ</a:t>
            </a:r>
            <a:endParaRPr lang="en-US" sz="1100" dirty="0"/>
          </a:p>
        </p:txBody>
      </p:sp>
      <p:sp>
        <p:nvSpPr>
          <p:cNvPr id="11" name="Text 7"/>
          <p:cNvSpPr/>
          <p:nvPr/>
        </p:nvSpPr>
        <p:spPr>
          <a:xfrm>
            <a:off x="557213" y="2049307"/>
            <a:ext cx="231502" cy="264319"/>
          </a:xfrm>
          <a:prstGeom prst="rect">
            <a:avLst/>
          </a:prstGeom>
          <a:noFill/>
          <a:ln/>
        </p:spPr>
        <p:txBody>
          <a:bodyPr wrap="none" lIns="0" tIns="0" rIns="0" bIns="0" rtlCol="0" anchor="t">
            <a:spAutoFit/>
          </a:bodyPr>
          <a:lstStyle/>
          <a:p>
            <a:pPr algn="l" indent="0" marL="0">
              <a:lnSpc>
                <a:spcPct val="124000"/>
              </a:lnSpc>
              <a:buNone/>
            </a:pPr>
            <a:r>
              <a:rPr lang="en-US" sz="1450" dirty="0">
                <a:solidFill>
                  <a:srgbClr val="0A192F"/>
                </a:solidFill>
                <a:latin typeface="SFMono-Regular" pitchFamily="34" charset="0"/>
                <a:ea typeface="SFMono-Regular" pitchFamily="34" charset="-122"/>
                <a:cs typeface="SFMono-Regular" pitchFamily="34" charset="-120"/>
              </a:rPr>
              <a:t>{γ</a:t>
            </a:r>
            <a:endParaRPr lang="en-US" sz="1450" dirty="0"/>
          </a:p>
        </p:txBody>
      </p:sp>
      <p:sp>
        <p:nvSpPr>
          <p:cNvPr id="12" name="Text 8"/>
          <p:cNvSpPr/>
          <p:nvPr/>
        </p:nvSpPr>
        <p:spPr>
          <a:xfrm>
            <a:off x="788715" y="2020732"/>
            <a:ext cx="96496" cy="217884"/>
          </a:xfrm>
          <a:prstGeom prst="rect">
            <a:avLst/>
          </a:prstGeom>
          <a:noFill/>
          <a:ln/>
        </p:spPr>
        <p:txBody>
          <a:bodyPr wrap="none" lIns="0" tIns="0" rIns="0" bIns="0" rtlCol="0" anchor="t">
            <a:spAutoFit/>
          </a:bodyPr>
          <a:lstStyle/>
          <a:p>
            <a:pPr algn="l" indent="0" marL="0">
              <a:lnSpc>
                <a:spcPct val="124000"/>
              </a:lnSpc>
              <a:buNone/>
            </a:pPr>
            <a:r>
              <a:rPr lang="en-US" sz="1200" baseline="30000" dirty="0">
                <a:solidFill>
                  <a:srgbClr val="0A192F"/>
                </a:solidFill>
                <a:latin typeface="SFMono-Regular" pitchFamily="34" charset="0"/>
                <a:ea typeface="SFMono-Regular" pitchFamily="34" charset="-122"/>
                <a:cs typeface="SFMono-Regular" pitchFamily="34" charset="-120"/>
              </a:rPr>
              <a:t>μ</a:t>
            </a:r>
            <a:endParaRPr lang="en-US" sz="1200" dirty="0"/>
          </a:p>
        </p:txBody>
      </p:sp>
      <p:sp>
        <p:nvSpPr>
          <p:cNvPr id="13" name="Text 9"/>
          <p:cNvSpPr/>
          <p:nvPr/>
        </p:nvSpPr>
        <p:spPr>
          <a:xfrm>
            <a:off x="885211" y="2049307"/>
            <a:ext cx="347197" cy="264319"/>
          </a:xfrm>
          <a:prstGeom prst="rect">
            <a:avLst/>
          </a:prstGeom>
          <a:noFill/>
          <a:ln/>
        </p:spPr>
        <p:txBody>
          <a:bodyPr wrap="none" lIns="0" tIns="0" rIns="0" bIns="0" rtlCol="0" anchor="t">
            <a:spAutoFit/>
          </a:bodyPr>
          <a:lstStyle/>
          <a:p>
            <a:pPr algn="l" indent="0" marL="0">
              <a:lnSpc>
                <a:spcPct val="124000"/>
              </a:lnSpc>
              <a:buNone/>
            </a:pPr>
            <a:r>
              <a:rPr lang="en-US" sz="1450" dirty="0">
                <a:solidFill>
                  <a:srgbClr val="0A192F"/>
                </a:solidFill>
                <a:latin typeface="SFMono-Regular" pitchFamily="34" charset="0"/>
                <a:ea typeface="SFMono-Regular" pitchFamily="34" charset="-122"/>
                <a:cs typeface="SFMono-Regular" pitchFamily="34" charset="-120"/>
              </a:rPr>
              <a:t>, γ</a:t>
            </a:r>
            <a:endParaRPr lang="en-US" sz="1450" dirty="0"/>
          </a:p>
        </p:txBody>
      </p:sp>
      <p:sp>
        <p:nvSpPr>
          <p:cNvPr id="14" name="Text 10"/>
          <p:cNvSpPr/>
          <p:nvPr/>
        </p:nvSpPr>
        <p:spPr>
          <a:xfrm>
            <a:off x="1232408" y="2020732"/>
            <a:ext cx="96496" cy="217884"/>
          </a:xfrm>
          <a:prstGeom prst="rect">
            <a:avLst/>
          </a:prstGeom>
          <a:noFill/>
          <a:ln/>
        </p:spPr>
        <p:txBody>
          <a:bodyPr wrap="none" lIns="0" tIns="0" rIns="0" bIns="0" rtlCol="0" anchor="t">
            <a:spAutoFit/>
          </a:bodyPr>
          <a:lstStyle/>
          <a:p>
            <a:pPr algn="l" indent="0" marL="0">
              <a:lnSpc>
                <a:spcPct val="124000"/>
              </a:lnSpc>
              <a:buNone/>
            </a:pPr>
            <a:r>
              <a:rPr lang="en-US" sz="1200" baseline="30000" dirty="0">
                <a:solidFill>
                  <a:srgbClr val="0A192F"/>
                </a:solidFill>
                <a:latin typeface="SFMono-Regular" pitchFamily="34" charset="0"/>
                <a:ea typeface="SFMono-Regular" pitchFamily="34" charset="-122"/>
                <a:cs typeface="SFMono-Regular" pitchFamily="34" charset="-120"/>
              </a:rPr>
              <a:t>ν</a:t>
            </a:r>
            <a:endParaRPr lang="en-US" sz="1200" dirty="0"/>
          </a:p>
        </p:txBody>
      </p:sp>
      <p:sp>
        <p:nvSpPr>
          <p:cNvPr id="15" name="Text 11"/>
          <p:cNvSpPr/>
          <p:nvPr/>
        </p:nvSpPr>
        <p:spPr>
          <a:xfrm>
            <a:off x="1328905" y="2049307"/>
            <a:ext cx="462948" cy="264319"/>
          </a:xfrm>
          <a:prstGeom prst="rect">
            <a:avLst/>
          </a:prstGeom>
          <a:noFill/>
          <a:ln/>
        </p:spPr>
        <p:txBody>
          <a:bodyPr wrap="none" lIns="0" tIns="0" rIns="0" bIns="0" rtlCol="0" anchor="t">
            <a:spAutoFit/>
          </a:bodyPr>
          <a:lstStyle/>
          <a:p>
            <a:pPr algn="l" indent="0" marL="0">
              <a:lnSpc>
                <a:spcPct val="124000"/>
              </a:lnSpc>
              <a:buNone/>
            </a:pPr>
            <a:r>
              <a:rPr lang="en-US" sz="1450" dirty="0">
                <a:solidFill>
                  <a:srgbClr val="0A192F"/>
                </a:solidFill>
                <a:latin typeface="SFMono-Regular" pitchFamily="34" charset="0"/>
                <a:ea typeface="SFMono-Regular" pitchFamily="34" charset="-122"/>
                <a:cs typeface="SFMono-Regular" pitchFamily="34" charset="-120"/>
              </a:rPr>
              <a:t>} =</a:t>
            </a:r>
            <a:endParaRPr lang="en-US" sz="1450" dirty="0"/>
          </a:p>
        </p:txBody>
      </p:sp>
      <p:sp>
        <p:nvSpPr>
          <p:cNvPr id="16" name="Text 12"/>
          <p:cNvSpPr/>
          <p:nvPr/>
        </p:nvSpPr>
        <p:spPr>
          <a:xfrm>
            <a:off x="1791853" y="2049307"/>
            <a:ext cx="231502" cy="264319"/>
          </a:xfrm>
          <a:prstGeom prst="rect">
            <a:avLst/>
          </a:prstGeom>
          <a:noFill/>
          <a:ln/>
        </p:spPr>
        <p:txBody>
          <a:bodyPr wrap="none" lIns="0" tIns="0" rIns="0" bIns="0" rtlCol="0" anchor="t">
            <a:spAutoFit/>
          </a:bodyPr>
          <a:lstStyle/>
          <a:p>
            <a:pPr algn="l" indent="0" marL="0">
              <a:lnSpc>
                <a:spcPct val="124000"/>
              </a:lnSpc>
              <a:buNone/>
            </a:pPr>
            <a:r>
              <a:rPr lang="en-US" sz="1350" b="1" dirty="0">
                <a:solidFill>
                  <a:srgbClr val="D90429"/>
                </a:solidFill>
                <a:latin typeface="SFMono-Regular" pitchFamily="34" charset="0"/>
                <a:ea typeface="SFMono-Regular" pitchFamily="34" charset="-122"/>
                <a:cs typeface="SFMono-Regular" pitchFamily="34" charset="-120"/>
              </a:rPr>
              <a:t>2g</a:t>
            </a:r>
            <a:endParaRPr lang="en-US" sz="1350" dirty="0"/>
          </a:p>
        </p:txBody>
      </p:sp>
      <p:sp>
        <p:nvSpPr>
          <p:cNvPr id="17" name="Text 13"/>
          <p:cNvSpPr/>
          <p:nvPr/>
        </p:nvSpPr>
        <p:spPr>
          <a:xfrm>
            <a:off x="2023356" y="2020732"/>
            <a:ext cx="192937" cy="217884"/>
          </a:xfrm>
          <a:prstGeom prst="rect">
            <a:avLst/>
          </a:prstGeom>
          <a:noFill/>
          <a:ln/>
        </p:spPr>
        <p:txBody>
          <a:bodyPr wrap="none" lIns="0" tIns="0" rIns="0" bIns="0" rtlCol="0" anchor="t">
            <a:spAutoFit/>
          </a:bodyPr>
          <a:lstStyle/>
          <a:p>
            <a:pPr algn="l" indent="0" marL="0">
              <a:lnSpc>
                <a:spcPct val="124000"/>
              </a:lnSpc>
              <a:buNone/>
            </a:pPr>
            <a:r>
              <a:rPr lang="en-US" sz="1100" b="1" baseline="30000" dirty="0">
                <a:solidFill>
                  <a:srgbClr val="D90429"/>
                </a:solidFill>
                <a:latin typeface="SFMono-Regular" pitchFamily="34" charset="0"/>
                <a:ea typeface="SFMono-Regular" pitchFamily="34" charset="-122"/>
                <a:cs typeface="SFMono-Regular" pitchFamily="34" charset="-120"/>
              </a:rPr>
              <a:t>μν</a:t>
            </a:r>
            <a:endParaRPr lang="en-US" sz="1100" dirty="0"/>
          </a:p>
        </p:txBody>
      </p:sp>
      <p:sp>
        <p:nvSpPr>
          <p:cNvPr id="18" name="Text 14"/>
          <p:cNvSpPr/>
          <p:nvPr/>
        </p:nvSpPr>
        <p:spPr>
          <a:xfrm>
            <a:off x="2216293" y="2049307"/>
            <a:ext cx="115751" cy="264319"/>
          </a:xfrm>
          <a:prstGeom prst="rect">
            <a:avLst/>
          </a:prstGeom>
          <a:noFill/>
          <a:ln/>
        </p:spPr>
        <p:txBody>
          <a:bodyPr wrap="none" lIns="0" tIns="0" rIns="0" bIns="0" rtlCol="0" anchor="t">
            <a:spAutoFit/>
          </a:bodyPr>
          <a:lstStyle/>
          <a:p>
            <a:pPr algn="l" indent="0" marL="0">
              <a:lnSpc>
                <a:spcPct val="124000"/>
              </a:lnSpc>
              <a:buNone/>
            </a:pPr>
            <a:r>
              <a:rPr lang="en-US" sz="1350" b="1" dirty="0">
                <a:solidFill>
                  <a:srgbClr val="D90429"/>
                </a:solidFill>
                <a:latin typeface="SFMono-Regular" pitchFamily="34" charset="0"/>
                <a:ea typeface="SFMono-Regular" pitchFamily="34" charset="-122"/>
                <a:cs typeface="SFMono-Regular" pitchFamily="34" charset="-120"/>
              </a:rPr>
              <a:t>I</a:t>
            </a:r>
            <a:endParaRPr lang="en-US" sz="1350" dirty="0"/>
          </a:p>
        </p:txBody>
      </p:sp>
      <p:sp>
        <p:nvSpPr>
          <p:cNvPr id="19" name="Text 15"/>
          <p:cNvSpPr/>
          <p:nvPr/>
        </p:nvSpPr>
        <p:spPr>
          <a:xfrm>
            <a:off x="557213" y="2647150"/>
            <a:ext cx="5182121" cy="264319"/>
          </a:xfrm>
          <a:prstGeom prst="rect">
            <a:avLst/>
          </a:prstGeom>
          <a:noFill/>
          <a:ln/>
        </p:spPr>
        <p:txBody>
          <a:bodyPr wrap="none" lIns="0" tIns="0" rIns="0" bIns="0" rtlCol="0" anchor="t">
            <a:spAutoFit/>
          </a:bodyPr>
          <a:lstStyle/>
          <a:p>
            <a:pPr algn="l" indent="0" marL="0">
              <a:lnSpc>
                <a:spcPct val="124000"/>
              </a:lnSpc>
              <a:buNone/>
            </a:pPr>
            <a:r>
              <a:rPr lang="en-US" sz="1450" dirty="0">
                <a:solidFill>
                  <a:srgbClr val="0A192F"/>
                </a:solidFill>
                <a:latin typeface="SFMono-Regular" pitchFamily="34" charset="0"/>
                <a:ea typeface="SFMono-Regular" pitchFamily="34" charset="-122"/>
                <a:cs typeface="SFMono-Regular" pitchFamily="34" charset="-120"/>
              </a:rPr>
              <a:t>𝒟 = [ 0 D* ; D 0 ] ⇒ 𝒟² = [ D*D 0 ; 0 DD* ]</a:t>
            </a:r>
            <a:endParaRPr lang="en-US" sz="1450" dirty="0"/>
          </a:p>
        </p:txBody>
      </p:sp>
      <p:sp>
        <p:nvSpPr>
          <p:cNvPr id="20" name="Text 16"/>
          <p:cNvSpPr/>
          <p:nvPr/>
        </p:nvSpPr>
        <p:spPr>
          <a:xfrm>
            <a:off x="557213" y="3167528"/>
            <a:ext cx="5572125" cy="507485"/>
          </a:xfrm>
          <a:prstGeom prst="rect">
            <a:avLst/>
          </a:prstGeom>
          <a:noFill/>
          <a:ln/>
        </p:spPr>
        <p:txBody>
          <a:bodyPr wrap="square" lIns="0" tIns="0" rIns="0" bIns="0" rtlCol="0" anchor="t">
            <a:spAutoFit/>
          </a:bodyPr>
          <a:lstStyle/>
          <a:p>
            <a:pPr algn="l" indent="0" marL="0">
              <a:lnSpc>
                <a:spcPct val="118400"/>
              </a:lnSpc>
              <a:buNone/>
            </a:pPr>
            <a:r>
              <a:rPr lang="en-US" sz="800" b="1" dirty="0">
                <a:solidFill>
                  <a:srgbClr val="0A192F"/>
                </a:solidFill>
                <a:latin typeface="SFMono-Regular" pitchFamily="34" charset="0"/>
                <a:ea typeface="SFMono-Regular" pitchFamily="34" charset="-122"/>
                <a:cs typeface="SFMono-Regular" pitchFamily="34" charset="-120"/>
              </a:rPr>
              <a:t>Standard mathematics:</a:t>
            </a:r>
            <a:r>
              <a:rPr lang="en-US" sz="850" dirty="0">
                <a:solidFill>
                  <a:srgbClr val="334155"/>
                </a:solidFill>
                <a:latin typeface="SFMono-Regular" pitchFamily="34" charset="0"/>
                <a:ea typeface="SFMono-Regular" pitchFamily="34" charset="-122"/>
                <a:cs typeface="SFMono-Regular" pitchFamily="34" charset="-120"/>
              </a:rPr>
              <a:t> a Dirac operator couples Clifford multiplication to a </a:t>
            </a:r>
            <a:r>
              <a:rPr lang="en-US" sz="850" dirty="0">
                <a:solidFill>
                  <a:srgbClr val="334155"/>
                </a:solidFill>
                <a:latin typeface="SFMono-Regular" pitchFamily="34" charset="0"/>
                <a:ea typeface="SFMono-Regular" pitchFamily="34" charset="-122"/>
                <a:cs typeface="SFMono-Regular" pitchFamily="34" charset="-120"/>
              </a:rPr>
              <a:t>connection; a block operator packages even and odd sectors of a differential </a:t>
            </a:r>
            <a:r>
              <a:rPr lang="en-US" sz="850" dirty="0">
                <a:solidFill>
                  <a:srgbClr val="334155"/>
                </a:solidFill>
                <a:latin typeface="SFMono-Regular" pitchFamily="34" charset="0"/>
                <a:ea typeface="SFMono-Regular" pitchFamily="34" charset="-122"/>
                <a:cs typeface="SFMono-Regular" pitchFamily="34" charset="-120"/>
              </a:rPr>
              <a:t>complex.</a:t>
            </a:r>
            <a:endParaRPr lang="en-US" sz="800" dirty="0"/>
          </a:p>
        </p:txBody>
      </p:sp>
      <p:sp>
        <p:nvSpPr>
          <p:cNvPr id="21" name="Text 17"/>
          <p:cNvSpPr/>
          <p:nvPr/>
        </p:nvSpPr>
        <p:spPr>
          <a:xfrm>
            <a:off x="557213" y="3803600"/>
            <a:ext cx="5572125" cy="507485"/>
          </a:xfrm>
          <a:prstGeom prst="rect">
            <a:avLst/>
          </a:prstGeom>
          <a:noFill/>
          <a:ln/>
        </p:spPr>
        <p:txBody>
          <a:bodyPr wrap="square" lIns="0" tIns="0" rIns="0" bIns="0" rtlCol="0" anchor="t">
            <a:spAutoFit/>
          </a:bodyPr>
          <a:lstStyle/>
          <a:p>
            <a:pPr algn="l" indent="0" marL="0">
              <a:lnSpc>
                <a:spcPct val="118400"/>
              </a:lnSpc>
              <a:buNone/>
            </a:pPr>
            <a:r>
              <a:rPr lang="en-US" sz="800" b="1" dirty="0">
                <a:solidFill>
                  <a:srgbClr val="0A192F"/>
                </a:solidFill>
                <a:latin typeface="SFMono-Regular" pitchFamily="34" charset="0"/>
                <a:ea typeface="SFMono-Regular" pitchFamily="34" charset="-122"/>
                <a:cs typeface="SFMono-Regular" pitchFamily="34" charset="-120"/>
              </a:rPr>
              <a:t>Engine meaning:</a:t>
            </a:r>
            <a:r>
              <a:rPr lang="en-US" sz="850" dirty="0">
                <a:solidFill>
                  <a:srgbClr val="334155"/>
                </a:solidFill>
                <a:latin typeface="SFMono-Regular" pitchFamily="34" charset="0"/>
                <a:ea typeface="SFMono-Regular" pitchFamily="34" charset="-122"/>
                <a:cs typeface="SFMono-Regular" pitchFamily="34" charset="-120"/>
              </a:rPr>
              <a:t> represent the operator, its bundle, connection, boundary </a:t>
            </a:r>
            <a:r>
              <a:rPr lang="en-US" sz="850" dirty="0">
                <a:solidFill>
                  <a:srgbClr val="334155"/>
                </a:solidFill>
                <a:latin typeface="SFMono-Regular" pitchFamily="34" charset="0"/>
                <a:ea typeface="SFMono-Regular" pitchFamily="34" charset="-122"/>
                <a:cs typeface="SFMono-Regular" pitchFamily="34" charset="-120"/>
              </a:rPr>
              <a:t>conditions, and spectral obligations as a replayable symbolic object—not as an </a:t>
            </a:r>
            <a:r>
              <a:rPr lang="en-US" sz="850" dirty="0">
                <a:solidFill>
                  <a:srgbClr val="334155"/>
                </a:solidFill>
                <a:latin typeface="SFMono-Regular" pitchFamily="34" charset="0"/>
                <a:ea typeface="SFMono-Regular" pitchFamily="34" charset="-122"/>
                <a:cs typeface="SFMono-Regular" pitchFamily="34" charset="-120"/>
              </a:rPr>
              <a:t>automatic physical prediction.</a:t>
            </a:r>
            <a:endParaRPr lang="en-US" sz="800" dirty="0"/>
          </a:p>
        </p:txBody>
      </p:sp>
      <p:sp>
        <p:nvSpPr>
          <p:cNvPr id="22" name="Shape 18"/>
          <p:cNvSpPr/>
          <p:nvPr/>
        </p:nvSpPr>
        <p:spPr>
          <a:xfrm>
            <a:off x="6858000" y="0"/>
            <a:ext cx="2286000" cy="5143500"/>
          </a:xfrm>
          <a:prstGeom prst="rect">
            <a:avLst/>
          </a:prstGeom>
          <a:solidFill>
            <a:srgbClr val="000000">
              <a:alpha val="0"/>
            </a:srgbClr>
          </a:solidFill>
          <a:ln/>
        </p:spPr>
      </p:sp>
      <p:sp>
        <p:nvSpPr>
          <p:cNvPr id="23" name="Shape 19"/>
          <p:cNvSpPr/>
          <p:nvPr/>
        </p:nvSpPr>
        <p:spPr>
          <a:xfrm>
            <a:off x="6858000" y="0"/>
            <a:ext cx="7144" cy="5143500"/>
          </a:xfrm>
          <a:prstGeom prst="rect">
            <a:avLst/>
          </a:prstGeom>
          <a:solidFill>
            <a:srgbClr val="0A192F"/>
          </a:solidFill>
          <a:ln/>
        </p:spPr>
      </p:sp>
      <p:sp>
        <p:nvSpPr>
          <p:cNvPr id="24" name="Text 20"/>
          <p:cNvSpPr/>
          <p:nvPr/>
        </p:nvSpPr>
        <p:spPr>
          <a:xfrm>
            <a:off x="7100888" y="400050"/>
            <a:ext cx="1814513" cy="269286"/>
          </a:xfrm>
          <a:prstGeom prst="rect">
            <a:avLst/>
          </a:prstGeom>
          <a:noFill/>
          <a:ln/>
        </p:spPr>
        <p:txBody>
          <a:bodyPr wrap="square" lIns="0" tIns="119126" rIns="0" bIns="0" rtlCol="0" anchor="t">
            <a:spAutoFit/>
          </a:bodyPr>
          <a:lstStyle/>
          <a:p>
            <a:pPr algn="l" indent="0" marL="0">
              <a:lnSpc>
                <a:spcPct val="92000"/>
              </a:lnSpc>
              <a:buNone/>
            </a:pPr>
            <a:r>
              <a:rPr lang="en-US" sz="900" b="1" spc="1" kern="0" dirty="0">
                <a:solidFill>
                  <a:srgbClr val="D90429"/>
                </a:solidFill>
                <a:latin typeface="SFMono-Regular" pitchFamily="34" charset="0"/>
                <a:ea typeface="SFMono-Regular" pitchFamily="34" charset="-122"/>
                <a:cs typeface="SFMono-Regular" pitchFamily="34" charset="-120"/>
              </a:rPr>
              <a:t>UNRESOLVED GU CLAIM</a:t>
            </a:r>
            <a:endParaRPr lang="en-US" sz="900" dirty="0"/>
          </a:p>
        </p:txBody>
      </p:sp>
      <p:sp>
        <p:nvSpPr>
          <p:cNvPr id="25" name="Text 21"/>
          <p:cNvSpPr/>
          <p:nvPr/>
        </p:nvSpPr>
        <p:spPr>
          <a:xfrm>
            <a:off x="7100888" y="826498"/>
            <a:ext cx="1814513" cy="552022"/>
          </a:xfrm>
          <a:prstGeom prst="rect">
            <a:avLst/>
          </a:prstGeom>
          <a:noFill/>
          <a:ln/>
        </p:spPr>
        <p:txBody>
          <a:bodyPr wrap="square" lIns="0" tIns="0" rIns="0" bIns="0" rtlCol="0" anchor="t">
            <a:spAutoFit/>
          </a:bodyPr>
          <a:lstStyle/>
          <a:p>
            <a:pPr algn="l" indent="0" marL="0">
              <a:lnSpc>
                <a:spcPct val="89600"/>
              </a:lnSpc>
              <a:buNone/>
            </a:pPr>
            <a:r>
              <a:rPr lang="en-US" sz="1150" b="1" dirty="0">
                <a:solidFill>
                  <a:srgbClr val="0A192F"/>
                </a:solidFill>
                <a:latin typeface="Georgia" pitchFamily="34" charset="0"/>
                <a:ea typeface="Georgia" pitchFamily="34" charset="-122"/>
                <a:cs typeface="Georgia" pitchFamily="34" charset="-120"/>
              </a:rPr>
              <a:t>Three generations require more than an operator</a:t>
            </a:r>
            <a:endParaRPr lang="en-US" sz="1150" dirty="0"/>
          </a:p>
        </p:txBody>
      </p:sp>
      <p:sp>
        <p:nvSpPr>
          <p:cNvPr id="26" name="Text 22"/>
          <p:cNvSpPr/>
          <p:nvPr/>
        </p:nvSpPr>
        <p:spPr>
          <a:xfrm>
            <a:off x="7100888" y="1464246"/>
            <a:ext cx="1814513" cy="642938"/>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334155"/>
                </a:solidFill>
                <a:latin typeface="SFMono-Regular" pitchFamily="34" charset="0"/>
                <a:ea typeface="SFMono-Regular" pitchFamily="34" charset="-122"/>
                <a:cs typeface="SFMono-Regular" pitchFamily="34" charset="-120"/>
              </a:rPr>
              <a:t>The transcript associates a special 14D truncation and a three-generation result with the rolled-up complex.</a:t>
            </a:r>
            <a:endParaRPr lang="en-US" sz="800" dirty="0"/>
          </a:p>
        </p:txBody>
      </p:sp>
      <p:sp>
        <p:nvSpPr>
          <p:cNvPr id="27" name="Text 23"/>
          <p:cNvSpPr/>
          <p:nvPr/>
        </p:nvSpPr>
        <p:spPr>
          <a:xfrm>
            <a:off x="7100888" y="2207196"/>
            <a:ext cx="1814513" cy="1125141"/>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334155"/>
                </a:solidFill>
                <a:latin typeface="SFMono-Regular" pitchFamily="34" charset="0"/>
                <a:ea typeface="SFMono-Regular" pitchFamily="34" charset="-122"/>
                <a:cs typeface="SFMono-Regular" pitchFamily="34" charset="-120"/>
              </a:rPr>
              <a:t>That association remains a hypothesis until the representation, action, boundary conditions, spectral calculation, and empirical bridge are all supplied.</a:t>
            </a:r>
            <a:endParaRPr lang="en-US" sz="800" dirty="0"/>
          </a:p>
        </p:txBody>
      </p:sp>
      <p:sp>
        <p:nvSpPr>
          <p:cNvPr id="28" name="Text 24"/>
          <p:cNvSpPr/>
          <p:nvPr/>
        </p:nvSpPr>
        <p:spPr>
          <a:xfrm>
            <a:off x="8665662" y="3650456"/>
            <a:ext cx="214117" cy="964406"/>
          </a:xfrm>
          <a:prstGeom prst="rect">
            <a:avLst/>
          </a:prstGeom>
          <a:noFill/>
          <a:ln/>
        </p:spPr>
        <p:txBody>
          <a:bodyPr wrap="none" lIns="0" tIns="0" rIns="0" bIns="0" rtlCol="0" anchor="t">
            <a:spAutoFit/>
          </a:bodyPr>
          <a:lstStyle/>
          <a:p>
            <a:pPr algn="l" indent="0" marL="0">
              <a:lnSpc>
                <a:spcPct val="60000"/>
              </a:lnSpc>
              <a:buNone/>
            </a:pPr>
            <a:r>
              <a:rPr lang="en-US" sz="9900" dirty="0">
                <a:solidFill>
                  <a:srgbClr val="D90429"/>
                </a:solidFill>
                <a:latin typeface="Georgia" pitchFamily="34" charset="0"/>
                <a:ea typeface="Georgia" pitchFamily="34" charset="-122"/>
                <a:cs typeface="Georgia" pitchFamily="34" charset="-120"/>
              </a:rPr>
              <a:t>[</a:t>
            </a:r>
            <a:endParaRPr lang="en-US" sz="9900" dirty="0"/>
          </a:p>
        </p:txBody>
      </p:sp>
      <p:sp>
        <p:nvSpPr>
          <p:cNvPr id="29" name="Text 25"/>
          <p:cNvSpPr/>
          <p:nvPr/>
        </p:nvSpPr>
        <p:spPr>
          <a:xfrm>
            <a:off x="7656649" y="4900613"/>
            <a:ext cx="1230176"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0A192F"/>
                </a:solidFill>
                <a:latin typeface="SFMono-Regular" pitchFamily="34" charset="0"/>
                <a:ea typeface="SFMono-Regular" pitchFamily="34" charset="-122"/>
                <a:cs typeface="SFMono-Regular" pitchFamily="34" charset="-120"/>
              </a:rPr>
              <a:t>SOVEREIGN ENGINE / 08</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414338"/>
            <a:ext cx="8172450" cy="119993"/>
          </a:xfrm>
          <a:prstGeom prst="rect">
            <a:avLst/>
          </a:prstGeom>
          <a:noFill/>
          <a:ln/>
        </p:spPr>
        <p:txBody>
          <a:bodyPr wrap="none" lIns="0" tIns="0" rIns="0" bIns="0" rtlCol="0" anchor="t">
            <a:spAutoFit/>
          </a:bodyPr>
          <a:lstStyle/>
          <a:p>
            <a:pPr algn="l" indent="0" marL="0">
              <a:lnSpc>
                <a:spcPct val="96000"/>
              </a:lnSpc>
              <a:buNone/>
            </a:pPr>
            <a:r>
              <a:rPr lang="en-US" sz="700" b="1" spc="2" kern="0" dirty="0">
                <a:solidFill>
                  <a:srgbClr val="D90429"/>
                </a:solidFill>
                <a:latin typeface="SFMono-Regular" pitchFamily="34" charset="0"/>
                <a:ea typeface="SFMono-Regular" pitchFamily="34" charset="-122"/>
                <a:cs typeface="SFMono-Regular" pitchFamily="34" charset="-120"/>
              </a:rPr>
              <a:t>08 / TRUSTED KERNEL</a:t>
            </a:r>
            <a:endParaRPr lang="en-US" sz="700" dirty="0"/>
          </a:p>
        </p:txBody>
      </p:sp>
      <p:sp>
        <p:nvSpPr>
          <p:cNvPr id="5" name="Text 1"/>
          <p:cNvSpPr/>
          <p:nvPr/>
        </p:nvSpPr>
        <p:spPr>
          <a:xfrm>
            <a:off x="485775" y="641486"/>
            <a:ext cx="6429375" cy="318008"/>
          </a:xfrm>
          <a:prstGeom prst="rect">
            <a:avLst/>
          </a:prstGeom>
          <a:noFill/>
          <a:ln/>
        </p:spPr>
        <p:txBody>
          <a:bodyPr wrap="none" lIns="0" tIns="0" rIns="0" bIns="0" rtlCol="0" anchor="t">
            <a:spAutoFit/>
          </a:bodyPr>
          <a:lstStyle/>
          <a:p>
            <a:pPr algn="l" indent="0" marL="0">
              <a:lnSpc>
                <a:spcPct val="84800"/>
              </a:lnSpc>
              <a:buNone/>
            </a:pPr>
            <a:r>
              <a:rPr lang="en-US" sz="2100" b="1" spc="-1" kern="0" dirty="0">
                <a:solidFill>
                  <a:srgbClr val="0A192F"/>
                </a:solidFill>
                <a:latin typeface="Georgia" pitchFamily="34" charset="0"/>
                <a:ea typeface="Georgia" pitchFamily="34" charset="-122"/>
                <a:cs typeface="Georgia" pitchFamily="34" charset="-120"/>
              </a:rPr>
              <a:t>The Engine’s trusted core is small</a:t>
            </a:r>
            <a:endParaRPr lang="en-US" sz="2100" dirty="0"/>
          </a:p>
        </p:txBody>
      </p:sp>
      <p:sp>
        <p:nvSpPr>
          <p:cNvPr id="6" name="Text 2"/>
          <p:cNvSpPr/>
          <p:nvPr/>
        </p:nvSpPr>
        <p:spPr>
          <a:xfrm>
            <a:off x="485775" y="1038076"/>
            <a:ext cx="6286500" cy="324594"/>
          </a:xfrm>
          <a:prstGeom prst="rect">
            <a:avLst/>
          </a:prstGeom>
          <a:noFill/>
          <a:ln/>
        </p:spPr>
        <p:txBody>
          <a:bodyPr wrap="square" lIns="0" tIns="0" rIns="0" bIns="0" rtlCol="0" anchor="t">
            <a:spAutoFit/>
          </a:bodyPr>
          <a:lstStyle/>
          <a:p>
            <a:pPr algn="l" indent="0" marL="0">
              <a:lnSpc>
                <a:spcPct val="113600"/>
              </a:lnSpc>
              <a:buNone/>
            </a:pPr>
            <a:r>
              <a:rPr lang="en-US" sz="850" dirty="0">
                <a:solidFill>
                  <a:srgbClr val="475569"/>
                </a:solidFill>
                <a:latin typeface="SFMono-Regular" pitchFamily="34" charset="0"/>
                <a:ea typeface="SFMono-Regular" pitchFamily="34" charset="-122"/>
                <a:cs typeface="SFMono-Regular" pitchFamily="34" charset="-120"/>
              </a:rPr>
              <a:t>The kernel does not need to know everything. It must make meaningful operations typed, replayable, and honest about unknowns.</a:t>
            </a:r>
            <a:endParaRPr lang="en-US" sz="850" dirty="0"/>
          </a:p>
        </p:txBody>
      </p:sp>
      <p:sp>
        <p:nvSpPr>
          <p:cNvPr id="7" name="Text 3"/>
          <p:cNvSpPr/>
          <p:nvPr/>
        </p:nvSpPr>
        <p:spPr>
          <a:xfrm>
            <a:off x="485775" y="1555552"/>
            <a:ext cx="801886" cy="157163"/>
          </a:xfrm>
          <a:prstGeom prst="rect">
            <a:avLst/>
          </a:prstGeom>
          <a:noFill/>
          <a:ln/>
        </p:spPr>
        <p:txBody>
          <a:bodyPr wrap="none" lIns="0" tIns="0" rIns="0" bIns="0" rtlCol="0" anchor="t">
            <a:spAutoFit/>
          </a:bodyPr>
          <a:lstStyle/>
          <a:p>
            <a:pPr algn="l" indent="0" marL="0">
              <a:lnSpc>
                <a:spcPct val="80000"/>
              </a:lnSpc>
              <a:buNone/>
            </a:pPr>
            <a:r>
              <a:rPr lang="en-US" sz="1100" b="1" dirty="0">
                <a:solidFill>
                  <a:srgbClr val="D90429"/>
                </a:solidFill>
                <a:latin typeface="SFMono-Regular" pitchFamily="34" charset="0"/>
                <a:ea typeface="SFMono-Regular" pitchFamily="34" charset="-122"/>
                <a:cs typeface="SFMono-Regular" pitchFamily="34" charset="-120"/>
              </a:rPr>
              <a:t>01</a:t>
            </a:r>
            <a:endParaRPr lang="en-US" sz="1100" dirty="0"/>
          </a:p>
        </p:txBody>
      </p:sp>
      <p:sp>
        <p:nvSpPr>
          <p:cNvPr id="8" name="Text 4"/>
          <p:cNvSpPr/>
          <p:nvPr/>
        </p:nvSpPr>
        <p:spPr>
          <a:xfrm>
            <a:off x="485775" y="1784152"/>
            <a:ext cx="801886" cy="149293"/>
          </a:xfrm>
          <a:prstGeom prst="rect">
            <a:avLst/>
          </a:prstGeom>
          <a:noFill/>
          <a:ln/>
        </p:spPr>
        <p:txBody>
          <a:bodyPr wrap="none" lIns="0" tIns="0" rIns="0" bIns="0" rtlCol="0" anchor="t">
            <a:spAutoFit/>
          </a:bodyPr>
          <a:lstStyle/>
          <a:p>
            <a:pPr algn="l" indent="0" marL="0">
              <a:lnSpc>
                <a:spcPct val="88000"/>
              </a:lnSpc>
              <a:buNone/>
            </a:pPr>
            <a:r>
              <a:rPr lang="en-US" sz="950" b="1" dirty="0">
                <a:solidFill>
                  <a:srgbClr val="0A192F"/>
                </a:solidFill>
                <a:latin typeface="Georgia" pitchFamily="34" charset="0"/>
                <a:ea typeface="Georgia" pitchFamily="34" charset="-122"/>
                <a:cs typeface="Georgia" pitchFamily="34" charset="-120"/>
              </a:rPr>
              <a:t>Canonicalize</a:t>
            </a:r>
            <a:endParaRPr lang="en-US" sz="950" dirty="0"/>
          </a:p>
        </p:txBody>
      </p:sp>
      <p:sp>
        <p:nvSpPr>
          <p:cNvPr id="9" name="Text 5"/>
          <p:cNvSpPr/>
          <p:nvPr/>
        </p:nvSpPr>
        <p:spPr>
          <a:xfrm>
            <a:off x="485775" y="1990595"/>
            <a:ext cx="801886" cy="796640"/>
          </a:xfrm>
          <a:prstGeom prst="rect">
            <a:avLst/>
          </a:prstGeom>
          <a:noFill/>
          <a:ln/>
        </p:spPr>
        <p:txBody>
          <a:bodyPr wrap="square" lIns="0" tIns="0" rIns="0" bIns="0" rtlCol="0" anchor="t">
            <a:spAutoFit/>
          </a:bodyPr>
          <a:lstStyle/>
          <a:p>
            <a:pPr algn="l" indent="0" marL="0">
              <a:lnSpc>
                <a:spcPct val="114400"/>
              </a:lnSpc>
              <a:buNone/>
            </a:pPr>
            <a:r>
              <a:rPr lang="en-US" sz="650" dirty="0">
                <a:solidFill>
                  <a:srgbClr val="475569"/>
                </a:solidFill>
                <a:latin typeface="SFMono-Regular" pitchFamily="34" charset="0"/>
                <a:ea typeface="SFMono-Regular" pitchFamily="34" charset="-122"/>
                <a:cs typeface="SFMono-Regular" pitchFamily="34" charset="-120"/>
              </a:rPr>
              <a:t>Normalize symbols, units, coordinates, spans, and immutable IDs.</a:t>
            </a:r>
            <a:endParaRPr lang="en-US" sz="650" dirty="0"/>
          </a:p>
        </p:txBody>
      </p:sp>
      <p:sp>
        <p:nvSpPr>
          <p:cNvPr id="10" name="Shape 6"/>
          <p:cNvSpPr/>
          <p:nvPr/>
        </p:nvSpPr>
        <p:spPr>
          <a:xfrm>
            <a:off x="1259086" y="1869877"/>
            <a:ext cx="171450" cy="171450"/>
          </a:xfrm>
          <a:prstGeom prst="rect">
            <a:avLst/>
          </a:prstGeom>
          <a:solidFill>
            <a:srgbClr val="FFFFFF"/>
          </a:solidFill>
          <a:ln/>
        </p:spPr>
      </p:sp>
      <p:sp>
        <p:nvSpPr>
          <p:cNvPr id="11" name="Text 7"/>
          <p:cNvSpPr/>
          <p:nvPr/>
        </p:nvSpPr>
        <p:spPr>
          <a:xfrm>
            <a:off x="1259086" y="1869877"/>
            <a:ext cx="171450" cy="171450"/>
          </a:xfrm>
          <a:prstGeom prst="rect">
            <a:avLst/>
          </a:prstGeom>
          <a:noFill/>
          <a:ln/>
        </p:spPr>
        <p:txBody>
          <a:bodyPr wrap="none" lIns="17018" tIns="0" rIns="17018" bIns="0" rtlCol="0" anchor="t">
            <a:spAutoFit/>
          </a:bodyPr>
          <a:lstStyle/>
          <a:p>
            <a:pPr algn="l" indent="0" marL="0">
              <a:lnSpc>
                <a:spcPct val="80000"/>
              </a:lnSpc>
              <a:buNone/>
            </a:pPr>
            <a:r>
              <a:rPr lang="en-US" sz="1200" b="1" dirty="0">
                <a:solidFill>
                  <a:srgbClr val="D90429"/>
                </a:solidFill>
                <a:latin typeface="Georgia" pitchFamily="34" charset="0"/>
                <a:ea typeface="Georgia" pitchFamily="34" charset="-122"/>
                <a:cs typeface="Georgia" pitchFamily="34" charset="-120"/>
              </a:rPr>
              <a:t>→</a:t>
            </a:r>
            <a:endParaRPr lang="en-US" sz="1200" dirty="0"/>
          </a:p>
        </p:txBody>
      </p:sp>
      <p:sp>
        <p:nvSpPr>
          <p:cNvPr id="12" name="Text 8"/>
          <p:cNvSpPr/>
          <p:nvPr/>
        </p:nvSpPr>
        <p:spPr>
          <a:xfrm>
            <a:off x="1466255" y="1555552"/>
            <a:ext cx="801886" cy="157163"/>
          </a:xfrm>
          <a:prstGeom prst="rect">
            <a:avLst/>
          </a:prstGeom>
          <a:noFill/>
          <a:ln/>
        </p:spPr>
        <p:txBody>
          <a:bodyPr wrap="none" lIns="0" tIns="0" rIns="0" bIns="0" rtlCol="0" anchor="t">
            <a:spAutoFit/>
          </a:bodyPr>
          <a:lstStyle/>
          <a:p>
            <a:pPr algn="l" indent="0" marL="0">
              <a:lnSpc>
                <a:spcPct val="80000"/>
              </a:lnSpc>
              <a:buNone/>
            </a:pPr>
            <a:r>
              <a:rPr lang="en-US" sz="1100" b="1" dirty="0">
                <a:solidFill>
                  <a:srgbClr val="D90429"/>
                </a:solidFill>
                <a:latin typeface="SFMono-Regular" pitchFamily="34" charset="0"/>
                <a:ea typeface="SFMono-Regular" pitchFamily="34" charset="-122"/>
                <a:cs typeface="SFMono-Regular" pitchFamily="34" charset="-120"/>
              </a:rPr>
              <a:t>02</a:t>
            </a:r>
            <a:endParaRPr lang="en-US" sz="1100" dirty="0"/>
          </a:p>
        </p:txBody>
      </p:sp>
      <p:sp>
        <p:nvSpPr>
          <p:cNvPr id="13" name="Text 9"/>
          <p:cNvSpPr/>
          <p:nvPr/>
        </p:nvSpPr>
        <p:spPr>
          <a:xfrm>
            <a:off x="1466255" y="1784152"/>
            <a:ext cx="801886" cy="149293"/>
          </a:xfrm>
          <a:prstGeom prst="rect">
            <a:avLst/>
          </a:prstGeom>
          <a:noFill/>
          <a:ln/>
        </p:spPr>
        <p:txBody>
          <a:bodyPr wrap="none" lIns="0" tIns="0" rIns="0" bIns="0" rtlCol="0" anchor="t">
            <a:spAutoFit/>
          </a:bodyPr>
          <a:lstStyle/>
          <a:p>
            <a:pPr algn="l" indent="0" marL="0">
              <a:lnSpc>
                <a:spcPct val="88000"/>
              </a:lnSpc>
              <a:buNone/>
            </a:pPr>
            <a:r>
              <a:rPr lang="en-US" sz="950" b="1" dirty="0">
                <a:solidFill>
                  <a:srgbClr val="0A192F"/>
                </a:solidFill>
                <a:latin typeface="Georgia" pitchFamily="34" charset="0"/>
                <a:ea typeface="Georgia" pitchFamily="34" charset="-122"/>
                <a:cs typeface="Georgia" pitchFamily="34" charset="-120"/>
              </a:rPr>
              <a:t>Type-check</a:t>
            </a:r>
            <a:endParaRPr lang="en-US" sz="950" dirty="0"/>
          </a:p>
        </p:txBody>
      </p:sp>
      <p:sp>
        <p:nvSpPr>
          <p:cNvPr id="14" name="Text 10"/>
          <p:cNvSpPr/>
          <p:nvPr/>
        </p:nvSpPr>
        <p:spPr>
          <a:xfrm>
            <a:off x="1466255" y="1990595"/>
            <a:ext cx="801886" cy="929413"/>
          </a:xfrm>
          <a:prstGeom prst="rect">
            <a:avLst/>
          </a:prstGeom>
          <a:noFill/>
          <a:ln/>
        </p:spPr>
        <p:txBody>
          <a:bodyPr wrap="square" lIns="0" tIns="0" rIns="0" bIns="0" rtlCol="0" anchor="t">
            <a:spAutoFit/>
          </a:bodyPr>
          <a:lstStyle/>
          <a:p>
            <a:pPr algn="l" indent="0" marL="0">
              <a:lnSpc>
                <a:spcPct val="114400"/>
              </a:lnSpc>
              <a:buNone/>
            </a:pPr>
            <a:r>
              <a:rPr lang="en-US" sz="650" dirty="0">
                <a:solidFill>
                  <a:srgbClr val="475569"/>
                </a:solidFill>
                <a:latin typeface="SFMono-Regular" pitchFamily="34" charset="0"/>
                <a:ea typeface="SFMono-Regular" pitchFamily="34" charset="-122"/>
                <a:cs typeface="SFMono-Regular" pitchFamily="34" charset="-120"/>
              </a:rPr>
              <a:t>Validate manifold, rank, variance, signature, and bundle compatibility.</a:t>
            </a:r>
            <a:endParaRPr lang="en-US" sz="650" dirty="0"/>
          </a:p>
        </p:txBody>
      </p:sp>
      <p:sp>
        <p:nvSpPr>
          <p:cNvPr id="15" name="Shape 11"/>
          <p:cNvSpPr/>
          <p:nvPr/>
        </p:nvSpPr>
        <p:spPr>
          <a:xfrm>
            <a:off x="2239566" y="1869877"/>
            <a:ext cx="171450" cy="171450"/>
          </a:xfrm>
          <a:prstGeom prst="rect">
            <a:avLst/>
          </a:prstGeom>
          <a:solidFill>
            <a:srgbClr val="FFFFFF"/>
          </a:solidFill>
          <a:ln/>
        </p:spPr>
      </p:sp>
      <p:sp>
        <p:nvSpPr>
          <p:cNvPr id="16" name="Text 12"/>
          <p:cNvSpPr/>
          <p:nvPr/>
        </p:nvSpPr>
        <p:spPr>
          <a:xfrm>
            <a:off x="2239566" y="1869877"/>
            <a:ext cx="171450" cy="171450"/>
          </a:xfrm>
          <a:prstGeom prst="rect">
            <a:avLst/>
          </a:prstGeom>
          <a:noFill/>
          <a:ln/>
        </p:spPr>
        <p:txBody>
          <a:bodyPr wrap="none" lIns="17018" tIns="0" rIns="17018" bIns="0" rtlCol="0" anchor="t">
            <a:spAutoFit/>
          </a:bodyPr>
          <a:lstStyle/>
          <a:p>
            <a:pPr algn="l" indent="0" marL="0">
              <a:lnSpc>
                <a:spcPct val="80000"/>
              </a:lnSpc>
              <a:buNone/>
            </a:pPr>
            <a:r>
              <a:rPr lang="en-US" sz="1200" b="1" dirty="0">
                <a:solidFill>
                  <a:srgbClr val="D90429"/>
                </a:solidFill>
                <a:latin typeface="Georgia" pitchFamily="34" charset="0"/>
                <a:ea typeface="Georgia" pitchFamily="34" charset="-122"/>
                <a:cs typeface="Georgia" pitchFamily="34" charset="-120"/>
              </a:rPr>
              <a:t>→</a:t>
            </a:r>
            <a:endParaRPr lang="en-US" sz="1200" dirty="0"/>
          </a:p>
        </p:txBody>
      </p:sp>
      <p:sp>
        <p:nvSpPr>
          <p:cNvPr id="17" name="Text 13"/>
          <p:cNvSpPr/>
          <p:nvPr/>
        </p:nvSpPr>
        <p:spPr>
          <a:xfrm>
            <a:off x="2446734" y="1555552"/>
            <a:ext cx="801886" cy="157163"/>
          </a:xfrm>
          <a:prstGeom prst="rect">
            <a:avLst/>
          </a:prstGeom>
          <a:noFill/>
          <a:ln/>
        </p:spPr>
        <p:txBody>
          <a:bodyPr wrap="none" lIns="0" tIns="0" rIns="0" bIns="0" rtlCol="0" anchor="t">
            <a:spAutoFit/>
          </a:bodyPr>
          <a:lstStyle/>
          <a:p>
            <a:pPr algn="l" indent="0" marL="0">
              <a:lnSpc>
                <a:spcPct val="80000"/>
              </a:lnSpc>
              <a:buNone/>
            </a:pPr>
            <a:r>
              <a:rPr lang="en-US" sz="1100" b="1" dirty="0">
                <a:solidFill>
                  <a:srgbClr val="D90429"/>
                </a:solidFill>
                <a:latin typeface="SFMono-Regular" pitchFamily="34" charset="0"/>
                <a:ea typeface="SFMono-Regular" pitchFamily="34" charset="-122"/>
                <a:cs typeface="SFMono-Regular" pitchFamily="34" charset="-120"/>
              </a:rPr>
              <a:t>03</a:t>
            </a:r>
            <a:endParaRPr lang="en-US" sz="1100" dirty="0"/>
          </a:p>
        </p:txBody>
      </p:sp>
      <p:sp>
        <p:nvSpPr>
          <p:cNvPr id="18" name="Text 14"/>
          <p:cNvSpPr/>
          <p:nvPr/>
        </p:nvSpPr>
        <p:spPr>
          <a:xfrm>
            <a:off x="2446734" y="1784152"/>
            <a:ext cx="801886" cy="149293"/>
          </a:xfrm>
          <a:prstGeom prst="rect">
            <a:avLst/>
          </a:prstGeom>
          <a:noFill/>
          <a:ln/>
        </p:spPr>
        <p:txBody>
          <a:bodyPr wrap="none" lIns="0" tIns="0" rIns="0" bIns="0" rtlCol="0" anchor="t">
            <a:spAutoFit/>
          </a:bodyPr>
          <a:lstStyle/>
          <a:p>
            <a:pPr algn="l" indent="0" marL="0">
              <a:lnSpc>
                <a:spcPct val="88000"/>
              </a:lnSpc>
              <a:buNone/>
            </a:pPr>
            <a:r>
              <a:rPr lang="en-US" sz="950" b="1" dirty="0">
                <a:solidFill>
                  <a:srgbClr val="0A192F"/>
                </a:solidFill>
                <a:latin typeface="Georgia" pitchFamily="34" charset="0"/>
                <a:ea typeface="Georgia" pitchFamily="34" charset="-122"/>
                <a:cs typeface="Georgia" pitchFamily="34" charset="-120"/>
              </a:rPr>
              <a:t>Operate</a:t>
            </a:r>
            <a:endParaRPr lang="en-US" sz="950" dirty="0"/>
          </a:p>
        </p:txBody>
      </p:sp>
      <p:sp>
        <p:nvSpPr>
          <p:cNvPr id="19" name="Text 15"/>
          <p:cNvSpPr/>
          <p:nvPr/>
        </p:nvSpPr>
        <p:spPr>
          <a:xfrm>
            <a:off x="2446734" y="1990595"/>
            <a:ext cx="801886" cy="796640"/>
          </a:xfrm>
          <a:prstGeom prst="rect">
            <a:avLst/>
          </a:prstGeom>
          <a:noFill/>
          <a:ln/>
        </p:spPr>
        <p:txBody>
          <a:bodyPr wrap="square" lIns="0" tIns="0" rIns="0" bIns="0" rtlCol="0" anchor="t">
            <a:spAutoFit/>
          </a:bodyPr>
          <a:lstStyle/>
          <a:p>
            <a:pPr algn="l" indent="0" marL="0">
              <a:lnSpc>
                <a:spcPct val="114400"/>
              </a:lnSpc>
              <a:buNone/>
            </a:pPr>
            <a:r>
              <a:rPr lang="en-US" sz="650" dirty="0">
                <a:solidFill>
                  <a:srgbClr val="475569"/>
                </a:solidFill>
                <a:latin typeface="SFMono-Regular" pitchFamily="34" charset="0"/>
                <a:ea typeface="SFMono-Regular" pitchFamily="34" charset="-122"/>
                <a:cs typeface="SFMono-Regular" pitchFamily="34" charset="-120"/>
              </a:rPr>
              <a:t>Apply a registered tensor, form, connection, projection, or transform.</a:t>
            </a:r>
            <a:endParaRPr lang="en-US" sz="650" dirty="0"/>
          </a:p>
        </p:txBody>
      </p:sp>
      <p:sp>
        <p:nvSpPr>
          <p:cNvPr id="20" name="Shape 16"/>
          <p:cNvSpPr/>
          <p:nvPr/>
        </p:nvSpPr>
        <p:spPr>
          <a:xfrm>
            <a:off x="3220045" y="1869877"/>
            <a:ext cx="171450" cy="171450"/>
          </a:xfrm>
          <a:prstGeom prst="rect">
            <a:avLst/>
          </a:prstGeom>
          <a:solidFill>
            <a:srgbClr val="FFFFFF"/>
          </a:solidFill>
          <a:ln/>
        </p:spPr>
      </p:sp>
      <p:sp>
        <p:nvSpPr>
          <p:cNvPr id="21" name="Text 17"/>
          <p:cNvSpPr/>
          <p:nvPr/>
        </p:nvSpPr>
        <p:spPr>
          <a:xfrm>
            <a:off x="3220045" y="1869877"/>
            <a:ext cx="171450" cy="171450"/>
          </a:xfrm>
          <a:prstGeom prst="rect">
            <a:avLst/>
          </a:prstGeom>
          <a:noFill/>
          <a:ln/>
        </p:spPr>
        <p:txBody>
          <a:bodyPr wrap="none" lIns="17018" tIns="0" rIns="17018" bIns="0" rtlCol="0" anchor="t">
            <a:spAutoFit/>
          </a:bodyPr>
          <a:lstStyle/>
          <a:p>
            <a:pPr algn="l" indent="0" marL="0">
              <a:lnSpc>
                <a:spcPct val="80000"/>
              </a:lnSpc>
              <a:buNone/>
            </a:pPr>
            <a:r>
              <a:rPr lang="en-US" sz="1200" b="1" dirty="0">
                <a:solidFill>
                  <a:srgbClr val="D90429"/>
                </a:solidFill>
                <a:latin typeface="Georgia" pitchFamily="34" charset="0"/>
                <a:ea typeface="Georgia" pitchFamily="34" charset="-122"/>
                <a:cs typeface="Georgia" pitchFamily="34" charset="-120"/>
              </a:rPr>
              <a:t>→</a:t>
            </a:r>
            <a:endParaRPr lang="en-US" sz="1200" dirty="0"/>
          </a:p>
        </p:txBody>
      </p:sp>
      <p:sp>
        <p:nvSpPr>
          <p:cNvPr id="22" name="Text 18"/>
          <p:cNvSpPr/>
          <p:nvPr/>
        </p:nvSpPr>
        <p:spPr>
          <a:xfrm>
            <a:off x="3427214" y="1555552"/>
            <a:ext cx="801886" cy="157163"/>
          </a:xfrm>
          <a:prstGeom prst="rect">
            <a:avLst/>
          </a:prstGeom>
          <a:noFill/>
          <a:ln/>
        </p:spPr>
        <p:txBody>
          <a:bodyPr wrap="none" lIns="0" tIns="0" rIns="0" bIns="0" rtlCol="0" anchor="t">
            <a:spAutoFit/>
          </a:bodyPr>
          <a:lstStyle/>
          <a:p>
            <a:pPr algn="l" indent="0" marL="0">
              <a:lnSpc>
                <a:spcPct val="80000"/>
              </a:lnSpc>
              <a:buNone/>
            </a:pPr>
            <a:r>
              <a:rPr lang="en-US" sz="1100" b="1" dirty="0">
                <a:solidFill>
                  <a:srgbClr val="D90429"/>
                </a:solidFill>
                <a:latin typeface="SFMono-Regular" pitchFamily="34" charset="0"/>
                <a:ea typeface="SFMono-Regular" pitchFamily="34" charset="-122"/>
                <a:cs typeface="SFMono-Regular" pitchFamily="34" charset="-120"/>
              </a:rPr>
              <a:t>04</a:t>
            </a:r>
            <a:endParaRPr lang="en-US" sz="1100" dirty="0"/>
          </a:p>
        </p:txBody>
      </p:sp>
      <p:sp>
        <p:nvSpPr>
          <p:cNvPr id="23" name="Text 19"/>
          <p:cNvSpPr/>
          <p:nvPr/>
        </p:nvSpPr>
        <p:spPr>
          <a:xfrm>
            <a:off x="3427214" y="1784152"/>
            <a:ext cx="801886" cy="149293"/>
          </a:xfrm>
          <a:prstGeom prst="rect">
            <a:avLst/>
          </a:prstGeom>
          <a:noFill/>
          <a:ln/>
        </p:spPr>
        <p:txBody>
          <a:bodyPr wrap="none" lIns="0" tIns="0" rIns="0" bIns="0" rtlCol="0" anchor="t">
            <a:spAutoFit/>
          </a:bodyPr>
          <a:lstStyle/>
          <a:p>
            <a:pPr algn="l" indent="0" marL="0">
              <a:lnSpc>
                <a:spcPct val="88000"/>
              </a:lnSpc>
              <a:buNone/>
            </a:pPr>
            <a:r>
              <a:rPr lang="en-US" sz="950" b="1" dirty="0">
                <a:solidFill>
                  <a:srgbClr val="0A192F"/>
                </a:solidFill>
                <a:latin typeface="Georgia" pitchFamily="34" charset="0"/>
                <a:ea typeface="Georgia" pitchFamily="34" charset="-122"/>
                <a:cs typeface="Georgia" pitchFamily="34" charset="-120"/>
              </a:rPr>
              <a:t>Verify</a:t>
            </a:r>
            <a:endParaRPr lang="en-US" sz="950" dirty="0"/>
          </a:p>
        </p:txBody>
      </p:sp>
      <p:sp>
        <p:nvSpPr>
          <p:cNvPr id="24" name="Text 20"/>
          <p:cNvSpPr/>
          <p:nvPr/>
        </p:nvSpPr>
        <p:spPr>
          <a:xfrm>
            <a:off x="3427214" y="1990595"/>
            <a:ext cx="801886" cy="796640"/>
          </a:xfrm>
          <a:prstGeom prst="rect">
            <a:avLst/>
          </a:prstGeom>
          <a:noFill/>
          <a:ln/>
        </p:spPr>
        <p:txBody>
          <a:bodyPr wrap="square" lIns="0" tIns="0" rIns="0" bIns="0" rtlCol="0" anchor="t">
            <a:spAutoFit/>
          </a:bodyPr>
          <a:lstStyle/>
          <a:p>
            <a:pPr algn="l" indent="0" marL="0">
              <a:lnSpc>
                <a:spcPct val="114400"/>
              </a:lnSpc>
              <a:buNone/>
            </a:pPr>
            <a:r>
              <a:rPr lang="en-US" sz="650" dirty="0">
                <a:solidFill>
                  <a:srgbClr val="475569"/>
                </a:solidFill>
                <a:latin typeface="SFMono-Regular" pitchFamily="34" charset="0"/>
                <a:ea typeface="SFMono-Regular" pitchFamily="34" charset="-122"/>
                <a:cs typeface="SFMono-Regular" pitchFamily="34" charset="-120"/>
              </a:rPr>
              <a:t>Evaluate identities, residuals, assumptions, and tolerances.</a:t>
            </a:r>
            <a:endParaRPr lang="en-US" sz="650" dirty="0"/>
          </a:p>
        </p:txBody>
      </p:sp>
      <p:sp>
        <p:nvSpPr>
          <p:cNvPr id="25" name="Shape 21"/>
          <p:cNvSpPr/>
          <p:nvPr/>
        </p:nvSpPr>
        <p:spPr>
          <a:xfrm>
            <a:off x="4200525" y="1869877"/>
            <a:ext cx="171450" cy="171450"/>
          </a:xfrm>
          <a:prstGeom prst="rect">
            <a:avLst/>
          </a:prstGeom>
          <a:solidFill>
            <a:srgbClr val="FFFFFF"/>
          </a:solidFill>
          <a:ln/>
        </p:spPr>
      </p:sp>
      <p:sp>
        <p:nvSpPr>
          <p:cNvPr id="26" name="Text 22"/>
          <p:cNvSpPr/>
          <p:nvPr/>
        </p:nvSpPr>
        <p:spPr>
          <a:xfrm>
            <a:off x="4200525" y="1869877"/>
            <a:ext cx="171450" cy="171450"/>
          </a:xfrm>
          <a:prstGeom prst="rect">
            <a:avLst/>
          </a:prstGeom>
          <a:noFill/>
          <a:ln/>
        </p:spPr>
        <p:txBody>
          <a:bodyPr wrap="none" lIns="17018" tIns="0" rIns="17018" bIns="0" rtlCol="0" anchor="t">
            <a:spAutoFit/>
          </a:bodyPr>
          <a:lstStyle/>
          <a:p>
            <a:pPr algn="l" indent="0" marL="0">
              <a:lnSpc>
                <a:spcPct val="80000"/>
              </a:lnSpc>
              <a:buNone/>
            </a:pPr>
            <a:r>
              <a:rPr lang="en-US" sz="1200" b="1" dirty="0">
                <a:solidFill>
                  <a:srgbClr val="D90429"/>
                </a:solidFill>
                <a:latin typeface="Georgia" pitchFamily="34" charset="0"/>
                <a:ea typeface="Georgia" pitchFamily="34" charset="-122"/>
                <a:cs typeface="Georgia" pitchFamily="34" charset="-120"/>
              </a:rPr>
              <a:t>→</a:t>
            </a:r>
            <a:endParaRPr lang="en-US" sz="1200" dirty="0"/>
          </a:p>
        </p:txBody>
      </p:sp>
      <p:sp>
        <p:nvSpPr>
          <p:cNvPr id="27" name="Text 23"/>
          <p:cNvSpPr/>
          <p:nvPr/>
        </p:nvSpPr>
        <p:spPr>
          <a:xfrm>
            <a:off x="4407694" y="1555552"/>
            <a:ext cx="801886" cy="157163"/>
          </a:xfrm>
          <a:prstGeom prst="rect">
            <a:avLst/>
          </a:prstGeom>
          <a:noFill/>
          <a:ln/>
        </p:spPr>
        <p:txBody>
          <a:bodyPr wrap="none" lIns="0" tIns="0" rIns="0" bIns="0" rtlCol="0" anchor="t">
            <a:spAutoFit/>
          </a:bodyPr>
          <a:lstStyle/>
          <a:p>
            <a:pPr algn="l" indent="0" marL="0">
              <a:lnSpc>
                <a:spcPct val="80000"/>
              </a:lnSpc>
              <a:buNone/>
            </a:pPr>
            <a:r>
              <a:rPr lang="en-US" sz="1100" b="1" dirty="0">
                <a:solidFill>
                  <a:srgbClr val="D90429"/>
                </a:solidFill>
                <a:latin typeface="SFMono-Regular" pitchFamily="34" charset="0"/>
                <a:ea typeface="SFMono-Regular" pitchFamily="34" charset="-122"/>
                <a:cs typeface="SFMono-Regular" pitchFamily="34" charset="-120"/>
              </a:rPr>
              <a:t>05</a:t>
            </a:r>
            <a:endParaRPr lang="en-US" sz="1100" dirty="0"/>
          </a:p>
        </p:txBody>
      </p:sp>
      <p:sp>
        <p:nvSpPr>
          <p:cNvPr id="28" name="Text 24"/>
          <p:cNvSpPr/>
          <p:nvPr/>
        </p:nvSpPr>
        <p:spPr>
          <a:xfrm>
            <a:off x="4407694" y="1784152"/>
            <a:ext cx="801886" cy="149293"/>
          </a:xfrm>
          <a:prstGeom prst="rect">
            <a:avLst/>
          </a:prstGeom>
          <a:noFill/>
          <a:ln/>
        </p:spPr>
        <p:txBody>
          <a:bodyPr wrap="none" lIns="0" tIns="0" rIns="0" bIns="0" rtlCol="0" anchor="t">
            <a:spAutoFit/>
          </a:bodyPr>
          <a:lstStyle/>
          <a:p>
            <a:pPr algn="l" indent="0" marL="0">
              <a:lnSpc>
                <a:spcPct val="88000"/>
              </a:lnSpc>
              <a:buNone/>
            </a:pPr>
            <a:r>
              <a:rPr lang="en-US" sz="950" b="1" dirty="0">
                <a:solidFill>
                  <a:srgbClr val="0A192F"/>
                </a:solidFill>
                <a:latin typeface="Georgia" pitchFamily="34" charset="0"/>
                <a:ea typeface="Georgia" pitchFamily="34" charset="-122"/>
                <a:cs typeface="Georgia" pitchFamily="34" charset="-120"/>
              </a:rPr>
              <a:t>Record</a:t>
            </a:r>
            <a:endParaRPr lang="en-US" sz="950" dirty="0"/>
          </a:p>
        </p:txBody>
      </p:sp>
      <p:sp>
        <p:nvSpPr>
          <p:cNvPr id="29" name="Text 25"/>
          <p:cNvSpPr/>
          <p:nvPr/>
        </p:nvSpPr>
        <p:spPr>
          <a:xfrm>
            <a:off x="4407694" y="1990595"/>
            <a:ext cx="801886" cy="929413"/>
          </a:xfrm>
          <a:prstGeom prst="rect">
            <a:avLst/>
          </a:prstGeom>
          <a:noFill/>
          <a:ln/>
        </p:spPr>
        <p:txBody>
          <a:bodyPr wrap="square" lIns="0" tIns="0" rIns="0" bIns="0" rtlCol="0" anchor="t">
            <a:spAutoFit/>
          </a:bodyPr>
          <a:lstStyle/>
          <a:p>
            <a:pPr algn="l" indent="0" marL="0">
              <a:lnSpc>
                <a:spcPct val="114400"/>
              </a:lnSpc>
              <a:buNone/>
            </a:pPr>
            <a:r>
              <a:rPr lang="en-US" sz="650" dirty="0">
                <a:solidFill>
                  <a:srgbClr val="475569"/>
                </a:solidFill>
                <a:latin typeface="SFMono-Regular" pitchFamily="34" charset="0"/>
                <a:ea typeface="SFMono-Regular" pitchFamily="34" charset="-122"/>
                <a:cs typeface="SFMono-Regular" pitchFamily="34" charset="-120"/>
              </a:rPr>
              <a:t>Persist inputs, outputs, conventions, predicates, hashes, and provenance.</a:t>
            </a:r>
            <a:endParaRPr lang="en-US" sz="650" dirty="0"/>
          </a:p>
        </p:txBody>
      </p:sp>
      <p:sp>
        <p:nvSpPr>
          <p:cNvPr id="30" name="Shape 26"/>
          <p:cNvSpPr/>
          <p:nvPr/>
        </p:nvSpPr>
        <p:spPr>
          <a:xfrm>
            <a:off x="5181005" y="1869877"/>
            <a:ext cx="171450" cy="171450"/>
          </a:xfrm>
          <a:prstGeom prst="rect">
            <a:avLst/>
          </a:prstGeom>
          <a:solidFill>
            <a:srgbClr val="FFFFFF"/>
          </a:solidFill>
          <a:ln/>
        </p:spPr>
      </p:sp>
      <p:sp>
        <p:nvSpPr>
          <p:cNvPr id="31" name="Text 27"/>
          <p:cNvSpPr/>
          <p:nvPr/>
        </p:nvSpPr>
        <p:spPr>
          <a:xfrm>
            <a:off x="5181005" y="1869877"/>
            <a:ext cx="171450" cy="171450"/>
          </a:xfrm>
          <a:prstGeom prst="rect">
            <a:avLst/>
          </a:prstGeom>
          <a:noFill/>
          <a:ln/>
        </p:spPr>
        <p:txBody>
          <a:bodyPr wrap="none" lIns="17018" tIns="0" rIns="17018" bIns="0" rtlCol="0" anchor="t">
            <a:spAutoFit/>
          </a:bodyPr>
          <a:lstStyle/>
          <a:p>
            <a:pPr algn="l" indent="0" marL="0">
              <a:lnSpc>
                <a:spcPct val="80000"/>
              </a:lnSpc>
              <a:buNone/>
            </a:pPr>
            <a:r>
              <a:rPr lang="en-US" sz="1200" b="1" dirty="0">
                <a:solidFill>
                  <a:srgbClr val="D90429"/>
                </a:solidFill>
                <a:latin typeface="Georgia" pitchFamily="34" charset="0"/>
                <a:ea typeface="Georgia" pitchFamily="34" charset="-122"/>
                <a:cs typeface="Georgia" pitchFamily="34" charset="-120"/>
              </a:rPr>
              <a:t>→</a:t>
            </a:r>
            <a:endParaRPr lang="en-US" sz="1200" dirty="0"/>
          </a:p>
        </p:txBody>
      </p:sp>
      <p:sp>
        <p:nvSpPr>
          <p:cNvPr id="32" name="Text 28"/>
          <p:cNvSpPr/>
          <p:nvPr/>
        </p:nvSpPr>
        <p:spPr>
          <a:xfrm>
            <a:off x="5388173" y="1555552"/>
            <a:ext cx="894755" cy="157163"/>
          </a:xfrm>
          <a:prstGeom prst="rect">
            <a:avLst/>
          </a:prstGeom>
          <a:noFill/>
          <a:ln/>
        </p:spPr>
        <p:txBody>
          <a:bodyPr wrap="none" lIns="0" tIns="0" rIns="0" bIns="0" rtlCol="0" anchor="t">
            <a:spAutoFit/>
          </a:bodyPr>
          <a:lstStyle/>
          <a:p>
            <a:pPr algn="l" indent="0" marL="0">
              <a:lnSpc>
                <a:spcPct val="80000"/>
              </a:lnSpc>
              <a:buNone/>
            </a:pPr>
            <a:r>
              <a:rPr lang="en-US" sz="1100" b="1" dirty="0">
                <a:solidFill>
                  <a:srgbClr val="D90429"/>
                </a:solidFill>
                <a:latin typeface="SFMono-Regular" pitchFamily="34" charset="0"/>
                <a:ea typeface="SFMono-Regular" pitchFamily="34" charset="-122"/>
                <a:cs typeface="SFMono-Regular" pitchFamily="34" charset="-120"/>
              </a:rPr>
              <a:t>06</a:t>
            </a:r>
            <a:endParaRPr lang="en-US" sz="1100" dirty="0"/>
          </a:p>
        </p:txBody>
      </p:sp>
      <p:sp>
        <p:nvSpPr>
          <p:cNvPr id="33" name="Text 29"/>
          <p:cNvSpPr/>
          <p:nvPr/>
        </p:nvSpPr>
        <p:spPr>
          <a:xfrm>
            <a:off x="5388173" y="1784152"/>
            <a:ext cx="894755" cy="149293"/>
          </a:xfrm>
          <a:prstGeom prst="rect">
            <a:avLst/>
          </a:prstGeom>
          <a:noFill/>
          <a:ln/>
        </p:spPr>
        <p:txBody>
          <a:bodyPr wrap="none" lIns="0" tIns="0" rIns="0" bIns="0" rtlCol="0" anchor="t">
            <a:spAutoFit/>
          </a:bodyPr>
          <a:lstStyle/>
          <a:p>
            <a:pPr algn="l" indent="0" marL="0">
              <a:lnSpc>
                <a:spcPct val="88000"/>
              </a:lnSpc>
              <a:buNone/>
            </a:pPr>
            <a:r>
              <a:rPr lang="en-US" sz="950" b="1" dirty="0">
                <a:solidFill>
                  <a:srgbClr val="0A192F"/>
                </a:solidFill>
                <a:latin typeface="Georgia" pitchFamily="34" charset="0"/>
                <a:ea typeface="Georgia" pitchFamily="34" charset="-122"/>
                <a:cs typeface="Georgia" pitchFamily="34" charset="-120"/>
              </a:rPr>
              <a:t>Explain</a:t>
            </a:r>
            <a:endParaRPr lang="en-US" sz="950" dirty="0"/>
          </a:p>
        </p:txBody>
      </p:sp>
      <p:sp>
        <p:nvSpPr>
          <p:cNvPr id="34" name="Text 30"/>
          <p:cNvSpPr/>
          <p:nvPr/>
        </p:nvSpPr>
        <p:spPr>
          <a:xfrm>
            <a:off x="5388173" y="1990595"/>
            <a:ext cx="894755" cy="663866"/>
          </a:xfrm>
          <a:prstGeom prst="rect">
            <a:avLst/>
          </a:prstGeom>
          <a:noFill/>
          <a:ln/>
        </p:spPr>
        <p:txBody>
          <a:bodyPr wrap="square" lIns="0" tIns="0" rIns="0" bIns="0" rtlCol="0" anchor="t">
            <a:spAutoFit/>
          </a:bodyPr>
          <a:lstStyle/>
          <a:p>
            <a:pPr algn="l" indent="0" marL="0">
              <a:lnSpc>
                <a:spcPct val="114400"/>
              </a:lnSpc>
              <a:buNone/>
            </a:pPr>
            <a:r>
              <a:rPr lang="en-US" sz="650" dirty="0">
                <a:solidFill>
                  <a:srgbClr val="475569"/>
                </a:solidFill>
                <a:latin typeface="SFMono-Regular" pitchFamily="34" charset="0"/>
                <a:ea typeface="SFMono-Regular" pitchFamily="34" charset="-122"/>
                <a:cs typeface="SFMono-Regular" pitchFamily="34" charset="-120"/>
              </a:rPr>
              <a:t>Expose the derivation graph and plain-language significance.</a:t>
            </a:r>
            <a:endParaRPr lang="en-US" sz="650" dirty="0"/>
          </a:p>
        </p:txBody>
      </p:sp>
      <p:sp>
        <p:nvSpPr>
          <p:cNvPr id="35" name="Text 31"/>
          <p:cNvSpPr/>
          <p:nvPr/>
        </p:nvSpPr>
        <p:spPr>
          <a:xfrm>
            <a:off x="485775" y="3148608"/>
            <a:ext cx="2898577" cy="164306"/>
          </a:xfrm>
          <a:prstGeom prst="rect">
            <a:avLst/>
          </a:prstGeom>
          <a:noFill/>
          <a:ln/>
        </p:spPr>
        <p:txBody>
          <a:bodyPr wrap="none" lIns="0" tIns="0" rIns="0" bIns="0" rtlCol="0" anchor="t">
            <a:spAutoFit/>
          </a:bodyPr>
          <a:lstStyle/>
          <a:p>
            <a:pPr algn="l" indent="0" marL="0">
              <a:lnSpc>
                <a:spcPct val="92000"/>
              </a:lnSpc>
              <a:buNone/>
            </a:pPr>
            <a:r>
              <a:rPr lang="en-US" sz="1000" b="1" dirty="0">
                <a:solidFill>
                  <a:srgbClr val="0A192F"/>
                </a:solidFill>
                <a:latin typeface="Georgia" pitchFamily="34" charset="0"/>
                <a:ea typeface="Georgia" pitchFamily="34" charset="-122"/>
                <a:cs typeface="Georgia" pitchFamily="34" charset="-120"/>
              </a:rPr>
              <a:t>What the kernel guarantees</a:t>
            </a:r>
            <a:endParaRPr lang="en-US" sz="1000" dirty="0"/>
          </a:p>
        </p:txBody>
      </p:sp>
      <p:sp>
        <p:nvSpPr>
          <p:cNvPr id="36" name="Text 32"/>
          <p:cNvSpPr/>
          <p:nvPr/>
        </p:nvSpPr>
        <p:spPr>
          <a:xfrm>
            <a:off x="485775" y="3362920"/>
            <a:ext cx="2898577" cy="434987"/>
          </a:xfrm>
          <a:prstGeom prst="rect">
            <a:avLst/>
          </a:prstGeom>
          <a:noFill/>
          <a:ln/>
        </p:spPr>
        <p:txBody>
          <a:bodyPr wrap="square" lIns="0" tIns="0" rIns="0" bIns="0" rtlCol="0" anchor="t">
            <a:spAutoFit/>
          </a:bodyPr>
          <a:lstStyle/>
          <a:p>
            <a:pPr algn="l" indent="0" marL="0">
              <a:lnSpc>
                <a:spcPct val="116000"/>
              </a:lnSpc>
              <a:buNone/>
            </a:pPr>
            <a:r>
              <a:rPr lang="en-US" sz="750" dirty="0">
                <a:solidFill>
                  <a:srgbClr val="334155"/>
                </a:solidFill>
                <a:latin typeface="SFMono-Regular" pitchFamily="34" charset="0"/>
                <a:ea typeface="SFMono-Regular" pitchFamily="34" charset="-122"/>
                <a:cs typeface="SFMono-Regular" pitchFamily="34" charset="-120"/>
              </a:rPr>
              <a:t>Deterministic canonicalization, index-safe contractions, registered ops, invariant checks, stable serialization, and replayable evidence.</a:t>
            </a:r>
            <a:endParaRPr lang="en-US" sz="750" dirty="0"/>
          </a:p>
        </p:txBody>
      </p:sp>
      <p:sp>
        <p:nvSpPr>
          <p:cNvPr id="37" name="Text 33"/>
          <p:cNvSpPr/>
          <p:nvPr/>
        </p:nvSpPr>
        <p:spPr>
          <a:xfrm>
            <a:off x="3470077" y="3148608"/>
            <a:ext cx="2898577" cy="164306"/>
          </a:xfrm>
          <a:prstGeom prst="rect">
            <a:avLst/>
          </a:prstGeom>
          <a:noFill/>
          <a:ln/>
        </p:spPr>
        <p:txBody>
          <a:bodyPr wrap="none" lIns="0" tIns="0" rIns="0" bIns="0" rtlCol="0" anchor="t">
            <a:spAutoFit/>
          </a:bodyPr>
          <a:lstStyle/>
          <a:p>
            <a:pPr algn="l" indent="0" marL="0">
              <a:lnSpc>
                <a:spcPct val="92000"/>
              </a:lnSpc>
              <a:buNone/>
            </a:pPr>
            <a:r>
              <a:rPr lang="en-US" sz="1000" b="1" dirty="0">
                <a:solidFill>
                  <a:srgbClr val="0A192F"/>
                </a:solidFill>
                <a:latin typeface="Georgia" pitchFamily="34" charset="0"/>
                <a:ea typeface="Georgia" pitchFamily="34" charset="-122"/>
                <a:cs typeface="Georgia" pitchFamily="34" charset="-120"/>
              </a:rPr>
              <a:t>What it refuses to infer</a:t>
            </a:r>
            <a:endParaRPr lang="en-US" sz="1000" dirty="0"/>
          </a:p>
        </p:txBody>
      </p:sp>
      <p:sp>
        <p:nvSpPr>
          <p:cNvPr id="38" name="Text 34"/>
          <p:cNvSpPr/>
          <p:nvPr/>
        </p:nvSpPr>
        <p:spPr>
          <a:xfrm>
            <a:off x="3470077" y="3362920"/>
            <a:ext cx="2898577" cy="434987"/>
          </a:xfrm>
          <a:prstGeom prst="rect">
            <a:avLst/>
          </a:prstGeom>
          <a:noFill/>
          <a:ln/>
        </p:spPr>
        <p:txBody>
          <a:bodyPr wrap="square" lIns="0" tIns="0" rIns="0" bIns="0" rtlCol="0" anchor="t">
            <a:spAutoFit/>
          </a:bodyPr>
          <a:lstStyle/>
          <a:p>
            <a:pPr algn="l" indent="0" marL="0">
              <a:lnSpc>
                <a:spcPct val="116000"/>
              </a:lnSpc>
              <a:buNone/>
            </a:pPr>
            <a:r>
              <a:rPr lang="en-US" sz="750" dirty="0">
                <a:solidFill>
                  <a:srgbClr val="334155"/>
                </a:solidFill>
                <a:latin typeface="SFMono-Regular" pitchFamily="34" charset="0"/>
                <a:ea typeface="SFMono-Regular" pitchFamily="34" charset="-122"/>
                <a:cs typeface="SFMono-Regular" pitchFamily="34" charset="-120"/>
              </a:rPr>
              <a:t>Missing equations, unsupported predictions, unprovided representations, and semantic truth from proximity alone.</a:t>
            </a:r>
            <a:endParaRPr lang="en-US" sz="750" dirty="0"/>
          </a:p>
        </p:txBody>
      </p:sp>
      <p:sp>
        <p:nvSpPr>
          <p:cNvPr id="39" name="Text 35"/>
          <p:cNvSpPr/>
          <p:nvPr/>
        </p:nvSpPr>
        <p:spPr>
          <a:xfrm>
            <a:off x="6697266" y="1569839"/>
            <a:ext cx="1960959" cy="172845"/>
          </a:xfrm>
          <a:prstGeom prst="rect">
            <a:avLst/>
          </a:prstGeom>
          <a:noFill/>
          <a:ln/>
        </p:spPr>
        <p:txBody>
          <a:bodyPr wrap="none" lIns="0" tIns="0" rIns="0" bIns="0" rtlCol="0" anchor="t">
            <a:spAutoFit/>
          </a:bodyPr>
          <a:lstStyle/>
          <a:p>
            <a:pPr algn="l" indent="0" marL="0">
              <a:lnSpc>
                <a:spcPct val="88000"/>
              </a:lnSpc>
              <a:buNone/>
            </a:pPr>
            <a:r>
              <a:rPr lang="en-US" sz="1100" b="1" dirty="0">
                <a:solidFill>
                  <a:srgbClr val="0A192F"/>
                </a:solidFill>
                <a:latin typeface="Georgia" pitchFamily="34" charset="0"/>
                <a:ea typeface="Georgia" pitchFamily="34" charset="-122"/>
                <a:cs typeface="Georgia" pitchFamily="34" charset="-120"/>
              </a:rPr>
              <a:t>Only three result states</a:t>
            </a:r>
            <a:endParaRPr lang="en-US" sz="1100" dirty="0"/>
          </a:p>
        </p:txBody>
      </p:sp>
      <p:sp>
        <p:nvSpPr>
          <p:cNvPr id="40" name="Text 36"/>
          <p:cNvSpPr/>
          <p:nvPr/>
        </p:nvSpPr>
        <p:spPr>
          <a:xfrm>
            <a:off x="6697266" y="1878416"/>
            <a:ext cx="537232" cy="135731"/>
          </a:xfrm>
          <a:prstGeom prst="rect">
            <a:avLst/>
          </a:prstGeom>
          <a:noFill/>
          <a:ln/>
        </p:spPr>
        <p:txBody>
          <a:bodyPr wrap="none" lIns="0" tIns="0" rIns="0" bIns="0" rtlCol="0" anchor="t">
            <a:spAutoFit/>
          </a:bodyPr>
          <a:lstStyle/>
          <a:p>
            <a:pPr algn="l" indent="0" marL="0">
              <a:lnSpc>
                <a:spcPct val="96000"/>
              </a:lnSpc>
              <a:buNone/>
            </a:pPr>
            <a:r>
              <a:rPr lang="en-US" sz="700" b="1" spc="1" kern="0" dirty="0">
                <a:solidFill>
                  <a:srgbClr val="D90429"/>
                </a:solidFill>
                <a:latin typeface="SFMono-Regular" pitchFamily="34" charset="0"/>
                <a:ea typeface="SFMono-Regular" pitchFamily="34" charset="-122"/>
                <a:cs typeface="SFMono-Regular" pitchFamily="34" charset="-120"/>
              </a:rPr>
              <a:t>VERIFIED</a:t>
            </a:r>
            <a:endParaRPr lang="en-US" sz="700" dirty="0"/>
          </a:p>
        </p:txBody>
      </p:sp>
      <p:sp>
        <p:nvSpPr>
          <p:cNvPr id="41" name="Text 37"/>
          <p:cNvSpPr/>
          <p:nvPr/>
        </p:nvSpPr>
        <p:spPr>
          <a:xfrm>
            <a:off x="6697266" y="2046294"/>
            <a:ext cx="1960959" cy="567928"/>
          </a:xfrm>
          <a:prstGeom prst="rect">
            <a:avLst/>
          </a:prstGeom>
          <a:noFill/>
          <a:ln/>
        </p:spPr>
        <p:txBody>
          <a:bodyPr wrap="square" lIns="0" tIns="0" rIns="0" bIns="0" rtlCol="0" anchor="t">
            <a:spAutoFit/>
          </a:bodyPr>
          <a:lstStyle/>
          <a:p>
            <a:pPr algn="l" indent="0" marL="0">
              <a:lnSpc>
                <a:spcPct val="113600"/>
              </a:lnSpc>
              <a:buNone/>
            </a:pPr>
            <a:r>
              <a:rPr lang="en-US" sz="750" dirty="0">
                <a:solidFill>
                  <a:srgbClr val="334155"/>
                </a:solidFill>
                <a:latin typeface="SFMono-Regular" pitchFamily="34" charset="0"/>
                <a:ea typeface="SFMono-Regular" pitchFamily="34" charset="-122"/>
                <a:cs typeface="SFMono-Regular" pitchFamily="34" charset="-120"/>
              </a:rPr>
              <a:t>The operation and declared predicates replay successfully under the registered conventions.</a:t>
            </a:r>
            <a:endParaRPr lang="en-US" sz="750" dirty="0"/>
          </a:p>
        </p:txBody>
      </p:sp>
      <p:sp>
        <p:nvSpPr>
          <p:cNvPr id="42" name="Text 38"/>
          <p:cNvSpPr/>
          <p:nvPr/>
        </p:nvSpPr>
        <p:spPr>
          <a:xfrm>
            <a:off x="6697266" y="2721378"/>
            <a:ext cx="268616" cy="135731"/>
          </a:xfrm>
          <a:prstGeom prst="rect">
            <a:avLst/>
          </a:prstGeom>
          <a:noFill/>
          <a:ln/>
        </p:spPr>
        <p:txBody>
          <a:bodyPr wrap="none" lIns="0" tIns="0" rIns="0" bIns="0" rtlCol="0" anchor="t">
            <a:spAutoFit/>
          </a:bodyPr>
          <a:lstStyle/>
          <a:p>
            <a:pPr algn="l" indent="0" marL="0">
              <a:lnSpc>
                <a:spcPct val="96000"/>
              </a:lnSpc>
              <a:buNone/>
            </a:pPr>
            <a:r>
              <a:rPr lang="en-US" sz="700" b="1" spc="1" kern="0" dirty="0">
                <a:solidFill>
                  <a:srgbClr val="D90429"/>
                </a:solidFill>
                <a:latin typeface="SFMono-Regular" pitchFamily="34" charset="0"/>
                <a:ea typeface="SFMono-Regular" pitchFamily="34" charset="-122"/>
                <a:cs typeface="SFMono-Regular" pitchFamily="34" charset="-120"/>
              </a:rPr>
              <a:t>FAIL</a:t>
            </a:r>
            <a:endParaRPr lang="en-US" sz="700" dirty="0"/>
          </a:p>
        </p:txBody>
      </p:sp>
      <p:sp>
        <p:nvSpPr>
          <p:cNvPr id="43" name="Text 39"/>
          <p:cNvSpPr/>
          <p:nvPr/>
        </p:nvSpPr>
        <p:spPr>
          <a:xfrm>
            <a:off x="6697266" y="2889256"/>
            <a:ext cx="1960959" cy="425946"/>
          </a:xfrm>
          <a:prstGeom prst="rect">
            <a:avLst/>
          </a:prstGeom>
          <a:noFill/>
          <a:ln/>
        </p:spPr>
        <p:txBody>
          <a:bodyPr wrap="square" lIns="0" tIns="0" rIns="0" bIns="0" rtlCol="0" anchor="t">
            <a:spAutoFit/>
          </a:bodyPr>
          <a:lstStyle/>
          <a:p>
            <a:pPr algn="l" indent="0" marL="0">
              <a:lnSpc>
                <a:spcPct val="113600"/>
              </a:lnSpc>
              <a:buNone/>
            </a:pPr>
            <a:r>
              <a:rPr lang="en-US" sz="750" dirty="0">
                <a:solidFill>
                  <a:srgbClr val="334155"/>
                </a:solidFill>
                <a:latin typeface="SFMono-Regular" pitchFamily="34" charset="0"/>
                <a:ea typeface="SFMono-Regular" pitchFamily="34" charset="-122"/>
                <a:cs typeface="SFMono-Regular" pitchFamily="34" charset="-120"/>
              </a:rPr>
              <a:t>An invariant, schema, type, numerical tolerance, or replay check is violated.</a:t>
            </a:r>
            <a:endParaRPr lang="en-US" sz="750" dirty="0"/>
          </a:p>
        </p:txBody>
      </p:sp>
      <p:sp>
        <p:nvSpPr>
          <p:cNvPr id="44" name="Text 40"/>
          <p:cNvSpPr/>
          <p:nvPr/>
        </p:nvSpPr>
        <p:spPr>
          <a:xfrm>
            <a:off x="6697266" y="3422359"/>
            <a:ext cx="805848" cy="135731"/>
          </a:xfrm>
          <a:prstGeom prst="rect">
            <a:avLst/>
          </a:prstGeom>
          <a:noFill/>
          <a:ln/>
        </p:spPr>
        <p:txBody>
          <a:bodyPr wrap="none" lIns="0" tIns="0" rIns="0" bIns="0" rtlCol="0" anchor="t">
            <a:spAutoFit/>
          </a:bodyPr>
          <a:lstStyle/>
          <a:p>
            <a:pPr algn="l" indent="0" marL="0">
              <a:lnSpc>
                <a:spcPct val="96000"/>
              </a:lnSpc>
              <a:buNone/>
            </a:pPr>
            <a:r>
              <a:rPr lang="en-US" sz="700" b="1" spc="1" kern="0" dirty="0">
                <a:solidFill>
                  <a:srgbClr val="D90429"/>
                </a:solidFill>
                <a:latin typeface="SFMono-Regular" pitchFamily="34" charset="0"/>
                <a:ea typeface="SFMono-Regular" pitchFamily="34" charset="-122"/>
                <a:cs typeface="SFMono-Regular" pitchFamily="34" charset="-120"/>
              </a:rPr>
              <a:t>UNVERIFIABLE</a:t>
            </a:r>
            <a:endParaRPr lang="en-US" sz="700" dirty="0"/>
          </a:p>
        </p:txBody>
      </p:sp>
      <p:sp>
        <p:nvSpPr>
          <p:cNvPr id="45" name="Text 41"/>
          <p:cNvSpPr/>
          <p:nvPr/>
        </p:nvSpPr>
        <p:spPr>
          <a:xfrm>
            <a:off x="6697266" y="3590237"/>
            <a:ext cx="1960959" cy="425946"/>
          </a:xfrm>
          <a:prstGeom prst="rect">
            <a:avLst/>
          </a:prstGeom>
          <a:noFill/>
          <a:ln/>
        </p:spPr>
        <p:txBody>
          <a:bodyPr wrap="square" lIns="0" tIns="0" rIns="0" bIns="0" rtlCol="0" anchor="t">
            <a:spAutoFit/>
          </a:bodyPr>
          <a:lstStyle/>
          <a:p>
            <a:pPr algn="l" indent="0" marL="0">
              <a:lnSpc>
                <a:spcPct val="113600"/>
              </a:lnSpc>
              <a:buNone/>
            </a:pPr>
            <a:r>
              <a:rPr lang="en-US" sz="750" dirty="0">
                <a:solidFill>
                  <a:srgbClr val="334155"/>
                </a:solidFill>
                <a:latin typeface="SFMono-Regular" pitchFamily="34" charset="0"/>
                <a:ea typeface="SFMono-Regular" pitchFamily="34" charset="-122"/>
                <a:cs typeface="SFMono-Regular" pitchFamily="34" charset="-120"/>
              </a:rPr>
              <a:t>The claim may be meaningful, but required equations, assumptions, or evidence are missing.</a:t>
            </a:r>
            <a:endParaRPr lang="en-US" sz="750" dirty="0"/>
          </a:p>
        </p:txBody>
      </p:sp>
      <p:sp>
        <p:nvSpPr>
          <p:cNvPr id="46" name="Text 42"/>
          <p:cNvSpPr/>
          <p:nvPr/>
        </p:nvSpPr>
        <p:spPr>
          <a:xfrm>
            <a:off x="7656649" y="5000625"/>
            <a:ext cx="1230176"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0A192F"/>
                </a:solidFill>
                <a:latin typeface="SFMono-Regular" pitchFamily="34" charset="0"/>
                <a:ea typeface="SFMono-Regular" pitchFamily="34" charset="-122"/>
                <a:cs typeface="SFMono-Regular" pitchFamily="34" charset="-120"/>
              </a:rPr>
              <a:t>SOVEREIGN ENGINE / 09</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14350" y="400050"/>
            <a:ext cx="6000750" cy="119993"/>
          </a:xfrm>
          <a:prstGeom prst="rect">
            <a:avLst/>
          </a:prstGeom>
          <a:noFill/>
          <a:ln/>
        </p:spPr>
        <p:txBody>
          <a:bodyPr wrap="none" lIns="0" tIns="0" rIns="0" bIns="0" rtlCol="0" anchor="t">
            <a:spAutoFit/>
          </a:bodyPr>
          <a:lstStyle/>
          <a:p>
            <a:pPr algn="l" indent="0" marL="0">
              <a:lnSpc>
                <a:spcPct val="96000"/>
              </a:lnSpc>
              <a:buNone/>
            </a:pPr>
            <a:r>
              <a:rPr lang="en-US" sz="700" b="1" spc="2" kern="0" dirty="0">
                <a:solidFill>
                  <a:srgbClr val="D90429"/>
                </a:solidFill>
                <a:latin typeface="SFMono-Regular" pitchFamily="34" charset="0"/>
                <a:ea typeface="SFMono-Regular" pitchFamily="34" charset="-122"/>
                <a:cs typeface="SFMono-Regular" pitchFamily="34" charset="-120"/>
              </a:rPr>
              <a:t>08 / SOFTWARE CONTRACTS</a:t>
            </a:r>
            <a:endParaRPr lang="en-US" sz="700" dirty="0"/>
          </a:p>
        </p:txBody>
      </p:sp>
      <p:sp>
        <p:nvSpPr>
          <p:cNvPr id="5" name="Text 1"/>
          <p:cNvSpPr/>
          <p:nvPr/>
        </p:nvSpPr>
        <p:spPr>
          <a:xfrm>
            <a:off x="514350" y="620055"/>
            <a:ext cx="5429250" cy="310418"/>
          </a:xfrm>
          <a:prstGeom prst="rect">
            <a:avLst/>
          </a:prstGeom>
          <a:noFill/>
          <a:ln/>
        </p:spPr>
        <p:txBody>
          <a:bodyPr wrap="none" lIns="0" tIns="0" rIns="0" bIns="0" rtlCol="0" anchor="t">
            <a:spAutoFit/>
          </a:bodyPr>
          <a:lstStyle/>
          <a:p>
            <a:pPr algn="l" indent="0" marL="0">
              <a:lnSpc>
                <a:spcPct val="84800"/>
              </a:lnSpc>
              <a:buNone/>
            </a:pPr>
            <a:r>
              <a:rPr lang="en-US" sz="2050" b="1" spc="-1" kern="0" dirty="0">
                <a:solidFill>
                  <a:srgbClr val="0A192F"/>
                </a:solidFill>
                <a:latin typeface="Georgia" pitchFamily="34" charset="0"/>
                <a:ea typeface="Georgia" pitchFamily="34" charset="-122"/>
                <a:cs typeface="Georgia" pitchFamily="34" charset="-120"/>
              </a:rPr>
              <a:t>APIs turn equations into contracts</a:t>
            </a:r>
            <a:endParaRPr lang="en-US" sz="2050" dirty="0"/>
          </a:p>
        </p:txBody>
      </p:sp>
      <p:sp>
        <p:nvSpPr>
          <p:cNvPr id="6" name="Text 2"/>
          <p:cNvSpPr/>
          <p:nvPr/>
        </p:nvSpPr>
        <p:spPr>
          <a:xfrm>
            <a:off x="514350" y="1166217"/>
            <a:ext cx="1571625" cy="128588"/>
          </a:xfrm>
          <a:prstGeom prst="rect">
            <a:avLst/>
          </a:prstGeom>
          <a:noFill/>
          <a:ln/>
        </p:spPr>
        <p:txBody>
          <a:bodyPr wrap="none" lIns="0" tIns="0" rIns="0" bIns="0" rtlCol="0" anchor="t">
            <a:spAutoFit/>
          </a:bodyPr>
          <a:lstStyle/>
          <a:p>
            <a:pPr algn="l" indent="0" marL="0">
              <a:lnSpc>
                <a:spcPct val="96000"/>
              </a:lnSpc>
              <a:buNone/>
            </a:pPr>
            <a:r>
              <a:rPr lang="en-US" sz="750" b="1" dirty="0">
                <a:solidFill>
                  <a:srgbClr val="D90429"/>
                </a:solidFill>
                <a:latin typeface="SFMono-Regular" pitchFamily="34" charset="0"/>
                <a:ea typeface="SFMono-Regular" pitchFamily="34" charset="-122"/>
                <a:cs typeface="SFMono-Regular" pitchFamily="34" charset="-120"/>
              </a:rPr>
              <a:t>POST /manifolds</a:t>
            </a:r>
            <a:endParaRPr lang="en-US" sz="750" dirty="0"/>
          </a:p>
        </p:txBody>
      </p:sp>
      <p:sp>
        <p:nvSpPr>
          <p:cNvPr id="7" name="Text 3"/>
          <p:cNvSpPr/>
          <p:nvPr/>
        </p:nvSpPr>
        <p:spPr>
          <a:xfrm>
            <a:off x="2171700" y="1166217"/>
            <a:ext cx="1200150" cy="835819"/>
          </a:xfrm>
          <a:prstGeom prst="rect">
            <a:avLst/>
          </a:prstGeom>
          <a:noFill/>
          <a:ln/>
        </p:spPr>
        <p:txBody>
          <a:bodyPr wrap="square" lIns="0" tIns="0" rIns="0" bIns="0" rtlCol="0" anchor="t">
            <a:spAutoFit/>
          </a:bodyPr>
          <a:lstStyle/>
          <a:p>
            <a:pPr algn="l" indent="0" marL="0">
              <a:lnSpc>
                <a:spcPct val="104000"/>
              </a:lnSpc>
              <a:buNone/>
            </a:pPr>
            <a:r>
              <a:rPr lang="en-US" sz="750" b="1" dirty="0">
                <a:solidFill>
                  <a:srgbClr val="0A192F"/>
                </a:solidFill>
                <a:latin typeface="SFMono-Regular" pitchFamily="34" charset="0"/>
                <a:ea typeface="SFMono-Regular" pitchFamily="34" charset="-122"/>
                <a:cs typeface="SFMono-Regular" pitchFamily="34" charset="-120"/>
              </a:rPr>
              <a:t>Register X⁴ or Y¹⁴</a:t>
            </a:r>
            <a:r>
              <a:rPr lang="en-US" sz="800" dirty="0">
                <a:solidFill>
                  <a:srgbClr val="334155"/>
                </a:solidFill>
                <a:latin typeface="SFMono-Regular" pitchFamily="34" charset="0"/>
                <a:ea typeface="SFMono-Regular" pitchFamily="34" charset="-122"/>
                <a:cs typeface="SFMono-Regular" pitchFamily="34" charset="-120"/>
              </a:rPr>
              <a:t> with dimension, </a:t>
            </a:r>
            <a:r>
              <a:rPr lang="en-US" sz="800" dirty="0">
                <a:solidFill>
                  <a:srgbClr val="334155"/>
                </a:solidFill>
                <a:latin typeface="SFMono-Regular" pitchFamily="34" charset="0"/>
                <a:ea typeface="SFMono-Regular" pitchFamily="34" charset="-122"/>
                <a:cs typeface="SFMono-Regular" pitchFamily="34" charset="-120"/>
              </a:rPr>
              <a:t>signature, </a:t>
            </a:r>
            <a:r>
              <a:rPr lang="en-US" sz="800" dirty="0">
                <a:solidFill>
                  <a:srgbClr val="334155"/>
                </a:solidFill>
                <a:latin typeface="SFMono-Regular" pitchFamily="34" charset="0"/>
                <a:ea typeface="SFMono-Regular" pitchFamily="34" charset="-122"/>
                <a:cs typeface="SFMono-Regular" pitchFamily="34" charset="-120"/>
              </a:rPr>
              <a:t>coordinates, </a:t>
            </a:r>
            <a:r>
              <a:rPr lang="en-US" sz="800" dirty="0">
                <a:solidFill>
                  <a:srgbClr val="334155"/>
                </a:solidFill>
                <a:latin typeface="SFMono-Regular" pitchFamily="34" charset="0"/>
                <a:ea typeface="SFMono-Regular" pitchFamily="34" charset="-122"/>
                <a:cs typeface="SFMono-Regular" pitchFamily="34" charset="-120"/>
              </a:rPr>
              <a:t>orientation, and </a:t>
            </a:r>
            <a:r>
              <a:rPr lang="en-US" sz="800" dirty="0">
                <a:solidFill>
                  <a:srgbClr val="334155"/>
                </a:solidFill>
                <a:latin typeface="SFMono-Regular" pitchFamily="34" charset="0"/>
                <a:ea typeface="SFMono-Regular" pitchFamily="34" charset="-122"/>
                <a:cs typeface="SFMono-Regular" pitchFamily="34" charset="-120"/>
              </a:rPr>
              <a:t>provenance.</a:t>
            </a:r>
            <a:endParaRPr lang="en-US" sz="750" dirty="0"/>
          </a:p>
        </p:txBody>
      </p:sp>
      <p:sp>
        <p:nvSpPr>
          <p:cNvPr id="8" name="Text 4"/>
          <p:cNvSpPr/>
          <p:nvPr/>
        </p:nvSpPr>
        <p:spPr>
          <a:xfrm>
            <a:off x="3514725" y="1166217"/>
            <a:ext cx="1571625" cy="128588"/>
          </a:xfrm>
          <a:prstGeom prst="rect">
            <a:avLst/>
          </a:prstGeom>
          <a:noFill/>
          <a:ln/>
        </p:spPr>
        <p:txBody>
          <a:bodyPr wrap="none" lIns="0" tIns="0" rIns="0" bIns="0" rtlCol="0" anchor="t">
            <a:spAutoFit/>
          </a:bodyPr>
          <a:lstStyle/>
          <a:p>
            <a:pPr algn="l" indent="0" marL="0">
              <a:lnSpc>
                <a:spcPct val="96000"/>
              </a:lnSpc>
              <a:buNone/>
            </a:pPr>
            <a:r>
              <a:rPr lang="en-US" sz="750" b="1" dirty="0">
                <a:solidFill>
                  <a:srgbClr val="D90429"/>
                </a:solidFill>
                <a:latin typeface="SFMono-Regular" pitchFamily="34" charset="0"/>
                <a:ea typeface="SFMono-Regular" pitchFamily="34" charset="-122"/>
                <a:cs typeface="SFMono-Regular" pitchFamily="34" charset="-120"/>
              </a:rPr>
              <a:t>POST /metrics</a:t>
            </a:r>
            <a:endParaRPr lang="en-US" sz="750" dirty="0"/>
          </a:p>
        </p:txBody>
      </p:sp>
      <p:sp>
        <p:nvSpPr>
          <p:cNvPr id="9" name="Text 5"/>
          <p:cNvSpPr/>
          <p:nvPr/>
        </p:nvSpPr>
        <p:spPr>
          <a:xfrm>
            <a:off x="5172075" y="1162645"/>
            <a:ext cx="514350" cy="146447"/>
          </a:xfrm>
          <a:prstGeom prst="rect">
            <a:avLst/>
          </a:prstGeom>
          <a:noFill/>
          <a:ln/>
        </p:spPr>
        <p:txBody>
          <a:bodyPr wrap="none" lIns="0" tIns="0" rIns="0" bIns="0" rtlCol="0" anchor="t">
            <a:spAutoFit/>
          </a:bodyPr>
          <a:lstStyle/>
          <a:p>
            <a:pPr algn="l" indent="0" marL="0">
              <a:lnSpc>
                <a:spcPct val="104000"/>
              </a:lnSpc>
              <a:buNone/>
            </a:pPr>
            <a:r>
              <a:rPr lang="en-US" sz="750" b="1" dirty="0">
                <a:solidFill>
                  <a:srgbClr val="0A192F"/>
                </a:solidFill>
                <a:latin typeface="SFMono-Regular" pitchFamily="34" charset="0"/>
                <a:ea typeface="SFMono-Regular" pitchFamily="34" charset="-122"/>
                <a:cs typeface="SFMono-Regular" pitchFamily="34" charset="-120"/>
              </a:rPr>
              <a:t>Define g</a:t>
            </a:r>
            <a:endParaRPr lang="en-US" sz="750" dirty="0"/>
          </a:p>
        </p:txBody>
      </p:sp>
      <p:sp>
        <p:nvSpPr>
          <p:cNvPr id="10" name="Text 6"/>
          <p:cNvSpPr/>
          <p:nvPr/>
        </p:nvSpPr>
        <p:spPr>
          <a:xfrm>
            <a:off x="5686425" y="1209080"/>
            <a:ext cx="107212" cy="121444"/>
          </a:xfrm>
          <a:prstGeom prst="rect">
            <a:avLst/>
          </a:prstGeom>
          <a:noFill/>
          <a:ln/>
        </p:spPr>
        <p:txBody>
          <a:bodyPr wrap="none" lIns="0" tIns="0" rIns="0" bIns="0" rtlCol="0" anchor="t">
            <a:spAutoFit/>
          </a:bodyPr>
          <a:lstStyle/>
          <a:p>
            <a:pPr algn="l" indent="0" marL="0">
              <a:lnSpc>
                <a:spcPct val="104000"/>
              </a:lnSpc>
              <a:buNone/>
            </a:pPr>
            <a:r>
              <a:rPr lang="en-US" sz="600" b="1" baseline="-40000" dirty="0">
                <a:solidFill>
                  <a:srgbClr val="0A192F"/>
                </a:solidFill>
                <a:latin typeface="SFMono-Regular" pitchFamily="34" charset="0"/>
                <a:ea typeface="SFMono-Regular" pitchFamily="34" charset="-122"/>
                <a:cs typeface="SFMono-Regular" pitchFamily="34" charset="-120"/>
              </a:rPr>
              <a:t>μν</a:t>
            </a:r>
            <a:endParaRPr lang="en-US" sz="600" dirty="0"/>
          </a:p>
        </p:txBody>
      </p:sp>
      <p:sp>
        <p:nvSpPr>
          <p:cNvPr id="11" name="Text 7"/>
          <p:cNvSpPr/>
          <p:nvPr/>
        </p:nvSpPr>
        <p:spPr>
          <a:xfrm>
            <a:off x="5793637" y="1162645"/>
            <a:ext cx="321469" cy="146447"/>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334155"/>
                </a:solidFill>
                <a:latin typeface="SFMono-Regular" pitchFamily="34" charset="0"/>
                <a:ea typeface="SFMono-Regular" pitchFamily="34" charset="-122"/>
                <a:cs typeface="SFMono-Regular" pitchFamily="34" charset="-120"/>
              </a:rPr>
              <a:t>with</a:t>
            </a:r>
            <a:endParaRPr lang="en-US" sz="800" dirty="0"/>
          </a:p>
        </p:txBody>
      </p:sp>
      <p:sp>
        <p:nvSpPr>
          <p:cNvPr id="12" name="Text 8"/>
          <p:cNvSpPr/>
          <p:nvPr/>
        </p:nvSpPr>
        <p:spPr>
          <a:xfrm>
            <a:off x="5172075" y="1325166"/>
            <a:ext cx="578644" cy="146447"/>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334155"/>
                </a:solidFill>
                <a:latin typeface="SFMono-Regular" pitchFamily="34" charset="0"/>
                <a:ea typeface="SFMono-Regular" pitchFamily="34" charset="-122"/>
                <a:cs typeface="SFMono-Regular" pitchFamily="34" charset="-120"/>
              </a:rPr>
              <a:t>symmetry,</a:t>
            </a:r>
            <a:endParaRPr lang="en-US" sz="800" dirty="0"/>
          </a:p>
        </p:txBody>
      </p:sp>
      <p:sp>
        <p:nvSpPr>
          <p:cNvPr id="13" name="Text 9"/>
          <p:cNvSpPr/>
          <p:nvPr/>
        </p:nvSpPr>
        <p:spPr>
          <a:xfrm>
            <a:off x="5172075" y="1464469"/>
            <a:ext cx="835819" cy="146447"/>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334155"/>
                </a:solidFill>
                <a:latin typeface="SFMono-Regular" pitchFamily="34" charset="0"/>
                <a:ea typeface="SFMono-Regular" pitchFamily="34" charset="-122"/>
                <a:cs typeface="SFMono-Regular" pitchFamily="34" charset="-120"/>
              </a:rPr>
              <a:t>nondegeneracy</a:t>
            </a:r>
            <a:endParaRPr lang="en-US" sz="800" dirty="0"/>
          </a:p>
        </p:txBody>
      </p:sp>
      <p:sp>
        <p:nvSpPr>
          <p:cNvPr id="14" name="Text 10"/>
          <p:cNvSpPr/>
          <p:nvPr/>
        </p:nvSpPr>
        <p:spPr>
          <a:xfrm>
            <a:off x="5172075" y="1603772"/>
            <a:ext cx="771525" cy="146447"/>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334155"/>
                </a:solidFill>
                <a:latin typeface="SFMono-Regular" pitchFamily="34" charset="0"/>
                <a:ea typeface="SFMono-Regular" pitchFamily="34" charset="-122"/>
                <a:cs typeface="SFMono-Regular" pitchFamily="34" charset="-120"/>
              </a:rPr>
              <a:t>assumptions,</a:t>
            </a:r>
            <a:endParaRPr lang="en-US" sz="800" dirty="0"/>
          </a:p>
        </p:txBody>
      </p:sp>
      <p:sp>
        <p:nvSpPr>
          <p:cNvPr id="15" name="Text 11"/>
          <p:cNvSpPr/>
          <p:nvPr/>
        </p:nvSpPr>
        <p:spPr>
          <a:xfrm>
            <a:off x="5172075" y="1743075"/>
            <a:ext cx="900113" cy="146447"/>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334155"/>
                </a:solidFill>
                <a:latin typeface="SFMono-Regular" pitchFamily="34" charset="0"/>
                <a:ea typeface="SFMono-Regular" pitchFamily="34" charset="-122"/>
                <a:cs typeface="SFMono-Regular" pitchFamily="34" charset="-120"/>
              </a:rPr>
              <a:t>signature, and</a:t>
            </a:r>
            <a:endParaRPr lang="en-US" sz="800" dirty="0"/>
          </a:p>
        </p:txBody>
      </p:sp>
      <p:sp>
        <p:nvSpPr>
          <p:cNvPr id="16" name="Text 12"/>
          <p:cNvSpPr/>
          <p:nvPr/>
        </p:nvSpPr>
        <p:spPr>
          <a:xfrm>
            <a:off x="5172075" y="1882378"/>
            <a:ext cx="964406" cy="146447"/>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334155"/>
                </a:solidFill>
                <a:latin typeface="SFMono-Regular" pitchFamily="34" charset="0"/>
                <a:ea typeface="SFMono-Regular" pitchFamily="34" charset="-122"/>
                <a:cs typeface="SFMono-Regular" pitchFamily="34" charset="-120"/>
              </a:rPr>
              <a:t>inverse policy.</a:t>
            </a:r>
            <a:endParaRPr lang="en-US" sz="800" dirty="0"/>
          </a:p>
        </p:txBody>
      </p:sp>
      <p:sp>
        <p:nvSpPr>
          <p:cNvPr id="17" name="Text 13"/>
          <p:cNvSpPr/>
          <p:nvPr/>
        </p:nvSpPr>
        <p:spPr>
          <a:xfrm>
            <a:off x="514350" y="2132409"/>
            <a:ext cx="1571625" cy="257175"/>
          </a:xfrm>
          <a:prstGeom prst="rect">
            <a:avLst/>
          </a:prstGeom>
          <a:noFill/>
          <a:ln/>
        </p:spPr>
        <p:txBody>
          <a:bodyPr wrap="square" lIns="0" tIns="0" rIns="0" bIns="0" rtlCol="0" anchor="t">
            <a:spAutoFit/>
          </a:bodyPr>
          <a:lstStyle/>
          <a:p>
            <a:pPr algn="l" indent="0" marL="0">
              <a:lnSpc>
                <a:spcPct val="96000"/>
              </a:lnSpc>
              <a:buNone/>
            </a:pPr>
            <a:r>
              <a:rPr lang="en-US" sz="750" b="1" dirty="0">
                <a:solidFill>
                  <a:srgbClr val="D90429"/>
                </a:solidFill>
                <a:latin typeface="SFMono-Regular" pitchFamily="34" charset="0"/>
                <a:ea typeface="SFMono-Regular" pitchFamily="34" charset="-122"/>
                <a:cs typeface="SFMono-Regular" pitchFamily="34" charset="-120"/>
              </a:rPr>
              <a:t>POST /connections/levi-civita</a:t>
            </a:r>
            <a:endParaRPr lang="en-US" sz="750" dirty="0"/>
          </a:p>
        </p:txBody>
      </p:sp>
      <p:sp>
        <p:nvSpPr>
          <p:cNvPr id="18" name="Text 14"/>
          <p:cNvSpPr/>
          <p:nvPr/>
        </p:nvSpPr>
        <p:spPr>
          <a:xfrm>
            <a:off x="2171700" y="2146697"/>
            <a:ext cx="514350" cy="146447"/>
          </a:xfrm>
          <a:prstGeom prst="rect">
            <a:avLst/>
          </a:prstGeom>
          <a:noFill/>
          <a:ln/>
        </p:spPr>
        <p:txBody>
          <a:bodyPr wrap="none" lIns="0" tIns="0" rIns="0" bIns="0" rtlCol="0" anchor="t">
            <a:spAutoFit/>
          </a:bodyPr>
          <a:lstStyle/>
          <a:p>
            <a:pPr algn="l" indent="0" marL="0">
              <a:lnSpc>
                <a:spcPct val="104000"/>
              </a:lnSpc>
              <a:buNone/>
            </a:pPr>
            <a:r>
              <a:rPr lang="en-US" sz="750" b="1" dirty="0">
                <a:solidFill>
                  <a:srgbClr val="0A192F"/>
                </a:solidFill>
                <a:latin typeface="SFMono-Regular" pitchFamily="34" charset="0"/>
                <a:ea typeface="SFMono-Regular" pitchFamily="34" charset="-122"/>
                <a:cs typeface="SFMono-Regular" pitchFamily="34" charset="-120"/>
              </a:rPr>
              <a:t>Derive Γ</a:t>
            </a:r>
            <a:endParaRPr lang="en-US" sz="750" dirty="0"/>
          </a:p>
        </p:txBody>
      </p:sp>
      <p:sp>
        <p:nvSpPr>
          <p:cNvPr id="19" name="Text 15"/>
          <p:cNvSpPr/>
          <p:nvPr/>
        </p:nvSpPr>
        <p:spPr>
          <a:xfrm>
            <a:off x="2686050" y="2128838"/>
            <a:ext cx="53634" cy="121444"/>
          </a:xfrm>
          <a:prstGeom prst="rect">
            <a:avLst/>
          </a:prstGeom>
          <a:noFill/>
          <a:ln/>
        </p:spPr>
        <p:txBody>
          <a:bodyPr wrap="none" lIns="0" tIns="0" rIns="0" bIns="0" rtlCol="0" anchor="t">
            <a:spAutoFit/>
          </a:bodyPr>
          <a:lstStyle/>
          <a:p>
            <a:pPr algn="l" indent="0" marL="0">
              <a:lnSpc>
                <a:spcPct val="104000"/>
              </a:lnSpc>
              <a:buNone/>
            </a:pPr>
            <a:r>
              <a:rPr lang="en-US" sz="600" b="1" baseline="30000" dirty="0">
                <a:solidFill>
                  <a:srgbClr val="0A192F"/>
                </a:solidFill>
                <a:latin typeface="SFMono-Regular" pitchFamily="34" charset="0"/>
                <a:ea typeface="SFMono-Regular" pitchFamily="34" charset="-122"/>
                <a:cs typeface="SFMono-Regular" pitchFamily="34" charset="-120"/>
              </a:rPr>
              <a:t>ρ</a:t>
            </a:r>
            <a:endParaRPr lang="en-US" sz="600" dirty="0"/>
          </a:p>
        </p:txBody>
      </p:sp>
      <p:sp>
        <p:nvSpPr>
          <p:cNvPr id="20" name="Text 16"/>
          <p:cNvSpPr/>
          <p:nvPr/>
        </p:nvSpPr>
        <p:spPr>
          <a:xfrm>
            <a:off x="2739684" y="2193131"/>
            <a:ext cx="107212" cy="121444"/>
          </a:xfrm>
          <a:prstGeom prst="rect">
            <a:avLst/>
          </a:prstGeom>
          <a:noFill/>
          <a:ln/>
        </p:spPr>
        <p:txBody>
          <a:bodyPr wrap="none" lIns="0" tIns="0" rIns="0" bIns="0" rtlCol="0" anchor="t">
            <a:spAutoFit/>
          </a:bodyPr>
          <a:lstStyle/>
          <a:p>
            <a:pPr algn="l" indent="0" marL="0">
              <a:lnSpc>
                <a:spcPct val="104000"/>
              </a:lnSpc>
              <a:buNone/>
            </a:pPr>
            <a:r>
              <a:rPr lang="en-US" sz="600" b="1" baseline="-40000" dirty="0">
                <a:solidFill>
                  <a:srgbClr val="0A192F"/>
                </a:solidFill>
                <a:latin typeface="SFMono-Regular" pitchFamily="34" charset="0"/>
                <a:ea typeface="SFMono-Regular" pitchFamily="34" charset="-122"/>
                <a:cs typeface="SFMono-Regular" pitchFamily="34" charset="-120"/>
              </a:rPr>
              <a:t>μν</a:t>
            </a:r>
            <a:endParaRPr lang="en-US" sz="600" dirty="0"/>
          </a:p>
        </p:txBody>
      </p:sp>
      <p:sp>
        <p:nvSpPr>
          <p:cNvPr id="21" name="Text 17"/>
          <p:cNvSpPr/>
          <p:nvPr/>
        </p:nvSpPr>
        <p:spPr>
          <a:xfrm>
            <a:off x="2846896" y="2146697"/>
            <a:ext cx="257175" cy="146447"/>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334155"/>
                </a:solidFill>
                <a:latin typeface="SFMono-Regular" pitchFamily="34" charset="0"/>
                <a:ea typeface="SFMono-Regular" pitchFamily="34" charset="-122"/>
                <a:cs typeface="SFMono-Regular" pitchFamily="34" charset="-120"/>
              </a:rPr>
              <a:t>and</a:t>
            </a:r>
            <a:endParaRPr lang="en-US" sz="800" dirty="0"/>
          </a:p>
        </p:txBody>
      </p:sp>
      <p:sp>
        <p:nvSpPr>
          <p:cNvPr id="22" name="Text 18"/>
          <p:cNvSpPr/>
          <p:nvPr/>
        </p:nvSpPr>
        <p:spPr>
          <a:xfrm>
            <a:off x="2171700" y="2309217"/>
            <a:ext cx="835819" cy="146447"/>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334155"/>
                </a:solidFill>
                <a:latin typeface="SFMono-Regular" pitchFamily="34" charset="0"/>
                <a:ea typeface="SFMono-Regular" pitchFamily="34" charset="-122"/>
                <a:cs typeface="SFMono-Regular" pitchFamily="34" charset="-120"/>
              </a:rPr>
              <a:t>verify metric</a:t>
            </a:r>
            <a:endParaRPr lang="en-US" sz="800" dirty="0"/>
          </a:p>
        </p:txBody>
      </p:sp>
      <p:sp>
        <p:nvSpPr>
          <p:cNvPr id="23" name="Text 19"/>
          <p:cNvSpPr/>
          <p:nvPr/>
        </p:nvSpPr>
        <p:spPr>
          <a:xfrm>
            <a:off x="2171700" y="2448520"/>
            <a:ext cx="1092994" cy="146447"/>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334155"/>
                </a:solidFill>
                <a:latin typeface="SFMono-Regular" pitchFamily="34" charset="0"/>
                <a:ea typeface="SFMono-Regular" pitchFamily="34" charset="-122"/>
                <a:cs typeface="SFMono-Regular" pitchFamily="34" charset="-120"/>
              </a:rPr>
              <a:t>compatibility and</a:t>
            </a:r>
            <a:endParaRPr lang="en-US" sz="800" dirty="0"/>
          </a:p>
        </p:txBody>
      </p:sp>
      <p:sp>
        <p:nvSpPr>
          <p:cNvPr id="24" name="Text 20"/>
          <p:cNvSpPr/>
          <p:nvPr/>
        </p:nvSpPr>
        <p:spPr>
          <a:xfrm>
            <a:off x="2171700" y="2587823"/>
            <a:ext cx="771525" cy="146447"/>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334155"/>
                </a:solidFill>
                <a:latin typeface="SFMono-Regular" pitchFamily="34" charset="0"/>
                <a:ea typeface="SFMono-Regular" pitchFamily="34" charset="-122"/>
                <a:cs typeface="SFMono-Regular" pitchFamily="34" charset="-120"/>
              </a:rPr>
              <a:t>torsion-free</a:t>
            </a:r>
            <a:endParaRPr lang="en-US" sz="800" dirty="0"/>
          </a:p>
        </p:txBody>
      </p:sp>
      <p:sp>
        <p:nvSpPr>
          <p:cNvPr id="25" name="Text 21"/>
          <p:cNvSpPr/>
          <p:nvPr/>
        </p:nvSpPr>
        <p:spPr>
          <a:xfrm>
            <a:off x="2171700" y="2727127"/>
            <a:ext cx="450056" cy="146447"/>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334155"/>
                </a:solidFill>
                <a:latin typeface="SFMono-Regular" pitchFamily="34" charset="0"/>
                <a:ea typeface="SFMono-Regular" pitchFamily="34" charset="-122"/>
                <a:cs typeface="SFMono-Regular" pitchFamily="34" charset="-120"/>
              </a:rPr>
              <a:t>status.</a:t>
            </a:r>
            <a:endParaRPr lang="en-US" sz="800" dirty="0"/>
          </a:p>
        </p:txBody>
      </p:sp>
      <p:sp>
        <p:nvSpPr>
          <p:cNvPr id="26" name="Text 22"/>
          <p:cNvSpPr/>
          <p:nvPr/>
        </p:nvSpPr>
        <p:spPr>
          <a:xfrm>
            <a:off x="3514725" y="2132409"/>
            <a:ext cx="1571625" cy="128588"/>
          </a:xfrm>
          <a:prstGeom prst="rect">
            <a:avLst/>
          </a:prstGeom>
          <a:noFill/>
          <a:ln/>
        </p:spPr>
        <p:txBody>
          <a:bodyPr wrap="none" lIns="0" tIns="0" rIns="0" bIns="0" rtlCol="0" anchor="t">
            <a:spAutoFit/>
          </a:bodyPr>
          <a:lstStyle/>
          <a:p>
            <a:pPr algn="l" indent="0" marL="0">
              <a:lnSpc>
                <a:spcPct val="96000"/>
              </a:lnSpc>
              <a:buNone/>
            </a:pPr>
            <a:r>
              <a:rPr lang="en-US" sz="750" b="1" dirty="0">
                <a:solidFill>
                  <a:srgbClr val="D90429"/>
                </a:solidFill>
                <a:latin typeface="SFMono-Regular" pitchFamily="34" charset="0"/>
                <a:ea typeface="SFMono-Regular" pitchFamily="34" charset="-122"/>
                <a:cs typeface="SFMono-Regular" pitchFamily="34" charset="-120"/>
              </a:rPr>
              <a:t>POST /curvature/riemann</a:t>
            </a:r>
            <a:endParaRPr lang="en-US" sz="750" dirty="0"/>
          </a:p>
        </p:txBody>
      </p:sp>
      <p:sp>
        <p:nvSpPr>
          <p:cNvPr id="27" name="Text 23"/>
          <p:cNvSpPr/>
          <p:nvPr/>
        </p:nvSpPr>
        <p:spPr>
          <a:xfrm>
            <a:off x="5172075" y="2132409"/>
            <a:ext cx="1200150" cy="696516"/>
          </a:xfrm>
          <a:prstGeom prst="rect">
            <a:avLst/>
          </a:prstGeom>
          <a:noFill/>
          <a:ln/>
        </p:spPr>
        <p:txBody>
          <a:bodyPr wrap="square" lIns="0" tIns="0" rIns="0" bIns="0" rtlCol="0" anchor="t">
            <a:spAutoFit/>
          </a:bodyPr>
          <a:lstStyle/>
          <a:p>
            <a:pPr algn="l" indent="0" marL="0">
              <a:lnSpc>
                <a:spcPct val="104000"/>
              </a:lnSpc>
              <a:buNone/>
            </a:pPr>
            <a:r>
              <a:rPr lang="en-US" sz="750" b="1" dirty="0">
                <a:solidFill>
                  <a:srgbClr val="0A192F"/>
                </a:solidFill>
                <a:latin typeface="SFMono-Regular" pitchFamily="34" charset="0"/>
                <a:ea typeface="SFMono-Regular" pitchFamily="34" charset="-122"/>
                <a:cs typeface="SFMono-Regular" pitchFamily="34" charset="-120"/>
              </a:rPr>
              <a:t>Compute R → Ricci → scalar → G</a:t>
            </a:r>
            <a:r>
              <a:rPr lang="en-US" sz="800" dirty="0">
                <a:solidFill>
                  <a:srgbClr val="334155"/>
                </a:solidFill>
                <a:latin typeface="SFMono-Regular" pitchFamily="34" charset="0"/>
                <a:ea typeface="SFMono-Regular" pitchFamily="34" charset="-122"/>
                <a:cs typeface="SFMono-Regular" pitchFamily="34" charset="-120"/>
              </a:rPr>
              <a:t> with </a:t>
            </a:r>
            <a:r>
              <a:rPr lang="en-US" sz="800" dirty="0">
                <a:solidFill>
                  <a:srgbClr val="334155"/>
                </a:solidFill>
                <a:latin typeface="SFMono-Regular" pitchFamily="34" charset="0"/>
                <a:ea typeface="SFMono-Regular" pitchFamily="34" charset="-122"/>
                <a:cs typeface="SFMono-Regular" pitchFamily="34" charset="-120"/>
              </a:rPr>
              <a:t>explicit </a:t>
            </a:r>
            <a:r>
              <a:rPr lang="en-US" sz="800" dirty="0">
                <a:solidFill>
                  <a:srgbClr val="334155"/>
                </a:solidFill>
                <a:latin typeface="SFMono-Regular" pitchFamily="34" charset="0"/>
                <a:ea typeface="SFMono-Regular" pitchFamily="34" charset="-122"/>
                <a:cs typeface="SFMono-Regular" pitchFamily="34" charset="-120"/>
              </a:rPr>
              <a:t>contraction paths </a:t>
            </a:r>
            <a:r>
              <a:rPr lang="en-US" sz="800" dirty="0">
                <a:solidFill>
                  <a:srgbClr val="334155"/>
                </a:solidFill>
                <a:latin typeface="SFMono-Regular" pitchFamily="34" charset="0"/>
                <a:ea typeface="SFMono-Regular" pitchFamily="34" charset="-122"/>
                <a:cs typeface="SFMono-Regular" pitchFamily="34" charset="-120"/>
              </a:rPr>
              <a:t>and conventions.</a:t>
            </a:r>
            <a:endParaRPr lang="en-US" sz="750" dirty="0"/>
          </a:p>
        </p:txBody>
      </p:sp>
      <p:sp>
        <p:nvSpPr>
          <p:cNvPr id="28" name="Text 24"/>
          <p:cNvSpPr/>
          <p:nvPr/>
        </p:nvSpPr>
        <p:spPr>
          <a:xfrm>
            <a:off x="514350" y="2977158"/>
            <a:ext cx="1571625" cy="128588"/>
          </a:xfrm>
          <a:prstGeom prst="rect">
            <a:avLst/>
          </a:prstGeom>
          <a:noFill/>
          <a:ln/>
        </p:spPr>
        <p:txBody>
          <a:bodyPr wrap="none" lIns="0" tIns="0" rIns="0" bIns="0" rtlCol="0" anchor="t">
            <a:spAutoFit/>
          </a:bodyPr>
          <a:lstStyle/>
          <a:p>
            <a:pPr algn="l" indent="0" marL="0">
              <a:lnSpc>
                <a:spcPct val="96000"/>
              </a:lnSpc>
              <a:buNone/>
            </a:pPr>
            <a:r>
              <a:rPr lang="en-US" sz="750" b="1" dirty="0">
                <a:solidFill>
                  <a:srgbClr val="D90429"/>
                </a:solidFill>
                <a:latin typeface="SFMono-Regular" pitchFamily="34" charset="0"/>
                <a:ea typeface="SFMono-Regular" pitchFamily="34" charset="-122"/>
                <a:cs typeface="SFMono-Regular" pitchFamily="34" charset="-120"/>
              </a:rPr>
              <a:t>POST /forms/operate</a:t>
            </a:r>
            <a:endParaRPr lang="en-US" sz="750" dirty="0"/>
          </a:p>
        </p:txBody>
      </p:sp>
      <p:sp>
        <p:nvSpPr>
          <p:cNvPr id="29" name="Text 25"/>
          <p:cNvSpPr/>
          <p:nvPr/>
        </p:nvSpPr>
        <p:spPr>
          <a:xfrm>
            <a:off x="2171700" y="2977158"/>
            <a:ext cx="1200150" cy="835819"/>
          </a:xfrm>
          <a:prstGeom prst="rect">
            <a:avLst/>
          </a:prstGeom>
          <a:noFill/>
          <a:ln/>
        </p:spPr>
        <p:txBody>
          <a:bodyPr wrap="square" lIns="0" tIns="0" rIns="0" bIns="0" rtlCol="0" anchor="t">
            <a:spAutoFit/>
          </a:bodyPr>
          <a:lstStyle/>
          <a:p>
            <a:pPr algn="l" indent="0" marL="0">
              <a:lnSpc>
                <a:spcPct val="104000"/>
              </a:lnSpc>
              <a:buNone/>
            </a:pPr>
            <a:r>
              <a:rPr lang="en-US" sz="750" b="1" dirty="0">
                <a:solidFill>
                  <a:srgbClr val="0A192F"/>
                </a:solidFill>
                <a:latin typeface="SFMono-Regular" pitchFamily="34" charset="0"/>
                <a:ea typeface="SFMono-Regular" pitchFamily="34" charset="-122"/>
                <a:cs typeface="SFMono-Regular" pitchFamily="34" charset="-120"/>
              </a:rPr>
              <a:t>Apply d, D, *, wedge, contraction</a:t>
            </a:r>
            <a:r>
              <a:rPr lang="en-US" sz="800" dirty="0">
                <a:solidFill>
                  <a:srgbClr val="334155"/>
                </a:solidFill>
                <a:latin typeface="SFMono-Regular" pitchFamily="34" charset="0"/>
                <a:ea typeface="SFMono-Regular" pitchFamily="34" charset="-122"/>
                <a:cs typeface="SFMono-Regular" pitchFamily="34" charset="-120"/>
              </a:rPr>
              <a:t> with degree and </a:t>
            </a:r>
            <a:r>
              <a:rPr lang="en-US" sz="800" dirty="0">
                <a:solidFill>
                  <a:srgbClr val="334155"/>
                </a:solidFill>
                <a:latin typeface="SFMono-Regular" pitchFamily="34" charset="0"/>
                <a:ea typeface="SFMono-Regular" pitchFamily="34" charset="-122"/>
                <a:cs typeface="SFMono-Regular" pitchFamily="34" charset="-120"/>
              </a:rPr>
              <a:t>bundle </a:t>
            </a:r>
            <a:r>
              <a:rPr lang="en-US" sz="800" dirty="0">
                <a:solidFill>
                  <a:srgbClr val="334155"/>
                </a:solidFill>
                <a:latin typeface="SFMono-Regular" pitchFamily="34" charset="0"/>
                <a:ea typeface="SFMono-Regular" pitchFamily="34" charset="-122"/>
                <a:cs typeface="SFMono-Regular" pitchFamily="34" charset="-120"/>
              </a:rPr>
              <a:t>compatibility </a:t>
            </a:r>
            <a:r>
              <a:rPr lang="en-US" sz="800" dirty="0">
                <a:solidFill>
                  <a:srgbClr val="334155"/>
                </a:solidFill>
                <a:latin typeface="SFMono-Regular" pitchFamily="34" charset="0"/>
                <a:ea typeface="SFMono-Regular" pitchFamily="34" charset="-122"/>
                <a:cs typeface="SFMono-Regular" pitchFamily="34" charset="-120"/>
              </a:rPr>
              <a:t>checks.</a:t>
            </a:r>
            <a:endParaRPr lang="en-US" sz="750" dirty="0"/>
          </a:p>
        </p:txBody>
      </p:sp>
      <p:sp>
        <p:nvSpPr>
          <p:cNvPr id="30" name="Text 26"/>
          <p:cNvSpPr/>
          <p:nvPr/>
        </p:nvSpPr>
        <p:spPr>
          <a:xfrm>
            <a:off x="3514725" y="2977158"/>
            <a:ext cx="1571625" cy="128588"/>
          </a:xfrm>
          <a:prstGeom prst="rect">
            <a:avLst/>
          </a:prstGeom>
          <a:noFill/>
          <a:ln/>
        </p:spPr>
        <p:txBody>
          <a:bodyPr wrap="none" lIns="0" tIns="0" rIns="0" bIns="0" rtlCol="0" anchor="t">
            <a:spAutoFit/>
          </a:bodyPr>
          <a:lstStyle/>
          <a:p>
            <a:pPr algn="l" indent="0" marL="0">
              <a:lnSpc>
                <a:spcPct val="96000"/>
              </a:lnSpc>
              <a:buNone/>
            </a:pPr>
            <a:r>
              <a:rPr lang="en-US" sz="750" b="1" dirty="0">
                <a:solidFill>
                  <a:srgbClr val="D90429"/>
                </a:solidFill>
                <a:latin typeface="SFMono-Regular" pitchFamily="34" charset="0"/>
                <a:ea typeface="SFMono-Regular" pitchFamily="34" charset="-122"/>
                <a:cs typeface="SFMono-Regular" pitchFamily="34" charset="-120"/>
              </a:rPr>
              <a:t>POST /spinors/dirac</a:t>
            </a:r>
            <a:endParaRPr lang="en-US" sz="750" dirty="0"/>
          </a:p>
        </p:txBody>
      </p:sp>
      <p:sp>
        <p:nvSpPr>
          <p:cNvPr id="31" name="Text 27"/>
          <p:cNvSpPr/>
          <p:nvPr/>
        </p:nvSpPr>
        <p:spPr>
          <a:xfrm>
            <a:off x="5172075" y="2977158"/>
            <a:ext cx="1200150" cy="835819"/>
          </a:xfrm>
          <a:prstGeom prst="rect">
            <a:avLst/>
          </a:prstGeom>
          <a:noFill/>
          <a:ln/>
        </p:spPr>
        <p:txBody>
          <a:bodyPr wrap="square" lIns="0" tIns="0" rIns="0" bIns="0" rtlCol="0" anchor="t">
            <a:spAutoFit/>
          </a:bodyPr>
          <a:lstStyle/>
          <a:p>
            <a:pPr algn="l" indent="0" marL="0">
              <a:lnSpc>
                <a:spcPct val="104000"/>
              </a:lnSpc>
              <a:buNone/>
            </a:pPr>
            <a:r>
              <a:rPr lang="en-US" sz="750" b="1" dirty="0">
                <a:solidFill>
                  <a:srgbClr val="0A192F"/>
                </a:solidFill>
                <a:latin typeface="SFMono-Regular" pitchFamily="34" charset="0"/>
                <a:ea typeface="SFMono-Regular" pitchFamily="34" charset="-122"/>
                <a:cs typeface="SFMono-Regular" pitchFamily="34" charset="-120"/>
              </a:rPr>
              <a:t>Construct D̸</a:t>
            </a:r>
            <a:r>
              <a:rPr lang="en-US" sz="800" dirty="0">
                <a:solidFill>
                  <a:srgbClr val="334155"/>
                </a:solidFill>
                <a:latin typeface="SFMono-Regular" pitchFamily="34" charset="0"/>
                <a:ea typeface="SFMono-Regular" pitchFamily="34" charset="-122"/>
                <a:cs typeface="SFMono-Regular" pitchFamily="34" charset="-120"/>
              </a:rPr>
              <a:t> symbolically with </a:t>
            </a:r>
            <a:r>
              <a:rPr lang="en-US" sz="800" dirty="0">
                <a:solidFill>
                  <a:srgbClr val="334155"/>
                </a:solidFill>
                <a:latin typeface="SFMono-Regular" pitchFamily="34" charset="0"/>
                <a:ea typeface="SFMono-Regular" pitchFamily="34" charset="-122"/>
                <a:cs typeface="SFMono-Regular" pitchFamily="34" charset="-120"/>
              </a:rPr>
              <a:t>Clifford, </a:t>
            </a:r>
            <a:r>
              <a:rPr lang="en-US" sz="800" dirty="0">
                <a:solidFill>
                  <a:srgbClr val="334155"/>
                </a:solidFill>
                <a:latin typeface="SFMono-Regular" pitchFamily="34" charset="0"/>
                <a:ea typeface="SFMono-Regular" pitchFamily="34" charset="-122"/>
                <a:cs typeface="SFMono-Regular" pitchFamily="34" charset="-120"/>
              </a:rPr>
              <a:t>connection, and </a:t>
            </a:r>
            <a:r>
              <a:rPr lang="en-US" sz="800" dirty="0">
                <a:solidFill>
                  <a:srgbClr val="334155"/>
                </a:solidFill>
                <a:latin typeface="SFMono-Regular" pitchFamily="34" charset="0"/>
                <a:ea typeface="SFMono-Regular" pitchFamily="34" charset="-122"/>
                <a:cs typeface="SFMono-Regular" pitchFamily="34" charset="-120"/>
              </a:rPr>
              <a:t>boundary-condition </a:t>
            </a:r>
            <a:r>
              <a:rPr lang="en-US" sz="800" dirty="0">
                <a:solidFill>
                  <a:srgbClr val="334155"/>
                </a:solidFill>
                <a:latin typeface="SFMono-Regular" pitchFamily="34" charset="0"/>
                <a:ea typeface="SFMono-Regular" pitchFamily="34" charset="-122"/>
                <a:cs typeface="SFMono-Regular" pitchFamily="34" charset="-120"/>
              </a:rPr>
              <a:t>obligations.</a:t>
            </a:r>
            <a:endParaRPr lang="en-US" sz="750" dirty="0"/>
          </a:p>
        </p:txBody>
      </p:sp>
      <p:sp>
        <p:nvSpPr>
          <p:cNvPr id="32" name="Text 28"/>
          <p:cNvSpPr/>
          <p:nvPr/>
        </p:nvSpPr>
        <p:spPr>
          <a:xfrm>
            <a:off x="514350" y="3920133"/>
            <a:ext cx="1571625" cy="128588"/>
          </a:xfrm>
          <a:prstGeom prst="rect">
            <a:avLst/>
          </a:prstGeom>
          <a:noFill/>
          <a:ln/>
        </p:spPr>
        <p:txBody>
          <a:bodyPr wrap="none" lIns="0" tIns="0" rIns="0" bIns="0" rtlCol="0" anchor="t">
            <a:spAutoFit/>
          </a:bodyPr>
          <a:lstStyle/>
          <a:p>
            <a:pPr algn="l" indent="0" marL="0">
              <a:lnSpc>
                <a:spcPct val="96000"/>
              </a:lnSpc>
              <a:buNone/>
            </a:pPr>
            <a:r>
              <a:rPr lang="en-US" sz="750" b="1" dirty="0">
                <a:solidFill>
                  <a:srgbClr val="D90429"/>
                </a:solidFill>
                <a:latin typeface="SFMono-Regular" pitchFamily="34" charset="0"/>
                <a:ea typeface="SFMono-Regular" pitchFamily="34" charset="-122"/>
                <a:cs typeface="SFMono-Regular" pitchFamily="34" charset="-120"/>
              </a:rPr>
              <a:t>POST /claims/evaluate</a:t>
            </a:r>
            <a:endParaRPr lang="en-US" sz="750" dirty="0"/>
          </a:p>
        </p:txBody>
      </p:sp>
      <p:sp>
        <p:nvSpPr>
          <p:cNvPr id="33" name="Text 29"/>
          <p:cNvSpPr/>
          <p:nvPr/>
        </p:nvSpPr>
        <p:spPr>
          <a:xfrm>
            <a:off x="2171700" y="3920133"/>
            <a:ext cx="1200150" cy="975122"/>
          </a:xfrm>
          <a:prstGeom prst="rect">
            <a:avLst/>
          </a:prstGeom>
          <a:noFill/>
          <a:ln/>
        </p:spPr>
        <p:txBody>
          <a:bodyPr wrap="square" lIns="0" tIns="0" rIns="0" bIns="0" rtlCol="0" anchor="t">
            <a:spAutoFit/>
          </a:bodyPr>
          <a:lstStyle/>
          <a:p>
            <a:pPr algn="l" indent="0" marL="0">
              <a:lnSpc>
                <a:spcPct val="104000"/>
              </a:lnSpc>
              <a:buNone/>
            </a:pPr>
            <a:r>
              <a:rPr lang="en-US" sz="750" b="1" dirty="0">
                <a:solidFill>
                  <a:srgbClr val="0A192F"/>
                </a:solidFill>
                <a:latin typeface="SFMono-Regular" pitchFamily="34" charset="0"/>
                <a:ea typeface="SFMono-Regular" pitchFamily="34" charset="-122"/>
                <a:cs typeface="SFMono-Regular" pitchFamily="34" charset="-120"/>
              </a:rPr>
              <a:t>Classify a claim</a:t>
            </a:r>
            <a:r>
              <a:rPr lang="en-US" sz="800" dirty="0">
                <a:solidFill>
                  <a:srgbClr val="334155"/>
                </a:solidFill>
                <a:latin typeface="SFMono-Regular" pitchFamily="34" charset="0"/>
                <a:ea typeface="SFMono-Regular" pitchFamily="34" charset="-122"/>
                <a:cs typeface="SFMono-Regular" pitchFamily="34" charset="-120"/>
              </a:rPr>
              <a:t> as mathematical, </a:t>
            </a:r>
            <a:r>
              <a:rPr lang="en-US" sz="800" dirty="0">
                <a:solidFill>
                  <a:srgbClr val="334155"/>
                </a:solidFill>
                <a:latin typeface="SFMono-Regular" pitchFamily="34" charset="0"/>
                <a:ea typeface="SFMono-Regular" pitchFamily="34" charset="-122"/>
                <a:cs typeface="SFMono-Regular" pitchFamily="34" charset="-120"/>
              </a:rPr>
              <a:t>software, or </a:t>
            </a:r>
            <a:r>
              <a:rPr lang="en-US" sz="800" dirty="0">
                <a:solidFill>
                  <a:srgbClr val="334155"/>
                </a:solidFill>
                <a:latin typeface="SFMono-Regular" pitchFamily="34" charset="0"/>
                <a:ea typeface="SFMono-Regular" pitchFamily="34" charset="-122"/>
                <a:cs typeface="SFMono-Regular" pitchFamily="34" charset="-120"/>
              </a:rPr>
              <a:t>physical and </a:t>
            </a:r>
            <a:r>
              <a:rPr lang="en-US" sz="800" dirty="0">
                <a:solidFill>
                  <a:srgbClr val="334155"/>
                </a:solidFill>
                <a:latin typeface="SFMono-Regular" pitchFamily="34" charset="0"/>
                <a:ea typeface="SFMono-Regular" pitchFamily="34" charset="-122"/>
                <a:cs typeface="SFMono-Regular" pitchFamily="34" charset="-120"/>
              </a:rPr>
              <a:t>return supported </a:t>
            </a:r>
            <a:r>
              <a:rPr lang="en-US" sz="800" dirty="0">
                <a:solidFill>
                  <a:srgbClr val="334155"/>
                </a:solidFill>
                <a:latin typeface="SFMono-Regular" pitchFamily="34" charset="0"/>
                <a:ea typeface="SFMono-Regular" pitchFamily="34" charset="-122"/>
                <a:cs typeface="SFMono-Regular" pitchFamily="34" charset="-120"/>
              </a:rPr>
              <a:t>subclaims and </a:t>
            </a:r>
            <a:r>
              <a:rPr lang="en-US" sz="800" dirty="0">
                <a:solidFill>
                  <a:srgbClr val="334155"/>
                </a:solidFill>
                <a:latin typeface="SFMono-Regular" pitchFamily="34" charset="0"/>
                <a:ea typeface="SFMono-Regular" pitchFamily="34" charset="-122"/>
                <a:cs typeface="SFMono-Regular" pitchFamily="34" charset="-120"/>
              </a:rPr>
              <a:t>gaps.</a:t>
            </a:r>
            <a:endParaRPr lang="en-US" sz="750" dirty="0"/>
          </a:p>
        </p:txBody>
      </p:sp>
      <p:sp>
        <p:nvSpPr>
          <p:cNvPr id="34" name="Shape 30"/>
          <p:cNvSpPr/>
          <p:nvPr/>
        </p:nvSpPr>
        <p:spPr>
          <a:xfrm>
            <a:off x="6858000" y="0"/>
            <a:ext cx="2286000" cy="5143500"/>
          </a:xfrm>
          <a:prstGeom prst="rect">
            <a:avLst/>
          </a:prstGeom>
          <a:solidFill>
            <a:srgbClr val="000000">
              <a:alpha val="0"/>
            </a:srgbClr>
          </a:solidFill>
          <a:ln/>
        </p:spPr>
      </p:sp>
      <p:sp>
        <p:nvSpPr>
          <p:cNvPr id="35" name="Shape 31"/>
          <p:cNvSpPr/>
          <p:nvPr/>
        </p:nvSpPr>
        <p:spPr>
          <a:xfrm>
            <a:off x="6858000" y="0"/>
            <a:ext cx="7144" cy="5143500"/>
          </a:xfrm>
          <a:prstGeom prst="rect">
            <a:avLst/>
          </a:prstGeom>
          <a:solidFill>
            <a:srgbClr val="0A192F"/>
          </a:solidFill>
          <a:ln/>
        </p:spPr>
      </p:sp>
      <p:sp>
        <p:nvSpPr>
          <p:cNvPr id="36" name="Text 32"/>
          <p:cNvSpPr/>
          <p:nvPr/>
        </p:nvSpPr>
        <p:spPr>
          <a:xfrm>
            <a:off x="7072313" y="171450"/>
            <a:ext cx="1928813" cy="351941"/>
          </a:xfrm>
          <a:prstGeom prst="rect">
            <a:avLst/>
          </a:prstGeom>
          <a:noFill/>
          <a:ln/>
        </p:spPr>
        <p:txBody>
          <a:bodyPr wrap="square" lIns="0" tIns="0" rIns="0" bIns="0" rtlCol="0" anchor="t">
            <a:spAutoFit/>
          </a:bodyPr>
          <a:lstStyle/>
          <a:p>
            <a:pPr algn="l" indent="0" marL="0">
              <a:lnSpc>
                <a:spcPct val="89600"/>
              </a:lnSpc>
              <a:buNone/>
            </a:pPr>
            <a:r>
              <a:rPr lang="en-US" sz="1100" b="1" dirty="0">
                <a:solidFill>
                  <a:srgbClr val="0A192F"/>
                </a:solidFill>
                <a:latin typeface="Georgia" pitchFamily="34" charset="0"/>
                <a:ea typeface="Georgia" pitchFamily="34" charset="-122"/>
                <a:cs typeface="Georgia" pitchFamily="34" charset="-120"/>
              </a:rPr>
              <a:t>Every response carries evidence</a:t>
            </a:r>
            <a:endParaRPr lang="en-US" sz="1100" dirty="0"/>
          </a:p>
        </p:txBody>
      </p:sp>
      <p:sp>
        <p:nvSpPr>
          <p:cNvPr id="37" name="Text 33"/>
          <p:cNvSpPr/>
          <p:nvPr/>
        </p:nvSpPr>
        <p:spPr>
          <a:xfrm>
            <a:off x="7072313" y="609116"/>
            <a:ext cx="1928813" cy="903517"/>
          </a:xfrm>
          <a:prstGeom prst="rect">
            <a:avLst/>
          </a:prstGeom>
          <a:noFill/>
          <a:ln/>
        </p:spPr>
        <p:txBody>
          <a:bodyPr wrap="square" lIns="0" tIns="68072" rIns="0" bIns="68072" rtlCol="0" anchor="t">
            <a:spAutoFit/>
          </a:bodyPr>
          <a:lstStyle/>
          <a:p>
            <a:pPr algn="l" indent="0" marL="0">
              <a:lnSpc>
                <a:spcPct val="124000"/>
              </a:lnSpc>
              <a:buNone/>
            </a:pPr>
            <a:r>
              <a:rPr lang="en-US" sz="700" b="1" dirty="0">
                <a:solidFill>
                  <a:srgbClr val="D90429"/>
                </a:solidFill>
                <a:latin typeface="SFMono-Regular" pitchFamily="34" charset="0"/>
                <a:ea typeface="SFMono-Regular" pitchFamily="34" charset="-122"/>
                <a:cs typeface="SFMono-Regular" pitchFamily="34" charset="-120"/>
              </a:rPr>
              <a:t>operation_id</a:t>
            </a:r>
            <a:r>
              <a:rPr lang="en-US" sz="750" dirty="0">
                <a:solidFill>
                  <a:srgbClr val="334155"/>
                </a:solidFill>
                <a:latin typeface="SFMono-Regular" pitchFamily="34" charset="0"/>
                <a:ea typeface="SFMono-Regular" pitchFamily="34" charset="-122"/>
                <a:cs typeface="SFMono-Regular" pitchFamily="34" charset="-120"/>
              </a:rPr>
              <a:t>
</a:t>
            </a:r>
            <a:r>
              <a:rPr lang="en-US" sz="750" dirty="0">
                <a:solidFill>
                  <a:srgbClr val="334155"/>
                </a:solidFill>
                <a:latin typeface="SFMono-Regular" pitchFamily="34" charset="0"/>
                <a:ea typeface="SFMono-Regular" pitchFamily="34" charset="-122"/>
                <a:cs typeface="SFMono-Regular" pitchFamily="34" charset="-120"/>
              </a:rPr>
              <a:t>inputs · outputs</a:t>
            </a:r>
            <a:r>
              <a:rPr lang="en-US" sz="750" dirty="0">
                <a:solidFill>
                  <a:srgbClr val="334155"/>
                </a:solidFill>
                <a:latin typeface="SFMono-Regular" pitchFamily="34" charset="0"/>
                <a:ea typeface="SFMono-Regular" pitchFamily="34" charset="-122"/>
                <a:cs typeface="SFMono-Regular" pitchFamily="34" charset="-120"/>
              </a:rPr>
              <a:t>
</a:t>
            </a:r>
            <a:r>
              <a:rPr lang="en-US" sz="750" dirty="0">
                <a:solidFill>
                  <a:srgbClr val="334155"/>
                </a:solidFill>
                <a:latin typeface="SFMono-Regular" pitchFamily="34" charset="0"/>
                <a:ea typeface="SFMono-Regular" pitchFamily="34" charset="-122"/>
                <a:cs typeface="SFMono-Regular" pitchFamily="34" charset="-120"/>
              </a:rPr>
              <a:t>assumptions · predicates</a:t>
            </a:r>
            <a:r>
              <a:rPr lang="en-US" sz="750" dirty="0">
                <a:solidFill>
                  <a:srgbClr val="334155"/>
                </a:solidFill>
                <a:latin typeface="SFMono-Regular" pitchFamily="34" charset="0"/>
                <a:ea typeface="SFMono-Regular" pitchFamily="34" charset="-122"/>
                <a:cs typeface="SFMono-Regular" pitchFamily="34" charset="-120"/>
              </a:rPr>
              <a:t>
</a:t>
            </a:r>
            <a:r>
              <a:rPr lang="en-US" sz="750" dirty="0">
                <a:solidFill>
                  <a:srgbClr val="334155"/>
                </a:solidFill>
                <a:latin typeface="SFMono-Regular" pitchFamily="34" charset="0"/>
                <a:ea typeface="SFMono-Regular" pitchFamily="34" charset="-122"/>
                <a:cs typeface="SFMono-Regular" pitchFamily="34" charset="-120"/>
              </a:rPr>
              <a:t>canonical_hash</a:t>
            </a:r>
            <a:r>
              <a:rPr lang="en-US" sz="750" dirty="0">
                <a:solidFill>
                  <a:srgbClr val="334155"/>
                </a:solidFill>
                <a:latin typeface="SFMono-Regular" pitchFamily="34" charset="0"/>
                <a:ea typeface="SFMono-Regular" pitchFamily="34" charset="-122"/>
                <a:cs typeface="SFMono-Regular" pitchFamily="34" charset="-120"/>
              </a:rPr>
              <a:t>
</a:t>
            </a:r>
            <a:r>
              <a:rPr lang="en-US" sz="750" dirty="0">
                <a:solidFill>
                  <a:srgbClr val="334155"/>
                </a:solidFill>
                <a:latin typeface="SFMono-Regular" pitchFamily="34" charset="0"/>
                <a:ea typeface="SFMono-Regular" pitchFamily="34" charset="-122"/>
                <a:cs typeface="SFMono-Regular" pitchFamily="34" charset="-120"/>
              </a:rPr>
              <a:t>source_refs · limitations</a:t>
            </a:r>
            <a:endParaRPr lang="en-US" sz="700" dirty="0"/>
          </a:p>
        </p:txBody>
      </p:sp>
      <p:sp>
        <p:nvSpPr>
          <p:cNvPr id="38" name="Text 34"/>
          <p:cNvSpPr/>
          <p:nvPr/>
        </p:nvSpPr>
        <p:spPr>
          <a:xfrm>
            <a:off x="7072313" y="1612646"/>
            <a:ext cx="1928813" cy="129983"/>
          </a:xfrm>
          <a:prstGeom prst="rect">
            <a:avLst/>
          </a:prstGeom>
          <a:noFill/>
          <a:ln/>
        </p:spPr>
        <p:txBody>
          <a:bodyPr wrap="none" lIns="0" tIns="0" rIns="0" bIns="0" rtlCol="0" anchor="t">
            <a:spAutoFit/>
          </a:bodyPr>
          <a:lstStyle/>
          <a:p>
            <a:pPr algn="l" indent="0" marL="0">
              <a:lnSpc>
                <a:spcPct val="104000"/>
              </a:lnSpc>
              <a:buNone/>
            </a:pPr>
            <a:r>
              <a:rPr lang="en-US" sz="700" b="1" spc="1" kern="0" dirty="0">
                <a:solidFill>
                  <a:srgbClr val="D90429"/>
                </a:solidFill>
                <a:latin typeface="SFMono-Regular" pitchFamily="34" charset="0"/>
                <a:ea typeface="SFMono-Regular" pitchFamily="34" charset="-122"/>
                <a:cs typeface="SFMono-Regular" pitchFamily="34" charset="-120"/>
              </a:rPr>
              <a:t>STATUS SEMANTICS</a:t>
            </a:r>
            <a:endParaRPr lang="en-US" sz="700" dirty="0"/>
          </a:p>
        </p:txBody>
      </p:sp>
      <p:sp>
        <p:nvSpPr>
          <p:cNvPr id="39" name="Text 35"/>
          <p:cNvSpPr/>
          <p:nvPr/>
        </p:nvSpPr>
        <p:spPr>
          <a:xfrm>
            <a:off x="7072313" y="1799779"/>
            <a:ext cx="1928813" cy="434987"/>
          </a:xfrm>
          <a:prstGeom prst="rect">
            <a:avLst/>
          </a:prstGeom>
          <a:noFill/>
          <a:ln/>
        </p:spPr>
        <p:txBody>
          <a:bodyPr wrap="square" lIns="0" tIns="0" rIns="0" bIns="0" rtlCol="0" anchor="t">
            <a:spAutoFit/>
          </a:bodyPr>
          <a:lstStyle/>
          <a:p>
            <a:pPr algn="l" indent="0" marL="0">
              <a:lnSpc>
                <a:spcPct val="116000"/>
              </a:lnSpc>
              <a:buNone/>
            </a:pPr>
            <a:r>
              <a:rPr lang="en-US" sz="700" b="1" dirty="0">
                <a:solidFill>
                  <a:srgbClr val="0A192F"/>
                </a:solidFill>
                <a:latin typeface="SFMono-Regular" pitchFamily="34" charset="0"/>
                <a:ea typeface="SFMono-Regular" pitchFamily="34" charset="-122"/>
                <a:cs typeface="SFMono-Regular" pitchFamily="34" charset="-120"/>
              </a:rPr>
              <a:t>verified</a:t>
            </a:r>
            <a:r>
              <a:rPr lang="en-US" sz="750" dirty="0">
                <a:solidFill>
                  <a:srgbClr val="334155"/>
                </a:solidFill>
                <a:latin typeface="SFMono-Regular" pitchFamily="34" charset="0"/>
                <a:ea typeface="SFMono-Regular" pitchFamily="34" charset="-122"/>
                <a:cs typeface="SFMono-Regular" pitchFamily="34" charset="-120"/>
              </a:rPr>
              <a:t>
</a:t>
            </a:r>
            <a:r>
              <a:rPr lang="en-US" sz="750" dirty="0">
                <a:solidFill>
                  <a:srgbClr val="334155"/>
                </a:solidFill>
                <a:latin typeface="SFMono-Regular" pitchFamily="34" charset="0"/>
                <a:ea typeface="SFMono-Regular" pitchFamily="34" charset="-122"/>
                <a:cs typeface="SFMono-Regular" pitchFamily="34" charset="-120"/>
              </a:rPr>
              <a:t>Registered operation and </a:t>
            </a:r>
            <a:r>
              <a:rPr lang="en-US" sz="750" dirty="0">
                <a:solidFill>
                  <a:srgbClr val="334155"/>
                </a:solidFill>
                <a:latin typeface="SFMono-Regular" pitchFamily="34" charset="0"/>
                <a:ea typeface="SFMono-Regular" pitchFamily="34" charset="-122"/>
                <a:cs typeface="SFMono-Regular" pitchFamily="34" charset="-120"/>
              </a:rPr>
              <a:t>predicates replay successfully.</a:t>
            </a:r>
            <a:endParaRPr lang="en-US" sz="700" dirty="0"/>
          </a:p>
        </p:txBody>
      </p:sp>
      <p:sp>
        <p:nvSpPr>
          <p:cNvPr id="40" name="Text 36"/>
          <p:cNvSpPr/>
          <p:nvPr/>
        </p:nvSpPr>
        <p:spPr>
          <a:xfrm>
            <a:off x="7072313" y="2291916"/>
            <a:ext cx="1928813" cy="434987"/>
          </a:xfrm>
          <a:prstGeom prst="rect">
            <a:avLst/>
          </a:prstGeom>
          <a:noFill/>
          <a:ln/>
        </p:spPr>
        <p:txBody>
          <a:bodyPr wrap="square" lIns="0" tIns="0" rIns="0" bIns="0" rtlCol="0" anchor="t">
            <a:spAutoFit/>
          </a:bodyPr>
          <a:lstStyle/>
          <a:p>
            <a:pPr algn="l" indent="0" marL="0">
              <a:lnSpc>
                <a:spcPct val="116000"/>
              </a:lnSpc>
              <a:buNone/>
            </a:pPr>
            <a:r>
              <a:rPr lang="en-US" sz="700" b="1" dirty="0">
                <a:solidFill>
                  <a:srgbClr val="0A192F"/>
                </a:solidFill>
                <a:latin typeface="SFMono-Regular" pitchFamily="34" charset="0"/>
                <a:ea typeface="SFMono-Regular" pitchFamily="34" charset="-122"/>
                <a:cs typeface="SFMono-Regular" pitchFamily="34" charset="-120"/>
              </a:rPr>
              <a:t>fail</a:t>
            </a:r>
            <a:r>
              <a:rPr lang="en-US" sz="750" dirty="0">
                <a:solidFill>
                  <a:srgbClr val="334155"/>
                </a:solidFill>
                <a:latin typeface="SFMono-Regular" pitchFamily="34" charset="0"/>
                <a:ea typeface="SFMono-Regular" pitchFamily="34" charset="-122"/>
                <a:cs typeface="SFMono-Regular" pitchFamily="34" charset="-120"/>
              </a:rPr>
              <a:t>
</a:t>
            </a:r>
            <a:r>
              <a:rPr lang="en-US" sz="750" dirty="0">
                <a:solidFill>
                  <a:srgbClr val="334155"/>
                </a:solidFill>
                <a:latin typeface="SFMono-Regular" pitchFamily="34" charset="0"/>
                <a:ea typeface="SFMono-Regular" pitchFamily="34" charset="-122"/>
                <a:cs typeface="SFMono-Regular" pitchFamily="34" charset="-120"/>
              </a:rPr>
              <a:t>Known rule or invariant was </a:t>
            </a:r>
            <a:r>
              <a:rPr lang="en-US" sz="750" dirty="0">
                <a:solidFill>
                  <a:srgbClr val="334155"/>
                </a:solidFill>
                <a:latin typeface="SFMono-Regular" pitchFamily="34" charset="0"/>
                <a:ea typeface="SFMono-Regular" pitchFamily="34" charset="-122"/>
                <a:cs typeface="SFMono-Regular" pitchFamily="34" charset="-120"/>
              </a:rPr>
              <a:t>violated.</a:t>
            </a:r>
            <a:endParaRPr lang="en-US" sz="700" dirty="0"/>
          </a:p>
        </p:txBody>
      </p:sp>
      <p:sp>
        <p:nvSpPr>
          <p:cNvPr id="41" name="Text 37"/>
          <p:cNvSpPr/>
          <p:nvPr/>
        </p:nvSpPr>
        <p:spPr>
          <a:xfrm>
            <a:off x="7072313" y="2784053"/>
            <a:ext cx="1928813" cy="579983"/>
          </a:xfrm>
          <a:prstGeom prst="rect">
            <a:avLst/>
          </a:prstGeom>
          <a:noFill/>
          <a:ln/>
        </p:spPr>
        <p:txBody>
          <a:bodyPr wrap="square" lIns="0" tIns="0" rIns="0" bIns="0" rtlCol="0" anchor="t">
            <a:spAutoFit/>
          </a:bodyPr>
          <a:lstStyle/>
          <a:p>
            <a:pPr algn="l" indent="0" marL="0">
              <a:lnSpc>
                <a:spcPct val="116000"/>
              </a:lnSpc>
              <a:buNone/>
            </a:pPr>
            <a:r>
              <a:rPr lang="en-US" sz="700" b="1" dirty="0">
                <a:solidFill>
                  <a:srgbClr val="0A192F"/>
                </a:solidFill>
                <a:latin typeface="SFMono-Regular" pitchFamily="34" charset="0"/>
                <a:ea typeface="SFMono-Regular" pitchFamily="34" charset="-122"/>
                <a:cs typeface="SFMono-Regular" pitchFamily="34" charset="-120"/>
              </a:rPr>
              <a:t>unverifiable</a:t>
            </a:r>
            <a:r>
              <a:rPr lang="en-US" sz="750" dirty="0">
                <a:solidFill>
                  <a:srgbClr val="334155"/>
                </a:solidFill>
                <a:latin typeface="SFMono-Regular" pitchFamily="34" charset="0"/>
                <a:ea typeface="SFMono-Regular" pitchFamily="34" charset="-122"/>
                <a:cs typeface="SFMono-Regular" pitchFamily="34" charset="-120"/>
              </a:rPr>
              <a:t>
</a:t>
            </a:r>
            <a:r>
              <a:rPr lang="en-US" sz="750" dirty="0">
                <a:solidFill>
                  <a:srgbClr val="334155"/>
                </a:solidFill>
                <a:latin typeface="SFMono-Regular" pitchFamily="34" charset="0"/>
                <a:ea typeface="SFMono-Regular" pitchFamily="34" charset="-122"/>
                <a:cs typeface="SFMono-Regular" pitchFamily="34" charset="-120"/>
              </a:rPr>
              <a:t>Notation, physics, </a:t>
            </a:r>
            <a:r>
              <a:rPr lang="en-US" sz="750" dirty="0">
                <a:solidFill>
                  <a:srgbClr val="334155"/>
                </a:solidFill>
                <a:latin typeface="SFMono-Regular" pitchFamily="34" charset="0"/>
                <a:ea typeface="SFMono-Regular" pitchFamily="34" charset="-122"/>
                <a:cs typeface="SFMono-Regular" pitchFamily="34" charset="-120"/>
              </a:rPr>
              <a:t>representation, or provenance is </a:t>
            </a:r>
            <a:r>
              <a:rPr lang="en-US" sz="750" dirty="0">
                <a:solidFill>
                  <a:srgbClr val="334155"/>
                </a:solidFill>
                <a:latin typeface="SFMono-Regular" pitchFamily="34" charset="0"/>
                <a:ea typeface="SFMono-Regular" pitchFamily="34" charset="-122"/>
                <a:cs typeface="SFMono-Regular" pitchFamily="34" charset="-120"/>
              </a:rPr>
              <a:t>incomplete.</a:t>
            </a:r>
            <a:endParaRPr lang="en-US" sz="700" dirty="0"/>
          </a:p>
        </p:txBody>
      </p:sp>
      <p:sp>
        <p:nvSpPr>
          <p:cNvPr id="42" name="Text 38"/>
          <p:cNvSpPr/>
          <p:nvPr/>
        </p:nvSpPr>
        <p:spPr>
          <a:xfrm>
            <a:off x="7072313" y="3449762"/>
            <a:ext cx="1928813" cy="513569"/>
          </a:xfrm>
          <a:prstGeom prst="rect">
            <a:avLst/>
          </a:prstGeom>
          <a:noFill/>
          <a:ln/>
        </p:spPr>
        <p:txBody>
          <a:bodyPr wrap="square" lIns="0" tIns="85090" rIns="0" bIns="0" rtlCol="0" anchor="t">
            <a:spAutoFit/>
          </a:bodyPr>
          <a:lstStyle/>
          <a:p>
            <a:pPr algn="l" indent="0" marL="0">
              <a:lnSpc>
                <a:spcPct val="116000"/>
              </a:lnSpc>
              <a:buNone/>
            </a:pPr>
            <a:r>
              <a:rPr lang="en-US" sz="750" dirty="0">
                <a:solidFill>
                  <a:srgbClr val="334155"/>
                </a:solidFill>
                <a:latin typeface="SFMono-Regular" pitchFamily="34" charset="0"/>
                <a:ea typeface="SFMono-Regular" pitchFamily="34" charset="-122"/>
                <a:cs typeface="SFMono-Regular" pitchFamily="34" charset="-120"/>
              </a:rPr>
              <a:t>The API never silently converts an unresolved GU hypothesis into a physical fact.</a:t>
            </a:r>
            <a:endParaRPr lang="en-US" sz="750" dirty="0"/>
          </a:p>
        </p:txBody>
      </p:sp>
      <p:sp>
        <p:nvSpPr>
          <p:cNvPr id="43" name="Text 39"/>
          <p:cNvSpPr/>
          <p:nvPr/>
        </p:nvSpPr>
        <p:spPr>
          <a:xfrm>
            <a:off x="7670936" y="4914900"/>
            <a:ext cx="1230176"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0A192F"/>
                </a:solidFill>
                <a:latin typeface="SFMono-Regular" pitchFamily="34" charset="0"/>
                <a:ea typeface="SFMono-Regular" pitchFamily="34" charset="-122"/>
                <a:cs typeface="SFMono-Regular" pitchFamily="34" charset="-120"/>
              </a:rPr>
              <a:t>SOVEREIGN ENGINE / 10</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71475" y="414338"/>
            <a:ext cx="6286500" cy="119993"/>
          </a:xfrm>
          <a:prstGeom prst="rect">
            <a:avLst/>
          </a:prstGeom>
          <a:noFill/>
          <a:ln/>
        </p:spPr>
        <p:txBody>
          <a:bodyPr wrap="none" lIns="0" tIns="0" rIns="0" bIns="0" rtlCol="0" anchor="t">
            <a:spAutoFit/>
          </a:bodyPr>
          <a:lstStyle/>
          <a:p>
            <a:pPr algn="l" indent="0" marL="0">
              <a:lnSpc>
                <a:spcPct val="96000"/>
              </a:lnSpc>
              <a:buNone/>
            </a:pPr>
            <a:r>
              <a:rPr lang="en-US" sz="700" b="1" spc="2" kern="0" dirty="0">
                <a:solidFill>
                  <a:srgbClr val="D90429"/>
                </a:solidFill>
                <a:latin typeface="SFMono-Regular" pitchFamily="34" charset="0"/>
                <a:ea typeface="SFMono-Regular" pitchFamily="34" charset="-122"/>
                <a:cs typeface="SFMono-Regular" pitchFamily="34" charset="-120"/>
              </a:rPr>
              <a:t>10 / IMPLEMENTATION ROADMAP</a:t>
            </a:r>
            <a:endParaRPr lang="en-US" sz="700" dirty="0"/>
          </a:p>
        </p:txBody>
      </p:sp>
      <p:sp>
        <p:nvSpPr>
          <p:cNvPr id="5" name="Text 1"/>
          <p:cNvSpPr/>
          <p:nvPr/>
        </p:nvSpPr>
        <p:spPr>
          <a:xfrm>
            <a:off x="371475" y="620055"/>
            <a:ext cx="5715000" cy="302884"/>
          </a:xfrm>
          <a:prstGeom prst="rect">
            <a:avLst/>
          </a:prstGeom>
          <a:noFill/>
          <a:ln/>
        </p:spPr>
        <p:txBody>
          <a:bodyPr wrap="none" lIns="0" tIns="0" rIns="0" bIns="0" rtlCol="0" anchor="t">
            <a:spAutoFit/>
          </a:bodyPr>
          <a:lstStyle/>
          <a:p>
            <a:pPr algn="l" indent="0" marL="0">
              <a:lnSpc>
                <a:spcPct val="84800"/>
              </a:lnSpc>
              <a:buNone/>
            </a:pPr>
            <a:r>
              <a:rPr lang="en-US" sz="2000" b="1" spc="-1" kern="0" dirty="0">
                <a:solidFill>
                  <a:srgbClr val="0A192F"/>
                </a:solidFill>
                <a:latin typeface="Georgia" pitchFamily="34" charset="0"/>
                <a:ea typeface="Georgia" pitchFamily="34" charset="-122"/>
                <a:cs typeface="Georgia" pitchFamily="34" charset="-120"/>
              </a:rPr>
              <a:t>Development follows a staged verification spine</a:t>
            </a:r>
            <a:endParaRPr lang="en-US" sz="2000" dirty="0"/>
          </a:p>
        </p:txBody>
      </p:sp>
      <p:sp>
        <p:nvSpPr>
          <p:cNvPr id="6" name="Text 2"/>
          <p:cNvSpPr/>
          <p:nvPr/>
        </p:nvSpPr>
        <p:spPr>
          <a:xfrm>
            <a:off x="371475" y="1044383"/>
            <a:ext cx="5572125" cy="450056"/>
          </a:xfrm>
          <a:prstGeom prst="rect">
            <a:avLst/>
          </a:prstGeom>
          <a:noFill/>
          <a:ln/>
        </p:spPr>
        <p:txBody>
          <a:bodyPr wrap="square" lIns="0" tIns="0" rIns="0" bIns="0" rtlCol="0" anchor="t">
            <a:spAutoFit/>
          </a:bodyPr>
          <a:lstStyle/>
          <a:p>
            <a:pPr algn="l" indent="0" marL="0">
              <a:lnSpc>
                <a:spcPct val="112000"/>
              </a:lnSpc>
              <a:buNone/>
            </a:pPr>
            <a:r>
              <a:rPr lang="en-US" sz="800" dirty="0">
                <a:solidFill>
                  <a:srgbClr val="475569"/>
                </a:solidFill>
                <a:latin typeface="SFMono-Regular" pitchFamily="34" charset="0"/>
                <a:ea typeface="SFMono-Regular" pitchFamily="34" charset="-122"/>
                <a:cs typeface="SFMono-Regular" pitchFamily="34" charset="-120"/>
              </a:rPr>
              <a:t>Build the smallest deterministic kernel first, then add geometric operators, provenance, interfaces, and GU-specific hypothesis modules only when their contracts are explicit.</a:t>
            </a:r>
            <a:endParaRPr lang="en-US" sz="800" dirty="0"/>
          </a:p>
        </p:txBody>
      </p:sp>
      <p:sp>
        <p:nvSpPr>
          <p:cNvPr id="7" name="Text 3"/>
          <p:cNvSpPr/>
          <p:nvPr/>
        </p:nvSpPr>
        <p:spPr>
          <a:xfrm>
            <a:off x="428625" y="1644458"/>
            <a:ext cx="1450181" cy="142875"/>
          </a:xfrm>
          <a:prstGeom prst="rect">
            <a:avLst/>
          </a:prstGeom>
          <a:noFill/>
          <a:ln/>
        </p:spPr>
        <p:txBody>
          <a:bodyPr wrap="none" lIns="0" tIns="0" rIns="0" bIns="0" rtlCol="0" anchor="t">
            <a:spAutoFit/>
          </a:bodyPr>
          <a:lstStyle/>
          <a:p>
            <a:pPr algn="l" indent="0" marL="0">
              <a:lnSpc>
                <a:spcPct val="80000"/>
              </a:lnSpc>
              <a:buNone/>
            </a:pPr>
            <a:r>
              <a:rPr lang="en-US" sz="1000" b="1" dirty="0">
                <a:solidFill>
                  <a:srgbClr val="D90429"/>
                </a:solidFill>
                <a:latin typeface="SFMono-Regular" pitchFamily="34" charset="0"/>
                <a:ea typeface="SFMono-Regular" pitchFamily="34" charset="-122"/>
                <a:cs typeface="SFMono-Regular" pitchFamily="34" charset="-120"/>
              </a:rPr>
              <a:t>T0</a:t>
            </a:r>
            <a:endParaRPr lang="en-US" sz="1000" dirty="0"/>
          </a:p>
        </p:txBody>
      </p:sp>
      <p:sp>
        <p:nvSpPr>
          <p:cNvPr id="8" name="Text 4"/>
          <p:cNvSpPr/>
          <p:nvPr/>
        </p:nvSpPr>
        <p:spPr>
          <a:xfrm>
            <a:off x="428625" y="1830195"/>
            <a:ext cx="1450181" cy="146558"/>
          </a:xfrm>
          <a:prstGeom prst="rect">
            <a:avLst/>
          </a:prstGeom>
          <a:noFill/>
          <a:ln/>
        </p:spPr>
        <p:txBody>
          <a:bodyPr wrap="none" lIns="0" tIns="0" rIns="0" bIns="0" rtlCol="0" anchor="t">
            <a:spAutoFit/>
          </a:bodyPr>
          <a:lstStyle/>
          <a:p>
            <a:pPr algn="l" indent="0" marL="0">
              <a:lnSpc>
                <a:spcPct val="91200"/>
              </a:lnSpc>
              <a:buNone/>
            </a:pPr>
            <a:r>
              <a:rPr lang="en-US" sz="900" b="1" dirty="0">
                <a:solidFill>
                  <a:srgbClr val="0A192F"/>
                </a:solidFill>
                <a:latin typeface="Georgia" pitchFamily="34" charset="0"/>
                <a:ea typeface="Georgia" pitchFamily="34" charset="-122"/>
                <a:cs typeface="Georgia" pitchFamily="34" charset="-120"/>
              </a:rPr>
              <a:t>Canonical AST</a:t>
            </a:r>
            <a:endParaRPr lang="en-US" sz="900" dirty="0"/>
          </a:p>
        </p:txBody>
      </p:sp>
      <p:sp>
        <p:nvSpPr>
          <p:cNvPr id="9" name="Text 5"/>
          <p:cNvSpPr/>
          <p:nvPr/>
        </p:nvSpPr>
        <p:spPr>
          <a:xfrm>
            <a:off x="428625" y="2019616"/>
            <a:ext cx="1450181" cy="384423"/>
          </a:xfrm>
          <a:prstGeom prst="rect">
            <a:avLst/>
          </a:prstGeom>
          <a:noFill/>
          <a:ln/>
        </p:spPr>
        <p:txBody>
          <a:bodyPr wrap="square" lIns="0" tIns="0" rIns="0" bIns="0" rtlCol="0" anchor="t">
            <a:spAutoFit/>
          </a:bodyPr>
          <a:lstStyle/>
          <a:p>
            <a:pPr algn="l" indent="0" marL="0">
              <a:lnSpc>
                <a:spcPct val="110400"/>
              </a:lnSpc>
              <a:buNone/>
            </a:pPr>
            <a:r>
              <a:rPr lang="en-US" sz="650" dirty="0">
                <a:solidFill>
                  <a:srgbClr val="334155"/>
                </a:solidFill>
                <a:latin typeface="SFMono-Regular" pitchFamily="34" charset="0"/>
                <a:ea typeface="SFMono-Regular" pitchFamily="34" charset="-122"/>
                <a:cs typeface="SFMono-Regular" pitchFamily="34" charset="-120"/>
              </a:rPr>
              <a:t>Stable IDs, canonical JSON, expression trees, source spans.</a:t>
            </a:r>
            <a:endParaRPr lang="en-US" sz="650" dirty="0"/>
          </a:p>
        </p:txBody>
      </p:sp>
      <p:sp>
        <p:nvSpPr>
          <p:cNvPr id="10" name="Shape 6"/>
          <p:cNvSpPr/>
          <p:nvPr/>
        </p:nvSpPr>
        <p:spPr>
          <a:xfrm>
            <a:off x="1821656" y="2224943"/>
            <a:ext cx="142875" cy="142875"/>
          </a:xfrm>
          <a:prstGeom prst="rect">
            <a:avLst/>
          </a:prstGeom>
          <a:solidFill>
            <a:srgbClr val="FFFFFF"/>
          </a:solidFill>
          <a:ln/>
        </p:spPr>
      </p:sp>
      <p:sp>
        <p:nvSpPr>
          <p:cNvPr id="11" name="Text 7"/>
          <p:cNvSpPr/>
          <p:nvPr/>
        </p:nvSpPr>
        <p:spPr>
          <a:xfrm>
            <a:off x="1821656" y="2224943"/>
            <a:ext cx="142875" cy="142875"/>
          </a:xfrm>
          <a:prstGeom prst="rect">
            <a:avLst/>
          </a:prstGeom>
          <a:noFill/>
          <a:ln/>
        </p:spPr>
        <p:txBody>
          <a:bodyPr wrap="none" lIns="17018" tIns="0" rIns="17018" bIns="0" rtlCol="0" anchor="t">
            <a:spAutoFit/>
          </a:bodyPr>
          <a:lstStyle/>
          <a:p>
            <a:pPr algn="l" indent="0" marL="0">
              <a:lnSpc>
                <a:spcPct val="80000"/>
              </a:lnSpc>
              <a:buNone/>
            </a:pPr>
            <a:r>
              <a:rPr lang="en-US" sz="1000" b="1" dirty="0">
                <a:solidFill>
                  <a:srgbClr val="D90429"/>
                </a:solidFill>
                <a:latin typeface="Georgia" pitchFamily="34" charset="0"/>
                <a:ea typeface="Georgia" pitchFamily="34" charset="-122"/>
                <a:cs typeface="Georgia" pitchFamily="34" charset="-120"/>
              </a:rPr>
              <a:t>→</a:t>
            </a:r>
            <a:endParaRPr lang="en-US" sz="1000" dirty="0"/>
          </a:p>
        </p:txBody>
      </p:sp>
      <p:sp>
        <p:nvSpPr>
          <p:cNvPr id="12" name="Text 8"/>
          <p:cNvSpPr/>
          <p:nvPr/>
        </p:nvSpPr>
        <p:spPr>
          <a:xfrm>
            <a:off x="2000250" y="1644458"/>
            <a:ext cx="1450181" cy="142875"/>
          </a:xfrm>
          <a:prstGeom prst="rect">
            <a:avLst/>
          </a:prstGeom>
          <a:noFill/>
          <a:ln/>
        </p:spPr>
        <p:txBody>
          <a:bodyPr wrap="none" lIns="0" tIns="0" rIns="0" bIns="0" rtlCol="0" anchor="t">
            <a:spAutoFit/>
          </a:bodyPr>
          <a:lstStyle/>
          <a:p>
            <a:pPr algn="l" indent="0" marL="0">
              <a:lnSpc>
                <a:spcPct val="80000"/>
              </a:lnSpc>
              <a:buNone/>
            </a:pPr>
            <a:r>
              <a:rPr lang="en-US" sz="1000" b="1" dirty="0">
                <a:solidFill>
                  <a:srgbClr val="D90429"/>
                </a:solidFill>
                <a:latin typeface="SFMono-Regular" pitchFamily="34" charset="0"/>
                <a:ea typeface="SFMono-Regular" pitchFamily="34" charset="-122"/>
                <a:cs typeface="SFMono-Regular" pitchFamily="34" charset="-120"/>
              </a:rPr>
              <a:t>T1</a:t>
            </a:r>
            <a:endParaRPr lang="en-US" sz="1000" dirty="0"/>
          </a:p>
        </p:txBody>
      </p:sp>
      <p:sp>
        <p:nvSpPr>
          <p:cNvPr id="13" name="Text 9"/>
          <p:cNvSpPr/>
          <p:nvPr/>
        </p:nvSpPr>
        <p:spPr>
          <a:xfrm>
            <a:off x="2000250" y="1830195"/>
            <a:ext cx="1450181" cy="146558"/>
          </a:xfrm>
          <a:prstGeom prst="rect">
            <a:avLst/>
          </a:prstGeom>
          <a:noFill/>
          <a:ln/>
        </p:spPr>
        <p:txBody>
          <a:bodyPr wrap="none" lIns="0" tIns="0" rIns="0" bIns="0" rtlCol="0" anchor="t">
            <a:spAutoFit/>
          </a:bodyPr>
          <a:lstStyle/>
          <a:p>
            <a:pPr algn="l" indent="0" marL="0">
              <a:lnSpc>
                <a:spcPct val="91200"/>
              </a:lnSpc>
              <a:buNone/>
            </a:pPr>
            <a:r>
              <a:rPr lang="en-US" sz="900" b="1" dirty="0">
                <a:solidFill>
                  <a:srgbClr val="0A192F"/>
                </a:solidFill>
                <a:latin typeface="Georgia" pitchFamily="34" charset="0"/>
                <a:ea typeface="Georgia" pitchFamily="34" charset="-122"/>
                <a:cs typeface="Georgia" pitchFamily="34" charset="-120"/>
              </a:rPr>
              <a:t>Typed tensors</a:t>
            </a:r>
            <a:endParaRPr lang="en-US" sz="900" dirty="0"/>
          </a:p>
        </p:txBody>
      </p:sp>
      <p:sp>
        <p:nvSpPr>
          <p:cNvPr id="14" name="Text 10"/>
          <p:cNvSpPr/>
          <p:nvPr/>
        </p:nvSpPr>
        <p:spPr>
          <a:xfrm>
            <a:off x="2000250" y="2019616"/>
            <a:ext cx="1450181" cy="384423"/>
          </a:xfrm>
          <a:prstGeom prst="rect">
            <a:avLst/>
          </a:prstGeom>
          <a:noFill/>
          <a:ln/>
        </p:spPr>
        <p:txBody>
          <a:bodyPr wrap="square" lIns="0" tIns="0" rIns="0" bIns="0" rtlCol="0" anchor="t">
            <a:spAutoFit/>
          </a:bodyPr>
          <a:lstStyle/>
          <a:p>
            <a:pPr algn="l" indent="0" marL="0">
              <a:lnSpc>
                <a:spcPct val="110400"/>
              </a:lnSpc>
              <a:buNone/>
            </a:pPr>
            <a:r>
              <a:rPr lang="en-US" sz="650" dirty="0">
                <a:solidFill>
                  <a:srgbClr val="334155"/>
                </a:solidFill>
                <a:latin typeface="SFMono-Regular" pitchFamily="34" charset="0"/>
                <a:ea typeface="SFMono-Regular" pitchFamily="34" charset="-122"/>
                <a:cs typeface="SFMono-Regular" pitchFamily="34" charset="-120"/>
              </a:rPr>
              <a:t>Variance, slots, dimensions, signatures, contractions.</a:t>
            </a:r>
            <a:endParaRPr lang="en-US" sz="650" dirty="0"/>
          </a:p>
        </p:txBody>
      </p:sp>
      <p:sp>
        <p:nvSpPr>
          <p:cNvPr id="15" name="Shape 11"/>
          <p:cNvSpPr/>
          <p:nvPr/>
        </p:nvSpPr>
        <p:spPr>
          <a:xfrm>
            <a:off x="3393281" y="2224943"/>
            <a:ext cx="142875" cy="142875"/>
          </a:xfrm>
          <a:prstGeom prst="rect">
            <a:avLst/>
          </a:prstGeom>
          <a:solidFill>
            <a:srgbClr val="FFFFFF"/>
          </a:solidFill>
          <a:ln/>
        </p:spPr>
      </p:sp>
      <p:sp>
        <p:nvSpPr>
          <p:cNvPr id="16" name="Text 12"/>
          <p:cNvSpPr/>
          <p:nvPr/>
        </p:nvSpPr>
        <p:spPr>
          <a:xfrm>
            <a:off x="3393281" y="2224943"/>
            <a:ext cx="142875" cy="142875"/>
          </a:xfrm>
          <a:prstGeom prst="rect">
            <a:avLst/>
          </a:prstGeom>
          <a:noFill/>
          <a:ln/>
        </p:spPr>
        <p:txBody>
          <a:bodyPr wrap="none" lIns="17018" tIns="0" rIns="17018" bIns="0" rtlCol="0" anchor="t">
            <a:spAutoFit/>
          </a:bodyPr>
          <a:lstStyle/>
          <a:p>
            <a:pPr algn="l" indent="0" marL="0">
              <a:lnSpc>
                <a:spcPct val="80000"/>
              </a:lnSpc>
              <a:buNone/>
            </a:pPr>
            <a:r>
              <a:rPr lang="en-US" sz="1000" b="1" dirty="0">
                <a:solidFill>
                  <a:srgbClr val="D90429"/>
                </a:solidFill>
                <a:latin typeface="Georgia" pitchFamily="34" charset="0"/>
                <a:ea typeface="Georgia" pitchFamily="34" charset="-122"/>
                <a:cs typeface="Georgia" pitchFamily="34" charset="-120"/>
              </a:rPr>
              <a:t>→</a:t>
            </a:r>
            <a:endParaRPr lang="en-US" sz="1000" dirty="0"/>
          </a:p>
        </p:txBody>
      </p:sp>
      <p:sp>
        <p:nvSpPr>
          <p:cNvPr id="17" name="Text 13"/>
          <p:cNvSpPr/>
          <p:nvPr/>
        </p:nvSpPr>
        <p:spPr>
          <a:xfrm>
            <a:off x="3571875" y="1644458"/>
            <a:ext cx="1450181" cy="142875"/>
          </a:xfrm>
          <a:prstGeom prst="rect">
            <a:avLst/>
          </a:prstGeom>
          <a:noFill/>
          <a:ln/>
        </p:spPr>
        <p:txBody>
          <a:bodyPr wrap="none" lIns="0" tIns="0" rIns="0" bIns="0" rtlCol="0" anchor="t">
            <a:spAutoFit/>
          </a:bodyPr>
          <a:lstStyle/>
          <a:p>
            <a:pPr algn="l" indent="0" marL="0">
              <a:lnSpc>
                <a:spcPct val="80000"/>
              </a:lnSpc>
              <a:buNone/>
            </a:pPr>
            <a:r>
              <a:rPr lang="en-US" sz="1000" b="1" dirty="0">
                <a:solidFill>
                  <a:srgbClr val="D90429"/>
                </a:solidFill>
                <a:latin typeface="SFMono-Regular" pitchFamily="34" charset="0"/>
                <a:ea typeface="SFMono-Regular" pitchFamily="34" charset="-122"/>
                <a:cs typeface="SFMono-Regular" pitchFamily="34" charset="-120"/>
              </a:rPr>
              <a:t>T2</a:t>
            </a:r>
            <a:endParaRPr lang="en-US" sz="1000" dirty="0"/>
          </a:p>
        </p:txBody>
      </p:sp>
      <p:sp>
        <p:nvSpPr>
          <p:cNvPr id="18" name="Text 14"/>
          <p:cNvSpPr/>
          <p:nvPr/>
        </p:nvSpPr>
        <p:spPr>
          <a:xfrm>
            <a:off x="3571875" y="1830195"/>
            <a:ext cx="1450181" cy="146558"/>
          </a:xfrm>
          <a:prstGeom prst="rect">
            <a:avLst/>
          </a:prstGeom>
          <a:noFill/>
          <a:ln/>
        </p:spPr>
        <p:txBody>
          <a:bodyPr wrap="none" lIns="0" tIns="0" rIns="0" bIns="0" rtlCol="0" anchor="t">
            <a:spAutoFit/>
          </a:bodyPr>
          <a:lstStyle/>
          <a:p>
            <a:pPr algn="l" indent="0" marL="0">
              <a:lnSpc>
                <a:spcPct val="91200"/>
              </a:lnSpc>
              <a:buNone/>
            </a:pPr>
            <a:r>
              <a:rPr lang="en-US" sz="900" b="1" dirty="0">
                <a:solidFill>
                  <a:srgbClr val="0A192F"/>
                </a:solidFill>
                <a:latin typeface="Georgia" pitchFamily="34" charset="0"/>
                <a:ea typeface="Georgia" pitchFamily="34" charset="-122"/>
                <a:cs typeface="Georgia" pitchFamily="34" charset="-120"/>
              </a:rPr>
              <a:t>Connections + curvature</a:t>
            </a:r>
            <a:endParaRPr lang="en-US" sz="900" dirty="0"/>
          </a:p>
        </p:txBody>
      </p:sp>
      <p:sp>
        <p:nvSpPr>
          <p:cNvPr id="19" name="Text 15"/>
          <p:cNvSpPr/>
          <p:nvPr/>
        </p:nvSpPr>
        <p:spPr>
          <a:xfrm>
            <a:off x="3571875" y="2019616"/>
            <a:ext cx="1450181" cy="384423"/>
          </a:xfrm>
          <a:prstGeom prst="rect">
            <a:avLst/>
          </a:prstGeom>
          <a:noFill/>
          <a:ln/>
        </p:spPr>
        <p:txBody>
          <a:bodyPr wrap="square" lIns="0" tIns="0" rIns="0" bIns="0" rtlCol="0" anchor="t">
            <a:spAutoFit/>
          </a:bodyPr>
          <a:lstStyle/>
          <a:p>
            <a:pPr algn="l" indent="0" marL="0">
              <a:lnSpc>
                <a:spcPct val="110400"/>
              </a:lnSpc>
              <a:buNone/>
            </a:pPr>
            <a:r>
              <a:rPr lang="en-US" sz="650" dirty="0">
                <a:solidFill>
                  <a:srgbClr val="334155"/>
                </a:solidFill>
                <a:latin typeface="SFMono-Regular" pitchFamily="34" charset="0"/>
                <a:ea typeface="SFMono-Regular" pitchFamily="34" charset="-122"/>
                <a:cs typeface="SFMono-Regular" pitchFamily="34" charset="-120"/>
              </a:rPr>
              <a:t>Metric, Levi–Civita, torsion, Riemann, Ricci, Einstein.</a:t>
            </a:r>
            <a:endParaRPr lang="en-US" sz="650" dirty="0"/>
          </a:p>
        </p:txBody>
      </p:sp>
      <p:sp>
        <p:nvSpPr>
          <p:cNvPr id="20" name="Shape 16"/>
          <p:cNvSpPr/>
          <p:nvPr/>
        </p:nvSpPr>
        <p:spPr>
          <a:xfrm>
            <a:off x="4964906" y="2224943"/>
            <a:ext cx="142875" cy="142875"/>
          </a:xfrm>
          <a:prstGeom prst="rect">
            <a:avLst/>
          </a:prstGeom>
          <a:solidFill>
            <a:srgbClr val="FFFFFF"/>
          </a:solidFill>
          <a:ln/>
        </p:spPr>
      </p:sp>
      <p:sp>
        <p:nvSpPr>
          <p:cNvPr id="21" name="Text 17"/>
          <p:cNvSpPr/>
          <p:nvPr/>
        </p:nvSpPr>
        <p:spPr>
          <a:xfrm>
            <a:off x="4964906" y="2224943"/>
            <a:ext cx="142875" cy="142875"/>
          </a:xfrm>
          <a:prstGeom prst="rect">
            <a:avLst/>
          </a:prstGeom>
          <a:noFill/>
          <a:ln/>
        </p:spPr>
        <p:txBody>
          <a:bodyPr wrap="none" lIns="17018" tIns="0" rIns="17018" bIns="0" rtlCol="0" anchor="t">
            <a:spAutoFit/>
          </a:bodyPr>
          <a:lstStyle/>
          <a:p>
            <a:pPr algn="l" indent="0" marL="0">
              <a:lnSpc>
                <a:spcPct val="80000"/>
              </a:lnSpc>
              <a:buNone/>
            </a:pPr>
            <a:r>
              <a:rPr lang="en-US" sz="1000" b="1" dirty="0">
                <a:solidFill>
                  <a:srgbClr val="D90429"/>
                </a:solidFill>
                <a:latin typeface="Georgia" pitchFamily="34" charset="0"/>
                <a:ea typeface="Georgia" pitchFamily="34" charset="-122"/>
                <a:cs typeface="Georgia" pitchFamily="34" charset="-120"/>
              </a:rPr>
              <a:t>→</a:t>
            </a:r>
            <a:endParaRPr lang="en-US" sz="1000" dirty="0"/>
          </a:p>
        </p:txBody>
      </p:sp>
      <p:sp>
        <p:nvSpPr>
          <p:cNvPr id="22" name="Text 18"/>
          <p:cNvSpPr/>
          <p:nvPr/>
        </p:nvSpPr>
        <p:spPr>
          <a:xfrm>
            <a:off x="5143500" y="1644458"/>
            <a:ext cx="1457325" cy="142875"/>
          </a:xfrm>
          <a:prstGeom prst="rect">
            <a:avLst/>
          </a:prstGeom>
          <a:noFill/>
          <a:ln/>
        </p:spPr>
        <p:txBody>
          <a:bodyPr wrap="none" lIns="0" tIns="0" rIns="0" bIns="0" rtlCol="0" anchor="t">
            <a:spAutoFit/>
          </a:bodyPr>
          <a:lstStyle/>
          <a:p>
            <a:pPr algn="l" indent="0" marL="0">
              <a:lnSpc>
                <a:spcPct val="80000"/>
              </a:lnSpc>
              <a:buNone/>
            </a:pPr>
            <a:r>
              <a:rPr lang="en-US" sz="1000" b="1" dirty="0">
                <a:solidFill>
                  <a:srgbClr val="D90429"/>
                </a:solidFill>
                <a:latin typeface="SFMono-Regular" pitchFamily="34" charset="0"/>
                <a:ea typeface="SFMono-Regular" pitchFamily="34" charset="-122"/>
                <a:cs typeface="SFMono-Regular" pitchFamily="34" charset="-120"/>
              </a:rPr>
              <a:t>T3</a:t>
            </a:r>
            <a:endParaRPr lang="en-US" sz="1000" dirty="0"/>
          </a:p>
        </p:txBody>
      </p:sp>
      <p:sp>
        <p:nvSpPr>
          <p:cNvPr id="23" name="Text 19"/>
          <p:cNvSpPr/>
          <p:nvPr/>
        </p:nvSpPr>
        <p:spPr>
          <a:xfrm>
            <a:off x="5143500" y="1830195"/>
            <a:ext cx="1457325" cy="146558"/>
          </a:xfrm>
          <a:prstGeom prst="rect">
            <a:avLst/>
          </a:prstGeom>
          <a:noFill/>
          <a:ln/>
        </p:spPr>
        <p:txBody>
          <a:bodyPr wrap="none" lIns="0" tIns="0" rIns="0" bIns="0" rtlCol="0" anchor="t">
            <a:spAutoFit/>
          </a:bodyPr>
          <a:lstStyle/>
          <a:p>
            <a:pPr algn="l" indent="0" marL="0">
              <a:lnSpc>
                <a:spcPct val="91200"/>
              </a:lnSpc>
              <a:buNone/>
            </a:pPr>
            <a:r>
              <a:rPr lang="en-US" sz="900" b="1" dirty="0">
                <a:solidFill>
                  <a:srgbClr val="0A192F"/>
                </a:solidFill>
                <a:latin typeface="Georgia" pitchFamily="34" charset="0"/>
                <a:ea typeface="Georgia" pitchFamily="34" charset="-122"/>
                <a:cs typeface="Georgia" pitchFamily="34" charset="-120"/>
              </a:rPr>
              <a:t>Forms + gauge</a:t>
            </a:r>
            <a:endParaRPr lang="en-US" sz="900" dirty="0"/>
          </a:p>
        </p:txBody>
      </p:sp>
      <p:sp>
        <p:nvSpPr>
          <p:cNvPr id="24" name="Text 20"/>
          <p:cNvSpPr/>
          <p:nvPr/>
        </p:nvSpPr>
        <p:spPr>
          <a:xfrm>
            <a:off x="5143500" y="2019616"/>
            <a:ext cx="1457325" cy="256282"/>
          </a:xfrm>
          <a:prstGeom prst="rect">
            <a:avLst/>
          </a:prstGeom>
          <a:noFill/>
          <a:ln/>
        </p:spPr>
        <p:txBody>
          <a:bodyPr wrap="square" lIns="0" tIns="0" rIns="0" bIns="0" rtlCol="0" anchor="t">
            <a:spAutoFit/>
          </a:bodyPr>
          <a:lstStyle/>
          <a:p>
            <a:pPr algn="l" indent="0" marL="0">
              <a:lnSpc>
                <a:spcPct val="110400"/>
              </a:lnSpc>
              <a:buNone/>
            </a:pPr>
            <a:r>
              <a:rPr lang="en-US" sz="650" dirty="0">
                <a:solidFill>
                  <a:srgbClr val="334155"/>
                </a:solidFill>
                <a:latin typeface="SFMono-Regular" pitchFamily="34" charset="0"/>
                <a:ea typeface="SFMono-Regular" pitchFamily="34" charset="-122"/>
                <a:cs typeface="SFMono-Regular" pitchFamily="34" charset="-120"/>
              </a:rPr>
              <a:t>Wedge, d, D, Hodge star, F, Bianchi checks.</a:t>
            </a:r>
            <a:endParaRPr lang="en-US" sz="650" dirty="0"/>
          </a:p>
        </p:txBody>
      </p:sp>
      <p:sp>
        <p:nvSpPr>
          <p:cNvPr id="25" name="Shape 21"/>
          <p:cNvSpPr/>
          <p:nvPr/>
        </p:nvSpPr>
        <p:spPr>
          <a:xfrm>
            <a:off x="1843088" y="2460743"/>
            <a:ext cx="121444" cy="142875"/>
          </a:xfrm>
          <a:prstGeom prst="rect">
            <a:avLst/>
          </a:prstGeom>
          <a:solidFill>
            <a:srgbClr val="FFFFFF"/>
          </a:solidFill>
          <a:ln/>
        </p:spPr>
      </p:sp>
      <p:sp>
        <p:nvSpPr>
          <p:cNvPr id="26" name="Text 22"/>
          <p:cNvSpPr/>
          <p:nvPr/>
        </p:nvSpPr>
        <p:spPr>
          <a:xfrm>
            <a:off x="1843088" y="2460743"/>
            <a:ext cx="121444" cy="142875"/>
          </a:xfrm>
          <a:prstGeom prst="rect">
            <a:avLst/>
          </a:prstGeom>
          <a:noFill/>
          <a:ln/>
        </p:spPr>
        <p:txBody>
          <a:bodyPr wrap="none" lIns="17018" tIns="0" rIns="17018" bIns="0" rtlCol="0" anchor="t">
            <a:spAutoFit/>
          </a:bodyPr>
          <a:lstStyle/>
          <a:p>
            <a:pPr algn="l" indent="0" marL="0">
              <a:lnSpc>
                <a:spcPct val="80000"/>
              </a:lnSpc>
              <a:buNone/>
            </a:pPr>
            <a:r>
              <a:rPr lang="en-US" sz="1000" b="1" dirty="0">
                <a:solidFill>
                  <a:srgbClr val="D90429"/>
                </a:solidFill>
                <a:latin typeface="Georgia" pitchFamily="34" charset="0"/>
                <a:ea typeface="Georgia" pitchFamily="34" charset="-122"/>
                <a:cs typeface="Georgia" pitchFamily="34" charset="-120"/>
              </a:rPr>
              <a:t>↘</a:t>
            </a:r>
            <a:endParaRPr lang="en-US" sz="1000" dirty="0"/>
          </a:p>
        </p:txBody>
      </p:sp>
      <p:sp>
        <p:nvSpPr>
          <p:cNvPr id="27" name="Text 23"/>
          <p:cNvSpPr/>
          <p:nvPr/>
        </p:nvSpPr>
        <p:spPr>
          <a:xfrm>
            <a:off x="428625" y="2589330"/>
            <a:ext cx="1450181" cy="142875"/>
          </a:xfrm>
          <a:prstGeom prst="rect">
            <a:avLst/>
          </a:prstGeom>
          <a:noFill/>
          <a:ln/>
        </p:spPr>
        <p:txBody>
          <a:bodyPr wrap="none" lIns="0" tIns="0" rIns="0" bIns="0" rtlCol="0" anchor="t">
            <a:spAutoFit/>
          </a:bodyPr>
          <a:lstStyle/>
          <a:p>
            <a:pPr algn="l" indent="0" marL="0">
              <a:lnSpc>
                <a:spcPct val="80000"/>
              </a:lnSpc>
              <a:buNone/>
            </a:pPr>
            <a:r>
              <a:rPr lang="en-US" sz="1000" b="1" dirty="0">
                <a:solidFill>
                  <a:srgbClr val="D90429"/>
                </a:solidFill>
                <a:latin typeface="SFMono-Regular" pitchFamily="34" charset="0"/>
                <a:ea typeface="SFMono-Regular" pitchFamily="34" charset="-122"/>
                <a:cs typeface="SFMono-Regular" pitchFamily="34" charset="-120"/>
              </a:rPr>
              <a:t>T4</a:t>
            </a:r>
            <a:endParaRPr lang="en-US" sz="1000" dirty="0"/>
          </a:p>
        </p:txBody>
      </p:sp>
      <p:sp>
        <p:nvSpPr>
          <p:cNvPr id="28" name="Text 24"/>
          <p:cNvSpPr/>
          <p:nvPr/>
        </p:nvSpPr>
        <p:spPr>
          <a:xfrm>
            <a:off x="428625" y="2775068"/>
            <a:ext cx="1450181" cy="146558"/>
          </a:xfrm>
          <a:prstGeom prst="rect">
            <a:avLst/>
          </a:prstGeom>
          <a:noFill/>
          <a:ln/>
        </p:spPr>
        <p:txBody>
          <a:bodyPr wrap="none" lIns="0" tIns="0" rIns="0" bIns="0" rtlCol="0" anchor="t">
            <a:spAutoFit/>
          </a:bodyPr>
          <a:lstStyle/>
          <a:p>
            <a:pPr algn="l" indent="0" marL="0">
              <a:lnSpc>
                <a:spcPct val="91200"/>
              </a:lnSpc>
              <a:buNone/>
            </a:pPr>
            <a:r>
              <a:rPr lang="en-US" sz="900" b="1" dirty="0">
                <a:solidFill>
                  <a:srgbClr val="0A192F"/>
                </a:solidFill>
                <a:latin typeface="Georgia" pitchFamily="34" charset="0"/>
                <a:ea typeface="Georgia" pitchFamily="34" charset="-122"/>
                <a:cs typeface="Georgia" pitchFamily="34" charset="-120"/>
              </a:rPr>
              <a:t>Spinor interface</a:t>
            </a:r>
            <a:endParaRPr lang="en-US" sz="900" dirty="0"/>
          </a:p>
        </p:txBody>
      </p:sp>
      <p:sp>
        <p:nvSpPr>
          <p:cNvPr id="29" name="Text 25"/>
          <p:cNvSpPr/>
          <p:nvPr/>
        </p:nvSpPr>
        <p:spPr>
          <a:xfrm>
            <a:off x="428625" y="2964489"/>
            <a:ext cx="1450181" cy="384423"/>
          </a:xfrm>
          <a:prstGeom prst="rect">
            <a:avLst/>
          </a:prstGeom>
          <a:noFill/>
          <a:ln/>
        </p:spPr>
        <p:txBody>
          <a:bodyPr wrap="square" lIns="0" tIns="0" rIns="0" bIns="0" rtlCol="0" anchor="t">
            <a:spAutoFit/>
          </a:bodyPr>
          <a:lstStyle/>
          <a:p>
            <a:pPr algn="l" indent="0" marL="0">
              <a:lnSpc>
                <a:spcPct val="110400"/>
              </a:lnSpc>
              <a:buNone/>
            </a:pPr>
            <a:r>
              <a:rPr lang="en-US" sz="650" dirty="0">
                <a:solidFill>
                  <a:srgbClr val="334155"/>
                </a:solidFill>
                <a:latin typeface="SFMono-Regular" pitchFamily="34" charset="0"/>
                <a:ea typeface="SFMono-Regular" pitchFamily="34" charset="-122"/>
                <a:cs typeface="SFMono-Regular" pitchFamily="34" charset="-120"/>
              </a:rPr>
              <a:t>Clifford relations, Dirac operators, spectral obligations.</a:t>
            </a:r>
            <a:endParaRPr lang="en-US" sz="650" dirty="0"/>
          </a:p>
        </p:txBody>
      </p:sp>
      <p:sp>
        <p:nvSpPr>
          <p:cNvPr id="30" name="Text 26"/>
          <p:cNvSpPr/>
          <p:nvPr/>
        </p:nvSpPr>
        <p:spPr>
          <a:xfrm>
            <a:off x="2000250" y="2589330"/>
            <a:ext cx="1450181" cy="142875"/>
          </a:xfrm>
          <a:prstGeom prst="rect">
            <a:avLst/>
          </a:prstGeom>
          <a:noFill/>
          <a:ln/>
        </p:spPr>
        <p:txBody>
          <a:bodyPr wrap="none" lIns="0" tIns="0" rIns="0" bIns="0" rtlCol="0" anchor="t">
            <a:spAutoFit/>
          </a:bodyPr>
          <a:lstStyle/>
          <a:p>
            <a:pPr algn="l" indent="0" marL="0">
              <a:lnSpc>
                <a:spcPct val="80000"/>
              </a:lnSpc>
              <a:buNone/>
            </a:pPr>
            <a:r>
              <a:rPr lang="en-US" sz="1000" b="1" dirty="0">
                <a:solidFill>
                  <a:srgbClr val="D90429"/>
                </a:solidFill>
                <a:latin typeface="SFMono-Regular" pitchFamily="34" charset="0"/>
                <a:ea typeface="SFMono-Regular" pitchFamily="34" charset="-122"/>
                <a:cs typeface="SFMono-Regular" pitchFamily="34" charset="-120"/>
              </a:rPr>
              <a:t>T5</a:t>
            </a:r>
            <a:endParaRPr lang="en-US" sz="1000" dirty="0"/>
          </a:p>
        </p:txBody>
      </p:sp>
      <p:sp>
        <p:nvSpPr>
          <p:cNvPr id="31" name="Text 27"/>
          <p:cNvSpPr/>
          <p:nvPr/>
        </p:nvSpPr>
        <p:spPr>
          <a:xfrm>
            <a:off x="2000250" y="2775068"/>
            <a:ext cx="1450181" cy="146558"/>
          </a:xfrm>
          <a:prstGeom prst="rect">
            <a:avLst/>
          </a:prstGeom>
          <a:noFill/>
          <a:ln/>
        </p:spPr>
        <p:txBody>
          <a:bodyPr wrap="none" lIns="0" tIns="0" rIns="0" bIns="0" rtlCol="0" anchor="t">
            <a:spAutoFit/>
          </a:bodyPr>
          <a:lstStyle/>
          <a:p>
            <a:pPr algn="l" indent="0" marL="0">
              <a:lnSpc>
                <a:spcPct val="91200"/>
              </a:lnSpc>
              <a:buNone/>
            </a:pPr>
            <a:r>
              <a:rPr lang="en-US" sz="900" b="1" dirty="0">
                <a:solidFill>
                  <a:srgbClr val="0A192F"/>
                </a:solidFill>
                <a:latin typeface="Georgia" pitchFamily="34" charset="0"/>
                <a:ea typeface="Georgia" pitchFamily="34" charset="-122"/>
                <a:cs typeface="Georgia" pitchFamily="34" charset="-120"/>
              </a:rPr>
              <a:t>Evidence ledger</a:t>
            </a:r>
            <a:endParaRPr lang="en-US" sz="900" dirty="0"/>
          </a:p>
        </p:txBody>
      </p:sp>
      <p:sp>
        <p:nvSpPr>
          <p:cNvPr id="32" name="Text 28"/>
          <p:cNvSpPr/>
          <p:nvPr/>
        </p:nvSpPr>
        <p:spPr>
          <a:xfrm>
            <a:off x="2000250" y="2964489"/>
            <a:ext cx="1450181" cy="384423"/>
          </a:xfrm>
          <a:prstGeom prst="rect">
            <a:avLst/>
          </a:prstGeom>
          <a:noFill/>
          <a:ln/>
        </p:spPr>
        <p:txBody>
          <a:bodyPr wrap="square" lIns="0" tIns="0" rIns="0" bIns="0" rtlCol="0" anchor="t">
            <a:spAutoFit/>
          </a:bodyPr>
          <a:lstStyle/>
          <a:p>
            <a:pPr algn="l" indent="0" marL="0">
              <a:lnSpc>
                <a:spcPct val="110400"/>
              </a:lnSpc>
              <a:buNone/>
            </a:pPr>
            <a:r>
              <a:rPr lang="en-US" sz="650" dirty="0">
                <a:solidFill>
                  <a:srgbClr val="334155"/>
                </a:solidFill>
                <a:latin typeface="SFMono-Regular" pitchFamily="34" charset="0"/>
                <a:ea typeface="SFMono-Regular" pitchFamily="34" charset="-122"/>
                <a:cs typeface="SFMono-Regular" pitchFamily="34" charset="-120"/>
              </a:rPr>
              <a:t>Claims, sources, assumptions, replay, immutable hashes.</a:t>
            </a:r>
            <a:endParaRPr lang="en-US" sz="650" dirty="0"/>
          </a:p>
        </p:txBody>
      </p:sp>
      <p:sp>
        <p:nvSpPr>
          <p:cNvPr id="33" name="Text 29"/>
          <p:cNvSpPr/>
          <p:nvPr/>
        </p:nvSpPr>
        <p:spPr>
          <a:xfrm>
            <a:off x="3571875" y="2589330"/>
            <a:ext cx="1450181" cy="142875"/>
          </a:xfrm>
          <a:prstGeom prst="rect">
            <a:avLst/>
          </a:prstGeom>
          <a:noFill/>
          <a:ln/>
        </p:spPr>
        <p:txBody>
          <a:bodyPr wrap="none" lIns="0" tIns="0" rIns="0" bIns="0" rtlCol="0" anchor="t">
            <a:spAutoFit/>
          </a:bodyPr>
          <a:lstStyle/>
          <a:p>
            <a:pPr algn="l" indent="0" marL="0">
              <a:lnSpc>
                <a:spcPct val="80000"/>
              </a:lnSpc>
              <a:buNone/>
            </a:pPr>
            <a:r>
              <a:rPr lang="en-US" sz="1000" b="1" dirty="0">
                <a:solidFill>
                  <a:srgbClr val="D90429"/>
                </a:solidFill>
                <a:latin typeface="SFMono-Regular" pitchFamily="34" charset="0"/>
                <a:ea typeface="SFMono-Regular" pitchFamily="34" charset="-122"/>
                <a:cs typeface="SFMono-Regular" pitchFamily="34" charset="-120"/>
              </a:rPr>
              <a:t>T6</a:t>
            </a:r>
            <a:endParaRPr lang="en-US" sz="1000" dirty="0"/>
          </a:p>
        </p:txBody>
      </p:sp>
      <p:sp>
        <p:nvSpPr>
          <p:cNvPr id="34" name="Text 30"/>
          <p:cNvSpPr/>
          <p:nvPr/>
        </p:nvSpPr>
        <p:spPr>
          <a:xfrm>
            <a:off x="3571875" y="2775068"/>
            <a:ext cx="1450181" cy="146558"/>
          </a:xfrm>
          <a:prstGeom prst="rect">
            <a:avLst/>
          </a:prstGeom>
          <a:noFill/>
          <a:ln/>
        </p:spPr>
        <p:txBody>
          <a:bodyPr wrap="none" lIns="0" tIns="0" rIns="0" bIns="0" rtlCol="0" anchor="t">
            <a:spAutoFit/>
          </a:bodyPr>
          <a:lstStyle/>
          <a:p>
            <a:pPr algn="l" indent="0" marL="0">
              <a:lnSpc>
                <a:spcPct val="91200"/>
              </a:lnSpc>
              <a:buNone/>
            </a:pPr>
            <a:r>
              <a:rPr lang="en-US" sz="900" b="1" dirty="0">
                <a:solidFill>
                  <a:srgbClr val="0A192F"/>
                </a:solidFill>
                <a:latin typeface="Georgia" pitchFamily="34" charset="0"/>
                <a:ea typeface="Georgia" pitchFamily="34" charset="-122"/>
                <a:cs typeface="Georgia" pitchFamily="34" charset="-120"/>
              </a:rPr>
              <a:t>Logos + Monad</a:t>
            </a:r>
            <a:endParaRPr lang="en-US" sz="900" dirty="0"/>
          </a:p>
        </p:txBody>
      </p:sp>
      <p:sp>
        <p:nvSpPr>
          <p:cNvPr id="35" name="Text 31"/>
          <p:cNvSpPr/>
          <p:nvPr/>
        </p:nvSpPr>
        <p:spPr>
          <a:xfrm>
            <a:off x="3571875" y="2964489"/>
            <a:ext cx="1450181" cy="512564"/>
          </a:xfrm>
          <a:prstGeom prst="rect">
            <a:avLst/>
          </a:prstGeom>
          <a:noFill/>
          <a:ln/>
        </p:spPr>
        <p:txBody>
          <a:bodyPr wrap="square" lIns="0" tIns="0" rIns="0" bIns="0" rtlCol="0" anchor="t">
            <a:spAutoFit/>
          </a:bodyPr>
          <a:lstStyle/>
          <a:p>
            <a:pPr algn="l" indent="0" marL="0">
              <a:lnSpc>
                <a:spcPct val="110400"/>
              </a:lnSpc>
              <a:buNone/>
            </a:pPr>
            <a:r>
              <a:rPr lang="en-US" sz="650" dirty="0">
                <a:solidFill>
                  <a:srgbClr val="334155"/>
                </a:solidFill>
                <a:latin typeface="SFMono-Regular" pitchFamily="34" charset="0"/>
                <a:ea typeface="SFMono-Regular" pitchFamily="34" charset="-122"/>
                <a:cs typeface="SFMono-Regular" pitchFamily="34" charset="-120"/>
              </a:rPr>
              <a:t>Plain-language explanations and deterministic state transitions.</a:t>
            </a:r>
            <a:endParaRPr lang="en-US" sz="650" dirty="0"/>
          </a:p>
        </p:txBody>
      </p:sp>
      <p:sp>
        <p:nvSpPr>
          <p:cNvPr id="36" name="Text 32"/>
          <p:cNvSpPr/>
          <p:nvPr/>
        </p:nvSpPr>
        <p:spPr>
          <a:xfrm>
            <a:off x="5143500" y="2589330"/>
            <a:ext cx="1457325" cy="142875"/>
          </a:xfrm>
          <a:prstGeom prst="rect">
            <a:avLst/>
          </a:prstGeom>
          <a:noFill/>
          <a:ln/>
        </p:spPr>
        <p:txBody>
          <a:bodyPr wrap="none" lIns="0" tIns="0" rIns="0" bIns="0" rtlCol="0" anchor="t">
            <a:spAutoFit/>
          </a:bodyPr>
          <a:lstStyle/>
          <a:p>
            <a:pPr algn="l" indent="0" marL="0">
              <a:lnSpc>
                <a:spcPct val="80000"/>
              </a:lnSpc>
              <a:buNone/>
            </a:pPr>
            <a:r>
              <a:rPr lang="en-US" sz="1000" b="1" dirty="0">
                <a:solidFill>
                  <a:srgbClr val="D90429"/>
                </a:solidFill>
                <a:latin typeface="SFMono-Regular" pitchFamily="34" charset="0"/>
                <a:ea typeface="SFMono-Regular" pitchFamily="34" charset="-122"/>
                <a:cs typeface="SFMono-Regular" pitchFamily="34" charset="-120"/>
              </a:rPr>
              <a:t>T7</a:t>
            </a:r>
            <a:endParaRPr lang="en-US" sz="1000" dirty="0"/>
          </a:p>
        </p:txBody>
      </p:sp>
      <p:sp>
        <p:nvSpPr>
          <p:cNvPr id="37" name="Text 33"/>
          <p:cNvSpPr/>
          <p:nvPr/>
        </p:nvSpPr>
        <p:spPr>
          <a:xfrm>
            <a:off x="5143500" y="2775068"/>
            <a:ext cx="1457325" cy="146558"/>
          </a:xfrm>
          <a:prstGeom prst="rect">
            <a:avLst/>
          </a:prstGeom>
          <a:noFill/>
          <a:ln/>
        </p:spPr>
        <p:txBody>
          <a:bodyPr wrap="none" lIns="0" tIns="0" rIns="0" bIns="0" rtlCol="0" anchor="t">
            <a:spAutoFit/>
          </a:bodyPr>
          <a:lstStyle/>
          <a:p>
            <a:pPr algn="l" indent="0" marL="0">
              <a:lnSpc>
                <a:spcPct val="91200"/>
              </a:lnSpc>
              <a:buNone/>
            </a:pPr>
            <a:r>
              <a:rPr lang="en-US" sz="900" b="1" dirty="0">
                <a:solidFill>
                  <a:srgbClr val="0A192F"/>
                </a:solidFill>
                <a:latin typeface="Georgia" pitchFamily="34" charset="0"/>
                <a:ea typeface="Georgia" pitchFamily="34" charset="-122"/>
                <a:cs typeface="Georgia" pitchFamily="34" charset="-120"/>
              </a:rPr>
              <a:t>GU hypotheses</a:t>
            </a:r>
            <a:endParaRPr lang="en-US" sz="900" dirty="0"/>
          </a:p>
        </p:txBody>
      </p:sp>
      <p:sp>
        <p:nvSpPr>
          <p:cNvPr id="38" name="Text 34"/>
          <p:cNvSpPr/>
          <p:nvPr/>
        </p:nvSpPr>
        <p:spPr>
          <a:xfrm>
            <a:off x="5143500" y="2964489"/>
            <a:ext cx="1457325" cy="384423"/>
          </a:xfrm>
          <a:prstGeom prst="rect">
            <a:avLst/>
          </a:prstGeom>
          <a:noFill/>
          <a:ln/>
        </p:spPr>
        <p:txBody>
          <a:bodyPr wrap="square" lIns="0" tIns="0" rIns="0" bIns="0" rtlCol="0" anchor="t">
            <a:spAutoFit/>
          </a:bodyPr>
          <a:lstStyle/>
          <a:p>
            <a:pPr algn="l" indent="0" marL="0">
              <a:lnSpc>
                <a:spcPct val="110400"/>
              </a:lnSpc>
              <a:buNone/>
            </a:pPr>
            <a:r>
              <a:rPr lang="en-US" sz="650" dirty="0">
                <a:solidFill>
                  <a:srgbClr val="334155"/>
                </a:solidFill>
                <a:latin typeface="SFMono-Regular" pitchFamily="34" charset="0"/>
                <a:ea typeface="SFMono-Regular" pitchFamily="34" charset="-122"/>
                <a:cs typeface="SFMono-Regular" pitchFamily="34" charset="-120"/>
              </a:rPr>
              <a:t>Versioned actions and representations; missing proofs stay unresolved.</a:t>
            </a:r>
            <a:endParaRPr lang="en-US" sz="650" dirty="0"/>
          </a:p>
        </p:txBody>
      </p:sp>
      <p:sp>
        <p:nvSpPr>
          <p:cNvPr id="39" name="Text 35"/>
          <p:cNvSpPr/>
          <p:nvPr/>
        </p:nvSpPr>
        <p:spPr>
          <a:xfrm>
            <a:off x="371475" y="3605640"/>
            <a:ext cx="3100388" cy="102859"/>
          </a:xfrm>
          <a:prstGeom prst="rect">
            <a:avLst/>
          </a:prstGeom>
          <a:noFill/>
          <a:ln/>
        </p:spPr>
        <p:txBody>
          <a:bodyPr wrap="none" lIns="0" tIns="0" rIns="0" bIns="0" rtlCol="0" anchor="t">
            <a:spAutoFit/>
          </a:bodyPr>
          <a:lstStyle/>
          <a:p>
            <a:pPr algn="l" indent="0" marL="0">
              <a:lnSpc>
                <a:spcPct val="96000"/>
              </a:lnSpc>
              <a:buNone/>
            </a:pPr>
            <a:r>
              <a:rPr lang="en-US" sz="600" b="1" spc="1" kern="0" dirty="0">
                <a:solidFill>
                  <a:srgbClr val="D90429"/>
                </a:solidFill>
                <a:latin typeface="SFMono-Regular" pitchFamily="34" charset="0"/>
                <a:ea typeface="SFMono-Regular" pitchFamily="34" charset="-122"/>
                <a:cs typeface="SFMono-Regular" pitchFamily="34" charset="-120"/>
              </a:rPr>
              <a:t>RELEASE GATE</a:t>
            </a:r>
            <a:endParaRPr lang="en-US" sz="600" dirty="0"/>
          </a:p>
        </p:txBody>
      </p:sp>
      <p:sp>
        <p:nvSpPr>
          <p:cNvPr id="40" name="Text 36"/>
          <p:cNvSpPr/>
          <p:nvPr/>
        </p:nvSpPr>
        <p:spPr>
          <a:xfrm>
            <a:off x="371475" y="3751362"/>
            <a:ext cx="3100388" cy="389948"/>
          </a:xfrm>
          <a:prstGeom prst="rect">
            <a:avLst/>
          </a:prstGeom>
          <a:noFill/>
          <a:ln/>
        </p:spPr>
        <p:txBody>
          <a:bodyPr wrap="square" lIns="0" tIns="0" rIns="0" bIns="0" rtlCol="0" anchor="t">
            <a:spAutoFit/>
          </a:bodyPr>
          <a:lstStyle/>
          <a:p>
            <a:pPr algn="l" indent="0" marL="0">
              <a:lnSpc>
                <a:spcPct val="112000"/>
              </a:lnSpc>
              <a:buNone/>
            </a:pPr>
            <a:r>
              <a:rPr lang="en-US" sz="650" dirty="0">
                <a:solidFill>
                  <a:srgbClr val="334155"/>
                </a:solidFill>
                <a:latin typeface="SFMono-Regular" pitchFamily="34" charset="0"/>
                <a:ea typeface="SFMono-Regular" pitchFamily="34" charset="-122"/>
                <a:cs typeface="SFMono-Regular" pitchFamily="34" charset="-120"/>
              </a:rPr>
              <a:t>A feature is releasable only when schemas, identities, numerical fixtures, serialization, and cross-language parity pass.</a:t>
            </a:r>
            <a:endParaRPr lang="en-US" sz="650" dirty="0"/>
          </a:p>
        </p:txBody>
      </p:sp>
      <p:sp>
        <p:nvSpPr>
          <p:cNvPr id="41" name="Text 37"/>
          <p:cNvSpPr/>
          <p:nvPr/>
        </p:nvSpPr>
        <p:spPr>
          <a:xfrm>
            <a:off x="3557588" y="3605640"/>
            <a:ext cx="3100388" cy="102859"/>
          </a:xfrm>
          <a:prstGeom prst="rect">
            <a:avLst/>
          </a:prstGeom>
          <a:noFill/>
          <a:ln/>
        </p:spPr>
        <p:txBody>
          <a:bodyPr wrap="none" lIns="0" tIns="0" rIns="0" bIns="0" rtlCol="0" anchor="t">
            <a:spAutoFit/>
          </a:bodyPr>
          <a:lstStyle/>
          <a:p>
            <a:pPr algn="l" indent="0" marL="0">
              <a:lnSpc>
                <a:spcPct val="96000"/>
              </a:lnSpc>
              <a:buNone/>
            </a:pPr>
            <a:r>
              <a:rPr lang="en-US" sz="600" b="1" spc="1" kern="0" dirty="0">
                <a:solidFill>
                  <a:srgbClr val="D90429"/>
                </a:solidFill>
                <a:latin typeface="SFMono-Regular" pitchFamily="34" charset="0"/>
                <a:ea typeface="SFMono-Regular" pitchFamily="34" charset="-122"/>
                <a:cs typeface="SFMono-Regular" pitchFamily="34" charset="-120"/>
              </a:rPr>
              <a:t>FAILURE POLICY</a:t>
            </a:r>
            <a:endParaRPr lang="en-US" sz="600" dirty="0"/>
          </a:p>
        </p:txBody>
      </p:sp>
      <p:sp>
        <p:nvSpPr>
          <p:cNvPr id="42" name="Text 38"/>
          <p:cNvSpPr/>
          <p:nvPr/>
        </p:nvSpPr>
        <p:spPr>
          <a:xfrm>
            <a:off x="3557588" y="3751362"/>
            <a:ext cx="3100388" cy="259966"/>
          </a:xfrm>
          <a:prstGeom prst="rect">
            <a:avLst/>
          </a:prstGeom>
          <a:noFill/>
          <a:ln/>
        </p:spPr>
        <p:txBody>
          <a:bodyPr wrap="square" lIns="0" tIns="0" rIns="0" bIns="0" rtlCol="0" anchor="t">
            <a:spAutoFit/>
          </a:bodyPr>
          <a:lstStyle/>
          <a:p>
            <a:pPr algn="l" indent="0" marL="0">
              <a:lnSpc>
                <a:spcPct val="112000"/>
              </a:lnSpc>
              <a:buNone/>
            </a:pPr>
            <a:r>
              <a:rPr lang="en-US" sz="650" dirty="0">
                <a:solidFill>
                  <a:srgbClr val="334155"/>
                </a:solidFill>
                <a:latin typeface="SFMono-Regular" pitchFamily="34" charset="0"/>
                <a:ea typeface="SFMono-Regular" pitchFamily="34" charset="-122"/>
                <a:cs typeface="SFMono-Regular" pitchFamily="34" charset="-120"/>
              </a:rPr>
              <a:t>Unknown operations and incomplete GU definitions return </a:t>
            </a:r>
            <a:r>
              <a:rPr lang="en-US" sz="650" b="1" dirty="0">
                <a:solidFill>
                  <a:srgbClr val="334155"/>
                </a:solidFill>
                <a:latin typeface="SFMono-Regular" pitchFamily="34" charset="0"/>
                <a:ea typeface="SFMono-Regular" pitchFamily="34" charset="-122"/>
                <a:cs typeface="SFMono-Regular" pitchFamily="34" charset="-120"/>
              </a:rPr>
              <a:t>unverifiable</a:t>
            </a:r>
            <a:r>
              <a:rPr lang="en-US" sz="650" dirty="0">
                <a:solidFill>
                  <a:srgbClr val="334155"/>
                </a:solidFill>
                <a:latin typeface="SFMono-Regular" pitchFamily="34" charset="0"/>
                <a:ea typeface="SFMono-Regular" pitchFamily="34" charset="-122"/>
                <a:cs typeface="SFMono-Regular" pitchFamily="34" charset="-120"/>
              </a:rPr>
              <a:t>, never a plausible guess.</a:t>
            </a:r>
            <a:endParaRPr lang="en-US" sz="650" dirty="0"/>
          </a:p>
        </p:txBody>
      </p:sp>
      <p:sp>
        <p:nvSpPr>
          <p:cNvPr id="43" name="Shape 39"/>
          <p:cNvSpPr/>
          <p:nvPr/>
        </p:nvSpPr>
        <p:spPr>
          <a:xfrm>
            <a:off x="6858000" y="0"/>
            <a:ext cx="2286000" cy="5143500"/>
          </a:xfrm>
          <a:prstGeom prst="rect">
            <a:avLst/>
          </a:prstGeom>
          <a:solidFill>
            <a:srgbClr val="000000">
              <a:alpha val="0"/>
            </a:srgbClr>
          </a:solidFill>
          <a:ln/>
        </p:spPr>
      </p:sp>
      <p:sp>
        <p:nvSpPr>
          <p:cNvPr id="44" name="Shape 40"/>
          <p:cNvSpPr/>
          <p:nvPr/>
        </p:nvSpPr>
        <p:spPr>
          <a:xfrm>
            <a:off x="6858000" y="0"/>
            <a:ext cx="7144" cy="5143500"/>
          </a:xfrm>
          <a:prstGeom prst="rect">
            <a:avLst/>
          </a:prstGeom>
          <a:solidFill>
            <a:srgbClr val="0A192F"/>
          </a:solidFill>
          <a:ln/>
        </p:spPr>
      </p:sp>
      <p:pic>
        <p:nvPicPr>
          <p:cNvPr id="45" name="Image 1" descr="preencoded.png">    </p:cNvPr>
          <p:cNvPicPr>
            <a:picLocks noChangeAspect="1"/>
          </p:cNvPicPr>
          <p:nvPr/>
        </p:nvPicPr>
        <p:blipFill>
          <a:blip r:embed="rId2"/>
          <a:stretch>
            <a:fillRect/>
          </a:stretch>
        </p:blipFill>
        <p:spPr>
          <a:xfrm>
            <a:off x="6943725" y="85725"/>
            <a:ext cx="1428750" cy="857250"/>
          </a:xfrm>
          <a:prstGeom prst="rect">
            <a:avLst/>
          </a:prstGeom>
        </p:spPr>
      </p:pic>
      <p:sp>
        <p:nvSpPr>
          <p:cNvPr id="46" name="Text 41"/>
          <p:cNvSpPr/>
          <p:nvPr/>
        </p:nvSpPr>
        <p:spPr>
          <a:xfrm>
            <a:off x="6943725" y="1028700"/>
            <a:ext cx="2114550" cy="167990"/>
          </a:xfrm>
          <a:prstGeom prst="rect">
            <a:avLst/>
          </a:prstGeom>
          <a:noFill/>
          <a:ln/>
        </p:spPr>
        <p:txBody>
          <a:bodyPr wrap="none" lIns="0" tIns="0" rIns="0" bIns="0" rtlCol="0" anchor="t">
            <a:spAutoFit/>
          </a:bodyPr>
          <a:lstStyle/>
          <a:p>
            <a:pPr algn="l" indent="0" marL="0">
              <a:lnSpc>
                <a:spcPct val="89600"/>
              </a:lnSpc>
              <a:buNone/>
            </a:pPr>
            <a:r>
              <a:rPr lang="en-US" sz="1050" b="1" dirty="0">
                <a:solidFill>
                  <a:srgbClr val="0A192F"/>
                </a:solidFill>
                <a:latin typeface="Georgia" pitchFamily="34" charset="0"/>
                <a:ea typeface="Georgia" pitchFamily="34" charset="-122"/>
                <a:cs typeface="Georgia" pitchFamily="34" charset="-120"/>
              </a:rPr>
              <a:t>Evidence of breadth</a:t>
            </a:r>
            <a:endParaRPr lang="en-US" sz="1050" dirty="0"/>
          </a:p>
        </p:txBody>
      </p:sp>
      <p:sp>
        <p:nvSpPr>
          <p:cNvPr id="47" name="Text 42"/>
          <p:cNvSpPr/>
          <p:nvPr/>
        </p:nvSpPr>
        <p:spPr>
          <a:xfrm>
            <a:off x="6943725" y="1239552"/>
            <a:ext cx="2114550" cy="857696"/>
          </a:xfrm>
          <a:prstGeom prst="rect">
            <a:avLst/>
          </a:prstGeom>
          <a:noFill/>
          <a:ln/>
        </p:spPr>
        <p:txBody>
          <a:bodyPr wrap="square" lIns="0" tIns="51054" rIns="0" bIns="0" rtlCol="0" anchor="t">
            <a:spAutoFit/>
          </a:bodyPr>
          <a:lstStyle/>
          <a:p>
            <a:pPr algn="l" indent="0" marL="0">
              <a:lnSpc>
                <a:spcPct val="116000"/>
              </a:lnSpc>
              <a:buNone/>
            </a:pPr>
            <a:r>
              <a:rPr lang="en-US" sz="650" dirty="0">
                <a:solidFill>
                  <a:srgbClr val="475569"/>
                </a:solidFill>
                <a:latin typeface="SFMono-Regular" pitchFamily="34" charset="0"/>
                <a:ea typeface="SFMono-Regular" pitchFamily="34" charset="-122"/>
                <a:cs typeface="SFMono-Regular" pitchFamily="34" charset="-120"/>
              </a:rPr>
              <a:t>The repository inventory shows a broad experimental surface across documentation, Python, Rust, Lean, and attached explorers. Counts indicate artifact volume, not completion or quality.</a:t>
            </a:r>
            <a:endParaRPr lang="en-US" sz="650" dirty="0"/>
          </a:p>
        </p:txBody>
      </p:sp>
      <p:sp>
        <p:nvSpPr>
          <p:cNvPr id="48" name="Text 43"/>
          <p:cNvSpPr/>
          <p:nvPr/>
        </p:nvSpPr>
        <p:spPr>
          <a:xfrm>
            <a:off x="7713799" y="4972050"/>
            <a:ext cx="1230176"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0A192F"/>
                </a:solidFill>
                <a:latin typeface="SFMono-Regular" pitchFamily="34" charset="0"/>
                <a:ea typeface="SFMono-Regular" pitchFamily="34" charset="-122"/>
                <a:cs typeface="SFMono-Regular" pitchFamily="34" charset="-120"/>
              </a:rPr>
              <a:t>SOVEREIGN ENGINE / 11</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7144"/>
            <a:ext cx="9144000" cy="5143500"/>
          </a:xfrm>
          <a:prstGeom prst="rect">
            <a:avLst/>
          </a:prstGeom>
        </p:spPr>
      </p:pic>
      <p:sp>
        <p:nvSpPr>
          <p:cNvPr id="4" name="Text 0"/>
          <p:cNvSpPr/>
          <p:nvPr/>
        </p:nvSpPr>
        <p:spPr>
          <a:xfrm>
            <a:off x="614363" y="492919"/>
            <a:ext cx="7915275" cy="119993"/>
          </a:xfrm>
          <a:prstGeom prst="rect">
            <a:avLst/>
          </a:prstGeom>
          <a:noFill/>
          <a:ln/>
        </p:spPr>
        <p:txBody>
          <a:bodyPr wrap="none" lIns="0" tIns="0" rIns="0" bIns="0" rtlCol="0" anchor="t">
            <a:spAutoFit/>
          </a:bodyPr>
          <a:lstStyle/>
          <a:p>
            <a:pPr algn="l" indent="0" marL="0">
              <a:lnSpc>
                <a:spcPct val="96000"/>
              </a:lnSpc>
              <a:buNone/>
            </a:pPr>
            <a:r>
              <a:rPr lang="en-US" sz="700" b="1" spc="2" kern="0" dirty="0">
                <a:solidFill>
                  <a:srgbClr val="D90429"/>
                </a:solidFill>
                <a:latin typeface="SFMono-Regular" pitchFamily="34" charset="0"/>
                <a:ea typeface="SFMono-Regular" pitchFamily="34" charset="-122"/>
                <a:cs typeface="SFMono-Regular" pitchFamily="34" charset="-120"/>
              </a:rPr>
              <a:t>11 / CLOSING PRINCIPLE</a:t>
            </a:r>
            <a:endParaRPr lang="en-US" sz="700" dirty="0"/>
          </a:p>
        </p:txBody>
      </p:sp>
      <p:sp>
        <p:nvSpPr>
          <p:cNvPr id="5" name="Text 1"/>
          <p:cNvSpPr/>
          <p:nvPr/>
        </p:nvSpPr>
        <p:spPr>
          <a:xfrm>
            <a:off x="614363" y="741499"/>
            <a:ext cx="6429375" cy="371475"/>
          </a:xfrm>
          <a:prstGeom prst="rect">
            <a:avLst/>
          </a:prstGeom>
          <a:noFill/>
          <a:ln/>
        </p:spPr>
        <p:txBody>
          <a:bodyPr wrap="none" lIns="0" tIns="0" rIns="0" bIns="0" rtlCol="0" anchor="t">
            <a:spAutoFit/>
          </a:bodyPr>
          <a:lstStyle/>
          <a:p>
            <a:pPr algn="l" indent="0" marL="0">
              <a:lnSpc>
                <a:spcPct val="83200"/>
              </a:lnSpc>
              <a:buNone/>
            </a:pPr>
            <a:r>
              <a:rPr lang="en-US" sz="2550" b="1" spc="-1" kern="0" dirty="0">
                <a:solidFill>
                  <a:srgbClr val="0A192F"/>
                </a:solidFill>
                <a:latin typeface="Georgia" pitchFamily="34" charset="0"/>
                <a:ea typeface="Georgia" pitchFamily="34" charset="-122"/>
                <a:cs typeface="Georgia" pitchFamily="34" charset="-120"/>
              </a:rPr>
              <a:t>The meaning layer’s final promise</a:t>
            </a:r>
            <a:endParaRPr lang="en-US" sz="2550" dirty="0"/>
          </a:p>
        </p:txBody>
      </p:sp>
      <p:sp>
        <p:nvSpPr>
          <p:cNvPr id="6" name="Shape 2"/>
          <p:cNvSpPr/>
          <p:nvPr/>
        </p:nvSpPr>
        <p:spPr>
          <a:xfrm>
            <a:off x="614363" y="1455874"/>
            <a:ext cx="7915275" cy="1143000"/>
          </a:xfrm>
          <a:prstGeom prst="rect">
            <a:avLst/>
          </a:prstGeom>
          <a:solidFill>
            <a:srgbClr val="000000">
              <a:alpha val="0"/>
            </a:srgbClr>
          </a:solidFill>
          <a:ln/>
        </p:spPr>
      </p:sp>
      <p:sp>
        <p:nvSpPr>
          <p:cNvPr id="7" name="Shape 3"/>
          <p:cNvSpPr/>
          <p:nvPr/>
        </p:nvSpPr>
        <p:spPr>
          <a:xfrm>
            <a:off x="614363" y="1455874"/>
            <a:ext cx="7915275" cy="7144"/>
          </a:xfrm>
          <a:prstGeom prst="rect">
            <a:avLst/>
          </a:prstGeom>
          <a:solidFill>
            <a:srgbClr val="0A192F"/>
          </a:solidFill>
          <a:ln/>
        </p:spPr>
      </p:sp>
      <p:sp>
        <p:nvSpPr>
          <p:cNvPr id="8" name="Shape 4"/>
          <p:cNvSpPr/>
          <p:nvPr/>
        </p:nvSpPr>
        <p:spPr>
          <a:xfrm>
            <a:off x="614363" y="2591730"/>
            <a:ext cx="7915275" cy="7144"/>
          </a:xfrm>
          <a:prstGeom prst="rect">
            <a:avLst/>
          </a:prstGeom>
          <a:solidFill>
            <a:srgbClr val="0A192F"/>
          </a:solidFill>
          <a:ln/>
        </p:spPr>
      </p:sp>
      <p:sp>
        <p:nvSpPr>
          <p:cNvPr id="9" name="Text 5"/>
          <p:cNvSpPr/>
          <p:nvPr/>
        </p:nvSpPr>
        <p:spPr>
          <a:xfrm>
            <a:off x="837247" y="1539813"/>
            <a:ext cx="411480" cy="975122"/>
          </a:xfrm>
          <a:prstGeom prst="rect">
            <a:avLst/>
          </a:prstGeom>
          <a:noFill/>
          <a:ln/>
        </p:spPr>
        <p:txBody>
          <a:bodyPr wrap="none" lIns="0" tIns="0" rIns="0" bIns="0" rtlCol="0" anchor="t">
            <a:spAutoFit/>
          </a:bodyPr>
          <a:lstStyle/>
          <a:p>
            <a:pPr algn="ctr" indent="0" marL="0">
              <a:lnSpc>
                <a:spcPct val="52000"/>
              </a:lnSpc>
              <a:buNone/>
            </a:pPr>
            <a:r>
              <a:rPr lang="en-US" sz="11600" dirty="0">
                <a:solidFill>
                  <a:srgbClr val="D90429"/>
                </a:solidFill>
                <a:latin typeface="Georgia" pitchFamily="34" charset="0"/>
                <a:ea typeface="Georgia" pitchFamily="34" charset="-122"/>
                <a:cs typeface="Georgia" pitchFamily="34" charset="-120"/>
              </a:rPr>
              <a:t>[</a:t>
            </a:r>
            <a:endParaRPr lang="en-US" sz="11600" dirty="0"/>
          </a:p>
        </p:txBody>
      </p:sp>
      <p:sp>
        <p:nvSpPr>
          <p:cNvPr id="10" name="Text 6"/>
          <p:cNvSpPr/>
          <p:nvPr/>
        </p:nvSpPr>
        <p:spPr>
          <a:xfrm>
            <a:off x="1628775" y="1657071"/>
            <a:ext cx="6286500" cy="740550"/>
          </a:xfrm>
          <a:prstGeom prst="rect">
            <a:avLst/>
          </a:prstGeom>
          <a:noFill/>
          <a:ln/>
        </p:spPr>
        <p:txBody>
          <a:bodyPr wrap="square" lIns="0" tIns="0" rIns="0" bIns="0" rtlCol="0" anchor="t">
            <a:spAutoFit/>
          </a:bodyPr>
          <a:lstStyle/>
          <a:p>
            <a:pPr algn="l" indent="0" marL="0">
              <a:lnSpc>
                <a:spcPct val="102400"/>
              </a:lnSpc>
              <a:buNone/>
            </a:pPr>
            <a:r>
              <a:rPr lang="en-US" sz="1450" dirty="0">
                <a:solidFill>
                  <a:srgbClr val="0A192F"/>
                </a:solidFill>
                <a:latin typeface="SFMono-Regular" pitchFamily="34" charset="0"/>
                <a:ea typeface="SFMono-Regular" pitchFamily="34" charset="-122"/>
                <a:cs typeface="SFMono-Regular" pitchFamily="34" charset="-120"/>
              </a:rPr>
              <a:t>Geometry does not make every statement true. It makes </a:t>
            </a:r>
            <a:r>
              <a:rPr lang="en-US" sz="1350" b="1" dirty="0">
                <a:solidFill>
                  <a:srgbClr val="D90429"/>
                </a:solidFill>
                <a:latin typeface="SFMono-Regular" pitchFamily="34" charset="0"/>
                <a:ea typeface="SFMono-Regular" pitchFamily="34" charset="-122"/>
                <a:cs typeface="SFMono-Regular" pitchFamily="34" charset="-120"/>
              </a:rPr>
              <a:t>representations, transformations, assumptions, and evidence</a:t>
            </a:r>
            <a:r>
              <a:rPr lang="en-US" sz="1450" dirty="0">
                <a:solidFill>
                  <a:srgbClr val="0A192F"/>
                </a:solidFill>
                <a:latin typeface="SFMono-Regular" pitchFamily="34" charset="0"/>
                <a:ea typeface="SFMono-Regular" pitchFamily="34" charset="-122"/>
                <a:cs typeface="SFMono-Regular" pitchFamily="34" charset="-120"/>
              </a:rPr>
              <a:t> inspectable.</a:t>
            </a:r>
            <a:endParaRPr lang="en-US" sz="1450" dirty="0"/>
          </a:p>
        </p:txBody>
      </p:sp>
      <p:sp>
        <p:nvSpPr>
          <p:cNvPr id="11" name="Text 7"/>
          <p:cNvSpPr/>
          <p:nvPr/>
        </p:nvSpPr>
        <p:spPr>
          <a:xfrm>
            <a:off x="614363" y="2963205"/>
            <a:ext cx="1646634" cy="172845"/>
          </a:xfrm>
          <a:prstGeom prst="rect">
            <a:avLst/>
          </a:prstGeom>
          <a:noFill/>
          <a:ln/>
        </p:spPr>
        <p:txBody>
          <a:bodyPr wrap="none" lIns="0" tIns="0" rIns="0" bIns="0" rtlCol="0" anchor="t">
            <a:spAutoFit/>
          </a:bodyPr>
          <a:lstStyle/>
          <a:p>
            <a:pPr algn="l" indent="0" marL="0">
              <a:lnSpc>
                <a:spcPct val="88000"/>
              </a:lnSpc>
              <a:buNone/>
            </a:pPr>
            <a:r>
              <a:rPr lang="en-US" sz="1100" b="1" dirty="0">
                <a:solidFill>
                  <a:srgbClr val="0A192F"/>
                </a:solidFill>
                <a:latin typeface="Georgia" pitchFamily="34" charset="0"/>
                <a:ea typeface="Georgia" pitchFamily="34" charset="-122"/>
                <a:cs typeface="Georgia" pitchFamily="34" charset="-120"/>
              </a:rPr>
              <a:t>Representation</a:t>
            </a:r>
            <a:endParaRPr lang="en-US" sz="1100" dirty="0"/>
          </a:p>
        </p:txBody>
      </p:sp>
      <p:sp>
        <p:nvSpPr>
          <p:cNvPr id="12" name="Text 8"/>
          <p:cNvSpPr/>
          <p:nvPr/>
        </p:nvSpPr>
        <p:spPr>
          <a:xfrm>
            <a:off x="614363" y="3207488"/>
            <a:ext cx="1221581" cy="146447"/>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75569"/>
                </a:solidFill>
                <a:latin typeface="SFMono-Regular" pitchFamily="34" charset="0"/>
                <a:ea typeface="SFMono-Regular" pitchFamily="34" charset="-122"/>
                <a:cs typeface="SFMono-Regular" pitchFamily="34" charset="-120"/>
              </a:rPr>
              <a:t>Every object has an</a:t>
            </a:r>
            <a:endParaRPr lang="en-US" sz="800" dirty="0"/>
          </a:p>
        </p:txBody>
      </p:sp>
      <p:sp>
        <p:nvSpPr>
          <p:cNvPr id="13" name="Text 9"/>
          <p:cNvSpPr/>
          <p:nvPr/>
        </p:nvSpPr>
        <p:spPr>
          <a:xfrm>
            <a:off x="614363" y="3357507"/>
            <a:ext cx="964406" cy="146447"/>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75569"/>
                </a:solidFill>
                <a:latin typeface="SFMono-Regular" pitchFamily="34" charset="0"/>
                <a:ea typeface="SFMono-Regular" pitchFamily="34" charset="-122"/>
                <a:cs typeface="SFMono-Regular" pitchFamily="34" charset="-120"/>
              </a:rPr>
              <a:t>identity, type,</a:t>
            </a:r>
            <a:endParaRPr lang="en-US" sz="800" dirty="0"/>
          </a:p>
        </p:txBody>
      </p:sp>
      <p:sp>
        <p:nvSpPr>
          <p:cNvPr id="14" name="Text 10"/>
          <p:cNvSpPr/>
          <p:nvPr/>
        </p:nvSpPr>
        <p:spPr>
          <a:xfrm>
            <a:off x="614363" y="3507525"/>
            <a:ext cx="1478756" cy="146447"/>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75569"/>
                </a:solidFill>
                <a:latin typeface="SFMono-Regular" pitchFamily="34" charset="0"/>
                <a:ea typeface="SFMono-Regular" pitchFamily="34" charset="-122"/>
                <a:cs typeface="SFMono-Regular" pitchFamily="34" charset="-120"/>
              </a:rPr>
              <a:t>dimension, and context.</a:t>
            </a:r>
            <a:endParaRPr lang="en-US" sz="800" dirty="0"/>
          </a:p>
        </p:txBody>
      </p:sp>
      <p:sp>
        <p:nvSpPr>
          <p:cNvPr id="15" name="Text 11"/>
          <p:cNvSpPr/>
          <p:nvPr/>
        </p:nvSpPr>
        <p:spPr>
          <a:xfrm>
            <a:off x="2346722" y="2841761"/>
            <a:ext cx="328613" cy="965802"/>
          </a:xfrm>
          <a:prstGeom prst="rect">
            <a:avLst/>
          </a:prstGeom>
          <a:noFill/>
          <a:ln/>
        </p:spPr>
        <p:txBody>
          <a:bodyPr wrap="square" lIns="0" tIns="119126" rIns="0" bIns="0" rtlCol="0" anchor="t">
            <a:spAutoFit/>
          </a:bodyPr>
          <a:lstStyle/>
          <a:p>
            <a:pPr algn="l" indent="0" marL="0">
              <a:lnSpc>
                <a:spcPct val="80000"/>
              </a:lnSpc>
              <a:buNone/>
            </a:pPr>
            <a:r>
              <a:rPr lang="en-US" sz="1600" dirty="0">
                <a:solidFill>
                  <a:srgbClr val="D90429"/>
                </a:solidFill>
                <a:latin typeface="Georgia" pitchFamily="34" charset="0"/>
                <a:ea typeface="Georgia" pitchFamily="34" charset="-122"/>
                <a:cs typeface="Georgia" pitchFamily="34" charset="-120"/>
              </a:rPr>
              <a:t>→</a:t>
            </a:r>
            <a:endParaRPr lang="en-US" sz="1600" dirty="0"/>
          </a:p>
        </p:txBody>
      </p:sp>
      <p:sp>
        <p:nvSpPr>
          <p:cNvPr id="16" name="Text 12"/>
          <p:cNvSpPr/>
          <p:nvPr/>
        </p:nvSpPr>
        <p:spPr>
          <a:xfrm>
            <a:off x="2675334" y="2963205"/>
            <a:ext cx="1646634" cy="172845"/>
          </a:xfrm>
          <a:prstGeom prst="rect">
            <a:avLst/>
          </a:prstGeom>
          <a:noFill/>
          <a:ln/>
        </p:spPr>
        <p:txBody>
          <a:bodyPr wrap="none" lIns="0" tIns="0" rIns="0" bIns="0" rtlCol="0" anchor="t">
            <a:spAutoFit/>
          </a:bodyPr>
          <a:lstStyle/>
          <a:p>
            <a:pPr algn="l" indent="0" marL="0">
              <a:lnSpc>
                <a:spcPct val="88000"/>
              </a:lnSpc>
              <a:buNone/>
            </a:pPr>
            <a:r>
              <a:rPr lang="en-US" sz="1100" b="1" dirty="0">
                <a:solidFill>
                  <a:srgbClr val="0A192F"/>
                </a:solidFill>
                <a:latin typeface="Georgia" pitchFamily="34" charset="0"/>
                <a:ea typeface="Georgia" pitchFamily="34" charset="-122"/>
                <a:cs typeface="Georgia" pitchFamily="34" charset="-120"/>
              </a:rPr>
              <a:t>Transformation</a:t>
            </a:r>
            <a:endParaRPr lang="en-US" sz="1100" dirty="0"/>
          </a:p>
        </p:txBody>
      </p:sp>
      <p:sp>
        <p:nvSpPr>
          <p:cNvPr id="17" name="Text 13"/>
          <p:cNvSpPr/>
          <p:nvPr/>
        </p:nvSpPr>
        <p:spPr>
          <a:xfrm>
            <a:off x="2675334" y="3207488"/>
            <a:ext cx="1414463" cy="146447"/>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75569"/>
                </a:solidFill>
                <a:latin typeface="SFMono-Regular" pitchFamily="34" charset="0"/>
                <a:ea typeface="SFMono-Regular" pitchFamily="34" charset="-122"/>
                <a:cs typeface="SFMono-Regular" pitchFamily="34" charset="-120"/>
              </a:rPr>
              <a:t>Every change names its</a:t>
            </a:r>
            <a:endParaRPr lang="en-US" sz="800" dirty="0"/>
          </a:p>
        </p:txBody>
      </p:sp>
      <p:sp>
        <p:nvSpPr>
          <p:cNvPr id="18" name="Text 14"/>
          <p:cNvSpPr/>
          <p:nvPr/>
        </p:nvSpPr>
        <p:spPr>
          <a:xfrm>
            <a:off x="2675334" y="3357507"/>
            <a:ext cx="1157288" cy="146447"/>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75569"/>
                </a:solidFill>
                <a:latin typeface="SFMono-Regular" pitchFamily="34" charset="0"/>
                <a:ea typeface="SFMono-Regular" pitchFamily="34" charset="-122"/>
                <a:cs typeface="SFMono-Regular" pitchFamily="34" charset="-120"/>
              </a:rPr>
              <a:t>operation, inputs,</a:t>
            </a:r>
            <a:endParaRPr lang="en-US" sz="800" dirty="0"/>
          </a:p>
        </p:txBody>
      </p:sp>
      <p:sp>
        <p:nvSpPr>
          <p:cNvPr id="19" name="Text 15"/>
          <p:cNvSpPr/>
          <p:nvPr/>
        </p:nvSpPr>
        <p:spPr>
          <a:xfrm>
            <a:off x="2675334" y="3507525"/>
            <a:ext cx="1414463" cy="146447"/>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75569"/>
                </a:solidFill>
                <a:latin typeface="SFMono-Regular" pitchFamily="34" charset="0"/>
                <a:ea typeface="SFMono-Regular" pitchFamily="34" charset="-122"/>
                <a:cs typeface="SFMono-Regular" pitchFamily="34" charset="-120"/>
              </a:rPr>
              <a:t>outputs, and preserved</a:t>
            </a:r>
            <a:endParaRPr lang="en-US" sz="800" dirty="0"/>
          </a:p>
        </p:txBody>
      </p:sp>
      <p:sp>
        <p:nvSpPr>
          <p:cNvPr id="20" name="Text 16"/>
          <p:cNvSpPr/>
          <p:nvPr/>
        </p:nvSpPr>
        <p:spPr>
          <a:xfrm>
            <a:off x="2675334" y="3657544"/>
            <a:ext cx="707231" cy="146447"/>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75569"/>
                </a:solidFill>
                <a:latin typeface="SFMono-Regular" pitchFamily="34" charset="0"/>
                <a:ea typeface="SFMono-Regular" pitchFamily="34" charset="-122"/>
                <a:cs typeface="SFMono-Regular" pitchFamily="34" charset="-120"/>
              </a:rPr>
              <a:t>invariants.</a:t>
            </a:r>
            <a:endParaRPr lang="en-US" sz="800" dirty="0"/>
          </a:p>
        </p:txBody>
      </p:sp>
      <p:sp>
        <p:nvSpPr>
          <p:cNvPr id="21" name="Text 17"/>
          <p:cNvSpPr/>
          <p:nvPr/>
        </p:nvSpPr>
        <p:spPr>
          <a:xfrm>
            <a:off x="4407694" y="2841761"/>
            <a:ext cx="328613" cy="965802"/>
          </a:xfrm>
          <a:prstGeom prst="rect">
            <a:avLst/>
          </a:prstGeom>
          <a:noFill/>
          <a:ln/>
        </p:spPr>
        <p:txBody>
          <a:bodyPr wrap="square" lIns="0" tIns="119126" rIns="0" bIns="0" rtlCol="0" anchor="t">
            <a:spAutoFit/>
          </a:bodyPr>
          <a:lstStyle/>
          <a:p>
            <a:pPr algn="l" indent="0" marL="0">
              <a:lnSpc>
                <a:spcPct val="80000"/>
              </a:lnSpc>
              <a:buNone/>
            </a:pPr>
            <a:r>
              <a:rPr lang="en-US" sz="1600" dirty="0">
                <a:solidFill>
                  <a:srgbClr val="D90429"/>
                </a:solidFill>
                <a:latin typeface="Georgia" pitchFamily="34" charset="0"/>
                <a:ea typeface="Georgia" pitchFamily="34" charset="-122"/>
                <a:cs typeface="Georgia" pitchFamily="34" charset="-120"/>
              </a:rPr>
              <a:t>→</a:t>
            </a:r>
            <a:endParaRPr lang="en-US" sz="1600" dirty="0"/>
          </a:p>
        </p:txBody>
      </p:sp>
      <p:sp>
        <p:nvSpPr>
          <p:cNvPr id="22" name="Text 18"/>
          <p:cNvSpPr/>
          <p:nvPr/>
        </p:nvSpPr>
        <p:spPr>
          <a:xfrm>
            <a:off x="4736306" y="2963205"/>
            <a:ext cx="1646634" cy="172845"/>
          </a:xfrm>
          <a:prstGeom prst="rect">
            <a:avLst/>
          </a:prstGeom>
          <a:noFill/>
          <a:ln/>
        </p:spPr>
        <p:txBody>
          <a:bodyPr wrap="none" lIns="0" tIns="0" rIns="0" bIns="0" rtlCol="0" anchor="t">
            <a:spAutoFit/>
          </a:bodyPr>
          <a:lstStyle/>
          <a:p>
            <a:pPr algn="l" indent="0" marL="0">
              <a:lnSpc>
                <a:spcPct val="88000"/>
              </a:lnSpc>
              <a:buNone/>
            </a:pPr>
            <a:r>
              <a:rPr lang="en-US" sz="1100" b="1" dirty="0">
                <a:solidFill>
                  <a:srgbClr val="0A192F"/>
                </a:solidFill>
                <a:latin typeface="Georgia" pitchFamily="34" charset="0"/>
                <a:ea typeface="Georgia" pitchFamily="34" charset="-122"/>
                <a:cs typeface="Georgia" pitchFamily="34" charset="-120"/>
              </a:rPr>
              <a:t>Assumptions</a:t>
            </a:r>
            <a:endParaRPr lang="en-US" sz="1100" dirty="0"/>
          </a:p>
        </p:txBody>
      </p:sp>
      <p:sp>
        <p:nvSpPr>
          <p:cNvPr id="23" name="Text 19"/>
          <p:cNvSpPr/>
          <p:nvPr/>
        </p:nvSpPr>
        <p:spPr>
          <a:xfrm>
            <a:off x="4736306" y="3207488"/>
            <a:ext cx="1350169" cy="146447"/>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75569"/>
                </a:solidFill>
                <a:latin typeface="SFMono-Regular" pitchFamily="34" charset="0"/>
                <a:ea typeface="SFMono-Regular" pitchFamily="34" charset="-122"/>
                <a:cs typeface="SFMono-Regular" pitchFamily="34" charset="-120"/>
              </a:rPr>
              <a:t>Every physical or GU-</a:t>
            </a:r>
            <a:endParaRPr lang="en-US" sz="800" dirty="0"/>
          </a:p>
        </p:txBody>
      </p:sp>
      <p:sp>
        <p:nvSpPr>
          <p:cNvPr id="24" name="Text 20"/>
          <p:cNvSpPr/>
          <p:nvPr/>
        </p:nvSpPr>
        <p:spPr>
          <a:xfrm>
            <a:off x="4736306" y="3357507"/>
            <a:ext cx="1478756" cy="146447"/>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75569"/>
                </a:solidFill>
                <a:latin typeface="SFMono-Regular" pitchFamily="34" charset="0"/>
                <a:ea typeface="SFMono-Regular" pitchFamily="34" charset="-122"/>
                <a:cs typeface="SFMono-Regular" pitchFamily="34" charset="-120"/>
              </a:rPr>
              <a:t>specific interpretation</a:t>
            </a:r>
            <a:endParaRPr lang="en-US" sz="800" dirty="0"/>
          </a:p>
        </p:txBody>
      </p:sp>
      <p:sp>
        <p:nvSpPr>
          <p:cNvPr id="25" name="Text 21"/>
          <p:cNvSpPr/>
          <p:nvPr/>
        </p:nvSpPr>
        <p:spPr>
          <a:xfrm>
            <a:off x="4736306" y="3507525"/>
            <a:ext cx="1350169" cy="146447"/>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75569"/>
                </a:solidFill>
                <a:latin typeface="SFMono-Regular" pitchFamily="34" charset="0"/>
                <a:ea typeface="SFMono-Regular" pitchFamily="34" charset="-122"/>
                <a:cs typeface="SFMono-Regular" pitchFamily="34" charset="-120"/>
              </a:rPr>
              <a:t>declares its evidence</a:t>
            </a:r>
            <a:endParaRPr lang="en-US" sz="800" dirty="0"/>
          </a:p>
        </p:txBody>
      </p:sp>
      <p:sp>
        <p:nvSpPr>
          <p:cNvPr id="26" name="Text 22"/>
          <p:cNvSpPr/>
          <p:nvPr/>
        </p:nvSpPr>
        <p:spPr>
          <a:xfrm>
            <a:off x="4736306" y="3657544"/>
            <a:ext cx="578644" cy="146447"/>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75569"/>
                </a:solidFill>
                <a:latin typeface="SFMono-Regular" pitchFamily="34" charset="0"/>
                <a:ea typeface="SFMono-Regular" pitchFamily="34" charset="-122"/>
                <a:cs typeface="SFMono-Regular" pitchFamily="34" charset="-120"/>
              </a:rPr>
              <a:t>boundary.</a:t>
            </a:r>
            <a:endParaRPr lang="en-US" sz="800" dirty="0"/>
          </a:p>
        </p:txBody>
      </p:sp>
      <p:sp>
        <p:nvSpPr>
          <p:cNvPr id="27" name="Text 23"/>
          <p:cNvSpPr/>
          <p:nvPr/>
        </p:nvSpPr>
        <p:spPr>
          <a:xfrm>
            <a:off x="6468666" y="2841761"/>
            <a:ext cx="328613" cy="965802"/>
          </a:xfrm>
          <a:prstGeom prst="rect">
            <a:avLst/>
          </a:prstGeom>
          <a:noFill/>
          <a:ln/>
        </p:spPr>
        <p:txBody>
          <a:bodyPr wrap="square" lIns="0" tIns="119126" rIns="0" bIns="0" rtlCol="0" anchor="t">
            <a:spAutoFit/>
          </a:bodyPr>
          <a:lstStyle/>
          <a:p>
            <a:pPr algn="l" indent="0" marL="0">
              <a:lnSpc>
                <a:spcPct val="80000"/>
              </a:lnSpc>
              <a:buNone/>
            </a:pPr>
            <a:r>
              <a:rPr lang="en-US" sz="1600" dirty="0">
                <a:solidFill>
                  <a:srgbClr val="D90429"/>
                </a:solidFill>
                <a:latin typeface="Georgia" pitchFamily="34" charset="0"/>
                <a:ea typeface="Georgia" pitchFamily="34" charset="-122"/>
                <a:cs typeface="Georgia" pitchFamily="34" charset="-120"/>
              </a:rPr>
              <a:t>→</a:t>
            </a:r>
            <a:endParaRPr lang="en-US" sz="1600" dirty="0"/>
          </a:p>
        </p:txBody>
      </p:sp>
      <p:sp>
        <p:nvSpPr>
          <p:cNvPr id="28" name="Text 24"/>
          <p:cNvSpPr/>
          <p:nvPr/>
        </p:nvSpPr>
        <p:spPr>
          <a:xfrm>
            <a:off x="6797278" y="2963205"/>
            <a:ext cx="1646634" cy="172845"/>
          </a:xfrm>
          <a:prstGeom prst="rect">
            <a:avLst/>
          </a:prstGeom>
          <a:noFill/>
          <a:ln/>
        </p:spPr>
        <p:txBody>
          <a:bodyPr wrap="none" lIns="0" tIns="0" rIns="0" bIns="0" rtlCol="0" anchor="t">
            <a:spAutoFit/>
          </a:bodyPr>
          <a:lstStyle/>
          <a:p>
            <a:pPr algn="l" indent="0" marL="0">
              <a:lnSpc>
                <a:spcPct val="88000"/>
              </a:lnSpc>
              <a:buNone/>
            </a:pPr>
            <a:r>
              <a:rPr lang="en-US" sz="1100" b="1" dirty="0">
                <a:solidFill>
                  <a:srgbClr val="0A192F"/>
                </a:solidFill>
                <a:latin typeface="Georgia" pitchFamily="34" charset="0"/>
                <a:ea typeface="Georgia" pitchFamily="34" charset="-122"/>
                <a:cs typeface="Georgia" pitchFamily="34" charset="-120"/>
              </a:rPr>
              <a:t>Evidence</a:t>
            </a:r>
            <a:endParaRPr lang="en-US" sz="1100" dirty="0"/>
          </a:p>
        </p:txBody>
      </p:sp>
      <p:sp>
        <p:nvSpPr>
          <p:cNvPr id="29" name="Text 25"/>
          <p:cNvSpPr/>
          <p:nvPr/>
        </p:nvSpPr>
        <p:spPr>
          <a:xfrm>
            <a:off x="6797278" y="3207488"/>
            <a:ext cx="964406" cy="146447"/>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75569"/>
                </a:solidFill>
                <a:latin typeface="SFMono-Regular" pitchFamily="34" charset="0"/>
                <a:ea typeface="SFMono-Regular" pitchFamily="34" charset="-122"/>
                <a:cs typeface="SFMono-Regular" pitchFamily="34" charset="-120"/>
              </a:rPr>
              <a:t>Every result is</a:t>
            </a:r>
            <a:endParaRPr lang="en-US" sz="800" dirty="0"/>
          </a:p>
        </p:txBody>
      </p:sp>
      <p:sp>
        <p:nvSpPr>
          <p:cNvPr id="30" name="Text 26"/>
          <p:cNvSpPr/>
          <p:nvPr/>
        </p:nvSpPr>
        <p:spPr>
          <a:xfrm>
            <a:off x="6797278" y="3357507"/>
            <a:ext cx="1478756" cy="146447"/>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75569"/>
                </a:solidFill>
                <a:latin typeface="SFMono-Regular" pitchFamily="34" charset="0"/>
                <a:ea typeface="SFMono-Regular" pitchFamily="34" charset="-122"/>
                <a:cs typeface="SFMono-Regular" pitchFamily="34" charset="-120"/>
              </a:rPr>
              <a:t>replayable as verified,</a:t>
            </a:r>
            <a:endParaRPr lang="en-US" sz="800" dirty="0"/>
          </a:p>
        </p:txBody>
      </p:sp>
      <p:sp>
        <p:nvSpPr>
          <p:cNvPr id="31" name="Text 27"/>
          <p:cNvSpPr/>
          <p:nvPr/>
        </p:nvSpPr>
        <p:spPr>
          <a:xfrm>
            <a:off x="6797278" y="3507525"/>
            <a:ext cx="1543050" cy="146447"/>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75569"/>
                </a:solidFill>
                <a:latin typeface="SFMono-Regular" pitchFamily="34" charset="0"/>
                <a:ea typeface="SFMono-Regular" pitchFamily="34" charset="-122"/>
                <a:cs typeface="SFMono-Regular" pitchFamily="34" charset="-120"/>
              </a:rPr>
              <a:t>failed, or unverifiable.</a:t>
            </a:r>
            <a:endParaRPr lang="en-US" sz="800" dirty="0"/>
          </a:p>
        </p:txBody>
      </p:sp>
      <p:sp>
        <p:nvSpPr>
          <p:cNvPr id="32" name="Shape 28"/>
          <p:cNvSpPr/>
          <p:nvPr/>
        </p:nvSpPr>
        <p:spPr>
          <a:xfrm>
            <a:off x="614363" y="4021875"/>
            <a:ext cx="7915275" cy="382860"/>
          </a:xfrm>
          <a:prstGeom prst="rect">
            <a:avLst/>
          </a:prstGeom>
          <a:solidFill>
            <a:srgbClr val="000000">
              <a:alpha val="0"/>
            </a:srgbClr>
          </a:solidFill>
          <a:ln/>
        </p:spPr>
      </p:sp>
      <p:sp>
        <p:nvSpPr>
          <p:cNvPr id="33" name="Shape 29"/>
          <p:cNvSpPr/>
          <p:nvPr/>
        </p:nvSpPr>
        <p:spPr>
          <a:xfrm>
            <a:off x="614363" y="4021875"/>
            <a:ext cx="7915275" cy="7144"/>
          </a:xfrm>
          <a:prstGeom prst="rect">
            <a:avLst/>
          </a:prstGeom>
          <a:solidFill>
            <a:srgbClr val="CBD5E1"/>
          </a:solidFill>
          <a:ln/>
        </p:spPr>
      </p:sp>
      <p:sp>
        <p:nvSpPr>
          <p:cNvPr id="34" name="Text 30"/>
          <p:cNvSpPr/>
          <p:nvPr/>
        </p:nvSpPr>
        <p:spPr>
          <a:xfrm>
            <a:off x="614363" y="4107600"/>
            <a:ext cx="3829050" cy="289992"/>
          </a:xfrm>
          <a:prstGeom prst="rect">
            <a:avLst/>
          </a:prstGeom>
          <a:noFill/>
          <a:ln/>
        </p:spPr>
        <p:txBody>
          <a:bodyPr wrap="square" lIns="0" tIns="0" rIns="0" bIns="0" rtlCol="0" anchor="t">
            <a:spAutoFit/>
          </a:bodyPr>
          <a:lstStyle/>
          <a:p>
            <a:pPr algn="l" indent="0" marL="0">
              <a:lnSpc>
                <a:spcPct val="116000"/>
              </a:lnSpc>
              <a:buNone/>
            </a:pPr>
            <a:r>
              <a:rPr lang="en-US" sz="700" b="1" dirty="0">
                <a:solidFill>
                  <a:srgbClr val="0A192F"/>
                </a:solidFill>
                <a:latin typeface="SFMono-Regular" pitchFamily="34" charset="0"/>
                <a:ea typeface="SFMono-Regular" pitchFamily="34" charset="-122"/>
                <a:cs typeface="SFMono-Regular" pitchFamily="34" charset="-120"/>
              </a:rPr>
              <a:t>Sovereignty means:</a:t>
            </a:r>
            <a:r>
              <a:rPr lang="en-US" sz="750" dirty="0">
                <a:solidFill>
                  <a:srgbClr val="334155"/>
                </a:solidFill>
                <a:latin typeface="SFMono-Regular" pitchFamily="34" charset="0"/>
                <a:ea typeface="SFMono-Regular" pitchFamily="34" charset="-122"/>
                <a:cs typeface="SFMono-Regular" pitchFamily="34" charset="-120"/>
              </a:rPr>
              <a:t> identity, provenance, verification, </a:t>
            </a:r>
            <a:r>
              <a:rPr lang="en-US" sz="750" dirty="0">
                <a:solidFill>
                  <a:srgbClr val="334155"/>
                </a:solidFill>
                <a:latin typeface="SFMono-Regular" pitchFamily="34" charset="0"/>
                <a:ea typeface="SFMono-Regular" pitchFamily="34" charset="-122"/>
                <a:cs typeface="SFMono-Regular" pitchFamily="34" charset="-120"/>
              </a:rPr>
              <a:t>operational independence, and human interpretability.</a:t>
            </a:r>
            <a:endParaRPr lang="en-US" sz="700" dirty="0"/>
          </a:p>
        </p:txBody>
      </p:sp>
      <p:sp>
        <p:nvSpPr>
          <p:cNvPr id="35" name="Text 31"/>
          <p:cNvSpPr/>
          <p:nvPr/>
        </p:nvSpPr>
        <p:spPr>
          <a:xfrm>
            <a:off x="4700588" y="4107600"/>
            <a:ext cx="3829050" cy="289992"/>
          </a:xfrm>
          <a:prstGeom prst="rect">
            <a:avLst/>
          </a:prstGeom>
          <a:noFill/>
          <a:ln/>
        </p:spPr>
        <p:txBody>
          <a:bodyPr wrap="square" lIns="0" tIns="0" rIns="0" bIns="0" rtlCol="0" anchor="t">
            <a:spAutoFit/>
          </a:bodyPr>
          <a:lstStyle/>
          <a:p>
            <a:pPr algn="l" indent="0" marL="0">
              <a:lnSpc>
                <a:spcPct val="116000"/>
              </a:lnSpc>
              <a:buNone/>
            </a:pPr>
            <a:r>
              <a:rPr lang="en-US" sz="700" b="1" dirty="0">
                <a:solidFill>
                  <a:srgbClr val="0A192F"/>
                </a:solidFill>
                <a:latin typeface="SFMono-Regular" pitchFamily="34" charset="0"/>
                <a:ea typeface="SFMono-Regular" pitchFamily="34" charset="-122"/>
                <a:cs typeface="SFMono-Regular" pitchFamily="34" charset="-120"/>
              </a:rPr>
              <a:t>Next milestone:</a:t>
            </a:r>
            <a:r>
              <a:rPr lang="en-US" sz="750" dirty="0">
                <a:solidFill>
                  <a:srgbClr val="334155"/>
                </a:solidFill>
                <a:latin typeface="SFMono-Regular" pitchFamily="34" charset="0"/>
                <a:ea typeface="SFMono-Regular" pitchFamily="34" charset="-122"/>
                <a:cs typeface="SFMono-Regular" pitchFamily="34" charset="-120"/>
              </a:rPr>
              <a:t> build the reproducible tensor kernel before </a:t>
            </a:r>
            <a:r>
              <a:rPr lang="en-US" sz="750" dirty="0">
                <a:solidFill>
                  <a:srgbClr val="334155"/>
                </a:solidFill>
                <a:latin typeface="SFMono-Regular" pitchFamily="34" charset="0"/>
                <a:ea typeface="SFMono-Regular" pitchFamily="34" charset="-122"/>
                <a:cs typeface="SFMono-Regular" pitchFamily="34" charset="-120"/>
              </a:rPr>
              <a:t>making stronger theory-of-everything claims.</a:t>
            </a:r>
            <a:endParaRPr lang="en-US" sz="700" dirty="0"/>
          </a:p>
        </p:txBody>
      </p:sp>
      <p:sp>
        <p:nvSpPr>
          <p:cNvPr id="36" name="Text 32"/>
          <p:cNvSpPr/>
          <p:nvPr/>
        </p:nvSpPr>
        <p:spPr>
          <a:xfrm>
            <a:off x="7656649" y="4893469"/>
            <a:ext cx="1230176"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0A192F"/>
                </a:solidFill>
                <a:latin typeface="SFMono-Regular" pitchFamily="34" charset="0"/>
                <a:ea typeface="SFMono-Regular" pitchFamily="34" charset="-122"/>
                <a:cs typeface="SFMono-Regular" pitchFamily="34" charset="-120"/>
              </a:rPr>
              <a:t>SOVEREIGN ENGINE / 12</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2026-08-19T11:54:11Z</dcterms:created>
  <dcterms:modified xsi:type="dcterms:W3CDTF">2026-08-19T11:54:11Z</dcterms:modified>
</cp:coreProperties>
</file>