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871538"/>
            <a:ext cx="4357688" cy="210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spc="2" kern="0" dirty="0">
                <a:solidFill>
                  <a:srgbClr val="B8C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SOVEREIGN ENGINE / STAKEHOLDER BRIEF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2938" y="1281912"/>
            <a:ext cx="5143500" cy="138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3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clear,</a:t>
            </a:r>
            <a:r>
              <a:rPr lang="en-US" sz="3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400" b="1" i="1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usable</a:t>
            </a:r>
            <a:r>
              <a:rPr lang="en-US" sz="3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kernel.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2938" y="2910967"/>
            <a:ext cx="4357688" cy="4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B8C4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concrete question. One declared check. One readable receipt. One next action.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257925" y="628650"/>
            <a:ext cx="2071688" cy="23758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257925" y="628650"/>
            <a:ext cx="7144" cy="2375855"/>
          </a:xfrm>
          <a:prstGeom prst="rect">
            <a:avLst/>
          </a:prstGeom>
          <a:solidFill>
            <a:srgbClr val="495960"/>
          </a:solidFill>
          <a:ln/>
        </p:spPr>
      </p:sp>
      <p:sp>
        <p:nvSpPr>
          <p:cNvPr id="8" name="Text 5"/>
          <p:cNvSpPr/>
          <p:nvPr/>
        </p:nvSpPr>
        <p:spPr>
          <a:xfrm>
            <a:off x="6500813" y="928688"/>
            <a:ext cx="1828800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B5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PURPOSE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500813" y="1134405"/>
            <a:ext cx="18288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 maker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00813" y="1613036"/>
            <a:ext cx="1828800" cy="2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B5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bounded mathematical checks—not broad theory declarations.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500813" y="1895884"/>
            <a:ext cx="1828800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B5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500813" y="2101602"/>
            <a:ext cx="18288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foundation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00813" y="2580233"/>
            <a:ext cx="1828800" cy="4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B5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Tested contract evidence; operational assurance remains optional and explicit.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42938" y="4074616"/>
            <a:ext cx="7858125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7A8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PLAIN-LANGUAGE MODEL WITH ADVANCED ASSURANCE WHEN IT IS ACTUALLY NEEDED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28638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C8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STAKEHOLDER PROBLEM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732234"/>
            <a:ext cx="851535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2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claims do not tell people what to do.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8650" y="1764506"/>
            <a:ext cx="3354549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spc="2" kern="0" dirty="0">
                <a:solidFill>
                  <a:srgbClr val="5363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OPAQUE CLAIM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2036638"/>
            <a:ext cx="3354549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model is verified.”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8650" y="2390254"/>
            <a:ext cx="3354549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5363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model? What did verification mean? Which values were used? What failed? What should a person change next? The claim asks for trust without offering a usable decision path.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983199" y="1593056"/>
            <a:ext cx="1177658" cy="1457102"/>
          </a:xfrm>
          <a:prstGeom prst="rect">
            <a:avLst/>
          </a:prstGeom>
          <a:noFill/>
          <a:ln/>
        </p:spPr>
        <p:txBody>
          <a:bodyPr wrap="none" lIns="0" tIns="72288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D255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5160857" y="1764506"/>
            <a:ext cx="3354549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spc="2" kern="0" dirty="0">
                <a:solidFill>
                  <a:srgbClr val="5363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CHECKABLE QUESTION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160857" y="2036638"/>
            <a:ext cx="3354549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 this matrix symmetric?”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60857" y="2390254"/>
            <a:ext cx="3354549" cy="494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5363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 names the input, the predicate, the evidence, and a next action. A receipt can show exactly what held, failed, or could not yet be checked.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28650" y="3514502"/>
            <a:ext cx="7886700" cy="2985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28650" y="3514502"/>
            <a:ext cx="7886700" cy="7144"/>
          </a:xfrm>
          <a:prstGeom prst="rect">
            <a:avLst/>
          </a:prstGeom>
          <a:solidFill>
            <a:srgbClr val="B5BBB5"/>
          </a:solidFill>
          <a:ln/>
        </p:spPr>
      </p:sp>
      <p:sp>
        <p:nvSpPr>
          <p:cNvPr id="14" name="Text 11"/>
          <p:cNvSpPr/>
          <p:nvPr/>
        </p:nvSpPr>
        <p:spPr>
          <a:xfrm>
            <a:off x="628650" y="3514502"/>
            <a:ext cx="7886700" cy="298586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C8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shift:</a:t>
            </a:r>
            <a:r>
              <a:rPr lang="en-US" sz="850" dirty="0">
                <a:solidFill>
                  <a:srgbClr val="344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not ask users to interpret a system. Let them ask a question the system can answer clearly.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14350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PUBLIC KERNEL MODEL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725091"/>
            <a:ext cx="851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Ask. Supply. Receive. Decide.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8650" y="1843088"/>
            <a:ext cx="23574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650" y="2218134"/>
            <a:ext cx="173715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8650" y="2546747"/>
            <a:ext cx="15716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B6C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one concrete question: “Is this matrix symmetric?”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2365809" y="1696641"/>
            <a:ext cx="312706" cy="1444377"/>
          </a:xfrm>
          <a:prstGeom prst="rect">
            <a:avLst/>
          </a:prstGeom>
          <a:noFill/>
          <a:ln/>
        </p:spPr>
        <p:txBody>
          <a:bodyPr wrap="none" lIns="0" tIns="63779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78516" y="1843088"/>
            <a:ext cx="23574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2678516" y="2218134"/>
            <a:ext cx="173715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678516" y="2546747"/>
            <a:ext cx="1571625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B6C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 the values and declared conventions the question needs.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415675" y="1696641"/>
            <a:ext cx="312706" cy="1444377"/>
          </a:xfrm>
          <a:prstGeom prst="rect">
            <a:avLst/>
          </a:prstGeom>
          <a:noFill/>
          <a:ln/>
        </p:spPr>
        <p:txBody>
          <a:bodyPr wrap="none" lIns="0" tIns="63779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28381" y="1843088"/>
            <a:ext cx="23574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728381" y="2218134"/>
            <a:ext cx="173715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28381" y="2546747"/>
            <a:ext cx="1571625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B6C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a readable receipt: outcome, explanation, mismatch or missing input, scope, and ID.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465540" y="1696641"/>
            <a:ext cx="312706" cy="1444377"/>
          </a:xfrm>
          <a:prstGeom prst="rect">
            <a:avLst/>
          </a:prstGeom>
          <a:noFill/>
          <a:ln/>
        </p:spPr>
        <p:txBody>
          <a:bodyPr wrap="none" lIns="0" tIns="63779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78247" y="1843088"/>
            <a:ext cx="23574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778247" y="2218134"/>
            <a:ext cx="173715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778247" y="2546747"/>
            <a:ext cx="1571625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B6C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evidence, correct the input, request a stronger check, or share a replay bundle.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628650" y="3641080"/>
            <a:ext cx="7886700" cy="2957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28650" y="3641080"/>
            <a:ext cx="7886700" cy="7144"/>
          </a:xfrm>
          <a:prstGeom prst="rect">
            <a:avLst/>
          </a:prstGeom>
          <a:solidFill>
            <a:srgbClr val="46575C"/>
          </a:solidFill>
          <a:ln/>
        </p:spPr>
      </p:sp>
      <p:sp>
        <p:nvSpPr>
          <p:cNvPr id="22" name="Text 19"/>
          <p:cNvSpPr/>
          <p:nvPr/>
        </p:nvSpPr>
        <p:spPr>
          <a:xfrm>
            <a:off x="628650" y="3791099"/>
            <a:ext cx="468138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QUESTION · ONE CODE-OWNED PREDICATE · ONE RECEIPT · ONE USEFUL NEXT ACTION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78644"/>
            <a:ext cx="8515350" cy="154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spc="2" kern="0" dirty="0">
                <a:solidFill>
                  <a:srgbClr val="AC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OUTCOME TRANSLATION LAYER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628650" y="847930"/>
            <a:ext cx="851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outcomes. Plain meanings.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8650" y="1355136"/>
            <a:ext cx="8515350" cy="154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AC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system speaks precisely without making people decode internal terminology.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8650" y="1888741"/>
            <a:ext cx="7886700" cy="2493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28650" y="1888741"/>
            <a:ext cx="7886700" cy="7144"/>
          </a:xfrm>
          <a:prstGeom prst="rect">
            <a:avLst/>
          </a:prstGeom>
          <a:solidFill>
            <a:srgbClr val="506066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2003041"/>
            <a:ext cx="1314450" cy="707231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943100" y="2095909"/>
            <a:ext cx="174073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in this check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43100" y="2335225"/>
            <a:ext cx="1740731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 RULE PASSED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3683831" y="2003041"/>
            <a:ext cx="2877592" cy="707231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50" dirty="0">
                <a:solidFill>
                  <a:srgbClr val="C2CD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named predicate held for the exact input supplied. Example: every off-diagonal matrix pair matched its transpose partner.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61423" y="2124484"/>
            <a:ext cx="1953927" cy="119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550" b="1" spc="1" kern="0" dirty="0">
                <a:solidFill>
                  <a:srgbClr val="ED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ACTION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6561423" y="2301069"/>
            <a:ext cx="169764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it as evidence for this exact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561423" y="2431331"/>
            <a:ext cx="174910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property, or ask the next relevant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561423" y="2561592"/>
            <a:ext cx="3086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check.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28650" y="2831716"/>
            <a:ext cx="1314450" cy="707231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943100" y="2924584"/>
            <a:ext cx="174073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hold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943100" y="3163900"/>
            <a:ext cx="1740731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 RULE DID NOT PASS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3683831" y="2831716"/>
            <a:ext cx="2877592" cy="707231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50" dirty="0">
                <a:solidFill>
                  <a:srgbClr val="C2CD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input was sufficient, and the receipt found a specific mismatch. A failure names where the declared rule broke.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6561423" y="2953159"/>
            <a:ext cx="1953927" cy="119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550" b="1" spc="1" kern="0" dirty="0">
                <a:solidFill>
                  <a:srgbClr val="ED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ACTION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6561423" y="3129744"/>
            <a:ext cx="169764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the mismatch, correct the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561423" y="3260006"/>
            <a:ext cx="180056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if appropriate, or retain the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561423" y="3390267"/>
            <a:ext cx="97746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as evidence.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28650" y="3660391"/>
            <a:ext cx="1314450" cy="707231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unverifiable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943100" y="3753259"/>
            <a:ext cx="174073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 be checked yet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943100" y="3992575"/>
            <a:ext cx="1740731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OR SUPPORT IS MISSING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3683831" y="3660391"/>
            <a:ext cx="2877592" cy="707231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50" dirty="0">
                <a:solidFill>
                  <a:srgbClr val="C2CD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system lacks a required input, assumption, or supported representation. It should not guess or silently repair the request.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6561423" y="3781834"/>
            <a:ext cx="1953927" cy="1194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550" b="1" spc="1" kern="0" dirty="0">
                <a:solidFill>
                  <a:srgbClr val="ED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ACTION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6561423" y="3958419"/>
            <a:ext cx="159478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the missing information,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561423" y="4088681"/>
            <a:ext cx="185196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 supported check, or request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561423" y="4218942"/>
            <a:ext cx="87455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00" dirty="0">
                <a:solidFill>
                  <a:srgbClr val="AAB9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new capability.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28650" y="4603366"/>
            <a:ext cx="7886700" cy="1328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IMPORTANT: “CANNOT BE CHECKED” IS NOT A FAILURE · “HOLDS” IS NOT A BROAD THEORY OR PHYSICAL-WORLD VERDICT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5775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EXAMPLE / GENERATED RECEIPT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696516"/>
            <a:ext cx="8515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matrix symmetry walkthrough.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8650" y="1182291"/>
            <a:ext cx="8515350" cy="154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AFBC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ask one question: does this declared matrix equal its transpose?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2030220"/>
            <a:ext cx="1643063" cy="1328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spc="2" kern="0" dirty="0">
                <a:solidFill>
                  <a:srgbClr val="B7C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SUPPLY INPUT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28650" y="2255918"/>
            <a:ext cx="164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Declare 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8650" y="2627393"/>
            <a:ext cx="1485900" cy="684349"/>
          </a:xfrm>
          <a:prstGeom prst="rect">
            <a:avLst/>
          </a:prstGeom>
          <a:solidFill>
            <a:srgbClr val="EFEBE1"/>
          </a:solidFill>
          <a:ln/>
        </p:spPr>
      </p:sp>
      <p:sp>
        <p:nvSpPr>
          <p:cNvPr id="9" name="Text 6"/>
          <p:cNvSpPr/>
          <p:nvPr/>
        </p:nvSpPr>
        <p:spPr>
          <a:xfrm>
            <a:off x="628650" y="2627393"/>
            <a:ext cx="1485900" cy="684349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32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 2 ]</a:t>
            </a:r>
            <a:r>
              <a:rPr lang="en-US" sz="1150" dirty="0">
                <a:solidFill>
                  <a:srgbClr val="132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150" dirty="0">
                <a:solidFill>
                  <a:srgbClr val="132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 4 ]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8650" y="3461761"/>
            <a:ext cx="1643063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B7C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input is finite, square, and numeric. No missing convention is needed for this exact equality check.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271713" y="1751614"/>
            <a:ext cx="471488" cy="1160859"/>
          </a:xfrm>
          <a:prstGeom prst="rect">
            <a:avLst/>
          </a:prstGeom>
          <a:noFill/>
          <a:ln/>
        </p:spPr>
        <p:txBody>
          <a:bodyPr wrap="none" lIns="0" tIns="96951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743200" y="1880202"/>
            <a:ext cx="1607344" cy="1328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spc="2" kern="0" dirty="0">
                <a:solidFill>
                  <a:srgbClr val="B7C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APPLY PREDICATE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743200" y="2105899"/>
            <a:ext cx="1607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pairs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43200" y="2591674"/>
            <a:ext cx="1607344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9BF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Aᵀ = 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743200" y="3113168"/>
            <a:ext cx="1607344" cy="398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B7C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only nontrivial comparison is the off-diagonal pair: `A[0,1] = 2` and `A[1,0] = 2`.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350544" y="1751614"/>
            <a:ext cx="471488" cy="1160859"/>
          </a:xfrm>
          <a:prstGeom prst="rect">
            <a:avLst/>
          </a:prstGeom>
          <a:noFill/>
          <a:ln/>
        </p:spPr>
        <p:txBody>
          <a:bodyPr wrap="none" lIns="0" tIns="96951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5250656" y="1751614"/>
            <a:ext cx="3264694" cy="2219362"/>
          </a:xfrm>
          <a:prstGeom prst="rect">
            <a:avLst/>
          </a:prstGeom>
          <a:solidFill>
            <a:srgbClr val="EFEBE1"/>
          </a:solidFill>
          <a:ln/>
        </p:spPr>
      </p:sp>
      <p:sp>
        <p:nvSpPr>
          <p:cNvPr id="18" name="Text 15"/>
          <p:cNvSpPr/>
          <p:nvPr/>
        </p:nvSpPr>
        <p:spPr>
          <a:xfrm>
            <a:off x="5436394" y="1908777"/>
            <a:ext cx="289321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READ RECEIPT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436394" y="2005217"/>
            <a:ext cx="289321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in this check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36394" y="2333830"/>
            <a:ext cx="28932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54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verified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436394" y="2637439"/>
            <a:ext cx="928688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B847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365081" y="2637439"/>
            <a:ext cx="1964531" cy="22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4658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off-diagonal pair matches its transpose partner.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436394" y="3029564"/>
            <a:ext cx="928688" cy="113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B847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MISMATCHES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6365081" y="3029564"/>
            <a:ext cx="1964531" cy="113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4658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— none found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5436394" y="3307779"/>
            <a:ext cx="928688" cy="113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B847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 ID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365081" y="3307779"/>
            <a:ext cx="1964531" cy="113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4658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sov:sha256:38b2…d07fbd8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5436394" y="3585995"/>
            <a:ext cx="928688" cy="2278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B847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ACTION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365081" y="3585995"/>
            <a:ext cx="1964531" cy="22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550" dirty="0">
                <a:solidFill>
                  <a:srgbClr val="4658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this as evidence for this symmetry check only.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628650" y="4293115"/>
            <a:ext cx="7886700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 EXACT FINITE-MATRIX EQUALITY · NOT A BROADER TENSOR, PHYSICAL, OR GEOMETRIC UNITY CLAIM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5775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AS DIAGNOSTIC EVIDENCE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696516"/>
            <a:ext cx="851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is useful evidence—not a dead end.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8650" y="1196578"/>
            <a:ext cx="8515350" cy="154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AEBB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receipt turns “no” into an exact location, an explanation, and a next action.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2037364"/>
            <a:ext cx="2239510" cy="1328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spc="2" kern="0" dirty="0">
                <a:solidFill>
                  <a:srgbClr val="B8C3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 INPUT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28650" y="2270206"/>
            <a:ext cx="2239510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 matrix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8650" y="2670256"/>
            <a:ext cx="535781" cy="442913"/>
          </a:xfrm>
          <a:prstGeom prst="rect">
            <a:avLst/>
          </a:prstGeom>
          <a:solidFill>
            <a:srgbClr val="EAE6DC"/>
          </a:solidFill>
          <a:ln/>
        </p:spPr>
      </p:sp>
      <p:sp>
        <p:nvSpPr>
          <p:cNvPr id="9" name="Text 6"/>
          <p:cNvSpPr/>
          <p:nvPr/>
        </p:nvSpPr>
        <p:spPr>
          <a:xfrm>
            <a:off x="628650" y="2670256"/>
            <a:ext cx="535781" cy="442913"/>
          </a:xfrm>
          <a:prstGeom prst="rect">
            <a:avLst/>
          </a:prstGeom>
          <a:noFill/>
          <a:ln/>
        </p:spPr>
        <p:txBody>
          <a:bodyPr wrap="none" lIns="0" tIns="11912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4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221581" y="2670256"/>
            <a:ext cx="535781" cy="442913"/>
          </a:xfrm>
          <a:prstGeom prst="rect">
            <a:avLst/>
          </a:prstGeom>
          <a:solidFill>
            <a:srgbClr val="DD5A47"/>
          </a:solidFill>
          <a:ln/>
        </p:spPr>
      </p:sp>
      <p:sp>
        <p:nvSpPr>
          <p:cNvPr id="11" name="Text 8"/>
          <p:cNvSpPr/>
          <p:nvPr/>
        </p:nvSpPr>
        <p:spPr>
          <a:xfrm>
            <a:off x="1221581" y="2670256"/>
            <a:ext cx="535781" cy="442913"/>
          </a:xfrm>
          <a:prstGeom prst="rect">
            <a:avLst/>
          </a:prstGeom>
          <a:noFill/>
          <a:ln/>
        </p:spPr>
        <p:txBody>
          <a:bodyPr wrap="none" lIns="0" tIns="11912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8650" y="3170318"/>
            <a:ext cx="535781" cy="442913"/>
          </a:xfrm>
          <a:prstGeom prst="rect">
            <a:avLst/>
          </a:prstGeom>
          <a:solidFill>
            <a:srgbClr val="DD5A47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" y="3170318"/>
            <a:ext cx="535781" cy="442913"/>
          </a:xfrm>
          <a:prstGeom prst="rect">
            <a:avLst/>
          </a:prstGeom>
          <a:noFill/>
          <a:ln/>
        </p:spPr>
        <p:txBody>
          <a:bodyPr wrap="none" lIns="0" tIns="11912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221581" y="3170318"/>
            <a:ext cx="535781" cy="442913"/>
          </a:xfrm>
          <a:prstGeom prst="rect">
            <a:avLst/>
          </a:prstGeom>
          <a:solidFill>
            <a:srgbClr val="EAE6DC"/>
          </a:solidFill>
          <a:ln/>
        </p:spPr>
      </p:sp>
      <p:sp>
        <p:nvSpPr>
          <p:cNvPr id="15" name="Text 12"/>
          <p:cNvSpPr/>
          <p:nvPr/>
        </p:nvSpPr>
        <p:spPr>
          <a:xfrm>
            <a:off x="1221581" y="3170318"/>
            <a:ext cx="535781" cy="442913"/>
          </a:xfrm>
          <a:prstGeom prst="rect">
            <a:avLst/>
          </a:prstGeom>
          <a:noFill/>
          <a:ln/>
        </p:spPr>
        <p:txBody>
          <a:bodyPr wrap="none" lIns="0" tIns="11912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4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8650" y="3741818"/>
            <a:ext cx="2239510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B8C3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off-diagonal pair differs: `A[0,1] = 3` while `A[1,0] = 2`.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3168197" y="1758758"/>
            <a:ext cx="3017509" cy="2557909"/>
          </a:xfrm>
          <a:prstGeom prst="rect">
            <a:avLst/>
          </a:prstGeom>
          <a:solidFill>
            <a:srgbClr val="EFEBE1"/>
          </a:solidFill>
          <a:ln/>
        </p:spPr>
      </p:sp>
      <p:sp>
        <p:nvSpPr>
          <p:cNvPr id="18" name="Text 15"/>
          <p:cNvSpPr/>
          <p:nvPr/>
        </p:nvSpPr>
        <p:spPr>
          <a:xfrm>
            <a:off x="3368222" y="2044508"/>
            <a:ext cx="2617459" cy="154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spc="2" kern="0" dirty="0">
                <a:solidFill>
                  <a:srgbClr val="4F6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RECEIPT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368222" y="2199494"/>
            <a:ext cx="261745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hold in this check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368222" y="2528106"/>
            <a:ext cx="261745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C5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FAIL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368222" y="2731703"/>
            <a:ext cx="2617459" cy="154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C5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was checked:</a:t>
            </a:r>
            <a:r>
              <a:rPr lang="en-US" sz="750" dirty="0">
                <a:solidFill>
                  <a:srgbClr val="4F6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whether `Aᵀ = A`.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368222" y="2993845"/>
            <a:ext cx="2617459" cy="30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C5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Why:</a:t>
            </a:r>
            <a:r>
              <a:rPr lang="en-US" sz="750" dirty="0">
                <a:solidFill>
                  <a:srgbClr val="4F6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 least one off-diagonal pair differs </a:t>
            </a:r>
            <a:r>
              <a:rPr lang="en-US" sz="750" dirty="0">
                <a:solidFill>
                  <a:srgbClr val="4F6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its transpose partner.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368222" y="3410973"/>
            <a:ext cx="2617459" cy="30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C5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Evidence:</a:t>
            </a:r>
            <a:r>
              <a:rPr lang="en-US" sz="750" dirty="0">
                <a:solidFill>
                  <a:srgbClr val="4F6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mismatch at `[0,1]`; expected </a:t>
            </a:r>
            <a:r>
              <a:rPr lang="en-US" sz="750" dirty="0">
                <a:solidFill>
                  <a:srgbClr val="4F6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 value `2`, observed `3`.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3368222" y="3828101"/>
            <a:ext cx="2617459" cy="30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C54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</a:t>
            </a:r>
            <a:r>
              <a:rPr lang="en-US" sz="750" dirty="0">
                <a:solidFill>
                  <a:srgbClr val="4F6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this local matrix symmetry predicate </a:t>
            </a:r>
            <a:r>
              <a:rPr lang="en-US" sz="750" dirty="0">
                <a:solidFill>
                  <a:srgbClr val="4F6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only.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485744" y="1908777"/>
            <a:ext cx="202960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ACTION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485744" y="2105230"/>
            <a:ext cx="2029606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result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485744" y="2426698"/>
            <a:ext cx="2029606" cy="351383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E8B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r>
              <a:rPr lang="en-US" sz="600" dirty="0">
                <a:solidFill>
                  <a:srgbClr val="B8C3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Correct the relevant input entry if </a:t>
            </a:r>
            <a:r>
              <a:rPr lang="en-US" sz="600" dirty="0">
                <a:solidFill>
                  <a:srgbClr val="B8C3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symmetry was intended.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485744" y="2878094"/>
            <a:ext cx="2029606" cy="351383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E8B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r>
              <a:rPr lang="en-US" sz="600" dirty="0">
                <a:solidFill>
                  <a:srgbClr val="B8C3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Keep the receipt if non-symmetry is </a:t>
            </a:r>
            <a:r>
              <a:rPr lang="en-US" sz="600" dirty="0">
                <a:solidFill>
                  <a:srgbClr val="B8C3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meaningful result.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485744" y="3329490"/>
            <a:ext cx="2029606" cy="351383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E8B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r>
              <a:rPr lang="en-US" sz="600" dirty="0">
                <a:solidFill>
                  <a:srgbClr val="B8C3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 a different supported check </a:t>
            </a:r>
            <a:r>
              <a:rPr lang="en-US" sz="600" dirty="0">
                <a:solidFill>
                  <a:srgbClr val="B8C3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symmetry was not the right question.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28650" y="4545267"/>
            <a:ext cx="7886700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788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FAIL RESULT IS SPECIFIC: SUFFICIENT INPUT WAS PROVIDED, AND THE DECLARED PREDICATE DID NOT HOLD.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5775"/>
            <a:ext cx="851535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ADVANCED ASSURANCE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28650" y="696516"/>
            <a:ext cx="8515350" cy="360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25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 should reveal in layers.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8650" y="1171352"/>
            <a:ext cx="5715000" cy="30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AFBC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 should understand an ordinary receipt without learning audit infrastructure. Specialists can open the evidence they need, exactly when they need it.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2059967"/>
            <a:ext cx="1607344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DEFAULT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628650" y="2249277"/>
            <a:ext cx="1821656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8650" y="2570745"/>
            <a:ext cx="1607344" cy="541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600" dirty="0">
                <a:solidFill>
                  <a:srgbClr val="B6C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was checked, the outcome, why, mismatches or missing input, scope, next action, and stable receipt ID.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28650" y="3255206"/>
            <a:ext cx="1821656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E8C2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“What happened?”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2450306" y="1924236"/>
            <a:ext cx="200025" cy="2143125"/>
          </a:xfrm>
          <a:prstGeom prst="rect">
            <a:avLst/>
          </a:prstGeom>
          <a:noFill/>
          <a:ln/>
        </p:spPr>
        <p:txBody>
          <a:bodyPr wrap="none" lIns="0" tIns="70586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650331" y="2059967"/>
            <a:ext cx="1607344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ADVANCED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650331" y="2249277"/>
            <a:ext cx="1821656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650331" y="2570745"/>
            <a:ext cx="1607344" cy="541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600" dirty="0">
                <a:solidFill>
                  <a:srgbClr val="B6C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 input, check version, fixture basis, source revision, toolchain record, and replay-bundle export.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650331" y="3255206"/>
            <a:ext cx="1821656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E8C2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“Can I reproduce it?”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471988" y="1924236"/>
            <a:ext cx="200025" cy="2143125"/>
          </a:xfrm>
          <a:prstGeom prst="rect">
            <a:avLst/>
          </a:prstGeom>
          <a:noFill/>
          <a:ln/>
        </p:spPr>
        <p:txBody>
          <a:bodyPr wrap="none" lIns="0" tIns="70586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72013" y="2059967"/>
            <a:ext cx="1607344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AUDITOR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672013" y="2249277"/>
            <a:ext cx="1821656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Witnessing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672013" y="2570745"/>
            <a:ext cx="1607344" cy="676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600" dirty="0">
                <a:solidFill>
                  <a:srgbClr val="B6C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recorded: signature posture, quorum decision, accepted IDs, rejected evidence, and equivocation records.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672013" y="3390602"/>
            <a:ext cx="182165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E8C2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“Who agreed—and who did not?”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493669" y="1924236"/>
            <a:ext cx="200025" cy="2143125"/>
          </a:xfrm>
          <a:prstGeom prst="rect">
            <a:avLst/>
          </a:prstGeom>
          <a:noFill/>
          <a:ln/>
        </p:spPr>
        <p:txBody>
          <a:bodyPr wrap="none" lIns="0" tIns="70586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693694" y="2059967"/>
            <a:ext cx="1607344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OPERATOR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6693694" y="2249277"/>
            <a:ext cx="1821656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693694" y="2570745"/>
            <a:ext cx="1607344" cy="541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600" dirty="0">
                <a:solidFill>
                  <a:srgbClr val="B6C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event, local checkpoint, inclusion proof, and consistency proof as exportable verification artifacts.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693694" y="3255206"/>
            <a:ext cx="182165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1" kern="0" dirty="0">
                <a:solidFill>
                  <a:srgbClr val="E8C2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“Does this belong to this history?”</a:t>
            </a:r>
            <a:endParaRPr lang="en-US" sz="550" dirty="0"/>
          </a:p>
        </p:txBody>
      </p:sp>
      <p:sp>
        <p:nvSpPr>
          <p:cNvPr id="25" name="Shape 22"/>
          <p:cNvSpPr/>
          <p:nvPr/>
        </p:nvSpPr>
        <p:spPr>
          <a:xfrm>
            <a:off x="628650" y="4367399"/>
            <a:ext cx="7886700" cy="7211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28650" y="4367399"/>
            <a:ext cx="7886700" cy="7144"/>
          </a:xfrm>
          <a:prstGeom prst="rect">
            <a:avLst/>
          </a:prstGeom>
          <a:solidFill>
            <a:srgbClr val="47575D"/>
          </a:solidFill>
          <a:ln/>
        </p:spPr>
      </p:sp>
      <p:sp>
        <p:nvSpPr>
          <p:cNvPr id="27" name="Text 24"/>
          <p:cNvSpPr/>
          <p:nvPr/>
        </p:nvSpPr>
        <p:spPr>
          <a:xfrm>
            <a:off x="628650" y="4495986"/>
            <a:ext cx="3571875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RULE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28650" y="4649577"/>
            <a:ext cx="3571875" cy="43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b="1" dirty="0">
                <a:solidFill>
                  <a:srgbClr val="E8C2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make assurance prerequisites for ordinary use.</a:t>
            </a:r>
            <a:r>
              <a:rPr lang="en-US" sz="650" dirty="0">
                <a:solidFill>
                  <a:srgbClr val="C4CF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Advanced </a:t>
            </a:r>
            <a:r>
              <a:rPr lang="en-US" sz="650" dirty="0">
                <a:solidFill>
                  <a:srgbClr val="C4CF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supports the receipt; it should not obscure the </a:t>
            </a:r>
            <a:r>
              <a:rPr lang="en-US" sz="650" dirty="0">
                <a:solidFill>
                  <a:srgbClr val="C4CF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question.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4543425" y="4495986"/>
            <a:ext cx="3571875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BOUNDARY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4543425" y="4649577"/>
            <a:ext cx="3571875" cy="43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C4CF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Merkle evidence is implemented. Ed25519 status remains non-authoritative until executable vectors, verifier adapter, and key-lifecycle tests are complete.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85800"/>
            <a:ext cx="2857500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spc="2" kern="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EVIDENCE / K1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628650" y="972220"/>
            <a:ext cx="2857500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25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offline </a:t>
            </a:r>
            <a:r>
              <a:rPr lang="en-US" sz="25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with </a:t>
            </a:r>
            <a:r>
              <a:rPr lang="en-US" sz="2550" b="1" i="1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proof points.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28650" y="2629570"/>
            <a:ext cx="2857500" cy="8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evidence supports a small, deterministic verification foundation. It is deliberately not presented as a general intelligence claim, a scientific verdict, or a production security service.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8650" y="3640187"/>
            <a:ext cx="2857500" cy="609228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</a:t>
            </a: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00" b="1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TESTED CONTRACT EVIDENCE</a:t>
            </a: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75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Focused, replayable, and bounded.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857625" y="500063"/>
            <a:ext cx="4643438" cy="2971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857625" y="500063"/>
            <a:ext cx="4643438" cy="7144"/>
          </a:xfrm>
          <a:prstGeom prst="rect">
            <a:avLst/>
          </a:prstGeom>
          <a:solidFill>
            <a:srgbClr val="495960"/>
          </a:solidFill>
          <a:ln/>
        </p:spPr>
      </p:sp>
      <p:sp>
        <p:nvSpPr>
          <p:cNvPr id="9" name="Text 6"/>
          <p:cNvSpPr/>
          <p:nvPr/>
        </p:nvSpPr>
        <p:spPr>
          <a:xfrm>
            <a:off x="3857625" y="500063"/>
            <a:ext cx="464343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HAS BEEN DEMONSTRATED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857625" y="725091"/>
            <a:ext cx="464343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concrete evidence paths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857625" y="1193006"/>
            <a:ext cx="173492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2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5592552" y="1193006"/>
            <a:ext cx="1173640" cy="492919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fixture corpus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66192" y="1193006"/>
            <a:ext cx="173492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2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published cases are frozen by manifest and fail closed on digest or count tampering.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3857625" y="1785938"/>
            <a:ext cx="173492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2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5592552" y="1785938"/>
            <a:ext cx="1173640" cy="492919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outcome coverage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66192" y="1785938"/>
            <a:ext cx="173492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2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consumes the shared pack and compares named outcome and reason-code behavior across all 17 cases.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3857625" y="2378869"/>
            <a:ext cx="173492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2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5592552" y="2378869"/>
            <a:ext cx="1173640" cy="492919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 local records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66192" y="2378869"/>
            <a:ext cx="173492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2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Decision, rejection, and equivocation evidence persist under canonical identifiers in the local object store.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3857625" y="2971800"/>
            <a:ext cx="173492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2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5592552" y="2971800"/>
            <a:ext cx="1173640" cy="492919"/>
          </a:xfrm>
          <a:prstGeom prst="rect">
            <a:avLst/>
          </a:prstGeom>
          <a:noFill/>
          <a:ln/>
        </p:spPr>
        <p:txBody>
          <a:bodyPr wrap="none" lIns="0" tIns="2552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9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 and tamper checks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66192" y="2971800"/>
            <a:ext cx="173492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2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Merkle inclusion, store restart replay, and byte tampering each have focused passing test evidence.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628650" y="4549453"/>
            <a:ext cx="7886700" cy="39424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28650" y="4549453"/>
            <a:ext cx="7886700" cy="7144"/>
          </a:xfrm>
          <a:prstGeom prst="rect">
            <a:avLst/>
          </a:prstGeom>
          <a:solidFill>
            <a:srgbClr val="495960"/>
          </a:solidFill>
          <a:ln/>
        </p:spPr>
      </p:sp>
      <p:sp>
        <p:nvSpPr>
          <p:cNvPr id="25" name="Text 22"/>
          <p:cNvSpPr/>
          <p:nvPr/>
        </p:nvSpPr>
        <p:spPr>
          <a:xfrm>
            <a:off x="628650" y="4549453"/>
            <a:ext cx="7886700" cy="394246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b="1" dirty="0">
                <a:solidFill>
                  <a:srgbClr val="DF60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YET CLAIMED:</a:t>
            </a:r>
            <a:r>
              <a:rPr lang="en-US" sz="600" dirty="0">
                <a:solidFill>
                  <a:srgbClr val="C8D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production consensus, live key custody, public transparency, replicated audit service, broader geometry proof, or a physical-theory </a:t>
            </a:r>
            <a:r>
              <a:rPr lang="en-US" sz="600" dirty="0">
                <a:solidFill>
                  <a:srgbClr val="C8D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92944"/>
            <a:ext cx="2893219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spc="2" kern="0" dirty="0">
                <a:solidFill>
                  <a:srgbClr val="B4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BOUNDARIES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628650" y="979363"/>
            <a:ext cx="2893219" cy="743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6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 make the </a:t>
            </a:r>
            <a:r>
              <a:rPr lang="en-US" sz="26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</a:t>
            </a:r>
            <a:r>
              <a:rPr lang="en-US" sz="2600" b="1" i="1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useful.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28650" y="1915418"/>
            <a:ext cx="2893219" cy="494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B4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non-claims prevent a small successful check from being mistaken for an operational guarantee or a verdict about the world.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3871913" y="500063"/>
            <a:ext cx="4643438" cy="3068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871913" y="500063"/>
            <a:ext cx="4643438" cy="7144"/>
          </a:xfrm>
          <a:prstGeom prst="rect">
            <a:avLst/>
          </a:prstGeom>
          <a:solidFill>
            <a:srgbClr val="4C5C61"/>
          </a:solidFill>
          <a:ln/>
        </p:spPr>
      </p:sp>
      <p:sp>
        <p:nvSpPr>
          <p:cNvPr id="8" name="Text 5"/>
          <p:cNvSpPr/>
          <p:nvPr/>
        </p:nvSpPr>
        <p:spPr>
          <a:xfrm>
            <a:off x="3871913" y="500063"/>
            <a:ext cx="464343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KERNEL DOES NOT CLAIM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871913" y="717947"/>
            <a:ext cx="4643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boundaries, stated directly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71913" y="1175147"/>
            <a:ext cx="38576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257675" y="1175147"/>
            <a:ext cx="1571625" cy="52149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8E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consensus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829300" y="1175147"/>
            <a:ext cx="2357438" cy="52149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55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does provide: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deterministic local checks and 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local quorum evidence—not a live 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 agreement service.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3871913" y="1796653"/>
            <a:ext cx="38576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257675" y="1796653"/>
            <a:ext cx="1571625" cy="52149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8E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key custody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29300" y="1796653"/>
            <a:ext cx="2357438" cy="52149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55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does provide: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future-capable signature 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boundary—not operating keys, rotation, or 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hardware-backed custody.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3871913" y="2418159"/>
            <a:ext cx="38576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257675" y="2418159"/>
            <a:ext cx="1571625" cy="52149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8E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transparency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29300" y="2418159"/>
            <a:ext cx="2357438" cy="52149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55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does provide: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local append-only Merkle 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evidence—not a replicated, publicly auditable log 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3871913" y="3039666"/>
            <a:ext cx="38576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257675" y="3039666"/>
            <a:ext cx="1571625" cy="521494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8E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theory verdict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829300" y="3039666"/>
            <a:ext cx="2357438" cy="52149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55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does provide: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receipts for named mathematical 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predicates—not proof of Geometric Unity or any </a:t>
            </a:r>
            <a:r>
              <a:rPr lang="en-US" sz="550" dirty="0">
                <a:solidFill>
                  <a:srgbClr val="AFB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interpretation.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628650" y="3832622"/>
            <a:ext cx="7886700" cy="545046"/>
          </a:xfrm>
          <a:prstGeom prst="rect">
            <a:avLst/>
          </a:prstGeom>
          <a:solidFill>
            <a:srgbClr val="17242D"/>
          </a:solidFill>
          <a:ln/>
        </p:spPr>
      </p:sp>
      <p:sp>
        <p:nvSpPr>
          <p:cNvPr id="23" name="Shape 20"/>
          <p:cNvSpPr/>
          <p:nvPr/>
        </p:nvSpPr>
        <p:spPr>
          <a:xfrm>
            <a:off x="628650" y="3832622"/>
            <a:ext cx="7886700" cy="14288"/>
          </a:xfrm>
          <a:prstGeom prst="rect">
            <a:avLst/>
          </a:prstGeom>
          <a:solidFill>
            <a:srgbClr val="DD5A47"/>
          </a:solidFill>
          <a:ln/>
        </p:spPr>
      </p:sp>
      <p:sp>
        <p:nvSpPr>
          <p:cNvPr id="24" name="Text 21"/>
          <p:cNvSpPr/>
          <p:nvPr/>
        </p:nvSpPr>
        <p:spPr>
          <a:xfrm>
            <a:off x="628650" y="3832622"/>
            <a:ext cx="7886700" cy="545046"/>
          </a:xfrm>
          <a:prstGeom prst="rect">
            <a:avLst/>
          </a:prstGeom>
          <a:noFill/>
          <a:ln/>
        </p:spPr>
        <p:txBody>
          <a:bodyPr wrap="square" lIns="195580" tIns="144526" rIns="195580" bIns="144526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b="1" dirty="0">
                <a:solidFill>
                  <a:srgbClr val="E9BF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TRUTHFUL RELEASE POSITION:</a:t>
            </a:r>
            <a:r>
              <a:rPr lang="en-US" sz="650" dirty="0">
                <a:solidFill>
                  <a:srgbClr val="D8E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small, usable offline verification foundation with tested contract evidence and explicit operational </a:t>
            </a:r>
            <a:r>
              <a:rPr lang="en-US" sz="650" dirty="0">
                <a:solidFill>
                  <a:srgbClr val="D8E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50094"/>
            <a:ext cx="3000375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spc="2" kern="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STAKEHOLDER DECISION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28650" y="1055489"/>
            <a:ext cx="3357563" cy="793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800"/>
              </a:lnSpc>
              <a:buNone/>
            </a:pPr>
            <a:r>
              <a:rPr lang="en-US" sz="280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the </a:t>
            </a:r>
            <a:r>
              <a:rPr lang="en-US" sz="2800" b="1" i="1" dirty="0">
                <a:solidFill>
                  <a:srgbClr val="DF6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core.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8650" y="2056284"/>
            <a:ext cx="300037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the kernel as a small receipt-making foundation. Do not wait for every assurance layer before users can ask and understand a concrete mathematical question.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8650" y="2970684"/>
            <a:ext cx="3000375" cy="65186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B5C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deliver practical checks now; attach stronger assurance only when sharing, audit, or adversarial handoff requires it.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57713" y="542925"/>
            <a:ext cx="3964781" cy="28753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57713" y="542925"/>
            <a:ext cx="3964781" cy="7144"/>
          </a:xfrm>
          <a:prstGeom prst="rect">
            <a:avLst/>
          </a:prstGeom>
          <a:solidFill>
            <a:srgbClr val="4B5A60"/>
          </a:solidFill>
          <a:ln/>
        </p:spPr>
      </p:sp>
      <p:sp>
        <p:nvSpPr>
          <p:cNvPr id="9" name="Text 6"/>
          <p:cNvSpPr/>
          <p:nvPr/>
        </p:nvSpPr>
        <p:spPr>
          <a:xfrm>
            <a:off x="4557713" y="671513"/>
            <a:ext cx="396478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D5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EXPANSION PATH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557713" y="853678"/>
            <a:ext cx="3964781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by repeating one honest pattern.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57713" y="1343025"/>
            <a:ext cx="1423950" cy="6179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4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5981663" y="1343025"/>
            <a:ext cx="1116825" cy="617934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D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Useful checks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98488" y="1343025"/>
            <a:ext cx="1423950" cy="6179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4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Offer bounded checks with a clear input contract, readable result, mismatch/residual evidence, scope, and next action.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4557713" y="2068116"/>
            <a:ext cx="1423950" cy="6179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4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5981663" y="2068116"/>
            <a:ext cx="1116825" cy="617934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D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assurance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098488" y="2068116"/>
            <a:ext cx="1423950" cy="6179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4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provenance export first; reveal quorum and local Merkle evidence only when a user needs to inspect or transfer trust.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557713" y="2793206"/>
            <a:ext cx="1423950" cy="6179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4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5981663" y="2793206"/>
            <a:ext cx="1116825" cy="617934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D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Earned expansion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098488" y="2793206"/>
            <a:ext cx="1423950" cy="6179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B4C1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checks through the same receipt model, with fixtures and replay evidence—not through wider unsupported claims.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628650" y="3836863"/>
            <a:ext cx="7886700" cy="1047229"/>
          </a:xfrm>
          <a:prstGeom prst="rect">
            <a:avLst/>
          </a:prstGeom>
          <a:solidFill>
            <a:srgbClr val="EFEBE1"/>
          </a:solidFill>
          <a:ln/>
        </p:spPr>
      </p:sp>
      <p:sp>
        <p:nvSpPr>
          <p:cNvPr id="21" name="Text 18"/>
          <p:cNvSpPr/>
          <p:nvPr/>
        </p:nvSpPr>
        <p:spPr>
          <a:xfrm>
            <a:off x="814388" y="3965451"/>
            <a:ext cx="7515225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BF4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RULE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814388" y="4119042"/>
            <a:ext cx="7515225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new capability must answer: “What exact question does this check, and what can a person do with the receipt?”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4388" y="4640535"/>
            <a:ext cx="740784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00" dirty="0">
                <a:solidFill>
                  <a:srgbClr val="50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production consensus, live key custody, public transparency, and physical-theory claims outside the release until separate evidence exists.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28650" y="4969818"/>
            <a:ext cx="7886700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748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 IS NOT A VAGUE INTELLIGENCE CLAIM. IT IS A CLEAR PATH FROM QUESTION TO EVIDENCE TO ACTION.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2026-08-19T11:54:09Z</dcterms:created>
  <dcterms:modified xsi:type="dcterms:W3CDTF">2026-08-19T11:54:09Z</dcterms:modified>
</cp:coreProperties>
</file>