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Q0, our offline verification harness for the Sovereign Engine. We are here to establish agreement without overclaiming. Remember that Q0 is an offline deterministic verification harness, not production distributed consensus, and that finite fuzz results are implementation evidence rather than universal security proofs. Let us dive into why this layer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not more nodes; it is binding agreement to the same object. While a single evaluator produces a deterministic result, a release process needs evidence that distinct, policy-approved evaluator identities reproduced that result under the exact same contract. Notice that agreement is evidence about reproducibility, not a physical-theory verdict. This local verification layer sits squarely between the deterministic core and the release evidence. Let us look at the protocol boundary that keeps this surface narrow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surface is our trust surface, and agreement evidence flows strictly into audit without ever mutating the core verdict. Q0 owns a narrow, auditable question across core execution, DSSE packaging, and group compatibility classes. Everything else, from network discovery and leader election to tokens and physical interpretation, stays outside Q0. To understand how we track this, we need to inspect the six records of the Q0 object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immutable records form a single binding chain, proving that the quorum layer does not replace the core. From verification requests and verifier identities to responses, policies, decisions, and equivocation evidence, every piece is tracked. The core status remains verified, fail, or unverifiable, because agreement is evidence rather than physical truth. Now, let us examine how these records feed into our deterministic decision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evidence must always produce the same decision through a pure, ordered, and fail-closed process. Q0 doesn't vote by arrival order; it binds, stably sorts, groups, and applies declared thresholds to immutable response identities. Notice that achieving threshold verification reproduces a named core result, but it never upgrades that result into physical truth. As we transition to examine offline fixtures and DSSE binding, we keep these strict operational boundaries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high-level decision logic into the cryptographic mechanics, we need to inspect how Q0 handles offline DSSE binding and key-policy fixtures. Notice that this harness uses HMAC-SHA256 fixtures strictly to test exact payload binding, keeping it separate from production key custody or rotation concerns. Every byte must be canonically formatted using JCS-compatible encoding, meaning mutable metadata is stripped away before the pre-auth encoding step. And because our identity checks enforce that duplicate keys count only once, any conflicting bytes immediately generate inspectable failure evidence. Moving forward, we need to see how the system behaves when these cryptographic bounds are actively challenged by malicious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directly on our deterministic DSSE fixtures, we now confront how the Sovereign Engine handles active adversarial dissent. The core operating rule here is simple: when evidence disagrees, we preserve the disagreement rather than forcing a synthetic consensus. If a single key signs conflicting outputs for the same request, the system flags it as contested rather than trying to guess the correct winner. We never lower our verification thresholds just because a node drops out or an identity turns out to be stale. By treating status vocabulary items like threshold failed or contested as first-class outcomes, we ensure the audit trail remains completely honest. And that exact discipline is what drives our rigorous fuzz campaign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those adversarial behaviors into a structured testing environment, we rely on deterministic fuzz campaigns across fixed seeds to validate our implementation. We generate over ten thousand test cases spanning canonical bytes, derived identities, invariant interpreters, and durable replay lanes without ever trusting random runtime variance. Our oracle hierarchy fails closed by construction, demanding exact canonical byte parity between the Python reference and Rust output. But we must be precise about what this evidence means: a zero-collision corpus is robust implementation data for this specific codebase, not a universal proof that underlying cryptographic hashes are unbreakable. Which brings us directly to the empirical results of running this fuzz campaign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Executing our deterministic seed across thousands of adversarial test cases gives us hard empirical boundaries on system behavior. Every single lane, from equivocation and duplicate identities to order permutations and invalid policies, returned the exact expected boundary without a single unexplained failure. Equivocation stayed contested, duplicate votes were blocked, and invalid policies failed closed across the board. But let's be entirely clear about the evidence boundary here: this is concrete implementation evidence for version zero-point-one of the Q0 harness, not a mathematical proof of production consensus or universal security. We have verified our specific protocol logic against a fixed corpus, establishing a rigorous foundation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to be ruthless about what our testing actually establishes and where the boundaries lie. What we proved is strict cross-language parity, local tamper detection, clean determinism, and robust adversarial handling over our test corpus. But let's be entirely clear about what remains completely unproven. We have not established production key custody, Byzantine consensus, collision proofs for cryptographic primitives, or any physical truth claims about Geometric Unity. Finite fuzzing is never a universal security proof. And this exact negative space is what guides our release posture. We advance the offline verification harness, but we do not promote a distributed system or an unsupported physical theory. Let's look at the specific promotion gates that enforce this boundary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59296" y="300038"/>
            <a:ext cx="131490" cy="96441"/>
          </a:xfrm>
          <a:prstGeom prst="rect">
            <a:avLst/>
          </a:prstGeom>
          <a:noFill/>
          <a:ln/>
        </p:spPr>
        <p:txBody>
          <a:bodyPr wrap="none" lIns="0" tIns="0" rIns="0" bIns="0" rtlCol="0" anchor="t">
            <a:spAutoFit/>
          </a:bodyPr>
          <a:lstStyle/>
          <a:p>
            <a:pPr algn="l" indent="0" marL="0">
              <a:buNone/>
            </a:pPr>
            <a:r>
              <a:rPr lang="en-US" sz="600" spc="2" kern="0" dirty="0">
                <a:solidFill>
                  <a:srgbClr val="D85A49"/>
                </a:solidFill>
                <a:latin typeface="Courier New" pitchFamily="34" charset="0"/>
                <a:ea typeface="Courier New" pitchFamily="34" charset="-122"/>
                <a:cs typeface="Courier New" pitchFamily="34" charset="-120"/>
              </a:rPr>
              <a:t>01</a:t>
            </a:r>
            <a:endParaRPr lang="en-US" sz="600" dirty="0"/>
          </a:p>
        </p:txBody>
      </p:sp>
      <p:sp>
        <p:nvSpPr>
          <p:cNvPr id="5" name="Text 1"/>
          <p:cNvSpPr/>
          <p:nvPr/>
        </p:nvSpPr>
        <p:spPr>
          <a:xfrm>
            <a:off x="259296" y="2425303"/>
            <a:ext cx="131490" cy="96441"/>
          </a:xfrm>
          <a:prstGeom prst="rect">
            <a:avLst/>
          </a:prstGeom>
          <a:noFill/>
          <a:ln/>
        </p:spPr>
        <p:txBody>
          <a:bodyPr wrap="none" lIns="0" tIns="0" rIns="0" bIns="0" rtlCol="0" anchor="t">
            <a:spAutoFit/>
          </a:bodyPr>
          <a:lstStyle/>
          <a:p>
            <a:pPr algn="l" indent="0" marL="0">
              <a:buNone/>
            </a:pPr>
            <a:r>
              <a:rPr lang="en-US" sz="600" spc="2" kern="0" dirty="0">
                <a:solidFill>
                  <a:srgbClr val="D85A49"/>
                </a:solidFill>
                <a:latin typeface="Courier New" pitchFamily="34" charset="0"/>
                <a:ea typeface="Courier New" pitchFamily="34" charset="-122"/>
                <a:cs typeface="Courier New" pitchFamily="34" charset="-120"/>
              </a:rPr>
              <a:t>Q0</a:t>
            </a:r>
            <a:endParaRPr lang="en-US" sz="600" dirty="0"/>
          </a:p>
        </p:txBody>
      </p:sp>
      <p:sp>
        <p:nvSpPr>
          <p:cNvPr id="6" name="Text 2"/>
          <p:cNvSpPr/>
          <p:nvPr/>
        </p:nvSpPr>
        <p:spPr>
          <a:xfrm>
            <a:off x="1271588" y="657225"/>
            <a:ext cx="4643438" cy="96441"/>
          </a:xfrm>
          <a:prstGeom prst="rect">
            <a:avLst/>
          </a:prstGeom>
          <a:noFill/>
          <a:ln/>
        </p:spPr>
        <p:txBody>
          <a:bodyPr wrap="square" lIns="0" tIns="0" rIns="0" bIns="0" rtlCol="0" anchor="t">
            <a:spAutoFit/>
          </a:bodyPr>
          <a:lstStyle/>
          <a:p>
            <a:pPr algn="l" indent="0" marL="0">
              <a:buNone/>
            </a:pPr>
            <a:r>
              <a:rPr lang="en-US" sz="600" spc="2" kern="0" dirty="0">
                <a:solidFill>
                  <a:srgbClr val="DB624F"/>
                </a:solidFill>
                <a:latin typeface="Courier New" pitchFamily="34" charset="0"/>
                <a:ea typeface="Courier New" pitchFamily="34" charset="-122"/>
                <a:cs typeface="Courier New" pitchFamily="34" charset="-120"/>
              </a:rPr>
              <a:t>SOVEREIGN ENGINE / EVIDENCE–GEOMETRY CORE</a:t>
            </a:r>
            <a:endParaRPr lang="en-US" sz="600" dirty="0"/>
          </a:p>
        </p:txBody>
      </p:sp>
      <p:sp>
        <p:nvSpPr>
          <p:cNvPr id="7" name="Text 3"/>
          <p:cNvSpPr/>
          <p:nvPr/>
        </p:nvSpPr>
        <p:spPr>
          <a:xfrm>
            <a:off x="1271588" y="953691"/>
            <a:ext cx="4643438" cy="1512075"/>
          </a:xfrm>
          <a:prstGeom prst="rect">
            <a:avLst/>
          </a:prstGeom>
          <a:noFill/>
          <a:ln/>
        </p:spPr>
        <p:txBody>
          <a:bodyPr wrap="square" lIns="0" tIns="0" rIns="0" bIns="0" rtlCol="0" anchor="t">
            <a:spAutoFit/>
          </a:bodyPr>
          <a:lstStyle/>
          <a:p>
            <a:pPr algn="l" indent="0" marL="0">
              <a:lnSpc>
                <a:spcPct val="78400"/>
              </a:lnSpc>
              <a:buNone/>
            </a:pPr>
            <a:r>
              <a:rPr lang="en-US" sz="3750" b="1" spc="-2" kern="0" dirty="0">
                <a:solidFill>
                  <a:srgbClr val="F4EFE4"/>
                </a:solidFill>
                <a:latin typeface="Georgia" pitchFamily="34" charset="0"/>
                <a:ea typeface="Georgia" pitchFamily="34" charset="-122"/>
                <a:cs typeface="Georgia" pitchFamily="34" charset="-120"/>
              </a:rPr>
              <a:t>Agreement</a:t>
            </a:r>
            <a:r>
              <a:rPr lang="en-US" sz="3750" b="1" spc="-2" kern="0" dirty="0">
                <a:solidFill>
                  <a:srgbClr val="F4EFE4"/>
                </a:solidFill>
                <a:latin typeface="Georgia" pitchFamily="34" charset="0"/>
                <a:ea typeface="Georgia" pitchFamily="34" charset="-122"/>
                <a:cs typeface="Georgia" pitchFamily="34" charset="-120"/>
              </a:rPr>
              <a:t>
</a:t>
            </a:r>
            <a:r>
              <a:rPr lang="en-US" sz="3750" b="1" i="1" spc="-2" kern="0" dirty="0">
                <a:solidFill>
                  <a:srgbClr val="DB624F"/>
                </a:solidFill>
                <a:latin typeface="Georgia" pitchFamily="34" charset="0"/>
                <a:ea typeface="Georgia" pitchFamily="34" charset="-122"/>
                <a:cs typeface="Georgia" pitchFamily="34" charset="-120"/>
              </a:rPr>
              <a:t>without</a:t>
            </a:r>
            <a:r>
              <a:rPr lang="en-US" sz="3750" b="1" spc="-2" kern="0" dirty="0">
                <a:solidFill>
                  <a:srgbClr val="F4EFE4"/>
                </a:solidFill>
                <a:latin typeface="Georgia" pitchFamily="34" charset="0"/>
                <a:ea typeface="Georgia" pitchFamily="34" charset="-122"/>
                <a:cs typeface="Georgia" pitchFamily="34" charset="-120"/>
              </a:rPr>
              <a:t>
</a:t>
            </a:r>
            <a:r>
              <a:rPr lang="en-US" sz="3750" b="1" spc="-2" kern="0" dirty="0">
                <a:solidFill>
                  <a:srgbClr val="F4EFE4"/>
                </a:solidFill>
                <a:latin typeface="Georgia" pitchFamily="34" charset="0"/>
                <a:ea typeface="Georgia" pitchFamily="34" charset="-122"/>
                <a:cs typeface="Georgia" pitchFamily="34" charset="-120"/>
              </a:rPr>
              <a:t>overclaiming.</a:t>
            </a:r>
            <a:endParaRPr lang="en-US" sz="3750" dirty="0"/>
          </a:p>
        </p:txBody>
      </p:sp>
      <p:sp>
        <p:nvSpPr>
          <p:cNvPr id="8" name="Text 4"/>
          <p:cNvSpPr/>
          <p:nvPr/>
        </p:nvSpPr>
        <p:spPr>
          <a:xfrm>
            <a:off x="1271588" y="2722941"/>
            <a:ext cx="4643438" cy="578644"/>
          </a:xfrm>
          <a:prstGeom prst="rect">
            <a:avLst/>
          </a:prstGeom>
          <a:noFill/>
          <a:ln/>
        </p:spPr>
        <p:txBody>
          <a:bodyPr wrap="square" lIns="0" tIns="0" rIns="0" bIns="0" rtlCol="0" anchor="t">
            <a:spAutoFit/>
          </a:bodyPr>
          <a:lstStyle/>
          <a:p>
            <a:pPr algn="l" indent="0" marL="0">
              <a:lnSpc>
                <a:spcPct val="120000"/>
              </a:lnSpc>
              <a:buNone/>
            </a:pPr>
            <a:r>
              <a:rPr lang="en-US" sz="950" dirty="0">
                <a:solidFill>
                  <a:srgbClr val="A9B1B5"/>
                </a:solidFill>
                <a:latin typeface="Courier New" pitchFamily="34" charset="0"/>
                <a:ea typeface="Courier New" pitchFamily="34" charset="-122"/>
                <a:cs typeface="Courier New" pitchFamily="34" charset="-120"/>
              </a:rPr>
              <a:t>A bounded local quorum protocol for reproducing a named Core Contract result—without turning majority agreement into physical truth.</a:t>
            </a:r>
            <a:endParaRPr lang="en-US" sz="950" dirty="0"/>
          </a:p>
        </p:txBody>
      </p:sp>
      <p:sp>
        <p:nvSpPr>
          <p:cNvPr id="9" name="Text 5"/>
          <p:cNvSpPr/>
          <p:nvPr/>
        </p:nvSpPr>
        <p:spPr>
          <a:xfrm>
            <a:off x="1271588" y="3837366"/>
            <a:ext cx="360145" cy="96441"/>
          </a:xfrm>
          <a:prstGeom prst="rect">
            <a:avLst/>
          </a:prstGeom>
          <a:noFill/>
          <a:ln/>
        </p:spPr>
        <p:txBody>
          <a:bodyPr wrap="none" lIns="0" tIns="0" rIns="0" bIns="0" rtlCol="0" anchor="t">
            <a:spAutoFit/>
          </a:bodyPr>
          <a:lstStyle/>
          <a:p>
            <a:pPr algn="l" indent="0" marL="0">
              <a:buNone/>
            </a:pPr>
            <a:r>
              <a:rPr lang="en-US" sz="600" dirty="0">
                <a:solidFill>
                  <a:srgbClr val="7D8B90"/>
                </a:solidFill>
                <a:latin typeface="Courier New" pitchFamily="34" charset="0"/>
                <a:ea typeface="Courier New" pitchFamily="34" charset="-122"/>
                <a:cs typeface="Courier New" pitchFamily="34" charset="-120"/>
              </a:rPr>
              <a:t>WAVE Q0</a:t>
            </a:r>
            <a:endParaRPr lang="en-US" sz="600" dirty="0"/>
          </a:p>
        </p:txBody>
      </p:sp>
      <p:sp>
        <p:nvSpPr>
          <p:cNvPr id="10" name="Text 6"/>
          <p:cNvSpPr/>
          <p:nvPr/>
        </p:nvSpPr>
        <p:spPr>
          <a:xfrm>
            <a:off x="1874620" y="3837366"/>
            <a:ext cx="1183239" cy="96441"/>
          </a:xfrm>
          <a:prstGeom prst="rect">
            <a:avLst/>
          </a:prstGeom>
          <a:noFill/>
          <a:ln/>
        </p:spPr>
        <p:txBody>
          <a:bodyPr wrap="none" lIns="0" tIns="0" rIns="0" bIns="0" rtlCol="0" anchor="t">
            <a:spAutoFit/>
          </a:bodyPr>
          <a:lstStyle/>
          <a:p>
            <a:pPr algn="l" indent="0" marL="0">
              <a:buNone/>
            </a:pPr>
            <a:r>
              <a:rPr lang="en-US" sz="600" dirty="0">
                <a:solidFill>
                  <a:srgbClr val="7D8B90"/>
                </a:solidFill>
                <a:latin typeface="Courier New" pitchFamily="34" charset="0"/>
                <a:ea typeface="Courier New" pitchFamily="34" charset="-122"/>
                <a:cs typeface="Courier New" pitchFamily="34" charset="-120"/>
              </a:rPr>
              <a:t>OFFLINE FIXTURE PROFILE</a:t>
            </a:r>
            <a:endParaRPr lang="en-US" sz="600" dirty="0"/>
          </a:p>
        </p:txBody>
      </p:sp>
      <p:sp>
        <p:nvSpPr>
          <p:cNvPr id="11" name="Text 7"/>
          <p:cNvSpPr/>
          <p:nvPr/>
        </p:nvSpPr>
        <p:spPr>
          <a:xfrm>
            <a:off x="3300747" y="3837366"/>
            <a:ext cx="308688" cy="96441"/>
          </a:xfrm>
          <a:prstGeom prst="rect">
            <a:avLst/>
          </a:prstGeom>
          <a:noFill/>
          <a:ln/>
        </p:spPr>
        <p:txBody>
          <a:bodyPr wrap="none" lIns="0" tIns="0" rIns="0" bIns="0" rtlCol="0" anchor="t">
            <a:spAutoFit/>
          </a:bodyPr>
          <a:lstStyle/>
          <a:p>
            <a:pPr algn="l" indent="0" marL="0">
              <a:buNone/>
            </a:pPr>
            <a:r>
              <a:rPr lang="en-US" sz="600" dirty="0">
                <a:solidFill>
                  <a:srgbClr val="7D8B90"/>
                </a:solidFill>
                <a:latin typeface="Courier New" pitchFamily="34" charset="0"/>
                <a:ea typeface="Courier New" pitchFamily="34" charset="-122"/>
                <a:cs typeface="Courier New" pitchFamily="34" charset="-120"/>
              </a:rPr>
              <a:t>2-OF-3</a:t>
            </a:r>
            <a:endParaRPr lang="en-US" sz="600" dirty="0"/>
          </a:p>
        </p:txBody>
      </p:sp>
      <p:sp>
        <p:nvSpPr>
          <p:cNvPr id="12" name="Shape 8"/>
          <p:cNvSpPr/>
          <p:nvPr/>
        </p:nvSpPr>
        <p:spPr>
          <a:xfrm>
            <a:off x="7115175" y="2000250"/>
            <a:ext cx="800100" cy="800100"/>
          </a:xfrm>
          <a:prstGeom prst="rect">
            <a:avLst/>
          </a:prstGeom>
          <a:solidFill>
            <a:srgbClr val="D64635"/>
          </a:solidFill>
          <a:ln/>
        </p:spPr>
      </p:sp>
      <p:sp>
        <p:nvSpPr>
          <p:cNvPr id="13" name="Text 9"/>
          <p:cNvSpPr/>
          <p:nvPr/>
        </p:nvSpPr>
        <p:spPr>
          <a:xfrm>
            <a:off x="7115175" y="2000250"/>
            <a:ext cx="800100" cy="800100"/>
          </a:xfrm>
          <a:prstGeom prst="rect">
            <a:avLst/>
          </a:prstGeom>
          <a:noFill/>
          <a:ln/>
        </p:spPr>
        <p:txBody>
          <a:bodyPr wrap="none" lIns="0" tIns="0" rIns="0" bIns="0" rtlCol="0" anchor="ctr">
            <a:spAutoFit/>
          </a:bodyPr>
          <a:lstStyle/>
          <a:p>
            <a:pPr algn="ctr" indent="0" marL="0">
              <a:buNone/>
            </a:pPr>
            <a:r>
              <a:rPr lang="en-US" sz="1400" b="1" dirty="0">
                <a:solidFill>
                  <a:srgbClr val="0B1118"/>
                </a:solidFill>
                <a:latin typeface="Courier New" pitchFamily="34" charset="0"/>
                <a:ea typeface="Courier New" pitchFamily="34" charset="-122"/>
                <a:cs typeface="Courier New" pitchFamily="34" charset="-120"/>
              </a:rPr>
              <a:t>2/3</a:t>
            </a:r>
            <a:endParaRPr lang="en-US" sz="1400" dirty="0"/>
          </a:p>
        </p:txBody>
      </p:sp>
      <p:sp>
        <p:nvSpPr>
          <p:cNvPr id="14" name="Text 10"/>
          <p:cNvSpPr/>
          <p:nvPr/>
        </p:nvSpPr>
        <p:spPr>
          <a:xfrm>
            <a:off x="6743700" y="4550569"/>
            <a:ext cx="1737606" cy="178594"/>
          </a:xfrm>
          <a:prstGeom prst="rect">
            <a:avLst/>
          </a:prstGeom>
          <a:noFill/>
          <a:ln/>
        </p:spPr>
        <p:txBody>
          <a:bodyPr wrap="square" lIns="0" tIns="0" rIns="0" bIns="0" rtlCol="0" anchor="t">
            <a:spAutoFit/>
          </a:bodyPr>
          <a:lstStyle/>
          <a:p>
            <a:pPr algn="l" indent="0" marL="0">
              <a:buNone/>
            </a:pPr>
            <a:r>
              <a:rPr lang="en-US" sz="550" spc="1" kern="0" dirty="0">
                <a:solidFill>
                  <a:srgbClr val="76848A"/>
                </a:solidFill>
                <a:latin typeface="Courier New" pitchFamily="34" charset="0"/>
                <a:ea typeface="Courier New" pitchFamily="34" charset="-122"/>
                <a:cs typeface="Courier New" pitchFamily="34" charset="-120"/>
              </a:rPr>
              <a:t>PROMOTION REQUIRES THE INVARIANT</a:t>
            </a:r>
            <a:r>
              <a:rPr lang="en-US" sz="550" spc="1" kern="0" dirty="0">
                <a:solidFill>
                  <a:srgbClr val="76848A"/>
                </a:solidFill>
                <a:latin typeface="Courier New" pitchFamily="34" charset="0"/>
                <a:ea typeface="Courier New" pitchFamily="34" charset="-122"/>
                <a:cs typeface="Courier New" pitchFamily="34" charset="-120"/>
              </a:rPr>
              <a:t>
</a:t>
            </a:r>
            <a:r>
              <a:rPr lang="en-US" sz="550" spc="1" kern="0" dirty="0">
                <a:solidFill>
                  <a:srgbClr val="76848A"/>
                </a:solidFill>
                <a:latin typeface="Courier New" pitchFamily="34" charset="0"/>
                <a:ea typeface="Courier New" pitchFamily="34" charset="-122"/>
                <a:cs typeface="Courier New" pitchFamily="34" charset="-120"/>
              </a:rPr>
              <a:t>AND THE EVIDENCE TO SURVIVE.</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14363"/>
          </a:xfrm>
          <a:prstGeom prst="rect">
            <a:avLst/>
          </a:prstGeom>
          <a:solidFill>
            <a:srgbClr val="000000">
              <a:alpha val="0"/>
            </a:srgbClr>
          </a:solidFill>
          <a:ln/>
        </p:spPr>
      </p:sp>
      <p:sp>
        <p:nvSpPr>
          <p:cNvPr id="5" name="Shape 1"/>
          <p:cNvSpPr/>
          <p:nvPr/>
        </p:nvSpPr>
        <p:spPr>
          <a:xfrm>
            <a:off x="0" y="607219"/>
            <a:ext cx="9144000" cy="7144"/>
          </a:xfrm>
          <a:prstGeom prst="rect">
            <a:avLst/>
          </a:prstGeom>
          <a:solidFill>
            <a:srgbClr val="2C373E"/>
          </a:solidFill>
          <a:ln/>
        </p:spPr>
      </p:sp>
      <p:sp>
        <p:nvSpPr>
          <p:cNvPr id="6" name="Text 2"/>
          <p:cNvSpPr/>
          <p:nvPr/>
        </p:nvSpPr>
        <p:spPr>
          <a:xfrm>
            <a:off x="414338" y="262533"/>
            <a:ext cx="921711" cy="89297"/>
          </a:xfrm>
          <a:prstGeom prst="rect">
            <a:avLst/>
          </a:prstGeom>
          <a:noFill/>
          <a:ln/>
        </p:spPr>
        <p:txBody>
          <a:bodyPr wrap="non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01 / MOTIVATION</a:t>
            </a:r>
            <a:endParaRPr lang="en-US" sz="550" dirty="0"/>
          </a:p>
        </p:txBody>
      </p:sp>
      <p:sp>
        <p:nvSpPr>
          <p:cNvPr id="7" name="Text 3"/>
          <p:cNvSpPr/>
          <p:nvPr/>
        </p:nvSpPr>
        <p:spPr>
          <a:xfrm>
            <a:off x="7546423" y="258961"/>
            <a:ext cx="1183239" cy="96441"/>
          </a:xfrm>
          <a:prstGeom prst="rect">
            <a:avLst/>
          </a:prstGeom>
          <a:noFill/>
          <a:ln/>
        </p:spPr>
        <p:txBody>
          <a:bodyPr wrap="none" lIns="0" tIns="0" rIns="0" bIns="0" rtlCol="0" anchor="t">
            <a:spAutoFit/>
          </a:bodyPr>
          <a:lstStyle/>
          <a:p>
            <a:pPr algn="l" indent="0" marL="0">
              <a:buNone/>
            </a:pPr>
            <a:r>
              <a:rPr lang="en-US" sz="600" dirty="0">
                <a:solidFill>
                  <a:srgbClr val="75838A"/>
                </a:solidFill>
                <a:latin typeface="Courier New" pitchFamily="34" charset="0"/>
                <a:ea typeface="Courier New" pitchFamily="34" charset="-122"/>
                <a:cs typeface="Courier New" pitchFamily="34" charset="-120"/>
              </a:rPr>
              <a:t>Q0 · LOCAL VERIFICATION</a:t>
            </a:r>
            <a:endParaRPr lang="en-US" sz="600" dirty="0"/>
          </a:p>
        </p:txBody>
      </p:sp>
      <p:sp>
        <p:nvSpPr>
          <p:cNvPr id="8" name="Text 4"/>
          <p:cNvSpPr/>
          <p:nvPr/>
        </p:nvSpPr>
        <p:spPr>
          <a:xfrm>
            <a:off x="542925" y="1114425"/>
            <a:ext cx="3426098"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THE PROBLEM IS NOT “MORE NODES.”</a:t>
            </a:r>
            <a:endParaRPr lang="en-US" sz="550" dirty="0"/>
          </a:p>
        </p:txBody>
      </p:sp>
      <p:sp>
        <p:nvSpPr>
          <p:cNvPr id="9" name="Text 5"/>
          <p:cNvSpPr/>
          <p:nvPr/>
        </p:nvSpPr>
        <p:spPr>
          <a:xfrm>
            <a:off x="542925" y="1346597"/>
            <a:ext cx="3426098" cy="1136693"/>
          </a:xfrm>
          <a:prstGeom prst="rect">
            <a:avLst/>
          </a:prstGeom>
          <a:noFill/>
          <a:ln/>
        </p:spPr>
        <p:txBody>
          <a:bodyPr wrap="square" lIns="0" tIns="0" rIns="0" bIns="0" rtlCol="0" anchor="t">
            <a:spAutoFit/>
          </a:bodyPr>
          <a:lstStyle/>
          <a:p>
            <a:pPr algn="l" indent="0" marL="0">
              <a:lnSpc>
                <a:spcPct val="81600"/>
              </a:lnSpc>
              <a:buNone/>
            </a:pPr>
            <a:r>
              <a:rPr lang="en-US" sz="2650" b="1" spc="-2" kern="0" dirty="0">
                <a:solidFill>
                  <a:srgbClr val="F4EFE4"/>
                </a:solidFill>
                <a:latin typeface="Georgia" pitchFamily="34" charset="0"/>
                <a:ea typeface="Georgia" pitchFamily="34" charset="-122"/>
                <a:cs typeface="Georgia" pitchFamily="34" charset="-120"/>
              </a:rPr>
              <a:t>It is </a:t>
            </a:r>
            <a:r>
              <a:rPr lang="en-US" sz="2650" b="1" i="1" spc="-2" kern="0" dirty="0">
                <a:solidFill>
                  <a:srgbClr val="D85A49"/>
                </a:solidFill>
                <a:latin typeface="Georgia" pitchFamily="34" charset="0"/>
                <a:ea typeface="Georgia" pitchFamily="34" charset="-122"/>
                <a:cs typeface="Georgia" pitchFamily="34" charset="-120"/>
              </a:rPr>
              <a:t>binding</a:t>
            </a:r>
            <a:r>
              <a:rPr lang="en-US" sz="2650" b="1" spc="-2" kern="0" dirty="0">
                <a:solidFill>
                  <a:srgbClr val="F4EFE4"/>
                </a:solidFill>
                <a:latin typeface="Georgia" pitchFamily="34" charset="0"/>
                <a:ea typeface="Georgia" pitchFamily="34" charset="-122"/>
                <a:cs typeface="Georgia" pitchFamily="34" charset="-120"/>
              </a:rPr>
              <a:t>
</a:t>
            </a:r>
            <a:r>
              <a:rPr lang="en-US" sz="2650" b="1" spc="-2" kern="0" dirty="0">
                <a:solidFill>
                  <a:srgbClr val="F4EFE4"/>
                </a:solidFill>
                <a:latin typeface="Georgia" pitchFamily="34" charset="0"/>
                <a:ea typeface="Georgia" pitchFamily="34" charset="-122"/>
                <a:cs typeface="Georgia" pitchFamily="34" charset="-120"/>
              </a:rPr>
              <a:t>agreement to the</a:t>
            </a:r>
            <a:r>
              <a:rPr lang="en-US" sz="2650" b="1" spc="-2" kern="0" dirty="0">
                <a:solidFill>
                  <a:srgbClr val="F4EFE4"/>
                </a:solidFill>
                <a:latin typeface="Georgia" pitchFamily="34" charset="0"/>
                <a:ea typeface="Georgia" pitchFamily="34" charset="-122"/>
                <a:cs typeface="Georgia" pitchFamily="34" charset="-120"/>
              </a:rPr>
              <a:t>
</a:t>
            </a:r>
            <a:r>
              <a:rPr lang="en-US" sz="2650" b="1" spc="-2" kern="0" dirty="0">
                <a:solidFill>
                  <a:srgbClr val="F4EFE4"/>
                </a:solidFill>
                <a:latin typeface="Georgia" pitchFamily="34" charset="0"/>
                <a:ea typeface="Georgia" pitchFamily="34" charset="-122"/>
                <a:cs typeface="Georgia" pitchFamily="34" charset="-120"/>
              </a:rPr>
              <a:t>same object.</a:t>
            </a:r>
            <a:endParaRPr lang="en-US" sz="2650" dirty="0"/>
          </a:p>
        </p:txBody>
      </p:sp>
      <p:sp>
        <p:nvSpPr>
          <p:cNvPr id="10" name="Text 6"/>
          <p:cNvSpPr/>
          <p:nvPr/>
        </p:nvSpPr>
        <p:spPr>
          <a:xfrm>
            <a:off x="542925" y="2654740"/>
            <a:ext cx="3426098" cy="885713"/>
          </a:xfrm>
          <a:prstGeom prst="rect">
            <a:avLst/>
          </a:prstGeom>
          <a:noFill/>
          <a:ln/>
        </p:spPr>
        <p:txBody>
          <a:bodyPr wrap="square" lIns="0" tIns="0" rIns="0" bIns="0" rtlCol="0" anchor="t">
            <a:spAutoFit/>
          </a:bodyPr>
          <a:lstStyle/>
          <a:p>
            <a:pPr algn="l" indent="0" marL="0">
              <a:lnSpc>
                <a:spcPct val="124000"/>
              </a:lnSpc>
              <a:buNone/>
            </a:pPr>
            <a:r>
              <a:rPr lang="en-US" sz="850" dirty="0">
                <a:solidFill>
                  <a:srgbClr val="AEB8BB"/>
                </a:solidFill>
                <a:latin typeface="Courier New" pitchFamily="34" charset="0"/>
                <a:ea typeface="Courier New" pitchFamily="34" charset="-122"/>
                <a:cs typeface="Courier New" pitchFamily="34" charset="-120"/>
              </a:rPr>
              <a:t>A single evaluator can produce a deterministic result. A release process still needs evidence that distinct, policy-approved evaluator identities reproduced that result under the same contract, conventions, inputs, and output IDs.</a:t>
            </a:r>
            <a:endParaRPr lang="en-US" sz="850" dirty="0"/>
          </a:p>
        </p:txBody>
      </p:sp>
      <p:sp>
        <p:nvSpPr>
          <p:cNvPr id="11" name="Text 7"/>
          <p:cNvSpPr/>
          <p:nvPr/>
        </p:nvSpPr>
        <p:spPr>
          <a:xfrm>
            <a:off x="542925" y="4004797"/>
            <a:ext cx="1056270" cy="167878"/>
          </a:xfrm>
          <a:prstGeom prst="rect">
            <a:avLst/>
          </a:prstGeom>
          <a:noFill/>
          <a:ln/>
        </p:spPr>
        <p:txBody>
          <a:bodyPr wrap="none" lIns="0" tIns="0" rIns="0" bIns="0" rtlCol="0" anchor="t">
            <a:spAutoFit/>
          </a:bodyPr>
          <a:lstStyle/>
          <a:p>
            <a:pPr algn="l" indent="0" marL="0">
              <a:buNone/>
            </a:pPr>
            <a:r>
              <a:rPr lang="en-US" sz="1050" dirty="0">
                <a:solidFill>
                  <a:srgbClr val="D85A49"/>
                </a:solidFill>
                <a:latin typeface="Georgia" pitchFamily="34" charset="0"/>
                <a:ea typeface="Georgia" pitchFamily="34" charset="-122"/>
                <a:cs typeface="Georgia" pitchFamily="34" charset="-120"/>
              </a:rPr>
              <a:t>01</a:t>
            </a:r>
            <a:endParaRPr lang="en-US" sz="1050" dirty="0"/>
          </a:p>
        </p:txBody>
      </p:sp>
      <p:sp>
        <p:nvSpPr>
          <p:cNvPr id="12" name="Text 8"/>
          <p:cNvSpPr/>
          <p:nvPr/>
        </p:nvSpPr>
        <p:spPr>
          <a:xfrm>
            <a:off x="542925" y="4229826"/>
            <a:ext cx="1056270" cy="110003"/>
          </a:xfrm>
          <a:prstGeom prst="rect">
            <a:avLst/>
          </a:prstGeom>
          <a:noFill/>
          <a:ln/>
        </p:spPr>
        <p:txBody>
          <a:bodyPr wrap="none" lIns="0" tIns="0" rIns="0" bIns="0" rtlCol="0" anchor="t">
            <a:spAutoFit/>
          </a:bodyPr>
          <a:lstStyle/>
          <a:p>
            <a:pPr algn="l" indent="0" marL="0">
              <a:lnSpc>
                <a:spcPct val="112000"/>
              </a:lnSpc>
              <a:buNone/>
            </a:pPr>
            <a:r>
              <a:rPr lang="en-US" sz="550" dirty="0">
                <a:solidFill>
                  <a:srgbClr val="87959A"/>
                </a:solidFill>
                <a:latin typeface="Courier New" pitchFamily="34" charset="0"/>
                <a:ea typeface="Courier New" pitchFamily="34" charset="-122"/>
                <a:cs typeface="Courier New" pitchFamily="34" charset="-120"/>
              </a:rPr>
              <a:t>Bind the request</a:t>
            </a:r>
            <a:endParaRPr lang="en-US" sz="550" dirty="0"/>
          </a:p>
        </p:txBody>
      </p:sp>
      <p:sp>
        <p:nvSpPr>
          <p:cNvPr id="13" name="Text 9"/>
          <p:cNvSpPr/>
          <p:nvPr/>
        </p:nvSpPr>
        <p:spPr>
          <a:xfrm>
            <a:off x="1727783" y="4004797"/>
            <a:ext cx="1056326" cy="167878"/>
          </a:xfrm>
          <a:prstGeom prst="rect">
            <a:avLst/>
          </a:prstGeom>
          <a:noFill/>
          <a:ln/>
        </p:spPr>
        <p:txBody>
          <a:bodyPr wrap="none" lIns="0" tIns="0" rIns="0" bIns="0" rtlCol="0" anchor="t">
            <a:spAutoFit/>
          </a:bodyPr>
          <a:lstStyle/>
          <a:p>
            <a:pPr algn="l" indent="0" marL="0">
              <a:buNone/>
            </a:pPr>
            <a:r>
              <a:rPr lang="en-US" sz="1050" dirty="0">
                <a:solidFill>
                  <a:srgbClr val="D85A49"/>
                </a:solidFill>
                <a:latin typeface="Georgia" pitchFamily="34" charset="0"/>
                <a:ea typeface="Georgia" pitchFamily="34" charset="-122"/>
                <a:cs typeface="Georgia" pitchFamily="34" charset="-120"/>
              </a:rPr>
              <a:t>02</a:t>
            </a:r>
            <a:endParaRPr lang="en-US" sz="1050" dirty="0"/>
          </a:p>
        </p:txBody>
      </p:sp>
      <p:sp>
        <p:nvSpPr>
          <p:cNvPr id="14" name="Text 10"/>
          <p:cNvSpPr/>
          <p:nvPr/>
        </p:nvSpPr>
        <p:spPr>
          <a:xfrm>
            <a:off x="1727783" y="4229826"/>
            <a:ext cx="1056326" cy="110003"/>
          </a:xfrm>
          <a:prstGeom prst="rect">
            <a:avLst/>
          </a:prstGeom>
          <a:noFill/>
          <a:ln/>
        </p:spPr>
        <p:txBody>
          <a:bodyPr wrap="none" lIns="0" tIns="0" rIns="0" bIns="0" rtlCol="0" anchor="t">
            <a:spAutoFit/>
          </a:bodyPr>
          <a:lstStyle/>
          <a:p>
            <a:pPr algn="l" indent="0" marL="0">
              <a:lnSpc>
                <a:spcPct val="112000"/>
              </a:lnSpc>
              <a:buNone/>
            </a:pPr>
            <a:r>
              <a:rPr lang="en-US" sz="550" dirty="0">
                <a:solidFill>
                  <a:srgbClr val="87959A"/>
                </a:solidFill>
                <a:latin typeface="Courier New" pitchFamily="34" charset="0"/>
                <a:ea typeface="Courier New" pitchFamily="34" charset="-122"/>
                <a:cs typeface="Courier New" pitchFamily="34" charset="-120"/>
              </a:rPr>
              <a:t>Compare the result</a:t>
            </a:r>
            <a:endParaRPr lang="en-US" sz="550" dirty="0"/>
          </a:p>
        </p:txBody>
      </p:sp>
      <p:sp>
        <p:nvSpPr>
          <p:cNvPr id="15" name="Text 11"/>
          <p:cNvSpPr/>
          <p:nvPr/>
        </p:nvSpPr>
        <p:spPr>
          <a:xfrm>
            <a:off x="2912697" y="4004797"/>
            <a:ext cx="1056270" cy="167878"/>
          </a:xfrm>
          <a:prstGeom prst="rect">
            <a:avLst/>
          </a:prstGeom>
          <a:noFill/>
          <a:ln/>
        </p:spPr>
        <p:txBody>
          <a:bodyPr wrap="none" lIns="0" tIns="0" rIns="0" bIns="0" rtlCol="0" anchor="t">
            <a:spAutoFit/>
          </a:bodyPr>
          <a:lstStyle/>
          <a:p>
            <a:pPr algn="l" indent="0" marL="0">
              <a:buNone/>
            </a:pPr>
            <a:r>
              <a:rPr lang="en-US" sz="1050" dirty="0">
                <a:solidFill>
                  <a:srgbClr val="D85A49"/>
                </a:solidFill>
                <a:latin typeface="Georgia" pitchFamily="34" charset="0"/>
                <a:ea typeface="Georgia" pitchFamily="34" charset="-122"/>
                <a:cs typeface="Georgia" pitchFamily="34" charset="-120"/>
              </a:rPr>
              <a:t>03</a:t>
            </a:r>
            <a:endParaRPr lang="en-US" sz="1050" dirty="0"/>
          </a:p>
        </p:txBody>
      </p:sp>
      <p:sp>
        <p:nvSpPr>
          <p:cNvPr id="16" name="Text 12"/>
          <p:cNvSpPr/>
          <p:nvPr/>
        </p:nvSpPr>
        <p:spPr>
          <a:xfrm>
            <a:off x="2912697" y="4229826"/>
            <a:ext cx="1056270" cy="110003"/>
          </a:xfrm>
          <a:prstGeom prst="rect">
            <a:avLst/>
          </a:prstGeom>
          <a:noFill/>
          <a:ln/>
        </p:spPr>
        <p:txBody>
          <a:bodyPr wrap="none" lIns="0" tIns="0" rIns="0" bIns="0" rtlCol="0" anchor="t">
            <a:spAutoFit/>
          </a:bodyPr>
          <a:lstStyle/>
          <a:p>
            <a:pPr algn="l" indent="0" marL="0">
              <a:lnSpc>
                <a:spcPct val="112000"/>
              </a:lnSpc>
              <a:buNone/>
            </a:pPr>
            <a:r>
              <a:rPr lang="en-US" sz="550" dirty="0">
                <a:solidFill>
                  <a:srgbClr val="87959A"/>
                </a:solidFill>
                <a:latin typeface="Courier New" pitchFamily="34" charset="0"/>
                <a:ea typeface="Courier New" pitchFamily="34" charset="-122"/>
                <a:cs typeface="Courier New" pitchFamily="34" charset="-120"/>
              </a:rPr>
              <a:t>Preserve dissent</a:t>
            </a:r>
            <a:endParaRPr lang="en-US" sz="550" dirty="0"/>
          </a:p>
        </p:txBody>
      </p:sp>
      <p:sp>
        <p:nvSpPr>
          <p:cNvPr id="17" name="Text 13"/>
          <p:cNvSpPr/>
          <p:nvPr/>
        </p:nvSpPr>
        <p:spPr>
          <a:xfrm>
            <a:off x="542925" y="4582716"/>
            <a:ext cx="3426098" cy="214313"/>
          </a:xfrm>
          <a:prstGeom prst="rect">
            <a:avLst/>
          </a:prstGeom>
          <a:noFill/>
          <a:ln/>
        </p:spPr>
        <p:txBody>
          <a:bodyPr wrap="square" lIns="0" tIns="0" rIns="0" bIns="0" rtlCol="0" anchor="t">
            <a:spAutoFit/>
          </a:bodyPr>
          <a:lstStyle/>
          <a:p>
            <a:pPr algn="l" indent="0" marL="0">
              <a:buNone/>
            </a:pPr>
            <a:r>
              <a:rPr lang="en-US" sz="650" b="1" dirty="0">
                <a:solidFill>
                  <a:srgbClr val="D85A49"/>
                </a:solidFill>
                <a:latin typeface="Courier New" pitchFamily="34" charset="0"/>
                <a:ea typeface="Courier New" pitchFamily="34" charset="-122"/>
                <a:cs typeface="Courier New" pitchFamily="34" charset="-120"/>
              </a:rPr>
              <a:t>Rule:</a:t>
            </a:r>
            <a:r>
              <a:rPr lang="en-US" sz="650" dirty="0">
                <a:solidFill>
                  <a:srgbClr val="F4EFE4"/>
                </a:solidFill>
                <a:latin typeface="Courier New" pitchFamily="34" charset="0"/>
                <a:ea typeface="Courier New" pitchFamily="34" charset="-122"/>
                <a:cs typeface="Courier New" pitchFamily="34" charset="-120"/>
              </a:rPr>
              <a:t> agreement is evidence about reproducibility, not a </a:t>
            </a:r>
            <a:r>
              <a:rPr lang="en-US" sz="650" dirty="0">
                <a:solidFill>
                  <a:srgbClr val="F4EFE4"/>
                </a:solidFill>
                <a:latin typeface="Courier New" pitchFamily="34" charset="0"/>
                <a:ea typeface="Courier New" pitchFamily="34" charset="-122"/>
                <a:cs typeface="Courier New" pitchFamily="34" charset="-120"/>
              </a:rPr>
              <a:t>physical-theory verdict.</a:t>
            </a:r>
            <a:endParaRPr lang="en-US" sz="650" dirty="0"/>
          </a:p>
        </p:txBody>
      </p:sp>
      <p:sp>
        <p:nvSpPr>
          <p:cNvPr id="18" name="Shape 14"/>
          <p:cNvSpPr/>
          <p:nvPr/>
        </p:nvSpPr>
        <p:spPr>
          <a:xfrm>
            <a:off x="4297635" y="614363"/>
            <a:ext cx="4846309" cy="4529138"/>
          </a:xfrm>
          <a:prstGeom prst="rect">
            <a:avLst/>
          </a:prstGeom>
          <a:solidFill>
            <a:srgbClr val="111B24"/>
          </a:solidFill>
          <a:ln/>
        </p:spPr>
      </p:sp>
      <p:sp>
        <p:nvSpPr>
          <p:cNvPr id="19" name="Text 15"/>
          <p:cNvSpPr/>
          <p:nvPr/>
        </p:nvSpPr>
        <p:spPr>
          <a:xfrm>
            <a:off x="4526235" y="1057275"/>
            <a:ext cx="4160509" cy="89297"/>
          </a:xfrm>
          <a:prstGeom prst="rect">
            <a:avLst/>
          </a:prstGeom>
          <a:noFill/>
          <a:ln/>
        </p:spPr>
        <p:txBody>
          <a:bodyPr wrap="square" lIns="0" tIns="0" rIns="0" bIns="0" rtlCol="0" anchor="t">
            <a:spAutoFit/>
          </a:bodyPr>
          <a:lstStyle/>
          <a:p>
            <a:pPr algn="l" indent="0" marL="0">
              <a:buNone/>
            </a:pPr>
            <a:r>
              <a:rPr lang="en-US" sz="550" spc="1" kern="0" dirty="0">
                <a:solidFill>
                  <a:srgbClr val="F0B8A8"/>
                </a:solidFill>
                <a:latin typeface="Courier New" pitchFamily="34" charset="0"/>
                <a:ea typeface="Courier New" pitchFamily="34" charset="-122"/>
                <a:cs typeface="Courier New" pitchFamily="34" charset="-120"/>
              </a:rPr>
              <a:t>SOURCE SURFACE / CONTEXT ONLY</a:t>
            </a:r>
            <a:endParaRPr lang="en-US" sz="550" dirty="0"/>
          </a:p>
        </p:txBody>
      </p:sp>
      <p:pic>
        <p:nvPicPr>
          <p:cNvPr id="20" name="Image 1" descr="preencoded.png">    </p:cNvPr>
          <p:cNvPicPr>
            <a:picLocks noChangeAspect="1"/>
          </p:cNvPicPr>
          <p:nvPr/>
        </p:nvPicPr>
        <p:blipFill>
          <a:blip r:embed="rId2"/>
          <a:stretch>
            <a:fillRect/>
          </a:stretch>
        </p:blipFill>
        <p:spPr>
          <a:xfrm>
            <a:off x="4526235" y="1246584"/>
            <a:ext cx="3143250" cy="1928813"/>
          </a:xfrm>
          <a:prstGeom prst="rect">
            <a:avLst/>
          </a:prstGeom>
        </p:spPr>
      </p:pic>
      <p:sp>
        <p:nvSpPr>
          <p:cNvPr id="21" name="Text 16"/>
          <p:cNvSpPr/>
          <p:nvPr/>
        </p:nvSpPr>
        <p:spPr>
          <a:xfrm>
            <a:off x="4526235" y="3403997"/>
            <a:ext cx="4160509" cy="96441"/>
          </a:xfrm>
          <a:prstGeom prst="rect">
            <a:avLst/>
          </a:prstGeom>
          <a:noFill/>
          <a:ln/>
        </p:spPr>
        <p:txBody>
          <a:bodyPr wrap="square" lIns="0" tIns="0" rIns="0" bIns="0" rtlCol="0" anchor="t">
            <a:spAutoFit/>
          </a:bodyPr>
          <a:lstStyle/>
          <a:p>
            <a:pPr algn="l" indent="0" marL="0">
              <a:buNone/>
            </a:pPr>
            <a:r>
              <a:rPr lang="en-US" sz="600" spc="1" kern="0" dirty="0">
                <a:solidFill>
                  <a:srgbClr val="D85A49"/>
                </a:solidFill>
                <a:latin typeface="Courier New" pitchFamily="34" charset="0"/>
                <a:ea typeface="Courier New" pitchFamily="34" charset="-122"/>
                <a:cs typeface="Courier New" pitchFamily="34" charset="-120"/>
              </a:rPr>
              <a:t>THE QUORUM LAYER SITS BETWEEN</a:t>
            </a:r>
            <a:endParaRPr lang="en-US" sz="600" dirty="0"/>
          </a:p>
        </p:txBody>
      </p:sp>
      <p:sp>
        <p:nvSpPr>
          <p:cNvPr id="22" name="Text 17"/>
          <p:cNvSpPr/>
          <p:nvPr/>
        </p:nvSpPr>
        <p:spPr>
          <a:xfrm>
            <a:off x="4526235" y="3571875"/>
            <a:ext cx="4160509" cy="440010"/>
          </a:xfrm>
          <a:prstGeom prst="rect">
            <a:avLst/>
          </a:prstGeom>
          <a:noFill/>
          <a:ln/>
        </p:spPr>
        <p:txBody>
          <a:bodyPr wrap="square" lIns="0" tIns="0" rIns="0" bIns="0" rtlCol="0" anchor="t">
            <a:spAutoFit/>
          </a:bodyPr>
          <a:lstStyle/>
          <a:p>
            <a:pPr algn="l" indent="0" marL="0">
              <a:lnSpc>
                <a:spcPct val="88000"/>
              </a:lnSpc>
              <a:buNone/>
            </a:pPr>
            <a:r>
              <a:rPr lang="en-US" sz="1500" dirty="0">
                <a:solidFill>
                  <a:srgbClr val="F4EFE4"/>
                </a:solidFill>
                <a:latin typeface="Georgia" pitchFamily="34" charset="0"/>
                <a:ea typeface="Georgia" pitchFamily="34" charset="-122"/>
                <a:cs typeface="Georgia" pitchFamily="34" charset="-120"/>
              </a:rPr>
              <a:t>deterministic core</a:t>
            </a:r>
            <a:r>
              <a:rPr lang="en-US" sz="1500" dirty="0">
                <a:solidFill>
                  <a:srgbClr val="F4EFE4"/>
                </a:solidFill>
                <a:latin typeface="Georgia" pitchFamily="34" charset="0"/>
                <a:ea typeface="Georgia" pitchFamily="34" charset="-122"/>
                <a:cs typeface="Georgia" pitchFamily="34" charset="-120"/>
              </a:rPr>
              <a:t>
</a:t>
            </a:r>
            <a:r>
              <a:rPr lang="en-US" sz="1500" dirty="0">
                <a:solidFill>
                  <a:srgbClr val="F4EFE4"/>
                </a:solidFill>
                <a:latin typeface="Georgia" pitchFamily="34" charset="0"/>
                <a:ea typeface="Georgia" pitchFamily="34" charset="-122"/>
                <a:cs typeface="Georgia" pitchFamily="34" charset="-120"/>
              </a:rPr>
              <a:t>and release evidence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798816" cy="407194"/>
          </a:xfrm>
          <a:prstGeom prst="rect">
            <a:avLst/>
          </a:prstGeom>
          <a:noFill/>
          <a:ln/>
        </p:spPr>
        <p:txBody>
          <a:bodyPr wrap="non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02 / BOUNDARY</a:t>
            </a:r>
            <a:endParaRPr lang="en-US" sz="550" dirty="0"/>
          </a:p>
        </p:txBody>
      </p:sp>
      <p:sp>
        <p:nvSpPr>
          <p:cNvPr id="7" name="Text 3"/>
          <p:cNvSpPr/>
          <p:nvPr/>
        </p:nvSpPr>
        <p:spPr>
          <a:xfrm>
            <a:off x="6937697" y="192881"/>
            <a:ext cx="1791965"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THE LOCAL SURFACE IS THE TRUST SURFACE</a:t>
            </a:r>
            <a:endParaRPr lang="en-US" sz="550" dirty="0"/>
          </a:p>
        </p:txBody>
      </p:sp>
      <p:pic>
        <p:nvPicPr>
          <p:cNvPr id="8" name="Image 1" descr="preencoded.png">    </p:cNvPr>
          <p:cNvPicPr>
            <a:picLocks noChangeAspect="1"/>
          </p:cNvPicPr>
          <p:nvPr/>
        </p:nvPicPr>
        <p:blipFill>
          <a:blip r:embed="rId2"/>
          <a:stretch>
            <a:fillRect/>
          </a:stretch>
        </p:blipFill>
        <p:spPr>
          <a:xfrm>
            <a:off x="371475" y="871538"/>
            <a:ext cx="5143500" cy="2928938"/>
          </a:xfrm>
          <a:prstGeom prst="rect">
            <a:avLst/>
          </a:prstGeom>
        </p:spPr>
      </p:pic>
      <p:sp>
        <p:nvSpPr>
          <p:cNvPr id="9" name="Text 4"/>
          <p:cNvSpPr/>
          <p:nvPr/>
        </p:nvSpPr>
        <p:spPr>
          <a:xfrm>
            <a:off x="371475" y="3936206"/>
            <a:ext cx="5200650" cy="89297"/>
          </a:xfrm>
          <a:prstGeom prst="rect">
            <a:avLst/>
          </a:prstGeom>
          <a:noFill/>
          <a:ln/>
        </p:spPr>
        <p:txBody>
          <a:bodyPr wrap="square" lIns="0" tIns="0" rIns="0" bIns="0" rtlCol="0" anchor="t">
            <a:spAutoFit/>
          </a:bodyPr>
          <a:lstStyle/>
          <a:p>
            <a:pPr algn="l" indent="0" marL="0">
              <a:buNone/>
            </a:pPr>
            <a:r>
              <a:rPr lang="en-US" sz="550" spc="1" kern="0" dirty="0">
                <a:solidFill>
                  <a:srgbClr val="89969B"/>
                </a:solidFill>
                <a:latin typeface="Courier New" pitchFamily="34" charset="0"/>
                <a:ea typeface="Courier New" pitchFamily="34" charset="-122"/>
                <a:cs typeface="Courier New" pitchFamily="34" charset="-120"/>
              </a:rPr>
              <a:t>FIG 01 · AGREEMENT EVIDENCE FLOWS INTO AUDIT; IT NEVER MUTATES THE CORE VERDICT.</a:t>
            </a:r>
            <a:endParaRPr lang="en-US" sz="550" dirty="0"/>
          </a:p>
        </p:txBody>
      </p:sp>
      <p:sp>
        <p:nvSpPr>
          <p:cNvPr id="10" name="Shape 5"/>
          <p:cNvSpPr/>
          <p:nvPr/>
        </p:nvSpPr>
        <p:spPr>
          <a:xfrm>
            <a:off x="5715000" y="600075"/>
            <a:ext cx="3429000" cy="4543425"/>
          </a:xfrm>
          <a:prstGeom prst="rect">
            <a:avLst/>
          </a:prstGeom>
          <a:solidFill>
            <a:srgbClr val="111B24"/>
          </a:solidFill>
          <a:ln/>
        </p:spPr>
      </p:sp>
      <p:sp>
        <p:nvSpPr>
          <p:cNvPr id="11" name="Text 6"/>
          <p:cNvSpPr/>
          <p:nvPr/>
        </p:nvSpPr>
        <p:spPr>
          <a:xfrm>
            <a:off x="6000750" y="971550"/>
            <a:ext cx="2714625"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Q0 OWNS</a:t>
            </a:r>
            <a:endParaRPr lang="en-US" sz="550" dirty="0"/>
          </a:p>
        </p:txBody>
      </p:sp>
      <p:sp>
        <p:nvSpPr>
          <p:cNvPr id="12" name="Text 7"/>
          <p:cNvSpPr/>
          <p:nvPr/>
        </p:nvSpPr>
        <p:spPr>
          <a:xfrm>
            <a:off x="6000750" y="1189434"/>
            <a:ext cx="2714625" cy="600075"/>
          </a:xfrm>
          <a:prstGeom prst="rect">
            <a:avLst/>
          </a:prstGeom>
          <a:noFill/>
          <a:ln/>
        </p:spPr>
        <p:txBody>
          <a:bodyPr wrap="square" lIns="0" tIns="0" rIns="0" bIns="0" rtlCol="0" anchor="t">
            <a:spAutoFit/>
          </a:bodyPr>
          <a:lstStyle/>
          <a:p>
            <a:pPr algn="l" indent="0" marL="0">
              <a:lnSpc>
                <a:spcPct val="84000"/>
              </a:lnSpc>
              <a:buNone/>
            </a:pPr>
            <a:r>
              <a:rPr lang="en-US" sz="2000" b="1" spc="-1" kern="0" dirty="0">
                <a:solidFill>
                  <a:srgbClr val="F4EFE4"/>
                </a:solidFill>
                <a:latin typeface="Georgia" pitchFamily="34" charset="0"/>
                <a:ea typeface="Georgia" pitchFamily="34" charset="-122"/>
                <a:cs typeface="Georgia" pitchFamily="34" charset="-120"/>
              </a:rPr>
              <a:t>A narrow question,</a:t>
            </a:r>
            <a:r>
              <a:rPr lang="en-US" sz="2000" b="1" spc="-1" kern="0" dirty="0">
                <a:solidFill>
                  <a:srgbClr val="F4EFE4"/>
                </a:solidFill>
                <a:latin typeface="Georgia" pitchFamily="34" charset="0"/>
                <a:ea typeface="Georgia" pitchFamily="34" charset="-122"/>
                <a:cs typeface="Georgia" pitchFamily="34" charset="-120"/>
              </a:rPr>
              <a:t>
</a:t>
            </a:r>
            <a:r>
              <a:rPr lang="en-US" sz="2000" b="1" spc="-1" kern="0" dirty="0">
                <a:solidFill>
                  <a:srgbClr val="F4EFE4"/>
                </a:solidFill>
                <a:latin typeface="Georgia" pitchFamily="34" charset="0"/>
                <a:ea typeface="Georgia" pitchFamily="34" charset="-122"/>
                <a:cs typeface="Georgia" pitchFamily="34" charset="-120"/>
              </a:rPr>
              <a:t>answered audibly.</a:t>
            </a:r>
            <a:endParaRPr lang="en-US" sz="2000" dirty="0"/>
          </a:p>
        </p:txBody>
      </p:sp>
      <p:sp>
        <p:nvSpPr>
          <p:cNvPr id="13" name="Text 8"/>
          <p:cNvSpPr/>
          <p:nvPr/>
        </p:nvSpPr>
        <p:spPr>
          <a:xfrm>
            <a:off x="6000750" y="2110978"/>
            <a:ext cx="246069" cy="269230"/>
          </a:xfrm>
          <a:prstGeom prst="rect">
            <a:avLst/>
          </a:prstGeom>
          <a:noFill/>
          <a:ln/>
        </p:spPr>
        <p:txBody>
          <a:bodyPr wrap="none" lIns="0" tIns="0" rIns="0" bIns="0" rtlCol="0" anchor="t">
            <a:spAutoFit/>
          </a:bodyPr>
          <a:lstStyle/>
          <a:p>
            <a:pPr algn="l" indent="0" marL="0">
              <a:buNone/>
            </a:pPr>
            <a:r>
              <a:rPr lang="en-US" sz="750" dirty="0">
                <a:solidFill>
                  <a:srgbClr val="D85A49"/>
                </a:solidFill>
                <a:latin typeface="Courier New" pitchFamily="34" charset="0"/>
                <a:ea typeface="Courier New" pitchFamily="34" charset="-122"/>
                <a:cs typeface="Courier New" pitchFamily="34" charset="-120"/>
              </a:rPr>
              <a:t>CORE</a:t>
            </a:r>
            <a:endParaRPr lang="en-US" sz="750" dirty="0"/>
          </a:p>
        </p:txBody>
      </p:sp>
      <p:sp>
        <p:nvSpPr>
          <p:cNvPr id="14" name="Text 9"/>
          <p:cNvSpPr/>
          <p:nvPr/>
        </p:nvSpPr>
        <p:spPr>
          <a:xfrm>
            <a:off x="6389694" y="2110978"/>
            <a:ext cx="2325681"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C1C8C8"/>
                </a:solidFill>
                <a:latin typeface="Courier New" pitchFamily="34" charset="0"/>
                <a:ea typeface="Courier New" pitchFamily="34" charset="-122"/>
                <a:cs typeface="Courier New" pitchFamily="34" charset="-120"/>
              </a:rPr>
              <a:t>Exact request, contract, conventions, policies, and result IDs.</a:t>
            </a:r>
            <a:endParaRPr lang="en-US" sz="650" dirty="0"/>
          </a:p>
        </p:txBody>
      </p:sp>
      <p:sp>
        <p:nvSpPr>
          <p:cNvPr id="15" name="Text 10"/>
          <p:cNvSpPr/>
          <p:nvPr/>
        </p:nvSpPr>
        <p:spPr>
          <a:xfrm>
            <a:off x="6000750" y="2587377"/>
            <a:ext cx="257119" cy="269230"/>
          </a:xfrm>
          <a:prstGeom prst="rect">
            <a:avLst/>
          </a:prstGeom>
          <a:noFill/>
          <a:ln/>
        </p:spPr>
        <p:txBody>
          <a:bodyPr wrap="none" lIns="0" tIns="0" rIns="0" bIns="0" rtlCol="0" anchor="t">
            <a:spAutoFit/>
          </a:bodyPr>
          <a:lstStyle/>
          <a:p>
            <a:pPr algn="l" indent="0" marL="0">
              <a:buNone/>
            </a:pPr>
            <a:r>
              <a:rPr lang="en-US" sz="750" dirty="0">
                <a:solidFill>
                  <a:srgbClr val="D85A49"/>
                </a:solidFill>
                <a:latin typeface="Courier New" pitchFamily="34" charset="0"/>
                <a:ea typeface="Courier New" pitchFamily="34" charset="-122"/>
                <a:cs typeface="Courier New" pitchFamily="34" charset="-120"/>
              </a:rPr>
              <a:t>DSSE</a:t>
            </a:r>
            <a:endParaRPr lang="en-US" sz="750" dirty="0"/>
          </a:p>
        </p:txBody>
      </p:sp>
      <p:sp>
        <p:nvSpPr>
          <p:cNvPr id="16" name="Text 11"/>
          <p:cNvSpPr/>
          <p:nvPr/>
        </p:nvSpPr>
        <p:spPr>
          <a:xfrm>
            <a:off x="6400744" y="2587377"/>
            <a:ext cx="2314631"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C1C8C8"/>
                </a:solidFill>
                <a:latin typeface="Courier New" pitchFamily="34" charset="0"/>
                <a:ea typeface="Courier New" pitchFamily="34" charset="-122"/>
                <a:cs typeface="Courier New" pitchFamily="34" charset="-120"/>
              </a:rPr>
              <a:t>Exact payload bytes, supported type, and fixture key policy.</a:t>
            </a:r>
            <a:endParaRPr lang="en-US" sz="650" dirty="0"/>
          </a:p>
        </p:txBody>
      </p:sp>
      <p:sp>
        <p:nvSpPr>
          <p:cNvPr id="17" name="Text 12"/>
          <p:cNvSpPr/>
          <p:nvPr/>
        </p:nvSpPr>
        <p:spPr>
          <a:xfrm>
            <a:off x="6000750" y="3063776"/>
            <a:ext cx="300093" cy="269230"/>
          </a:xfrm>
          <a:prstGeom prst="rect">
            <a:avLst/>
          </a:prstGeom>
          <a:noFill/>
          <a:ln/>
        </p:spPr>
        <p:txBody>
          <a:bodyPr wrap="none" lIns="0" tIns="0" rIns="0" bIns="0" rtlCol="0" anchor="t">
            <a:spAutoFit/>
          </a:bodyPr>
          <a:lstStyle/>
          <a:p>
            <a:pPr algn="l" indent="0" marL="0">
              <a:buNone/>
            </a:pPr>
            <a:r>
              <a:rPr lang="en-US" sz="750" dirty="0">
                <a:solidFill>
                  <a:srgbClr val="D85A49"/>
                </a:solidFill>
                <a:latin typeface="Courier New" pitchFamily="34" charset="0"/>
                <a:ea typeface="Courier New" pitchFamily="34" charset="-122"/>
                <a:cs typeface="Courier New" pitchFamily="34" charset="-120"/>
              </a:rPr>
              <a:t>GROUP</a:t>
            </a:r>
            <a:endParaRPr lang="en-US" sz="750" dirty="0"/>
          </a:p>
        </p:txBody>
      </p:sp>
      <p:sp>
        <p:nvSpPr>
          <p:cNvPr id="18" name="Text 13"/>
          <p:cNvSpPr/>
          <p:nvPr/>
        </p:nvSpPr>
        <p:spPr>
          <a:xfrm>
            <a:off x="6443718" y="3063776"/>
            <a:ext cx="2271657"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C1C8C8"/>
                </a:solidFill>
                <a:latin typeface="Courier New" pitchFamily="34" charset="0"/>
                <a:ea typeface="Courier New" pitchFamily="34" charset="-122"/>
                <a:cs typeface="Courier New" pitchFamily="34" charset="-120"/>
              </a:rPr>
              <a:t>Compatibility classes, thresholds, conflicts, and limitations.</a:t>
            </a:r>
            <a:endParaRPr lang="en-US" sz="650" dirty="0"/>
          </a:p>
        </p:txBody>
      </p:sp>
      <p:sp>
        <p:nvSpPr>
          <p:cNvPr id="19" name="Text 14"/>
          <p:cNvSpPr/>
          <p:nvPr/>
        </p:nvSpPr>
        <p:spPr>
          <a:xfrm>
            <a:off x="6000750" y="3690193"/>
            <a:ext cx="2714625" cy="521494"/>
          </a:xfrm>
          <a:prstGeom prst="rect">
            <a:avLst/>
          </a:prstGeom>
          <a:noFill/>
          <a:ln/>
        </p:spPr>
        <p:txBody>
          <a:bodyPr wrap="square" lIns="0" tIns="153035" rIns="0" bIns="0" rtlCol="0" anchor="t">
            <a:spAutoFit/>
          </a:bodyPr>
          <a:lstStyle/>
          <a:p>
            <a:pPr algn="l" indent="0" marL="0">
              <a:lnSpc>
                <a:spcPct val="120000"/>
              </a:lnSpc>
              <a:buNone/>
            </a:pPr>
            <a:r>
              <a:rPr lang="en-US" sz="600" b="1" dirty="0">
                <a:solidFill>
                  <a:srgbClr val="F4EFE4"/>
                </a:solidFill>
                <a:latin typeface="Courier New" pitchFamily="34" charset="0"/>
                <a:ea typeface="Courier New" pitchFamily="34" charset="-122"/>
                <a:cs typeface="Courier New" pitchFamily="34" charset="-120"/>
              </a:rPr>
              <a:t>OUTSIDE Q0:</a:t>
            </a:r>
            <a:r>
              <a:rPr lang="en-US" sz="600" dirty="0">
                <a:solidFill>
                  <a:srgbClr val="A7B0B1"/>
                </a:solidFill>
                <a:latin typeface="Courier New" pitchFamily="34" charset="0"/>
                <a:ea typeface="Courier New" pitchFamily="34" charset="-122"/>
                <a:cs typeface="Courier New" pitchFamily="34" charset="-120"/>
              </a:rPr>
              <a:t> network discovery, leader election, </a:t>
            </a:r>
            <a:r>
              <a:rPr lang="en-US" sz="600" dirty="0">
                <a:solidFill>
                  <a:srgbClr val="A7B0B1"/>
                </a:solidFill>
                <a:latin typeface="Courier New" pitchFamily="34" charset="0"/>
                <a:ea typeface="Courier New" pitchFamily="34" charset="-122"/>
                <a:cs typeface="Courier New" pitchFamily="34" charset="-120"/>
              </a:rPr>
              <a:t>replicated storage, liveness, tokens, and physical </a:t>
            </a:r>
            <a:r>
              <a:rPr lang="en-US" sz="600" dirty="0">
                <a:solidFill>
                  <a:srgbClr val="A7B0B1"/>
                </a:solidFill>
                <a:latin typeface="Courier New" pitchFamily="34" charset="0"/>
                <a:ea typeface="Courier New" pitchFamily="34" charset="-122"/>
                <a:cs typeface="Courier New" pitchFamily="34" charset="-120"/>
              </a:rPr>
              <a:t>interpretation.</a:t>
            </a:r>
            <a:endParaRPr lang="en-US" sz="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167445" cy="407194"/>
          </a:xfrm>
          <a:prstGeom prst="rect">
            <a:avLst/>
          </a:prstGeom>
          <a:noFill/>
          <a:ln/>
        </p:spPr>
        <p:txBody>
          <a:bodyPr wrap="non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03 / OBJECT ALGEBRA</a:t>
            </a:r>
            <a:endParaRPr lang="en-US" sz="550" dirty="0"/>
          </a:p>
        </p:txBody>
      </p:sp>
      <p:sp>
        <p:nvSpPr>
          <p:cNvPr id="7" name="Text 3"/>
          <p:cNvSpPr/>
          <p:nvPr/>
        </p:nvSpPr>
        <p:spPr>
          <a:xfrm>
            <a:off x="7456401" y="192881"/>
            <a:ext cx="1273262" cy="407194"/>
          </a:xfrm>
          <a:prstGeom prst="rect">
            <a:avLst/>
          </a:prstGeom>
          <a:noFill/>
          <a:ln/>
        </p:spPr>
        <p:txBody>
          <a:bodyPr wrap="non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IMMUTABLE RECORDS · Q0 v0.1</a:t>
            </a:r>
            <a:endParaRPr lang="en-US" sz="550" dirty="0"/>
          </a:p>
        </p:txBody>
      </p:sp>
      <p:sp>
        <p:nvSpPr>
          <p:cNvPr id="8" name="Text 4"/>
          <p:cNvSpPr/>
          <p:nvPr/>
        </p:nvSpPr>
        <p:spPr>
          <a:xfrm>
            <a:off x="500063" y="900113"/>
            <a:ext cx="1357313" cy="857250"/>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SIX RECORDS.</a:t>
            </a:r>
            <a:r>
              <a:rPr lang="en-US" sz="550" spc="2" kern="0" dirty="0">
                <a:solidFill>
                  <a:srgbClr val="D85A49"/>
                </a:solidFill>
                <a:latin typeface="Courier New" pitchFamily="34" charset="0"/>
                <a:ea typeface="Courier New" pitchFamily="34" charset="-122"/>
                <a:cs typeface="Courier New" pitchFamily="34" charset="-120"/>
              </a:rPr>
              <a:t>
</a:t>
            </a:r>
            <a:r>
              <a:rPr lang="en-US" sz="550" spc="2" kern="0" dirty="0">
                <a:solidFill>
                  <a:srgbClr val="D85A49"/>
                </a:solidFill>
                <a:latin typeface="Courier New" pitchFamily="34" charset="0"/>
                <a:ea typeface="Courier New" pitchFamily="34" charset="-122"/>
                <a:cs typeface="Courier New" pitchFamily="34" charset="-120"/>
              </a:rPr>
              <a:t>ONE BINDING</a:t>
            </a:r>
            <a:r>
              <a:rPr lang="en-US" sz="550" spc="2" kern="0" dirty="0">
                <a:solidFill>
                  <a:srgbClr val="D85A49"/>
                </a:solidFill>
                <a:latin typeface="Courier New" pitchFamily="34" charset="0"/>
                <a:ea typeface="Courier New" pitchFamily="34" charset="-122"/>
                <a:cs typeface="Courier New" pitchFamily="34" charset="-120"/>
              </a:rPr>
              <a:t>
</a:t>
            </a:r>
            <a:r>
              <a:rPr lang="en-US" sz="550" spc="2" kern="0" dirty="0">
                <a:solidFill>
                  <a:srgbClr val="D85A49"/>
                </a:solidFill>
                <a:latin typeface="Courier New" pitchFamily="34" charset="0"/>
                <a:ea typeface="Courier New" pitchFamily="34" charset="-122"/>
                <a:cs typeface="Courier New" pitchFamily="34" charset="-120"/>
              </a:rPr>
              <a:t>CHAIN.</a:t>
            </a:r>
            <a:endParaRPr lang="en-US" sz="550" dirty="0"/>
          </a:p>
        </p:txBody>
      </p:sp>
      <p:sp>
        <p:nvSpPr>
          <p:cNvPr id="9" name="Text 5"/>
          <p:cNvSpPr/>
          <p:nvPr/>
        </p:nvSpPr>
        <p:spPr>
          <a:xfrm>
            <a:off x="2371725" y="900113"/>
            <a:ext cx="2131572" cy="857250"/>
          </a:xfrm>
          <a:prstGeom prst="rect">
            <a:avLst/>
          </a:prstGeom>
          <a:noFill/>
          <a:ln/>
        </p:spPr>
        <p:txBody>
          <a:bodyPr wrap="square" lIns="0" tIns="0" rIns="0" bIns="0" rtlCol="0" anchor="t">
            <a:spAutoFit/>
          </a:bodyPr>
          <a:lstStyle/>
          <a:p>
            <a:pPr algn="l" indent="0" marL="0">
              <a:lnSpc>
                <a:spcPct val="82400"/>
              </a:lnSpc>
              <a:buNone/>
            </a:pPr>
            <a:r>
              <a:rPr lang="en-US" sz="2400" spc="-1" kern="0" dirty="0">
                <a:solidFill>
                  <a:srgbClr val="F4EFE4"/>
                </a:solidFill>
                <a:latin typeface="Georgia" pitchFamily="34" charset="0"/>
                <a:ea typeface="Georgia" pitchFamily="34" charset="-122"/>
                <a:cs typeface="Georgia" pitchFamily="34" charset="-120"/>
              </a:rPr>
              <a:t>The quorum layer</a:t>
            </a:r>
            <a:r>
              <a:rPr lang="en-US" sz="2400" spc="-1" kern="0" dirty="0">
                <a:solidFill>
                  <a:srgbClr val="F4EFE4"/>
                </a:solidFill>
                <a:latin typeface="Georgia" pitchFamily="34" charset="0"/>
                <a:ea typeface="Georgia" pitchFamily="34" charset="-122"/>
                <a:cs typeface="Georgia" pitchFamily="34" charset="-120"/>
              </a:rPr>
              <a:t>
</a:t>
            </a:r>
            <a:r>
              <a:rPr lang="en-US" sz="2400" spc="-1" kern="0" dirty="0">
                <a:solidFill>
                  <a:srgbClr val="F4EFE4"/>
                </a:solidFill>
                <a:latin typeface="Georgia" pitchFamily="34" charset="0"/>
                <a:ea typeface="Georgia" pitchFamily="34" charset="-122"/>
                <a:cs typeface="Georgia" pitchFamily="34" charset="-120"/>
              </a:rPr>
              <a:t>does not </a:t>
            </a:r>
            <a:r>
              <a:rPr lang="en-US" sz="2400" i="1" spc="-1" kern="0" dirty="0">
                <a:solidFill>
                  <a:srgbClr val="D85A49"/>
                </a:solidFill>
                <a:latin typeface="Georgia" pitchFamily="34" charset="0"/>
                <a:ea typeface="Georgia" pitchFamily="34" charset="-122"/>
                <a:cs typeface="Georgia" pitchFamily="34" charset="-120"/>
              </a:rPr>
              <a:t>replace</a:t>
            </a:r>
            <a:r>
              <a:rPr lang="en-US" sz="2400" spc="-1" kern="0" dirty="0">
                <a:solidFill>
                  <a:srgbClr val="F4EFE4"/>
                </a:solidFill>
                <a:latin typeface="Georgia" pitchFamily="34" charset="0"/>
                <a:ea typeface="Georgia" pitchFamily="34" charset="-122"/>
                <a:cs typeface="Georgia" pitchFamily="34" charset="-120"/>
              </a:rPr>
              <a:t>
</a:t>
            </a:r>
            <a:r>
              <a:rPr lang="en-US" sz="2400" spc="-1" kern="0" dirty="0">
                <a:solidFill>
                  <a:srgbClr val="F4EFE4"/>
                </a:solidFill>
                <a:latin typeface="Georgia" pitchFamily="34" charset="0"/>
                <a:ea typeface="Georgia" pitchFamily="34" charset="-122"/>
                <a:cs typeface="Georgia" pitchFamily="34" charset="-120"/>
              </a:rPr>
              <a:t>the core.</a:t>
            </a:r>
            <a:endParaRPr lang="en-US" sz="2400" dirty="0"/>
          </a:p>
        </p:txBody>
      </p:sp>
      <p:sp>
        <p:nvSpPr>
          <p:cNvPr id="10" name="Shape 6"/>
          <p:cNvSpPr/>
          <p:nvPr/>
        </p:nvSpPr>
        <p:spPr>
          <a:xfrm>
            <a:off x="500063" y="1757363"/>
            <a:ext cx="8143875" cy="3136106"/>
          </a:xfrm>
          <a:prstGeom prst="rect">
            <a:avLst/>
          </a:prstGeom>
          <a:solidFill>
            <a:srgbClr val="000000">
              <a:alpha val="0"/>
            </a:srgbClr>
          </a:solidFill>
          <a:ln/>
        </p:spPr>
      </p:sp>
      <p:sp>
        <p:nvSpPr>
          <p:cNvPr id="11" name="Shape 7"/>
          <p:cNvSpPr/>
          <p:nvPr/>
        </p:nvSpPr>
        <p:spPr>
          <a:xfrm>
            <a:off x="500063" y="1757363"/>
            <a:ext cx="8143875" cy="7144"/>
          </a:xfrm>
          <a:prstGeom prst="rect">
            <a:avLst/>
          </a:prstGeom>
          <a:solidFill>
            <a:srgbClr val="39464D"/>
          </a:solidFill>
          <a:ln/>
        </p:spPr>
      </p:sp>
      <p:sp>
        <p:nvSpPr>
          <p:cNvPr id="12" name="Shape 8"/>
          <p:cNvSpPr/>
          <p:nvPr/>
        </p:nvSpPr>
        <p:spPr>
          <a:xfrm>
            <a:off x="1385888" y="1757363"/>
            <a:ext cx="14288" cy="3128963"/>
          </a:xfrm>
          <a:prstGeom prst="rect">
            <a:avLst/>
          </a:prstGeom>
          <a:solidFill>
            <a:srgbClr val="D64635"/>
          </a:solidFill>
          <a:ln/>
        </p:spPr>
      </p:sp>
      <p:sp>
        <p:nvSpPr>
          <p:cNvPr id="13" name="Text 9"/>
          <p:cNvSpPr/>
          <p:nvPr/>
        </p:nvSpPr>
        <p:spPr>
          <a:xfrm>
            <a:off x="500063" y="1966317"/>
            <a:ext cx="657225" cy="96441"/>
          </a:xfrm>
          <a:prstGeom prst="rect">
            <a:avLst/>
          </a:prstGeom>
          <a:noFill/>
          <a:ln/>
        </p:spPr>
        <p:txBody>
          <a:bodyPr wrap="none" lIns="0" tIns="0" rIns="221107" bIns="0" rtlCol="0" anchor="t">
            <a:spAutoFit/>
          </a:bodyPr>
          <a:lstStyle/>
          <a:p>
            <a:pPr algn="r" indent="0" marL="0">
              <a:buNone/>
            </a:pPr>
            <a:r>
              <a:rPr lang="en-US" sz="600" spc="1" kern="0" dirty="0">
                <a:solidFill>
                  <a:srgbClr val="D85A49"/>
                </a:solidFill>
                <a:latin typeface="Courier New" pitchFamily="34" charset="0"/>
                <a:ea typeface="Courier New" pitchFamily="34" charset="-122"/>
                <a:cs typeface="Courier New" pitchFamily="34" charset="-120"/>
              </a:rPr>
              <a:t>01</a:t>
            </a:r>
            <a:endParaRPr lang="en-US" sz="600" dirty="0"/>
          </a:p>
        </p:txBody>
      </p:sp>
      <p:sp>
        <p:nvSpPr>
          <p:cNvPr id="14" name="Text 10"/>
          <p:cNvSpPr/>
          <p:nvPr/>
        </p:nvSpPr>
        <p:spPr>
          <a:xfrm>
            <a:off x="1385888" y="1923455"/>
            <a:ext cx="1243013" cy="182166"/>
          </a:xfrm>
          <a:prstGeom prst="rect">
            <a:avLst/>
          </a:prstGeom>
          <a:noFill/>
          <a:ln/>
        </p:spPr>
        <p:txBody>
          <a:bodyPr wrap="none" lIns="0" tIns="0" rIns="0" bIns="0" rtlCol="0" anchor="t">
            <a:spAutoFit/>
          </a:bodyPr>
          <a:lstStyle/>
          <a:p>
            <a:pPr algn="l" indent="0" marL="0">
              <a:buNone/>
            </a:pPr>
            <a:r>
              <a:rPr lang="en-US" sz="1150" dirty="0">
                <a:solidFill>
                  <a:srgbClr val="F4EFE4"/>
                </a:solidFill>
                <a:latin typeface="Georgia" pitchFamily="34" charset="0"/>
                <a:ea typeface="Georgia" pitchFamily="34" charset="-122"/>
                <a:cs typeface="Georgia" pitchFamily="34" charset="-120"/>
              </a:rPr>
              <a:t>verification_request</a:t>
            </a:r>
            <a:endParaRPr lang="en-US" sz="1150" dirty="0"/>
          </a:p>
        </p:txBody>
      </p:sp>
      <p:sp>
        <p:nvSpPr>
          <p:cNvPr id="15" name="Text 11"/>
          <p:cNvSpPr/>
          <p:nvPr/>
        </p:nvSpPr>
        <p:spPr>
          <a:xfrm>
            <a:off x="2857500" y="1898842"/>
            <a:ext cx="3143250" cy="231391"/>
          </a:xfrm>
          <a:prstGeom prst="rect">
            <a:avLst/>
          </a:prstGeom>
          <a:noFill/>
          <a:ln/>
        </p:spPr>
        <p:txBody>
          <a:bodyPr wrap="square" lIns="0" tIns="0" rIns="0" bIns="0" rtlCol="0" anchor="t">
            <a:spAutoFit/>
          </a:bodyPr>
          <a:lstStyle/>
          <a:p>
            <a:pPr algn="l" indent="0" marL="0">
              <a:lnSpc>
                <a:spcPct val="108000"/>
              </a:lnSpc>
              <a:buNone/>
            </a:pPr>
            <a:r>
              <a:rPr lang="en-US" sz="600" dirty="0">
                <a:solidFill>
                  <a:srgbClr val="AAB5B8"/>
                </a:solidFill>
                <a:latin typeface="Courier New" pitchFamily="34" charset="0"/>
                <a:ea typeface="Courier New" pitchFamily="34" charset="-122"/>
                <a:cs typeface="Courier New" pitchFamily="34" charset="-120"/>
              </a:rPr>
              <a:t>operation · ordered inputs · conventions · scalar/tolerance profiles · contract release</a:t>
            </a:r>
            <a:endParaRPr lang="en-US" sz="600" dirty="0"/>
          </a:p>
        </p:txBody>
      </p:sp>
      <p:sp>
        <p:nvSpPr>
          <p:cNvPr id="16" name="Text 12"/>
          <p:cNvSpPr/>
          <p:nvPr/>
        </p:nvSpPr>
        <p:spPr>
          <a:xfrm>
            <a:off x="6229350" y="1908497"/>
            <a:ext cx="2286000" cy="212080"/>
          </a:xfrm>
          <a:prstGeom prst="rect">
            <a:avLst/>
          </a:prstGeom>
          <a:noFill/>
          <a:ln/>
        </p:spPr>
        <p:txBody>
          <a:bodyPr wrap="square" lIns="0" tIns="0" rIns="0" bIns="0" rtlCol="0" anchor="t">
            <a:spAutoFit/>
          </a:bodyPr>
          <a:lstStyle/>
          <a:p>
            <a:pPr algn="r" indent="0" marL="0">
              <a:lnSpc>
                <a:spcPct val="108000"/>
              </a:lnSpc>
              <a:buNone/>
            </a:pPr>
            <a:r>
              <a:rPr lang="en-US" sz="550" dirty="0">
                <a:solidFill>
                  <a:srgbClr val="D85A49"/>
                </a:solidFill>
                <a:latin typeface="Courier New" pitchFamily="34" charset="0"/>
                <a:ea typeface="Courier New" pitchFamily="34" charset="-122"/>
                <a:cs typeface="Courier New" pitchFamily="34" charset="-120"/>
              </a:rPr>
              <a:t>quorum:sha256</a:t>
            </a:r>
            <a:r>
              <a:rPr lang="en-US" sz="550" dirty="0">
                <a:solidFill>
                  <a:srgbClr val="D8DFDC"/>
                </a:solidFill>
                <a:latin typeface="Courier New" pitchFamily="34" charset="0"/>
                <a:ea typeface="Courier New" pitchFamily="34" charset="-122"/>
                <a:cs typeface="Courier New" pitchFamily="34" charset="-120"/>
              </a:rPr>
              <a:t>
</a:t>
            </a:r>
            <a:r>
              <a:rPr lang="en-US" sz="550" dirty="0">
                <a:solidFill>
                  <a:srgbClr val="D8DFDC"/>
                </a:solidFill>
                <a:latin typeface="Courier New" pitchFamily="34" charset="0"/>
                <a:ea typeface="Courier New" pitchFamily="34" charset="-122"/>
                <a:cs typeface="Courier New" pitchFamily="34" charset="-120"/>
              </a:rPr>
              <a:t>exact bytes bind every response</a:t>
            </a:r>
            <a:endParaRPr lang="en-US" sz="550" dirty="0"/>
          </a:p>
        </p:txBody>
      </p:sp>
      <p:sp>
        <p:nvSpPr>
          <p:cNvPr id="17" name="Text 13"/>
          <p:cNvSpPr/>
          <p:nvPr/>
        </p:nvSpPr>
        <p:spPr>
          <a:xfrm>
            <a:off x="500063" y="2487811"/>
            <a:ext cx="657225" cy="96441"/>
          </a:xfrm>
          <a:prstGeom prst="rect">
            <a:avLst/>
          </a:prstGeom>
          <a:noFill/>
          <a:ln/>
        </p:spPr>
        <p:txBody>
          <a:bodyPr wrap="none" lIns="0" tIns="0" rIns="221107" bIns="0" rtlCol="0" anchor="t">
            <a:spAutoFit/>
          </a:bodyPr>
          <a:lstStyle/>
          <a:p>
            <a:pPr algn="r" indent="0" marL="0">
              <a:buNone/>
            </a:pPr>
            <a:r>
              <a:rPr lang="en-US" sz="600" spc="1" kern="0" dirty="0">
                <a:solidFill>
                  <a:srgbClr val="D85A49"/>
                </a:solidFill>
                <a:latin typeface="Courier New" pitchFamily="34" charset="0"/>
                <a:ea typeface="Courier New" pitchFamily="34" charset="-122"/>
                <a:cs typeface="Courier New" pitchFamily="34" charset="-120"/>
              </a:rPr>
              <a:t>02</a:t>
            </a:r>
            <a:endParaRPr lang="en-US" sz="600" dirty="0"/>
          </a:p>
        </p:txBody>
      </p:sp>
      <p:sp>
        <p:nvSpPr>
          <p:cNvPr id="18" name="Text 14"/>
          <p:cNvSpPr/>
          <p:nvPr/>
        </p:nvSpPr>
        <p:spPr>
          <a:xfrm>
            <a:off x="1385888" y="2444948"/>
            <a:ext cx="1243013" cy="182166"/>
          </a:xfrm>
          <a:prstGeom prst="rect">
            <a:avLst/>
          </a:prstGeom>
          <a:noFill/>
          <a:ln/>
        </p:spPr>
        <p:txBody>
          <a:bodyPr wrap="none" lIns="0" tIns="0" rIns="0" bIns="0" rtlCol="0" anchor="t">
            <a:spAutoFit/>
          </a:bodyPr>
          <a:lstStyle/>
          <a:p>
            <a:pPr algn="l" indent="0" marL="0">
              <a:buNone/>
            </a:pPr>
            <a:r>
              <a:rPr lang="en-US" sz="1150" dirty="0">
                <a:solidFill>
                  <a:srgbClr val="F4EFE4"/>
                </a:solidFill>
                <a:latin typeface="Georgia" pitchFamily="34" charset="0"/>
                <a:ea typeface="Georgia" pitchFamily="34" charset="-122"/>
                <a:cs typeface="Georgia" pitchFamily="34" charset="-120"/>
              </a:rPr>
              <a:t>verifier_identity</a:t>
            </a:r>
            <a:endParaRPr lang="en-US" sz="1150" dirty="0"/>
          </a:p>
        </p:txBody>
      </p:sp>
      <p:sp>
        <p:nvSpPr>
          <p:cNvPr id="19" name="Text 15"/>
          <p:cNvSpPr/>
          <p:nvPr/>
        </p:nvSpPr>
        <p:spPr>
          <a:xfrm>
            <a:off x="2857500" y="2420336"/>
            <a:ext cx="3143250" cy="231391"/>
          </a:xfrm>
          <a:prstGeom prst="rect">
            <a:avLst/>
          </a:prstGeom>
          <a:noFill/>
          <a:ln/>
        </p:spPr>
        <p:txBody>
          <a:bodyPr wrap="square" lIns="0" tIns="0" rIns="0" bIns="0" rtlCol="0" anchor="t">
            <a:spAutoFit/>
          </a:bodyPr>
          <a:lstStyle/>
          <a:p>
            <a:pPr algn="l" indent="0" marL="0">
              <a:lnSpc>
                <a:spcPct val="108000"/>
              </a:lnSpc>
              <a:buNone/>
            </a:pPr>
            <a:r>
              <a:rPr lang="en-US" sz="600" dirty="0">
                <a:solidFill>
                  <a:srgbClr val="AAB5B8"/>
                </a:solidFill>
                <a:latin typeface="Courier New" pitchFamily="34" charset="0"/>
                <a:ea typeface="Courier New" pitchFamily="34" charset="-122"/>
                <a:cs typeface="Courier New" pitchFamily="34" charset="-120"/>
              </a:rPr>
              <a:t>node ID · active key ID · software release · environment class · policy membership</a:t>
            </a:r>
            <a:endParaRPr lang="en-US" sz="600" dirty="0"/>
          </a:p>
        </p:txBody>
      </p:sp>
      <p:sp>
        <p:nvSpPr>
          <p:cNvPr id="20" name="Text 16"/>
          <p:cNvSpPr/>
          <p:nvPr/>
        </p:nvSpPr>
        <p:spPr>
          <a:xfrm>
            <a:off x="6229350" y="2429991"/>
            <a:ext cx="2286000" cy="212080"/>
          </a:xfrm>
          <a:prstGeom prst="rect">
            <a:avLst/>
          </a:prstGeom>
          <a:noFill/>
          <a:ln/>
        </p:spPr>
        <p:txBody>
          <a:bodyPr wrap="square" lIns="0" tIns="0" rIns="0" bIns="0" rtlCol="0" anchor="t">
            <a:spAutoFit/>
          </a:bodyPr>
          <a:lstStyle/>
          <a:p>
            <a:pPr algn="r" indent="0" marL="0">
              <a:lnSpc>
                <a:spcPct val="108000"/>
              </a:lnSpc>
              <a:buNone/>
            </a:pPr>
            <a:r>
              <a:rPr lang="en-US" sz="550" dirty="0">
                <a:solidFill>
                  <a:srgbClr val="D85A49"/>
                </a:solidFill>
                <a:latin typeface="Courier New" pitchFamily="34" charset="0"/>
                <a:ea typeface="Courier New" pitchFamily="34" charset="-122"/>
                <a:cs typeface="Courier New" pitchFamily="34" charset="-120"/>
              </a:rPr>
              <a:t>counts once</a:t>
            </a:r>
            <a:r>
              <a:rPr lang="en-US" sz="550" dirty="0">
                <a:solidFill>
                  <a:srgbClr val="D8DFDC"/>
                </a:solidFill>
                <a:latin typeface="Courier New" pitchFamily="34" charset="0"/>
                <a:ea typeface="Courier New" pitchFamily="34" charset="-122"/>
                <a:cs typeface="Courier New" pitchFamily="34" charset="-120"/>
              </a:rPr>
              <a:t>
</a:t>
            </a:r>
            <a:r>
              <a:rPr lang="en-US" sz="550" dirty="0">
                <a:solidFill>
                  <a:srgbClr val="D8DFDC"/>
                </a:solidFill>
                <a:latin typeface="Courier New" pitchFamily="34" charset="0"/>
                <a:ea typeface="Courier New" pitchFamily="34" charset="-122"/>
                <a:cs typeface="Courier New" pitchFamily="34" charset="-120"/>
              </a:rPr>
              <a:t>per active policy identity</a:t>
            </a:r>
            <a:endParaRPr lang="en-US" sz="550" dirty="0"/>
          </a:p>
        </p:txBody>
      </p:sp>
      <p:sp>
        <p:nvSpPr>
          <p:cNvPr id="21" name="Text 17"/>
          <p:cNvSpPr/>
          <p:nvPr/>
        </p:nvSpPr>
        <p:spPr>
          <a:xfrm>
            <a:off x="500063" y="3009305"/>
            <a:ext cx="657225" cy="96441"/>
          </a:xfrm>
          <a:prstGeom prst="rect">
            <a:avLst/>
          </a:prstGeom>
          <a:noFill/>
          <a:ln/>
        </p:spPr>
        <p:txBody>
          <a:bodyPr wrap="none" lIns="0" tIns="0" rIns="221107" bIns="0" rtlCol="0" anchor="t">
            <a:spAutoFit/>
          </a:bodyPr>
          <a:lstStyle/>
          <a:p>
            <a:pPr algn="r" indent="0" marL="0">
              <a:buNone/>
            </a:pPr>
            <a:r>
              <a:rPr lang="en-US" sz="600" spc="1" kern="0" dirty="0">
                <a:solidFill>
                  <a:srgbClr val="D85A49"/>
                </a:solidFill>
                <a:latin typeface="Courier New" pitchFamily="34" charset="0"/>
                <a:ea typeface="Courier New" pitchFamily="34" charset="-122"/>
                <a:cs typeface="Courier New" pitchFamily="34" charset="-120"/>
              </a:rPr>
              <a:t>03</a:t>
            </a:r>
            <a:endParaRPr lang="en-US" sz="600" dirty="0"/>
          </a:p>
        </p:txBody>
      </p:sp>
      <p:sp>
        <p:nvSpPr>
          <p:cNvPr id="22" name="Text 18"/>
          <p:cNvSpPr/>
          <p:nvPr/>
        </p:nvSpPr>
        <p:spPr>
          <a:xfrm>
            <a:off x="1385888" y="2966442"/>
            <a:ext cx="1243013" cy="182166"/>
          </a:xfrm>
          <a:prstGeom prst="rect">
            <a:avLst/>
          </a:prstGeom>
          <a:noFill/>
          <a:ln/>
        </p:spPr>
        <p:txBody>
          <a:bodyPr wrap="none" lIns="0" tIns="0" rIns="0" bIns="0" rtlCol="0" anchor="t">
            <a:spAutoFit/>
          </a:bodyPr>
          <a:lstStyle/>
          <a:p>
            <a:pPr algn="l" indent="0" marL="0">
              <a:buNone/>
            </a:pPr>
            <a:r>
              <a:rPr lang="en-US" sz="1150" dirty="0">
                <a:solidFill>
                  <a:srgbClr val="F4EFE4"/>
                </a:solidFill>
                <a:latin typeface="Georgia" pitchFamily="34" charset="0"/>
                <a:ea typeface="Georgia" pitchFamily="34" charset="-122"/>
                <a:cs typeface="Georgia" pitchFamily="34" charset="-120"/>
              </a:rPr>
              <a:t>verifier_response</a:t>
            </a:r>
            <a:endParaRPr lang="en-US" sz="1150" dirty="0"/>
          </a:p>
        </p:txBody>
      </p:sp>
      <p:sp>
        <p:nvSpPr>
          <p:cNvPr id="23" name="Text 19"/>
          <p:cNvSpPr/>
          <p:nvPr/>
        </p:nvSpPr>
        <p:spPr>
          <a:xfrm>
            <a:off x="2857500" y="2941830"/>
            <a:ext cx="3143250" cy="231391"/>
          </a:xfrm>
          <a:prstGeom prst="rect">
            <a:avLst/>
          </a:prstGeom>
          <a:noFill/>
          <a:ln/>
        </p:spPr>
        <p:txBody>
          <a:bodyPr wrap="square" lIns="0" tIns="0" rIns="0" bIns="0" rtlCol="0" anchor="t">
            <a:spAutoFit/>
          </a:bodyPr>
          <a:lstStyle/>
          <a:p>
            <a:pPr algn="l" indent="0" marL="0">
              <a:lnSpc>
                <a:spcPct val="108000"/>
              </a:lnSpc>
              <a:buNone/>
            </a:pPr>
            <a:r>
              <a:rPr lang="en-US" sz="600" dirty="0">
                <a:solidFill>
                  <a:srgbClr val="AAB5B8"/>
                </a:solidFill>
                <a:latin typeface="Courier New" pitchFamily="34" charset="0"/>
                <a:ea typeface="Courier New" pitchFamily="34" charset="-122"/>
                <a:cs typeface="Courier New" pitchFamily="34" charset="-120"/>
              </a:rPr>
              <a:t>core status · output IDs · predicate results · scope · evaluator release</a:t>
            </a:r>
            <a:endParaRPr lang="en-US" sz="600" dirty="0"/>
          </a:p>
        </p:txBody>
      </p:sp>
      <p:sp>
        <p:nvSpPr>
          <p:cNvPr id="24" name="Text 20"/>
          <p:cNvSpPr/>
          <p:nvPr/>
        </p:nvSpPr>
        <p:spPr>
          <a:xfrm>
            <a:off x="6229350" y="2951485"/>
            <a:ext cx="2286000" cy="212080"/>
          </a:xfrm>
          <a:prstGeom prst="rect">
            <a:avLst/>
          </a:prstGeom>
          <a:noFill/>
          <a:ln/>
        </p:spPr>
        <p:txBody>
          <a:bodyPr wrap="square" lIns="0" tIns="0" rIns="0" bIns="0" rtlCol="0" anchor="t">
            <a:spAutoFit/>
          </a:bodyPr>
          <a:lstStyle/>
          <a:p>
            <a:pPr algn="r" indent="0" marL="0">
              <a:lnSpc>
                <a:spcPct val="108000"/>
              </a:lnSpc>
              <a:buNone/>
            </a:pPr>
            <a:r>
              <a:rPr lang="en-US" sz="550" dirty="0">
                <a:solidFill>
                  <a:srgbClr val="D85A49"/>
                </a:solidFill>
                <a:latin typeface="Courier New" pitchFamily="34" charset="0"/>
                <a:ea typeface="Courier New" pitchFamily="34" charset="-122"/>
                <a:cs typeface="Courier New" pitchFamily="34" charset="-120"/>
              </a:rPr>
              <a:t>DSSE payload</a:t>
            </a:r>
            <a:r>
              <a:rPr lang="en-US" sz="550" dirty="0">
                <a:solidFill>
                  <a:srgbClr val="D8DFDC"/>
                </a:solidFill>
                <a:latin typeface="Courier New" pitchFamily="34" charset="0"/>
                <a:ea typeface="Courier New" pitchFamily="34" charset="-122"/>
                <a:cs typeface="Courier New" pitchFamily="34" charset="-120"/>
              </a:rPr>
              <a:t>
</a:t>
            </a:r>
            <a:r>
              <a:rPr lang="en-US" sz="550" dirty="0">
                <a:solidFill>
                  <a:srgbClr val="D8DFDC"/>
                </a:solidFill>
                <a:latin typeface="Courier New" pitchFamily="34" charset="0"/>
                <a:ea typeface="Courier New" pitchFamily="34" charset="-122"/>
                <a:cs typeface="Courier New" pitchFamily="34" charset="-120"/>
              </a:rPr>
              <a:t>binds exact serialized bytes</a:t>
            </a:r>
            <a:endParaRPr lang="en-US" sz="550" dirty="0"/>
          </a:p>
        </p:txBody>
      </p:sp>
      <p:sp>
        <p:nvSpPr>
          <p:cNvPr id="25" name="Text 21"/>
          <p:cNvSpPr/>
          <p:nvPr/>
        </p:nvSpPr>
        <p:spPr>
          <a:xfrm>
            <a:off x="500063" y="3530798"/>
            <a:ext cx="657225" cy="96441"/>
          </a:xfrm>
          <a:prstGeom prst="rect">
            <a:avLst/>
          </a:prstGeom>
          <a:noFill/>
          <a:ln/>
        </p:spPr>
        <p:txBody>
          <a:bodyPr wrap="none" lIns="0" tIns="0" rIns="221107" bIns="0" rtlCol="0" anchor="t">
            <a:spAutoFit/>
          </a:bodyPr>
          <a:lstStyle/>
          <a:p>
            <a:pPr algn="r" indent="0" marL="0">
              <a:buNone/>
            </a:pPr>
            <a:r>
              <a:rPr lang="en-US" sz="600" spc="1" kern="0" dirty="0">
                <a:solidFill>
                  <a:srgbClr val="D85A49"/>
                </a:solidFill>
                <a:latin typeface="Courier New" pitchFamily="34" charset="0"/>
                <a:ea typeface="Courier New" pitchFamily="34" charset="-122"/>
                <a:cs typeface="Courier New" pitchFamily="34" charset="-120"/>
              </a:rPr>
              <a:t>04</a:t>
            </a:r>
            <a:endParaRPr lang="en-US" sz="600" dirty="0"/>
          </a:p>
        </p:txBody>
      </p:sp>
      <p:sp>
        <p:nvSpPr>
          <p:cNvPr id="26" name="Text 22"/>
          <p:cNvSpPr/>
          <p:nvPr/>
        </p:nvSpPr>
        <p:spPr>
          <a:xfrm>
            <a:off x="1385888" y="3487936"/>
            <a:ext cx="1243013" cy="182166"/>
          </a:xfrm>
          <a:prstGeom prst="rect">
            <a:avLst/>
          </a:prstGeom>
          <a:noFill/>
          <a:ln/>
        </p:spPr>
        <p:txBody>
          <a:bodyPr wrap="none" lIns="0" tIns="0" rIns="0" bIns="0" rtlCol="0" anchor="t">
            <a:spAutoFit/>
          </a:bodyPr>
          <a:lstStyle/>
          <a:p>
            <a:pPr algn="l" indent="0" marL="0">
              <a:buNone/>
            </a:pPr>
            <a:r>
              <a:rPr lang="en-US" sz="1150" dirty="0">
                <a:solidFill>
                  <a:srgbClr val="F4EFE4"/>
                </a:solidFill>
                <a:latin typeface="Georgia" pitchFamily="34" charset="0"/>
                <a:ea typeface="Georgia" pitchFamily="34" charset="-122"/>
                <a:cs typeface="Georgia" pitchFamily="34" charset="-120"/>
              </a:rPr>
              <a:t>quorum_policy</a:t>
            </a:r>
            <a:endParaRPr lang="en-US" sz="1150" dirty="0"/>
          </a:p>
        </p:txBody>
      </p:sp>
      <p:sp>
        <p:nvSpPr>
          <p:cNvPr id="27" name="Text 23"/>
          <p:cNvSpPr/>
          <p:nvPr/>
        </p:nvSpPr>
        <p:spPr>
          <a:xfrm>
            <a:off x="2857500" y="3463323"/>
            <a:ext cx="3143250" cy="231391"/>
          </a:xfrm>
          <a:prstGeom prst="rect">
            <a:avLst/>
          </a:prstGeom>
          <a:noFill/>
          <a:ln/>
        </p:spPr>
        <p:txBody>
          <a:bodyPr wrap="square" lIns="0" tIns="0" rIns="0" bIns="0" rtlCol="0" anchor="t">
            <a:spAutoFit/>
          </a:bodyPr>
          <a:lstStyle/>
          <a:p>
            <a:pPr algn="l" indent="0" marL="0">
              <a:lnSpc>
                <a:spcPct val="108000"/>
              </a:lnSpc>
              <a:buNone/>
            </a:pPr>
            <a:r>
              <a:rPr lang="en-US" sz="600" dirty="0">
                <a:solidFill>
                  <a:srgbClr val="AAB5B8"/>
                </a:solidFill>
                <a:latin typeface="Courier New" pitchFamily="34" charset="0"/>
                <a:ea typeface="Courier New" pitchFamily="34" charset="-122"/>
                <a:cs typeface="Courier New" pitchFamily="34" charset="-120"/>
              </a:rPr>
              <a:t>candidate keys · threshold · compatibility rules · validity/revocation · diversity</a:t>
            </a:r>
            <a:endParaRPr lang="en-US" sz="600" dirty="0"/>
          </a:p>
        </p:txBody>
      </p:sp>
      <p:sp>
        <p:nvSpPr>
          <p:cNvPr id="28" name="Text 24"/>
          <p:cNvSpPr/>
          <p:nvPr/>
        </p:nvSpPr>
        <p:spPr>
          <a:xfrm>
            <a:off x="6229350" y="3472979"/>
            <a:ext cx="2286000" cy="212080"/>
          </a:xfrm>
          <a:prstGeom prst="rect">
            <a:avLst/>
          </a:prstGeom>
          <a:noFill/>
          <a:ln/>
        </p:spPr>
        <p:txBody>
          <a:bodyPr wrap="square" lIns="0" tIns="0" rIns="0" bIns="0" rtlCol="0" anchor="t">
            <a:spAutoFit/>
          </a:bodyPr>
          <a:lstStyle/>
          <a:p>
            <a:pPr algn="r" indent="0" marL="0">
              <a:lnSpc>
                <a:spcPct val="108000"/>
              </a:lnSpc>
              <a:buNone/>
            </a:pPr>
            <a:r>
              <a:rPr lang="en-US" sz="550" dirty="0">
                <a:solidFill>
                  <a:srgbClr val="D85A49"/>
                </a:solidFill>
                <a:latin typeface="Courier New" pitchFamily="34" charset="0"/>
                <a:ea typeface="Courier New" pitchFamily="34" charset="-122"/>
                <a:cs typeface="Courier New" pitchFamily="34" charset="-120"/>
              </a:rPr>
              <a:t>policy:sha256</a:t>
            </a:r>
            <a:r>
              <a:rPr lang="en-US" sz="550" dirty="0">
                <a:solidFill>
                  <a:srgbClr val="D8DFDC"/>
                </a:solidFill>
                <a:latin typeface="Courier New" pitchFamily="34" charset="0"/>
                <a:ea typeface="Courier New" pitchFamily="34" charset="-122"/>
                <a:cs typeface="Courier New" pitchFamily="34" charset="-120"/>
              </a:rPr>
              <a:t>
</a:t>
            </a:r>
            <a:r>
              <a:rPr lang="en-US" sz="550" dirty="0">
                <a:solidFill>
                  <a:srgbClr val="D8DFDC"/>
                </a:solidFill>
                <a:latin typeface="Courier New" pitchFamily="34" charset="0"/>
                <a:ea typeface="Courier New" pitchFamily="34" charset="-122"/>
                <a:cs typeface="Courier New" pitchFamily="34" charset="-120"/>
              </a:rPr>
              <a:t>immutable and versioned</a:t>
            </a:r>
            <a:endParaRPr lang="en-US" sz="550" dirty="0"/>
          </a:p>
        </p:txBody>
      </p:sp>
      <p:sp>
        <p:nvSpPr>
          <p:cNvPr id="29" name="Text 25"/>
          <p:cNvSpPr/>
          <p:nvPr/>
        </p:nvSpPr>
        <p:spPr>
          <a:xfrm>
            <a:off x="500063" y="4052292"/>
            <a:ext cx="657225" cy="96441"/>
          </a:xfrm>
          <a:prstGeom prst="rect">
            <a:avLst/>
          </a:prstGeom>
          <a:noFill/>
          <a:ln/>
        </p:spPr>
        <p:txBody>
          <a:bodyPr wrap="none" lIns="0" tIns="0" rIns="221107" bIns="0" rtlCol="0" anchor="t">
            <a:spAutoFit/>
          </a:bodyPr>
          <a:lstStyle/>
          <a:p>
            <a:pPr algn="r" indent="0" marL="0">
              <a:buNone/>
            </a:pPr>
            <a:r>
              <a:rPr lang="en-US" sz="600" spc="1" kern="0" dirty="0">
                <a:solidFill>
                  <a:srgbClr val="D85A49"/>
                </a:solidFill>
                <a:latin typeface="Courier New" pitchFamily="34" charset="0"/>
                <a:ea typeface="Courier New" pitchFamily="34" charset="-122"/>
                <a:cs typeface="Courier New" pitchFamily="34" charset="-120"/>
              </a:rPr>
              <a:t>05</a:t>
            </a:r>
            <a:endParaRPr lang="en-US" sz="600" dirty="0"/>
          </a:p>
        </p:txBody>
      </p:sp>
      <p:sp>
        <p:nvSpPr>
          <p:cNvPr id="30" name="Text 26"/>
          <p:cNvSpPr/>
          <p:nvPr/>
        </p:nvSpPr>
        <p:spPr>
          <a:xfrm>
            <a:off x="1385888" y="4009430"/>
            <a:ext cx="1243013" cy="182166"/>
          </a:xfrm>
          <a:prstGeom prst="rect">
            <a:avLst/>
          </a:prstGeom>
          <a:noFill/>
          <a:ln/>
        </p:spPr>
        <p:txBody>
          <a:bodyPr wrap="none" lIns="0" tIns="0" rIns="0" bIns="0" rtlCol="0" anchor="t">
            <a:spAutoFit/>
          </a:bodyPr>
          <a:lstStyle/>
          <a:p>
            <a:pPr algn="l" indent="0" marL="0">
              <a:buNone/>
            </a:pPr>
            <a:r>
              <a:rPr lang="en-US" sz="1150" dirty="0">
                <a:solidFill>
                  <a:srgbClr val="F4EFE4"/>
                </a:solidFill>
                <a:latin typeface="Georgia" pitchFamily="34" charset="0"/>
                <a:ea typeface="Georgia" pitchFamily="34" charset="-122"/>
                <a:cs typeface="Georgia" pitchFamily="34" charset="-120"/>
              </a:rPr>
              <a:t>quorum_decision</a:t>
            </a:r>
            <a:endParaRPr lang="en-US" sz="1150" dirty="0"/>
          </a:p>
        </p:txBody>
      </p:sp>
      <p:sp>
        <p:nvSpPr>
          <p:cNvPr id="31" name="Text 27"/>
          <p:cNvSpPr/>
          <p:nvPr/>
        </p:nvSpPr>
        <p:spPr>
          <a:xfrm>
            <a:off x="2857500" y="3984817"/>
            <a:ext cx="3143250" cy="231391"/>
          </a:xfrm>
          <a:prstGeom prst="rect">
            <a:avLst/>
          </a:prstGeom>
          <a:noFill/>
          <a:ln/>
        </p:spPr>
        <p:txBody>
          <a:bodyPr wrap="square" lIns="0" tIns="0" rIns="0" bIns="0" rtlCol="0" anchor="t">
            <a:spAutoFit/>
          </a:bodyPr>
          <a:lstStyle/>
          <a:p>
            <a:pPr algn="l" indent="0" marL="0">
              <a:lnSpc>
                <a:spcPct val="108000"/>
              </a:lnSpc>
              <a:buNone/>
            </a:pPr>
            <a:r>
              <a:rPr lang="en-US" sz="600" dirty="0">
                <a:solidFill>
                  <a:srgbClr val="AAB5B8"/>
                </a:solidFill>
                <a:latin typeface="Courier New" pitchFamily="34" charset="0"/>
                <a:ea typeface="Courier New" pitchFamily="34" charset="-122"/>
                <a:cs typeface="Courier New" pitchFamily="34" charset="-120"/>
              </a:rPr>
              <a:t>accepted/rejected IDs · equivalence classes · decision status · limitations</a:t>
            </a:r>
            <a:endParaRPr lang="en-US" sz="600" dirty="0"/>
          </a:p>
        </p:txBody>
      </p:sp>
      <p:sp>
        <p:nvSpPr>
          <p:cNvPr id="32" name="Text 28"/>
          <p:cNvSpPr/>
          <p:nvPr/>
        </p:nvSpPr>
        <p:spPr>
          <a:xfrm>
            <a:off x="6229350" y="3994472"/>
            <a:ext cx="2286000" cy="212080"/>
          </a:xfrm>
          <a:prstGeom prst="rect">
            <a:avLst/>
          </a:prstGeom>
          <a:noFill/>
          <a:ln/>
        </p:spPr>
        <p:txBody>
          <a:bodyPr wrap="square" lIns="0" tIns="0" rIns="0" bIns="0" rtlCol="0" anchor="t">
            <a:spAutoFit/>
          </a:bodyPr>
          <a:lstStyle/>
          <a:p>
            <a:pPr algn="r" indent="0" marL="0">
              <a:lnSpc>
                <a:spcPct val="108000"/>
              </a:lnSpc>
              <a:buNone/>
            </a:pPr>
            <a:r>
              <a:rPr lang="en-US" sz="550" dirty="0">
                <a:solidFill>
                  <a:srgbClr val="D85A49"/>
                </a:solidFill>
                <a:latin typeface="Courier New" pitchFamily="34" charset="0"/>
                <a:ea typeface="Courier New" pitchFamily="34" charset="-122"/>
                <a:cs typeface="Courier New" pitchFamily="34" charset="-120"/>
              </a:rPr>
              <a:t>derived identity</a:t>
            </a:r>
            <a:r>
              <a:rPr lang="en-US" sz="550" dirty="0">
                <a:solidFill>
                  <a:srgbClr val="D8DFDC"/>
                </a:solidFill>
                <a:latin typeface="Courier New" pitchFamily="34" charset="0"/>
                <a:ea typeface="Courier New" pitchFamily="34" charset="-122"/>
                <a:cs typeface="Courier New" pitchFamily="34" charset="-120"/>
              </a:rPr>
              <a:t>
</a:t>
            </a:r>
            <a:r>
              <a:rPr lang="en-US" sz="550" dirty="0">
                <a:solidFill>
                  <a:srgbClr val="D8DFDC"/>
                </a:solidFill>
                <a:latin typeface="Courier New" pitchFamily="34" charset="0"/>
                <a:ea typeface="Courier New" pitchFamily="34" charset="-122"/>
                <a:cs typeface="Courier New" pitchFamily="34" charset="-120"/>
              </a:rPr>
              <a:t>never mutates responses</a:t>
            </a:r>
            <a:endParaRPr lang="en-US" sz="550" dirty="0"/>
          </a:p>
        </p:txBody>
      </p:sp>
      <p:sp>
        <p:nvSpPr>
          <p:cNvPr id="33" name="Text 29"/>
          <p:cNvSpPr/>
          <p:nvPr/>
        </p:nvSpPr>
        <p:spPr>
          <a:xfrm>
            <a:off x="500063" y="4573786"/>
            <a:ext cx="657225" cy="96441"/>
          </a:xfrm>
          <a:prstGeom prst="rect">
            <a:avLst/>
          </a:prstGeom>
          <a:noFill/>
          <a:ln/>
        </p:spPr>
        <p:txBody>
          <a:bodyPr wrap="none" lIns="0" tIns="0" rIns="221107" bIns="0" rtlCol="0" anchor="t">
            <a:spAutoFit/>
          </a:bodyPr>
          <a:lstStyle/>
          <a:p>
            <a:pPr algn="r" indent="0" marL="0">
              <a:buNone/>
            </a:pPr>
            <a:r>
              <a:rPr lang="en-US" sz="600" spc="1" kern="0" dirty="0">
                <a:solidFill>
                  <a:srgbClr val="D85A49"/>
                </a:solidFill>
                <a:latin typeface="Courier New" pitchFamily="34" charset="0"/>
                <a:ea typeface="Courier New" pitchFamily="34" charset="-122"/>
                <a:cs typeface="Courier New" pitchFamily="34" charset="-120"/>
              </a:rPr>
              <a:t>06</a:t>
            </a:r>
            <a:endParaRPr lang="en-US" sz="600" dirty="0"/>
          </a:p>
        </p:txBody>
      </p:sp>
      <p:sp>
        <p:nvSpPr>
          <p:cNvPr id="34" name="Text 30"/>
          <p:cNvSpPr/>
          <p:nvPr/>
        </p:nvSpPr>
        <p:spPr>
          <a:xfrm>
            <a:off x="1385888" y="4530923"/>
            <a:ext cx="1243013" cy="182166"/>
          </a:xfrm>
          <a:prstGeom prst="rect">
            <a:avLst/>
          </a:prstGeom>
          <a:noFill/>
          <a:ln/>
        </p:spPr>
        <p:txBody>
          <a:bodyPr wrap="none" lIns="0" tIns="0" rIns="0" bIns="0" rtlCol="0" anchor="t">
            <a:spAutoFit/>
          </a:bodyPr>
          <a:lstStyle/>
          <a:p>
            <a:pPr algn="l" indent="0" marL="0">
              <a:buNone/>
            </a:pPr>
            <a:r>
              <a:rPr lang="en-US" sz="1150" dirty="0">
                <a:solidFill>
                  <a:srgbClr val="F4EFE4"/>
                </a:solidFill>
                <a:latin typeface="Georgia" pitchFamily="34" charset="0"/>
                <a:ea typeface="Georgia" pitchFamily="34" charset="-122"/>
                <a:cs typeface="Georgia" pitchFamily="34" charset="-120"/>
              </a:rPr>
              <a:t>equivocation_evidence</a:t>
            </a:r>
            <a:endParaRPr lang="en-US" sz="1150" dirty="0"/>
          </a:p>
        </p:txBody>
      </p:sp>
      <p:sp>
        <p:nvSpPr>
          <p:cNvPr id="35" name="Text 31"/>
          <p:cNvSpPr/>
          <p:nvPr/>
        </p:nvSpPr>
        <p:spPr>
          <a:xfrm>
            <a:off x="2857500" y="4506311"/>
            <a:ext cx="3143250" cy="231391"/>
          </a:xfrm>
          <a:prstGeom prst="rect">
            <a:avLst/>
          </a:prstGeom>
          <a:noFill/>
          <a:ln/>
        </p:spPr>
        <p:txBody>
          <a:bodyPr wrap="square" lIns="0" tIns="0" rIns="0" bIns="0" rtlCol="0" anchor="t">
            <a:spAutoFit/>
          </a:bodyPr>
          <a:lstStyle/>
          <a:p>
            <a:pPr algn="l" indent="0" marL="0">
              <a:lnSpc>
                <a:spcPct val="108000"/>
              </a:lnSpc>
              <a:buNone/>
            </a:pPr>
            <a:r>
              <a:rPr lang="en-US" sz="600" dirty="0">
                <a:solidFill>
                  <a:srgbClr val="AAB5B8"/>
                </a:solidFill>
                <a:latin typeface="Courier New" pitchFamily="34" charset="0"/>
                <a:ea typeface="Courier New" pitchFamily="34" charset="-122"/>
                <a:cs typeface="Courier New" pitchFamily="34" charset="-120"/>
              </a:rPr>
              <a:t>same signer/request · incompatible signed responses · preserved competing artifacts</a:t>
            </a:r>
            <a:endParaRPr lang="en-US" sz="600" dirty="0"/>
          </a:p>
        </p:txBody>
      </p:sp>
      <p:sp>
        <p:nvSpPr>
          <p:cNvPr id="36" name="Text 32"/>
          <p:cNvSpPr/>
          <p:nvPr/>
        </p:nvSpPr>
        <p:spPr>
          <a:xfrm>
            <a:off x="6229350" y="4515966"/>
            <a:ext cx="2286000" cy="212080"/>
          </a:xfrm>
          <a:prstGeom prst="rect">
            <a:avLst/>
          </a:prstGeom>
          <a:noFill/>
          <a:ln/>
        </p:spPr>
        <p:txBody>
          <a:bodyPr wrap="square" lIns="0" tIns="0" rIns="0" bIns="0" rtlCol="0" anchor="t">
            <a:spAutoFit/>
          </a:bodyPr>
          <a:lstStyle/>
          <a:p>
            <a:pPr algn="r" indent="0" marL="0">
              <a:lnSpc>
                <a:spcPct val="108000"/>
              </a:lnSpc>
              <a:buNone/>
            </a:pPr>
            <a:r>
              <a:rPr lang="en-US" sz="550" dirty="0">
                <a:solidFill>
                  <a:srgbClr val="D85A49"/>
                </a:solidFill>
                <a:latin typeface="Courier New" pitchFamily="34" charset="0"/>
                <a:ea typeface="Courier New" pitchFamily="34" charset="-122"/>
                <a:cs typeface="Courier New" pitchFamily="34" charset="-120"/>
              </a:rPr>
              <a:t>critical signal</a:t>
            </a:r>
            <a:r>
              <a:rPr lang="en-US" sz="550" dirty="0">
                <a:solidFill>
                  <a:srgbClr val="D8DFDC"/>
                </a:solidFill>
                <a:latin typeface="Courier New" pitchFamily="34" charset="0"/>
                <a:ea typeface="Courier New" pitchFamily="34" charset="-122"/>
                <a:cs typeface="Courier New" pitchFamily="34" charset="-120"/>
              </a:rPr>
              <a:t>
</a:t>
            </a:r>
            <a:r>
              <a:rPr lang="en-US" sz="550" dirty="0">
                <a:solidFill>
                  <a:srgbClr val="D8DFDC"/>
                </a:solidFill>
                <a:latin typeface="Courier New" pitchFamily="34" charset="0"/>
                <a:ea typeface="Courier New" pitchFamily="34" charset="-122"/>
                <a:cs typeface="Courier New" pitchFamily="34" charset="-120"/>
              </a:rPr>
              <a:t>contested; no auto-winner</a:t>
            </a:r>
            <a:endParaRPr lang="en-US" sz="550" dirty="0"/>
          </a:p>
        </p:txBody>
      </p:sp>
      <p:sp>
        <p:nvSpPr>
          <p:cNvPr id="37" name="Text 33"/>
          <p:cNvSpPr/>
          <p:nvPr/>
        </p:nvSpPr>
        <p:spPr>
          <a:xfrm>
            <a:off x="500063" y="5043488"/>
            <a:ext cx="2357884" cy="89297"/>
          </a:xfrm>
          <a:prstGeom prst="rect">
            <a:avLst/>
          </a:prstGeom>
          <a:noFill/>
          <a:ln/>
        </p:spPr>
        <p:txBody>
          <a:bodyPr wrap="square" lIns="0" tIns="0" rIns="0" bIns="0" rtlCol="0" anchor="t">
            <a:spAutoFit/>
          </a:bodyPr>
          <a:lstStyle/>
          <a:p>
            <a:pPr algn="l" indent="0" marL="0">
              <a:buNone/>
            </a:pPr>
            <a:r>
              <a:rPr lang="en-US" sz="550" dirty="0">
                <a:solidFill>
                  <a:srgbClr val="7F8D91"/>
                </a:solidFill>
                <a:latin typeface="Courier New" pitchFamily="34" charset="0"/>
                <a:ea typeface="Courier New" pitchFamily="34" charset="-122"/>
                <a:cs typeface="Courier New" pitchFamily="34" charset="-120"/>
              </a:rPr>
              <a:t>CORE STATUS REMAINS </a:t>
            </a:r>
            <a:r>
              <a:rPr lang="en-US" sz="550" dirty="0">
                <a:solidFill>
                  <a:srgbClr val="F4EFE4"/>
                </a:solidFill>
                <a:latin typeface="Courier New" pitchFamily="34" charset="0"/>
                <a:ea typeface="Courier New" pitchFamily="34" charset="-122"/>
                <a:cs typeface="Courier New" pitchFamily="34" charset="-120"/>
              </a:rPr>
              <a:t>verified / fail / unverifiable</a:t>
            </a:r>
            <a:endParaRPr lang="en-US" sz="550" dirty="0"/>
          </a:p>
        </p:txBody>
      </p:sp>
      <p:sp>
        <p:nvSpPr>
          <p:cNvPr id="38" name="Text 34"/>
          <p:cNvSpPr/>
          <p:nvPr/>
        </p:nvSpPr>
        <p:spPr>
          <a:xfrm>
            <a:off x="6663333" y="5043488"/>
            <a:ext cx="1980605" cy="89297"/>
          </a:xfrm>
          <a:prstGeom prst="rect">
            <a:avLst/>
          </a:prstGeom>
          <a:noFill/>
          <a:ln/>
        </p:spPr>
        <p:txBody>
          <a:bodyPr wrap="square" lIns="0" tIns="0" rIns="0" bIns="0" rtlCol="0" anchor="t">
            <a:spAutoFit/>
          </a:bodyPr>
          <a:lstStyle/>
          <a:p>
            <a:pPr algn="l" indent="0" marL="0">
              <a:buNone/>
            </a:pPr>
            <a:r>
              <a:rPr lang="en-US" sz="550" dirty="0">
                <a:solidFill>
                  <a:srgbClr val="7F8D91"/>
                </a:solidFill>
                <a:latin typeface="Courier New" pitchFamily="34" charset="0"/>
                <a:ea typeface="Courier New" pitchFamily="34" charset="-122"/>
                <a:cs typeface="Courier New" pitchFamily="34" charset="-120"/>
              </a:rPr>
              <a:t>AGREEMENT IS EVIDENCE · NOT PHYSICAL TRUTH</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351787"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03 / DECISION FUNCTION</a:t>
            </a:r>
            <a:endParaRPr lang="en-US" sz="550" dirty="0"/>
          </a:p>
        </p:txBody>
      </p:sp>
      <p:sp>
        <p:nvSpPr>
          <p:cNvPr id="7" name="Text 3"/>
          <p:cNvSpPr/>
          <p:nvPr/>
        </p:nvSpPr>
        <p:spPr>
          <a:xfrm>
            <a:off x="7409241" y="192881"/>
            <a:ext cx="1320422"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PURE · ORDERED · FAIL-CLOSED</a:t>
            </a:r>
            <a:endParaRPr lang="en-US" sz="550" dirty="0"/>
          </a:p>
        </p:txBody>
      </p:sp>
      <p:sp>
        <p:nvSpPr>
          <p:cNvPr id="8" name="Text 4"/>
          <p:cNvSpPr/>
          <p:nvPr/>
        </p:nvSpPr>
        <p:spPr>
          <a:xfrm>
            <a:off x="457200" y="928688"/>
            <a:ext cx="8229600" cy="312037"/>
          </a:xfrm>
          <a:prstGeom prst="rect">
            <a:avLst/>
          </a:prstGeom>
          <a:noFill/>
          <a:ln/>
        </p:spPr>
        <p:txBody>
          <a:bodyPr wrap="none" lIns="0" tIns="0" rIns="0" bIns="0" rtlCol="0" anchor="t">
            <a:spAutoFit/>
          </a:bodyPr>
          <a:lstStyle/>
          <a:p>
            <a:pPr algn="l" indent="0" marL="0">
              <a:lnSpc>
                <a:spcPct val="83200"/>
              </a:lnSpc>
              <a:buNone/>
            </a:pPr>
            <a:r>
              <a:rPr lang="en-US" sz="2100" b="1" spc="-1" kern="0" dirty="0">
                <a:solidFill>
                  <a:srgbClr val="F4EFE4"/>
                </a:solidFill>
                <a:latin typeface="Georgia" pitchFamily="34" charset="0"/>
                <a:ea typeface="Georgia" pitchFamily="34" charset="-122"/>
                <a:cs typeface="Georgia" pitchFamily="34" charset="-120"/>
              </a:rPr>
              <a:t>The same evidence must produce the same decision.</a:t>
            </a:r>
            <a:endParaRPr lang="en-US" sz="2100" dirty="0"/>
          </a:p>
        </p:txBody>
      </p:sp>
      <p:sp>
        <p:nvSpPr>
          <p:cNvPr id="9" name="Text 5"/>
          <p:cNvSpPr/>
          <p:nvPr/>
        </p:nvSpPr>
        <p:spPr>
          <a:xfrm>
            <a:off x="457200" y="1333593"/>
            <a:ext cx="5643563" cy="269230"/>
          </a:xfrm>
          <a:prstGeom prst="rect">
            <a:avLst/>
          </a:prstGeom>
          <a:noFill/>
          <a:ln/>
        </p:spPr>
        <p:txBody>
          <a:bodyPr wrap="square" lIns="0" tIns="0" rIns="0" bIns="0" rtlCol="0" anchor="t">
            <a:spAutoFit/>
          </a:bodyPr>
          <a:lstStyle/>
          <a:p>
            <a:pPr algn="l" indent="0" marL="0">
              <a:lnSpc>
                <a:spcPct val="116000"/>
              </a:lnSpc>
              <a:buNone/>
            </a:pPr>
            <a:r>
              <a:rPr lang="en-US" sz="650" dirty="0">
                <a:solidFill>
                  <a:srgbClr val="AAB4B8"/>
                </a:solidFill>
                <a:latin typeface="Courier New" pitchFamily="34" charset="0"/>
                <a:ea typeface="Courier New" pitchFamily="34" charset="-122"/>
                <a:cs typeface="Courier New" pitchFamily="34" charset="-120"/>
              </a:rPr>
              <a:t>Q0 does not vote by arrival order. It binds, sorts, groups, and applies the declared threshold to immutable response identities.</a:t>
            </a:r>
            <a:endParaRPr lang="en-US" sz="650" dirty="0"/>
          </a:p>
        </p:txBody>
      </p:sp>
      <p:sp>
        <p:nvSpPr>
          <p:cNvPr id="10" name="Shape 6"/>
          <p:cNvSpPr/>
          <p:nvPr/>
        </p:nvSpPr>
        <p:spPr>
          <a:xfrm>
            <a:off x="457200" y="1945723"/>
            <a:ext cx="1831702" cy="1014413"/>
          </a:xfrm>
          <a:prstGeom prst="rect">
            <a:avLst/>
          </a:prstGeom>
          <a:solidFill>
            <a:srgbClr val="13202A"/>
          </a:solidFill>
          <a:ln/>
        </p:spPr>
      </p:sp>
      <p:sp>
        <p:nvSpPr>
          <p:cNvPr id="11" name="Shape 7"/>
          <p:cNvSpPr/>
          <p:nvPr/>
        </p:nvSpPr>
        <p:spPr>
          <a:xfrm>
            <a:off x="457200" y="1945723"/>
            <a:ext cx="1831702" cy="21431"/>
          </a:xfrm>
          <a:prstGeom prst="rect">
            <a:avLst/>
          </a:prstGeom>
          <a:solidFill>
            <a:srgbClr val="D64635"/>
          </a:solidFill>
          <a:ln/>
        </p:spPr>
      </p:sp>
      <p:sp>
        <p:nvSpPr>
          <p:cNvPr id="12" name="Text 8"/>
          <p:cNvSpPr/>
          <p:nvPr/>
        </p:nvSpPr>
        <p:spPr>
          <a:xfrm>
            <a:off x="571500" y="2074311"/>
            <a:ext cx="1603102" cy="89297"/>
          </a:xfrm>
          <a:prstGeom prst="rect">
            <a:avLst/>
          </a:prstGeom>
          <a:noFill/>
          <a:ln/>
        </p:spPr>
        <p:txBody>
          <a:bodyPr wrap="square" lIns="0" tIns="0" rIns="0" bIns="0" rtlCol="0" anchor="t">
            <a:spAutoFit/>
          </a:bodyPr>
          <a:lstStyle/>
          <a:p>
            <a:pPr algn="l" indent="0" marL="0">
              <a:buNone/>
            </a:pPr>
            <a:r>
              <a:rPr lang="en-US" sz="550" dirty="0">
                <a:solidFill>
                  <a:srgbClr val="DB624F"/>
                </a:solidFill>
                <a:latin typeface="Courier New" pitchFamily="34" charset="0"/>
                <a:ea typeface="Courier New" pitchFamily="34" charset="-122"/>
                <a:cs typeface="Courier New" pitchFamily="34" charset="-120"/>
              </a:rPr>
              <a:t>01 / BIND</a:t>
            </a:r>
            <a:endParaRPr lang="en-US" sz="550" dirty="0"/>
          </a:p>
        </p:txBody>
      </p:sp>
      <p:sp>
        <p:nvSpPr>
          <p:cNvPr id="13" name="Text 9"/>
          <p:cNvSpPr/>
          <p:nvPr/>
        </p:nvSpPr>
        <p:spPr>
          <a:xfrm>
            <a:off x="571500" y="2249332"/>
            <a:ext cx="1603102" cy="172510"/>
          </a:xfrm>
          <a:prstGeom prst="rect">
            <a:avLst/>
          </a:prstGeom>
          <a:noFill/>
          <a:ln/>
        </p:spPr>
        <p:txBody>
          <a:bodyPr wrap="none" lIns="0" tIns="0" rIns="0" bIns="0" rtlCol="0" anchor="t">
            <a:spAutoFit/>
          </a:bodyPr>
          <a:lstStyle/>
          <a:p>
            <a:pPr algn="l" indent="0" marL="0">
              <a:lnSpc>
                <a:spcPct val="84000"/>
              </a:lnSpc>
              <a:buNone/>
            </a:pPr>
            <a:r>
              <a:rPr lang="en-US" sz="1150" b="1" dirty="0">
                <a:solidFill>
                  <a:srgbClr val="F4EFE4"/>
                </a:solidFill>
                <a:latin typeface="Georgia" pitchFamily="34" charset="0"/>
                <a:ea typeface="Georgia" pitchFamily="34" charset="-122"/>
                <a:cs typeface="Georgia" pitchFamily="34" charset="-120"/>
              </a:rPr>
              <a:t>Exact request</a:t>
            </a:r>
            <a:endParaRPr lang="en-US" sz="1150" dirty="0"/>
          </a:p>
        </p:txBody>
      </p:sp>
      <p:sp>
        <p:nvSpPr>
          <p:cNvPr id="14" name="Text 10"/>
          <p:cNvSpPr/>
          <p:nvPr/>
        </p:nvSpPr>
        <p:spPr>
          <a:xfrm>
            <a:off x="571500" y="2478993"/>
            <a:ext cx="1603102"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9EABAE"/>
                </a:solidFill>
                <a:latin typeface="Courier New" pitchFamily="34" charset="0"/>
                <a:ea typeface="Courier New" pitchFamily="34" charset="-122"/>
                <a:cs typeface="Courier New" pitchFamily="34" charset="-120"/>
              </a:rPr>
              <a:t>request_id · contract · operation · convention · scalar/tolerance policy</a:t>
            </a:r>
            <a:endParaRPr lang="en-US" sz="550" dirty="0"/>
          </a:p>
        </p:txBody>
      </p:sp>
      <p:sp>
        <p:nvSpPr>
          <p:cNvPr id="15" name="Text 11"/>
          <p:cNvSpPr/>
          <p:nvPr/>
        </p:nvSpPr>
        <p:spPr>
          <a:xfrm>
            <a:off x="2374627" y="2363632"/>
            <a:ext cx="157163" cy="178594"/>
          </a:xfrm>
          <a:prstGeom prst="rect">
            <a:avLst/>
          </a:prstGeom>
          <a:noFill/>
          <a:ln/>
        </p:spPr>
        <p:txBody>
          <a:bodyPr wrap="none" lIns="0" tIns="0" rIns="0" bIns="0" rtlCol="0" anchor="t">
            <a:spAutoFit/>
          </a:bodyPr>
          <a:lstStyle/>
          <a:p>
            <a:pPr algn="ctr" indent="0" marL="0">
              <a:buNone/>
            </a:pPr>
            <a:r>
              <a:rPr lang="en-US" sz="1150" dirty="0">
                <a:solidFill>
                  <a:srgbClr val="D64635"/>
                </a:solidFill>
                <a:latin typeface="Courier New" pitchFamily="34" charset="0"/>
                <a:ea typeface="Courier New" pitchFamily="34" charset="-122"/>
                <a:cs typeface="Courier New" pitchFamily="34" charset="-120"/>
              </a:rPr>
              <a:t>→</a:t>
            </a:r>
            <a:endParaRPr lang="en-US" sz="1150" dirty="0"/>
          </a:p>
        </p:txBody>
      </p:sp>
      <p:sp>
        <p:nvSpPr>
          <p:cNvPr id="16" name="Shape 12"/>
          <p:cNvSpPr/>
          <p:nvPr/>
        </p:nvSpPr>
        <p:spPr>
          <a:xfrm>
            <a:off x="2617515" y="1945723"/>
            <a:ext cx="1665275" cy="1014413"/>
          </a:xfrm>
          <a:prstGeom prst="rect">
            <a:avLst/>
          </a:prstGeom>
          <a:solidFill>
            <a:srgbClr val="13202A"/>
          </a:solidFill>
          <a:ln/>
        </p:spPr>
      </p:sp>
      <p:sp>
        <p:nvSpPr>
          <p:cNvPr id="17" name="Shape 13"/>
          <p:cNvSpPr/>
          <p:nvPr/>
        </p:nvSpPr>
        <p:spPr>
          <a:xfrm>
            <a:off x="2617515" y="1945723"/>
            <a:ext cx="1665275" cy="21431"/>
          </a:xfrm>
          <a:prstGeom prst="rect">
            <a:avLst/>
          </a:prstGeom>
          <a:solidFill>
            <a:srgbClr val="D64635"/>
          </a:solidFill>
          <a:ln/>
        </p:spPr>
      </p:sp>
      <p:sp>
        <p:nvSpPr>
          <p:cNvPr id="18" name="Text 14"/>
          <p:cNvSpPr/>
          <p:nvPr/>
        </p:nvSpPr>
        <p:spPr>
          <a:xfrm>
            <a:off x="2731815" y="2074311"/>
            <a:ext cx="1436675" cy="89297"/>
          </a:xfrm>
          <a:prstGeom prst="rect">
            <a:avLst/>
          </a:prstGeom>
          <a:noFill/>
          <a:ln/>
        </p:spPr>
        <p:txBody>
          <a:bodyPr wrap="square" lIns="0" tIns="0" rIns="0" bIns="0" rtlCol="0" anchor="t">
            <a:spAutoFit/>
          </a:bodyPr>
          <a:lstStyle/>
          <a:p>
            <a:pPr algn="l" indent="0" marL="0">
              <a:buNone/>
            </a:pPr>
            <a:r>
              <a:rPr lang="en-US" sz="550" dirty="0">
                <a:solidFill>
                  <a:srgbClr val="DB624F"/>
                </a:solidFill>
                <a:latin typeface="Courier New" pitchFamily="34" charset="0"/>
                <a:ea typeface="Courier New" pitchFamily="34" charset="-122"/>
                <a:cs typeface="Courier New" pitchFamily="34" charset="-120"/>
              </a:rPr>
              <a:t>02 / ORDER</a:t>
            </a:r>
            <a:endParaRPr lang="en-US" sz="550" dirty="0"/>
          </a:p>
        </p:txBody>
      </p:sp>
      <p:sp>
        <p:nvSpPr>
          <p:cNvPr id="19" name="Text 15"/>
          <p:cNvSpPr/>
          <p:nvPr/>
        </p:nvSpPr>
        <p:spPr>
          <a:xfrm>
            <a:off x="2731815" y="2249332"/>
            <a:ext cx="1436675" cy="172510"/>
          </a:xfrm>
          <a:prstGeom prst="rect">
            <a:avLst/>
          </a:prstGeom>
          <a:noFill/>
          <a:ln/>
        </p:spPr>
        <p:txBody>
          <a:bodyPr wrap="none" lIns="0" tIns="0" rIns="0" bIns="0" rtlCol="0" anchor="t">
            <a:spAutoFit/>
          </a:bodyPr>
          <a:lstStyle/>
          <a:p>
            <a:pPr algn="l" indent="0" marL="0">
              <a:lnSpc>
                <a:spcPct val="84000"/>
              </a:lnSpc>
              <a:buNone/>
            </a:pPr>
            <a:r>
              <a:rPr lang="en-US" sz="1150" b="1" dirty="0">
                <a:solidFill>
                  <a:srgbClr val="F4EFE4"/>
                </a:solidFill>
                <a:latin typeface="Georgia" pitchFamily="34" charset="0"/>
                <a:ea typeface="Georgia" pitchFamily="34" charset="-122"/>
                <a:cs typeface="Georgia" pitchFamily="34" charset="-120"/>
              </a:rPr>
              <a:t>Stable sort</a:t>
            </a:r>
            <a:endParaRPr lang="en-US" sz="1150" dirty="0"/>
          </a:p>
        </p:txBody>
      </p:sp>
      <p:sp>
        <p:nvSpPr>
          <p:cNvPr id="20" name="Text 16"/>
          <p:cNvSpPr/>
          <p:nvPr/>
        </p:nvSpPr>
        <p:spPr>
          <a:xfrm>
            <a:off x="2731815" y="2478993"/>
            <a:ext cx="1436675"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9EABAE"/>
                </a:solidFill>
                <a:latin typeface="Courier New" pitchFamily="34" charset="0"/>
                <a:ea typeface="Courier New" pitchFamily="34" charset="-122"/>
                <a:cs typeface="Courier New" pitchFamily="34" charset="-120"/>
              </a:rPr>
              <a:t>candidate responses ordered by active key_id, then response_id</a:t>
            </a:r>
            <a:endParaRPr lang="en-US" sz="550" dirty="0"/>
          </a:p>
        </p:txBody>
      </p:sp>
      <p:sp>
        <p:nvSpPr>
          <p:cNvPr id="21" name="Text 17"/>
          <p:cNvSpPr/>
          <p:nvPr/>
        </p:nvSpPr>
        <p:spPr>
          <a:xfrm>
            <a:off x="4368515" y="2363632"/>
            <a:ext cx="157163" cy="178594"/>
          </a:xfrm>
          <a:prstGeom prst="rect">
            <a:avLst/>
          </a:prstGeom>
          <a:noFill/>
          <a:ln/>
        </p:spPr>
        <p:txBody>
          <a:bodyPr wrap="none" lIns="0" tIns="0" rIns="0" bIns="0" rtlCol="0" anchor="t">
            <a:spAutoFit/>
          </a:bodyPr>
          <a:lstStyle/>
          <a:p>
            <a:pPr algn="ctr" indent="0" marL="0">
              <a:buNone/>
            </a:pPr>
            <a:r>
              <a:rPr lang="en-US" sz="1150" dirty="0">
                <a:solidFill>
                  <a:srgbClr val="D64635"/>
                </a:solidFill>
                <a:latin typeface="Courier New" pitchFamily="34" charset="0"/>
                <a:ea typeface="Courier New" pitchFamily="34" charset="-122"/>
                <a:cs typeface="Courier New" pitchFamily="34" charset="-120"/>
              </a:rPr>
              <a:t>→</a:t>
            </a:r>
            <a:endParaRPr lang="en-US" sz="1150" dirty="0"/>
          </a:p>
        </p:txBody>
      </p:sp>
      <p:sp>
        <p:nvSpPr>
          <p:cNvPr id="22" name="Shape 18"/>
          <p:cNvSpPr/>
          <p:nvPr/>
        </p:nvSpPr>
        <p:spPr>
          <a:xfrm>
            <a:off x="4611402" y="1945723"/>
            <a:ext cx="2081510" cy="1014413"/>
          </a:xfrm>
          <a:prstGeom prst="rect">
            <a:avLst/>
          </a:prstGeom>
          <a:solidFill>
            <a:srgbClr val="13202A"/>
          </a:solidFill>
          <a:ln/>
        </p:spPr>
      </p:sp>
      <p:sp>
        <p:nvSpPr>
          <p:cNvPr id="23" name="Shape 19"/>
          <p:cNvSpPr/>
          <p:nvPr/>
        </p:nvSpPr>
        <p:spPr>
          <a:xfrm>
            <a:off x="4611402" y="1945723"/>
            <a:ext cx="2081510" cy="21431"/>
          </a:xfrm>
          <a:prstGeom prst="rect">
            <a:avLst/>
          </a:prstGeom>
          <a:solidFill>
            <a:srgbClr val="D64635"/>
          </a:solidFill>
          <a:ln/>
        </p:spPr>
      </p:sp>
      <p:sp>
        <p:nvSpPr>
          <p:cNvPr id="24" name="Text 20"/>
          <p:cNvSpPr/>
          <p:nvPr/>
        </p:nvSpPr>
        <p:spPr>
          <a:xfrm>
            <a:off x="4725702" y="2074311"/>
            <a:ext cx="1852910" cy="89297"/>
          </a:xfrm>
          <a:prstGeom prst="rect">
            <a:avLst/>
          </a:prstGeom>
          <a:noFill/>
          <a:ln/>
        </p:spPr>
        <p:txBody>
          <a:bodyPr wrap="square" lIns="0" tIns="0" rIns="0" bIns="0" rtlCol="0" anchor="t">
            <a:spAutoFit/>
          </a:bodyPr>
          <a:lstStyle/>
          <a:p>
            <a:pPr algn="l" indent="0" marL="0">
              <a:buNone/>
            </a:pPr>
            <a:r>
              <a:rPr lang="en-US" sz="550" dirty="0">
                <a:solidFill>
                  <a:srgbClr val="DB624F"/>
                </a:solidFill>
                <a:latin typeface="Courier New" pitchFamily="34" charset="0"/>
                <a:ea typeface="Courier New" pitchFamily="34" charset="-122"/>
                <a:cs typeface="Courier New" pitchFamily="34" charset="-120"/>
              </a:rPr>
              <a:t>03 / GROUP</a:t>
            </a:r>
            <a:endParaRPr lang="en-US" sz="550" dirty="0"/>
          </a:p>
        </p:txBody>
      </p:sp>
      <p:sp>
        <p:nvSpPr>
          <p:cNvPr id="25" name="Text 21"/>
          <p:cNvSpPr/>
          <p:nvPr/>
        </p:nvSpPr>
        <p:spPr>
          <a:xfrm>
            <a:off x="4725702" y="2249332"/>
            <a:ext cx="1852910" cy="172510"/>
          </a:xfrm>
          <a:prstGeom prst="rect">
            <a:avLst/>
          </a:prstGeom>
          <a:noFill/>
          <a:ln/>
        </p:spPr>
        <p:txBody>
          <a:bodyPr wrap="none" lIns="0" tIns="0" rIns="0" bIns="0" rtlCol="0" anchor="t">
            <a:spAutoFit/>
          </a:bodyPr>
          <a:lstStyle/>
          <a:p>
            <a:pPr algn="l" indent="0" marL="0">
              <a:lnSpc>
                <a:spcPct val="84000"/>
              </a:lnSpc>
              <a:buNone/>
            </a:pPr>
            <a:r>
              <a:rPr lang="en-US" sz="1150" b="1" dirty="0">
                <a:solidFill>
                  <a:srgbClr val="F4EFE4"/>
                </a:solidFill>
                <a:latin typeface="Georgia" pitchFamily="34" charset="0"/>
                <a:ea typeface="Georgia" pitchFamily="34" charset="-122"/>
                <a:cs typeface="Georgia" pitchFamily="34" charset="-120"/>
              </a:rPr>
              <a:t>Equivalence key</a:t>
            </a:r>
            <a:endParaRPr lang="en-US" sz="1150" dirty="0"/>
          </a:p>
        </p:txBody>
      </p:sp>
      <p:sp>
        <p:nvSpPr>
          <p:cNvPr id="26" name="Text 22"/>
          <p:cNvSpPr/>
          <p:nvPr/>
        </p:nvSpPr>
        <p:spPr>
          <a:xfrm>
            <a:off x="4725702" y="2478993"/>
            <a:ext cx="1852910" cy="220005"/>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9EABAE"/>
                </a:solidFill>
                <a:latin typeface="Courier New" pitchFamily="34" charset="0"/>
                <a:ea typeface="Courier New" pitchFamily="34" charset="-122"/>
                <a:cs typeface="Courier New" pitchFamily="34" charset="-120"/>
              </a:rPr>
              <a:t>status · output IDs · reason class · verification scope</a:t>
            </a:r>
            <a:endParaRPr lang="en-US" sz="550" dirty="0"/>
          </a:p>
        </p:txBody>
      </p:sp>
      <p:sp>
        <p:nvSpPr>
          <p:cNvPr id="27" name="Text 23"/>
          <p:cNvSpPr/>
          <p:nvPr/>
        </p:nvSpPr>
        <p:spPr>
          <a:xfrm>
            <a:off x="6778637" y="2363632"/>
            <a:ext cx="157163" cy="178594"/>
          </a:xfrm>
          <a:prstGeom prst="rect">
            <a:avLst/>
          </a:prstGeom>
          <a:noFill/>
          <a:ln/>
        </p:spPr>
        <p:txBody>
          <a:bodyPr wrap="none" lIns="0" tIns="0" rIns="0" bIns="0" rtlCol="0" anchor="t">
            <a:spAutoFit/>
          </a:bodyPr>
          <a:lstStyle/>
          <a:p>
            <a:pPr algn="ctr" indent="0" marL="0">
              <a:buNone/>
            </a:pPr>
            <a:r>
              <a:rPr lang="en-US" sz="1150" dirty="0">
                <a:solidFill>
                  <a:srgbClr val="D64635"/>
                </a:solidFill>
                <a:latin typeface="Courier New" pitchFamily="34" charset="0"/>
                <a:ea typeface="Courier New" pitchFamily="34" charset="-122"/>
                <a:cs typeface="Courier New" pitchFamily="34" charset="-120"/>
              </a:rPr>
              <a:t>→</a:t>
            </a:r>
            <a:endParaRPr lang="en-US" sz="1150" dirty="0"/>
          </a:p>
        </p:txBody>
      </p:sp>
      <p:sp>
        <p:nvSpPr>
          <p:cNvPr id="28" name="Shape 24"/>
          <p:cNvSpPr/>
          <p:nvPr/>
        </p:nvSpPr>
        <p:spPr>
          <a:xfrm>
            <a:off x="7021525" y="1945723"/>
            <a:ext cx="1665275" cy="1014413"/>
          </a:xfrm>
          <a:prstGeom prst="rect">
            <a:avLst/>
          </a:prstGeom>
          <a:solidFill>
            <a:srgbClr val="13202A"/>
          </a:solidFill>
          <a:ln/>
        </p:spPr>
      </p:sp>
      <p:sp>
        <p:nvSpPr>
          <p:cNvPr id="29" name="Shape 25"/>
          <p:cNvSpPr/>
          <p:nvPr/>
        </p:nvSpPr>
        <p:spPr>
          <a:xfrm>
            <a:off x="7021525" y="1945723"/>
            <a:ext cx="1665275" cy="21431"/>
          </a:xfrm>
          <a:prstGeom prst="rect">
            <a:avLst/>
          </a:prstGeom>
          <a:solidFill>
            <a:srgbClr val="D64635"/>
          </a:solidFill>
          <a:ln/>
        </p:spPr>
      </p:sp>
      <p:sp>
        <p:nvSpPr>
          <p:cNvPr id="30" name="Text 26"/>
          <p:cNvSpPr/>
          <p:nvPr/>
        </p:nvSpPr>
        <p:spPr>
          <a:xfrm>
            <a:off x="7135825" y="2074311"/>
            <a:ext cx="1436675" cy="89297"/>
          </a:xfrm>
          <a:prstGeom prst="rect">
            <a:avLst/>
          </a:prstGeom>
          <a:noFill/>
          <a:ln/>
        </p:spPr>
        <p:txBody>
          <a:bodyPr wrap="square" lIns="0" tIns="0" rIns="0" bIns="0" rtlCol="0" anchor="t">
            <a:spAutoFit/>
          </a:bodyPr>
          <a:lstStyle/>
          <a:p>
            <a:pPr algn="l" indent="0" marL="0">
              <a:buNone/>
            </a:pPr>
            <a:r>
              <a:rPr lang="en-US" sz="550" dirty="0">
                <a:solidFill>
                  <a:srgbClr val="DB624F"/>
                </a:solidFill>
                <a:latin typeface="Courier New" pitchFamily="34" charset="0"/>
                <a:ea typeface="Courier New" pitchFamily="34" charset="-122"/>
                <a:cs typeface="Courier New" pitchFamily="34" charset="-120"/>
              </a:rPr>
              <a:t>04 / THRESHOLD</a:t>
            </a:r>
            <a:endParaRPr lang="en-US" sz="550" dirty="0"/>
          </a:p>
        </p:txBody>
      </p:sp>
      <p:sp>
        <p:nvSpPr>
          <p:cNvPr id="31" name="Text 27"/>
          <p:cNvSpPr/>
          <p:nvPr/>
        </p:nvSpPr>
        <p:spPr>
          <a:xfrm>
            <a:off x="7135825" y="2249332"/>
            <a:ext cx="1436675" cy="172510"/>
          </a:xfrm>
          <a:prstGeom prst="rect">
            <a:avLst/>
          </a:prstGeom>
          <a:noFill/>
          <a:ln/>
        </p:spPr>
        <p:txBody>
          <a:bodyPr wrap="none" lIns="0" tIns="0" rIns="0" bIns="0" rtlCol="0" anchor="t">
            <a:spAutoFit/>
          </a:bodyPr>
          <a:lstStyle/>
          <a:p>
            <a:pPr algn="l" indent="0" marL="0">
              <a:lnSpc>
                <a:spcPct val="84000"/>
              </a:lnSpc>
              <a:buNone/>
            </a:pPr>
            <a:r>
              <a:rPr lang="en-US" sz="1150" b="1" dirty="0">
                <a:solidFill>
                  <a:srgbClr val="F4EFE4"/>
                </a:solidFill>
                <a:latin typeface="Georgia" pitchFamily="34" charset="0"/>
                <a:ea typeface="Georgia" pitchFamily="34" charset="-122"/>
                <a:cs typeface="Georgia" pitchFamily="34" charset="-120"/>
              </a:rPr>
              <a:t>Policy result</a:t>
            </a:r>
            <a:endParaRPr lang="en-US" sz="1150" dirty="0"/>
          </a:p>
        </p:txBody>
      </p:sp>
      <p:sp>
        <p:nvSpPr>
          <p:cNvPr id="32" name="Text 28"/>
          <p:cNvSpPr/>
          <p:nvPr/>
        </p:nvSpPr>
        <p:spPr>
          <a:xfrm>
            <a:off x="7135825" y="2478993"/>
            <a:ext cx="1436675"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9EABAE"/>
                </a:solidFill>
                <a:latin typeface="Courier New" pitchFamily="34" charset="0"/>
                <a:ea typeface="Courier New" pitchFamily="34" charset="-122"/>
                <a:cs typeface="Courier New" pitchFamily="34" charset="-120"/>
              </a:rPr>
              <a:t>count unique active identities; preserve rejected and conflicting evidence</a:t>
            </a:r>
            <a:endParaRPr lang="en-US" sz="550" dirty="0"/>
          </a:p>
        </p:txBody>
      </p:sp>
      <p:sp>
        <p:nvSpPr>
          <p:cNvPr id="33" name="Text 29"/>
          <p:cNvSpPr/>
          <p:nvPr/>
        </p:nvSpPr>
        <p:spPr>
          <a:xfrm>
            <a:off x="457200" y="3117298"/>
            <a:ext cx="8229600" cy="310753"/>
          </a:xfrm>
          <a:prstGeom prst="rect">
            <a:avLst/>
          </a:prstGeom>
          <a:noFill/>
          <a:ln/>
        </p:spPr>
        <p:txBody>
          <a:bodyPr wrap="square" lIns="153035" tIns="119126" rIns="153035" bIns="119126" rtlCol="0" anchor="t">
            <a:spAutoFit/>
          </a:bodyPr>
          <a:lstStyle/>
          <a:p>
            <a:pPr algn="l" indent="0" marL="0">
              <a:buNone/>
            </a:pPr>
            <a:r>
              <a:rPr lang="en-US" sz="600" dirty="0">
                <a:solidFill>
                  <a:srgbClr val="F0B8A8"/>
                </a:solidFill>
                <a:latin typeface="Courier New" pitchFamily="34" charset="0"/>
                <a:ea typeface="Courier New" pitchFamily="34" charset="-122"/>
                <a:cs typeface="Courier New" pitchFamily="34" charset="-120"/>
              </a:rPr>
              <a:t>equivalence = (request, contract, operation, predicate, convention, scalar, tolerance, status, outputs, reasons, scope)</a:t>
            </a:r>
            <a:endParaRPr lang="en-US" sz="600" dirty="0"/>
          </a:p>
        </p:txBody>
      </p:sp>
      <p:sp>
        <p:nvSpPr>
          <p:cNvPr id="34" name="Text 30"/>
          <p:cNvSpPr/>
          <p:nvPr/>
        </p:nvSpPr>
        <p:spPr>
          <a:xfrm>
            <a:off x="457200" y="3849532"/>
            <a:ext cx="2297385" cy="89297"/>
          </a:xfrm>
          <a:prstGeom prst="rect">
            <a:avLst/>
          </a:prstGeom>
          <a:noFill/>
          <a:ln/>
        </p:spPr>
        <p:txBody>
          <a:bodyPr wrap="square" lIns="0" tIns="0" rIns="0" bIns="0" rtlCol="0" anchor="t">
            <a:spAutoFit/>
          </a:bodyPr>
          <a:lstStyle/>
          <a:p>
            <a:pPr algn="l" indent="0" marL="0">
              <a:buNone/>
            </a:pPr>
            <a:r>
              <a:rPr lang="en-US" sz="550" spc="1" kern="0" dirty="0">
                <a:solidFill>
                  <a:srgbClr val="D85A49"/>
                </a:solidFill>
                <a:latin typeface="Courier New" pitchFamily="34" charset="0"/>
                <a:ea typeface="Courier New" pitchFamily="34" charset="-122"/>
                <a:cs typeface="Courier New" pitchFamily="34" charset="-120"/>
              </a:rPr>
              <a:t>AGREEMENT</a:t>
            </a:r>
            <a:endParaRPr lang="en-US" sz="550" dirty="0"/>
          </a:p>
        </p:txBody>
      </p:sp>
      <p:sp>
        <p:nvSpPr>
          <p:cNvPr id="35" name="Text 31"/>
          <p:cNvSpPr/>
          <p:nvPr/>
        </p:nvSpPr>
        <p:spPr>
          <a:xfrm>
            <a:off x="457200" y="4095992"/>
            <a:ext cx="926009" cy="96441"/>
          </a:xfrm>
          <a:prstGeom prst="rect">
            <a:avLst/>
          </a:prstGeom>
          <a:noFill/>
          <a:ln/>
        </p:spPr>
        <p:txBody>
          <a:bodyPr wrap="none" lIns="0" tIns="0" rIns="0" bIns="0" rtlCol="0" anchor="t">
            <a:spAutoFit/>
          </a:bodyPr>
          <a:lstStyle/>
          <a:p>
            <a:pPr algn="l" indent="0" marL="0">
              <a:buNone/>
            </a:pPr>
            <a:r>
              <a:rPr lang="en-US" sz="600" dirty="0">
                <a:solidFill>
                  <a:srgbClr val="F4EFE4"/>
                </a:solidFill>
                <a:latin typeface="Courier New" pitchFamily="34" charset="0"/>
                <a:ea typeface="Courier New" pitchFamily="34" charset="-122"/>
                <a:cs typeface="Courier New" pitchFamily="34" charset="-120"/>
              </a:rPr>
              <a:t>threshold_verified</a:t>
            </a:r>
            <a:endParaRPr lang="en-US" sz="600" dirty="0"/>
          </a:p>
        </p:txBody>
      </p:sp>
      <p:sp>
        <p:nvSpPr>
          <p:cNvPr id="36" name="Text 32"/>
          <p:cNvSpPr/>
          <p:nvPr/>
        </p:nvSpPr>
        <p:spPr>
          <a:xfrm>
            <a:off x="2240124" y="4095992"/>
            <a:ext cx="514462" cy="96441"/>
          </a:xfrm>
          <a:prstGeom prst="rect">
            <a:avLst/>
          </a:prstGeom>
          <a:noFill/>
          <a:ln/>
        </p:spPr>
        <p:txBody>
          <a:bodyPr wrap="none" lIns="0" tIns="0" rIns="0" bIns="0" rtlCol="0" anchor="t">
            <a:spAutoFit/>
          </a:bodyPr>
          <a:lstStyle/>
          <a:p>
            <a:pPr algn="r" indent="0" marL="0">
              <a:buNone/>
            </a:pPr>
            <a:r>
              <a:rPr lang="en-US" sz="600" dirty="0">
                <a:solidFill>
                  <a:srgbClr val="99A5A9"/>
                </a:solidFill>
                <a:latin typeface="Courier New" pitchFamily="34" charset="0"/>
                <a:ea typeface="Courier New" pitchFamily="34" charset="-122"/>
                <a:cs typeface="Courier New" pitchFamily="34" charset="-120"/>
              </a:rPr>
              <a:t>t verified</a:t>
            </a:r>
            <a:endParaRPr lang="en-US" sz="600" dirty="0"/>
          </a:p>
        </p:txBody>
      </p:sp>
      <p:sp>
        <p:nvSpPr>
          <p:cNvPr id="37" name="Text 33"/>
          <p:cNvSpPr/>
          <p:nvPr/>
        </p:nvSpPr>
        <p:spPr>
          <a:xfrm>
            <a:off x="457200" y="4313876"/>
            <a:ext cx="823094" cy="96441"/>
          </a:xfrm>
          <a:prstGeom prst="rect">
            <a:avLst/>
          </a:prstGeom>
          <a:noFill/>
          <a:ln/>
        </p:spPr>
        <p:txBody>
          <a:bodyPr wrap="none" lIns="0" tIns="0" rIns="0" bIns="0" rtlCol="0" anchor="t">
            <a:spAutoFit/>
          </a:bodyPr>
          <a:lstStyle/>
          <a:p>
            <a:pPr algn="l" indent="0" marL="0">
              <a:buNone/>
            </a:pPr>
            <a:r>
              <a:rPr lang="en-US" sz="600" dirty="0">
                <a:solidFill>
                  <a:srgbClr val="F4EFE4"/>
                </a:solidFill>
                <a:latin typeface="Courier New" pitchFamily="34" charset="0"/>
                <a:ea typeface="Courier New" pitchFamily="34" charset="-122"/>
                <a:cs typeface="Courier New" pitchFamily="34" charset="-120"/>
              </a:rPr>
              <a:t>threshold_failed</a:t>
            </a:r>
            <a:endParaRPr lang="en-US" sz="600" dirty="0"/>
          </a:p>
        </p:txBody>
      </p:sp>
      <p:sp>
        <p:nvSpPr>
          <p:cNvPr id="38" name="Text 34"/>
          <p:cNvSpPr/>
          <p:nvPr/>
        </p:nvSpPr>
        <p:spPr>
          <a:xfrm>
            <a:off x="2343038" y="4313876"/>
            <a:ext cx="411547" cy="96441"/>
          </a:xfrm>
          <a:prstGeom prst="rect">
            <a:avLst/>
          </a:prstGeom>
          <a:noFill/>
          <a:ln/>
        </p:spPr>
        <p:txBody>
          <a:bodyPr wrap="none" lIns="0" tIns="0" rIns="0" bIns="0" rtlCol="0" anchor="t">
            <a:spAutoFit/>
          </a:bodyPr>
          <a:lstStyle/>
          <a:p>
            <a:pPr algn="r" indent="0" marL="0">
              <a:buNone/>
            </a:pPr>
            <a:r>
              <a:rPr lang="en-US" sz="600" dirty="0">
                <a:solidFill>
                  <a:srgbClr val="99A5A9"/>
                </a:solidFill>
                <a:latin typeface="Courier New" pitchFamily="34" charset="0"/>
                <a:ea typeface="Courier New" pitchFamily="34" charset="-122"/>
                <a:cs typeface="Courier New" pitchFamily="34" charset="-120"/>
              </a:rPr>
              <a:t>t failed</a:t>
            </a:r>
            <a:endParaRPr lang="en-US" sz="600" dirty="0"/>
          </a:p>
        </p:txBody>
      </p:sp>
      <p:sp>
        <p:nvSpPr>
          <p:cNvPr id="39" name="Text 35"/>
          <p:cNvSpPr/>
          <p:nvPr/>
        </p:nvSpPr>
        <p:spPr>
          <a:xfrm>
            <a:off x="3104629" y="3849532"/>
            <a:ext cx="2118847" cy="89297"/>
          </a:xfrm>
          <a:prstGeom prst="rect">
            <a:avLst/>
          </a:prstGeom>
          <a:noFill/>
          <a:ln/>
        </p:spPr>
        <p:txBody>
          <a:bodyPr wrap="square" lIns="0" tIns="0" rIns="0" bIns="0" rtlCol="0" anchor="t">
            <a:spAutoFit/>
          </a:bodyPr>
          <a:lstStyle/>
          <a:p>
            <a:pPr algn="l" indent="0" marL="0">
              <a:buNone/>
            </a:pPr>
            <a:r>
              <a:rPr lang="en-US" sz="550" spc="1" kern="0" dirty="0">
                <a:solidFill>
                  <a:srgbClr val="D85A49"/>
                </a:solidFill>
                <a:latin typeface="Courier New" pitchFamily="34" charset="0"/>
                <a:ea typeface="Courier New" pitchFamily="34" charset="-122"/>
                <a:cs typeface="Courier New" pitchFamily="34" charset="-120"/>
              </a:rPr>
              <a:t>LIMITATION</a:t>
            </a:r>
            <a:endParaRPr lang="en-US" sz="550" dirty="0"/>
          </a:p>
        </p:txBody>
      </p:sp>
      <p:sp>
        <p:nvSpPr>
          <p:cNvPr id="40" name="Text 36"/>
          <p:cNvSpPr/>
          <p:nvPr/>
        </p:nvSpPr>
        <p:spPr>
          <a:xfrm>
            <a:off x="3104629" y="4095992"/>
            <a:ext cx="1131782" cy="96441"/>
          </a:xfrm>
          <a:prstGeom prst="rect">
            <a:avLst/>
          </a:prstGeom>
          <a:noFill/>
          <a:ln/>
        </p:spPr>
        <p:txBody>
          <a:bodyPr wrap="none" lIns="0" tIns="0" rIns="0" bIns="0" rtlCol="0" anchor="t">
            <a:spAutoFit/>
          </a:bodyPr>
          <a:lstStyle/>
          <a:p>
            <a:pPr algn="l" indent="0" marL="0">
              <a:buNone/>
            </a:pPr>
            <a:r>
              <a:rPr lang="en-US" sz="600" dirty="0">
                <a:solidFill>
                  <a:srgbClr val="F4EFE4"/>
                </a:solidFill>
                <a:latin typeface="Courier New" pitchFamily="34" charset="0"/>
                <a:ea typeface="Courier New" pitchFamily="34" charset="-122"/>
                <a:cs typeface="Courier New" pitchFamily="34" charset="-120"/>
              </a:rPr>
              <a:t>threshold_unverifiable</a:t>
            </a:r>
            <a:endParaRPr lang="en-US" sz="600" dirty="0"/>
          </a:p>
        </p:txBody>
      </p:sp>
      <p:sp>
        <p:nvSpPr>
          <p:cNvPr id="41" name="Text 37"/>
          <p:cNvSpPr/>
          <p:nvPr/>
        </p:nvSpPr>
        <p:spPr>
          <a:xfrm>
            <a:off x="4709015" y="4095992"/>
            <a:ext cx="514462" cy="96441"/>
          </a:xfrm>
          <a:prstGeom prst="rect">
            <a:avLst/>
          </a:prstGeom>
          <a:noFill/>
          <a:ln/>
        </p:spPr>
        <p:txBody>
          <a:bodyPr wrap="none" lIns="0" tIns="0" rIns="0" bIns="0" rtlCol="0" anchor="t">
            <a:spAutoFit/>
          </a:bodyPr>
          <a:lstStyle/>
          <a:p>
            <a:pPr algn="r" indent="0" marL="0">
              <a:buNone/>
            </a:pPr>
            <a:r>
              <a:rPr lang="en-US" sz="600" dirty="0">
                <a:solidFill>
                  <a:srgbClr val="99A5A9"/>
                </a:solidFill>
                <a:latin typeface="Courier New" pitchFamily="34" charset="0"/>
                <a:ea typeface="Courier New" pitchFamily="34" charset="-122"/>
                <a:cs typeface="Courier New" pitchFamily="34" charset="-120"/>
              </a:rPr>
              <a:t>common gap</a:t>
            </a:r>
            <a:endParaRPr lang="en-US" sz="600" dirty="0"/>
          </a:p>
        </p:txBody>
      </p:sp>
      <p:sp>
        <p:nvSpPr>
          <p:cNvPr id="42" name="Text 38"/>
          <p:cNvSpPr/>
          <p:nvPr/>
        </p:nvSpPr>
        <p:spPr>
          <a:xfrm>
            <a:off x="3104629" y="4313876"/>
            <a:ext cx="977466" cy="96441"/>
          </a:xfrm>
          <a:prstGeom prst="rect">
            <a:avLst/>
          </a:prstGeom>
          <a:noFill/>
          <a:ln/>
        </p:spPr>
        <p:txBody>
          <a:bodyPr wrap="none" lIns="0" tIns="0" rIns="0" bIns="0" rtlCol="0" anchor="t">
            <a:spAutoFit/>
          </a:bodyPr>
          <a:lstStyle/>
          <a:p>
            <a:pPr algn="l" indent="0" marL="0">
              <a:buNone/>
            </a:pPr>
            <a:r>
              <a:rPr lang="en-US" sz="600" dirty="0">
                <a:solidFill>
                  <a:srgbClr val="F4EFE4"/>
                </a:solidFill>
                <a:latin typeface="Courier New" pitchFamily="34" charset="0"/>
                <a:ea typeface="Courier New" pitchFamily="34" charset="-122"/>
                <a:cs typeface="Courier New" pitchFamily="34" charset="-120"/>
              </a:rPr>
              <a:t>insufficient_quorum</a:t>
            </a:r>
            <a:endParaRPr lang="en-US" sz="600" dirty="0"/>
          </a:p>
        </p:txBody>
      </p:sp>
      <p:sp>
        <p:nvSpPr>
          <p:cNvPr id="43" name="Text 39"/>
          <p:cNvSpPr/>
          <p:nvPr/>
        </p:nvSpPr>
        <p:spPr>
          <a:xfrm>
            <a:off x="4709015" y="4313876"/>
            <a:ext cx="514462" cy="96441"/>
          </a:xfrm>
          <a:prstGeom prst="rect">
            <a:avLst/>
          </a:prstGeom>
          <a:noFill/>
          <a:ln/>
        </p:spPr>
        <p:txBody>
          <a:bodyPr wrap="none" lIns="0" tIns="0" rIns="0" bIns="0" rtlCol="0" anchor="t">
            <a:spAutoFit/>
          </a:bodyPr>
          <a:lstStyle/>
          <a:p>
            <a:pPr algn="r" indent="0" marL="0">
              <a:buNone/>
            </a:pPr>
            <a:r>
              <a:rPr lang="en-US" sz="600" dirty="0">
                <a:solidFill>
                  <a:srgbClr val="99A5A9"/>
                </a:solidFill>
                <a:latin typeface="Courier New" pitchFamily="34" charset="0"/>
                <a:ea typeface="Courier New" pitchFamily="34" charset="-122"/>
                <a:cs typeface="Courier New" pitchFamily="34" charset="-120"/>
              </a:rPr>
              <a:t>not enough</a:t>
            </a:r>
            <a:endParaRPr lang="en-US" sz="600" dirty="0"/>
          </a:p>
        </p:txBody>
      </p:sp>
      <p:sp>
        <p:nvSpPr>
          <p:cNvPr id="44" name="Text 40"/>
          <p:cNvSpPr/>
          <p:nvPr/>
        </p:nvSpPr>
        <p:spPr>
          <a:xfrm>
            <a:off x="5573520" y="3849532"/>
            <a:ext cx="2941774" cy="89297"/>
          </a:xfrm>
          <a:prstGeom prst="rect">
            <a:avLst/>
          </a:prstGeom>
          <a:noFill/>
          <a:ln/>
        </p:spPr>
        <p:txBody>
          <a:bodyPr wrap="square" lIns="0" tIns="0" rIns="0" bIns="0" rtlCol="0" anchor="t">
            <a:spAutoFit/>
          </a:bodyPr>
          <a:lstStyle/>
          <a:p>
            <a:pPr algn="l" indent="0" marL="0">
              <a:buNone/>
            </a:pPr>
            <a:r>
              <a:rPr lang="en-US" sz="550" spc="1" kern="0" dirty="0">
                <a:solidFill>
                  <a:srgbClr val="D85A49"/>
                </a:solidFill>
                <a:latin typeface="Courier New" pitchFamily="34" charset="0"/>
                <a:ea typeface="Courier New" pitchFamily="34" charset="-122"/>
                <a:cs typeface="Courier New" pitchFamily="34" charset="-120"/>
              </a:rPr>
              <a:t>CONFLICT / REJECTION</a:t>
            </a:r>
            <a:endParaRPr lang="en-US" sz="550" dirty="0"/>
          </a:p>
        </p:txBody>
      </p:sp>
      <p:sp>
        <p:nvSpPr>
          <p:cNvPr id="45" name="Text 41"/>
          <p:cNvSpPr/>
          <p:nvPr/>
        </p:nvSpPr>
        <p:spPr>
          <a:xfrm>
            <a:off x="5573520" y="4095992"/>
            <a:ext cx="463004" cy="96441"/>
          </a:xfrm>
          <a:prstGeom prst="rect">
            <a:avLst/>
          </a:prstGeom>
          <a:noFill/>
          <a:ln/>
        </p:spPr>
        <p:txBody>
          <a:bodyPr wrap="none" lIns="0" tIns="0" rIns="0" bIns="0" rtlCol="0" anchor="t">
            <a:spAutoFit/>
          </a:bodyPr>
          <a:lstStyle/>
          <a:p>
            <a:pPr algn="l" indent="0" marL="0">
              <a:buNone/>
            </a:pPr>
            <a:r>
              <a:rPr lang="en-US" sz="600" dirty="0">
                <a:solidFill>
                  <a:srgbClr val="F4EFE4"/>
                </a:solidFill>
                <a:latin typeface="Courier New" pitchFamily="34" charset="0"/>
                <a:ea typeface="Courier New" pitchFamily="34" charset="-122"/>
                <a:cs typeface="Courier New" pitchFamily="34" charset="-120"/>
              </a:rPr>
              <a:t>contested</a:t>
            </a:r>
            <a:endParaRPr lang="en-US" sz="600" dirty="0"/>
          </a:p>
        </p:txBody>
      </p:sp>
      <p:sp>
        <p:nvSpPr>
          <p:cNvPr id="46" name="Text 42"/>
          <p:cNvSpPr/>
          <p:nvPr/>
        </p:nvSpPr>
        <p:spPr>
          <a:xfrm>
            <a:off x="7692200" y="4095992"/>
            <a:ext cx="823094" cy="96441"/>
          </a:xfrm>
          <a:prstGeom prst="rect">
            <a:avLst/>
          </a:prstGeom>
          <a:noFill/>
          <a:ln/>
        </p:spPr>
        <p:txBody>
          <a:bodyPr wrap="none" lIns="0" tIns="0" rIns="0" bIns="0" rtlCol="0" anchor="t">
            <a:spAutoFit/>
          </a:bodyPr>
          <a:lstStyle/>
          <a:p>
            <a:pPr algn="r" indent="0" marL="0">
              <a:buNone/>
            </a:pPr>
            <a:r>
              <a:rPr lang="en-US" sz="600" dirty="0">
                <a:solidFill>
                  <a:srgbClr val="99A5A9"/>
                </a:solidFill>
                <a:latin typeface="Courier New" pitchFamily="34" charset="0"/>
                <a:ea typeface="Courier New" pitchFamily="34" charset="-122"/>
                <a:cs typeface="Courier New" pitchFamily="34" charset="-120"/>
              </a:rPr>
              <a:t>preserve classes</a:t>
            </a:r>
            <a:endParaRPr lang="en-US" sz="600" dirty="0"/>
          </a:p>
        </p:txBody>
      </p:sp>
      <p:sp>
        <p:nvSpPr>
          <p:cNvPr id="47" name="Text 43"/>
          <p:cNvSpPr/>
          <p:nvPr/>
        </p:nvSpPr>
        <p:spPr>
          <a:xfrm>
            <a:off x="5573520" y="4313876"/>
            <a:ext cx="874551" cy="96441"/>
          </a:xfrm>
          <a:prstGeom prst="rect">
            <a:avLst/>
          </a:prstGeom>
          <a:noFill/>
          <a:ln/>
        </p:spPr>
        <p:txBody>
          <a:bodyPr wrap="none" lIns="0" tIns="0" rIns="0" bIns="0" rtlCol="0" anchor="t">
            <a:spAutoFit/>
          </a:bodyPr>
          <a:lstStyle/>
          <a:p>
            <a:pPr algn="l" indent="0" marL="0">
              <a:buNone/>
            </a:pPr>
            <a:r>
              <a:rPr lang="en-US" sz="600" dirty="0">
                <a:solidFill>
                  <a:srgbClr val="F4EFE4"/>
                </a:solidFill>
                <a:latin typeface="Courier New" pitchFamily="34" charset="0"/>
                <a:ea typeface="Courier New" pitchFamily="34" charset="-122"/>
                <a:cs typeface="Courier New" pitchFamily="34" charset="-120"/>
              </a:rPr>
              <a:t>rejected_response</a:t>
            </a:r>
            <a:endParaRPr lang="en-US" sz="600" dirty="0"/>
          </a:p>
        </p:txBody>
      </p:sp>
      <p:sp>
        <p:nvSpPr>
          <p:cNvPr id="48" name="Text 44"/>
          <p:cNvSpPr/>
          <p:nvPr/>
        </p:nvSpPr>
        <p:spPr>
          <a:xfrm>
            <a:off x="7692200" y="4313876"/>
            <a:ext cx="823094" cy="96441"/>
          </a:xfrm>
          <a:prstGeom prst="rect">
            <a:avLst/>
          </a:prstGeom>
          <a:noFill/>
          <a:ln/>
        </p:spPr>
        <p:txBody>
          <a:bodyPr wrap="none" lIns="0" tIns="0" rIns="0" bIns="0" rtlCol="0" anchor="t">
            <a:spAutoFit/>
          </a:bodyPr>
          <a:lstStyle/>
          <a:p>
            <a:pPr algn="r" indent="0" marL="0">
              <a:buNone/>
            </a:pPr>
            <a:r>
              <a:rPr lang="en-US" sz="600" dirty="0">
                <a:solidFill>
                  <a:srgbClr val="99A5A9"/>
                </a:solidFill>
                <a:latin typeface="Courier New" pitchFamily="34" charset="0"/>
                <a:ea typeface="Courier New" pitchFamily="34" charset="-122"/>
                <a:cs typeface="Courier New" pitchFamily="34" charset="-120"/>
              </a:rPr>
              <a:t>exclude + retain</a:t>
            </a:r>
            <a:endParaRPr lang="en-US" sz="600" dirty="0"/>
          </a:p>
        </p:txBody>
      </p:sp>
      <p:sp>
        <p:nvSpPr>
          <p:cNvPr id="49" name="Text 45"/>
          <p:cNvSpPr/>
          <p:nvPr/>
        </p:nvSpPr>
        <p:spPr>
          <a:xfrm>
            <a:off x="457200" y="4646061"/>
            <a:ext cx="8229600" cy="265714"/>
          </a:xfrm>
          <a:prstGeom prst="rect">
            <a:avLst/>
          </a:prstGeom>
          <a:noFill/>
          <a:ln/>
        </p:spPr>
        <p:txBody>
          <a:bodyPr wrap="square" lIns="0" tIns="136017" rIns="0" bIns="0" rtlCol="0" anchor="t">
            <a:spAutoFit/>
          </a:bodyPr>
          <a:lstStyle/>
          <a:p>
            <a:pPr algn="l" indent="0" marL="0">
              <a:lnSpc>
                <a:spcPct val="112000"/>
              </a:lnSpc>
              <a:buNone/>
            </a:pPr>
            <a:r>
              <a:rPr lang="en-US" sz="650" dirty="0">
                <a:solidFill>
                  <a:srgbClr val="D85A49"/>
                </a:solidFill>
                <a:latin typeface="Courier New" pitchFamily="34" charset="0"/>
                <a:ea typeface="Courier New" pitchFamily="34" charset="-122"/>
                <a:cs typeface="Courier New" pitchFamily="34" charset="-120"/>
              </a:rPr>
              <a:t>Important:</a:t>
            </a:r>
            <a:r>
              <a:rPr lang="en-US" sz="650" dirty="0">
                <a:solidFill>
                  <a:srgbClr val="F4EFE4"/>
                </a:solidFill>
                <a:latin typeface="Courier New" pitchFamily="34" charset="0"/>
                <a:ea typeface="Courier New" pitchFamily="34" charset="-122"/>
                <a:cs typeface="Courier New" pitchFamily="34" charset="-120"/>
              </a:rPr>
              <a:t> a threshold reproduces a named core result; it does not upgrade that result into physical truth.</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597577"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05 / CRYPTOGRAPHIC BINDING</a:t>
            </a:r>
            <a:endParaRPr lang="en-US" sz="550" dirty="0"/>
          </a:p>
        </p:txBody>
      </p:sp>
      <p:sp>
        <p:nvSpPr>
          <p:cNvPr id="7" name="Text 3"/>
          <p:cNvSpPr/>
          <p:nvPr/>
        </p:nvSpPr>
        <p:spPr>
          <a:xfrm>
            <a:off x="7079177" y="192881"/>
            <a:ext cx="1650485"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OFFLINE FIXTURE PROFILE · HMAC ONLY</a:t>
            </a:r>
            <a:endParaRPr lang="en-US" sz="550" dirty="0"/>
          </a:p>
        </p:txBody>
      </p:sp>
      <p:sp>
        <p:nvSpPr>
          <p:cNvPr id="8" name="Text 4"/>
          <p:cNvSpPr/>
          <p:nvPr/>
        </p:nvSpPr>
        <p:spPr>
          <a:xfrm>
            <a:off x="414338" y="814388"/>
            <a:ext cx="1753456"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SIGNED RESPONSE FIXTURE</a:t>
            </a:r>
            <a:endParaRPr lang="en-US" sz="550" dirty="0"/>
          </a:p>
        </p:txBody>
      </p:sp>
      <p:sp>
        <p:nvSpPr>
          <p:cNvPr id="9" name="Text 5"/>
          <p:cNvSpPr/>
          <p:nvPr/>
        </p:nvSpPr>
        <p:spPr>
          <a:xfrm>
            <a:off x="414338" y="1017984"/>
            <a:ext cx="1753456" cy="961727"/>
          </a:xfrm>
          <a:prstGeom prst="rect">
            <a:avLst/>
          </a:prstGeom>
          <a:noFill/>
          <a:ln/>
        </p:spPr>
        <p:txBody>
          <a:bodyPr wrap="square" lIns="0" tIns="0" rIns="0" bIns="0" rtlCol="0" anchor="t">
            <a:spAutoFit/>
          </a:bodyPr>
          <a:lstStyle/>
          <a:p>
            <a:pPr algn="l" indent="0" marL="0">
              <a:lnSpc>
                <a:spcPct val="81600"/>
              </a:lnSpc>
              <a:buNone/>
            </a:pPr>
            <a:r>
              <a:rPr lang="en-US" sz="2250" b="1" spc="-1" kern="0" dirty="0">
                <a:solidFill>
                  <a:srgbClr val="F4EFE4"/>
                </a:solidFill>
                <a:latin typeface="Georgia" pitchFamily="34" charset="0"/>
                <a:ea typeface="Georgia" pitchFamily="34" charset="-122"/>
                <a:cs typeface="Georgia" pitchFamily="34" charset="-120"/>
              </a:rPr>
              <a:t>Same bytes.</a:t>
            </a:r>
            <a:r>
              <a:rPr lang="en-US" sz="2250" b="1" spc="-1" kern="0" dirty="0">
                <a:solidFill>
                  <a:srgbClr val="F4EFE4"/>
                </a:solidFill>
                <a:latin typeface="Georgia" pitchFamily="34" charset="0"/>
                <a:ea typeface="Georgia" pitchFamily="34" charset="-122"/>
                <a:cs typeface="Georgia" pitchFamily="34" charset="-120"/>
              </a:rPr>
              <a:t>
</a:t>
            </a:r>
            <a:r>
              <a:rPr lang="en-US" sz="2250" b="1" spc="-1" kern="0" dirty="0">
                <a:solidFill>
                  <a:srgbClr val="F4EFE4"/>
                </a:solidFill>
                <a:latin typeface="Georgia" pitchFamily="34" charset="0"/>
                <a:ea typeface="Georgia" pitchFamily="34" charset="-122"/>
                <a:cs typeface="Georgia" pitchFamily="34" charset="-120"/>
              </a:rPr>
              <a:t>Same policy.</a:t>
            </a:r>
            <a:r>
              <a:rPr lang="en-US" sz="2250" b="1" spc="-1" kern="0" dirty="0">
                <a:solidFill>
                  <a:srgbClr val="F4EFE4"/>
                </a:solidFill>
                <a:latin typeface="Georgia" pitchFamily="34" charset="0"/>
                <a:ea typeface="Georgia" pitchFamily="34" charset="-122"/>
                <a:cs typeface="Georgia" pitchFamily="34" charset="-120"/>
              </a:rPr>
              <a:t>
</a:t>
            </a:r>
            <a:r>
              <a:rPr lang="en-US" sz="2250" b="1" spc="-1" kern="0" dirty="0">
                <a:solidFill>
                  <a:srgbClr val="F4EFE4"/>
                </a:solidFill>
                <a:latin typeface="Georgia" pitchFamily="34" charset="0"/>
                <a:ea typeface="Georgia" pitchFamily="34" charset="-122"/>
                <a:cs typeface="Georgia" pitchFamily="34" charset="-120"/>
              </a:rPr>
              <a:t>Same identity.</a:t>
            </a:r>
            <a:endParaRPr lang="en-US" sz="2250" dirty="0"/>
          </a:p>
        </p:txBody>
      </p:sp>
      <p:sp>
        <p:nvSpPr>
          <p:cNvPr id="10" name="Text 6"/>
          <p:cNvSpPr/>
          <p:nvPr/>
        </p:nvSpPr>
        <p:spPr>
          <a:xfrm>
            <a:off x="6586538" y="1731132"/>
            <a:ext cx="2143125" cy="248580"/>
          </a:xfrm>
          <a:prstGeom prst="rect">
            <a:avLst/>
          </a:prstGeom>
          <a:noFill/>
          <a:ln/>
        </p:spPr>
        <p:txBody>
          <a:bodyPr wrap="square" lIns="0" tIns="0" rIns="0" bIns="0" rtlCol="0" anchor="t">
            <a:spAutoFit/>
          </a:bodyPr>
          <a:lstStyle/>
          <a:p>
            <a:pPr algn="r" indent="0" marL="0">
              <a:lnSpc>
                <a:spcPct val="116000"/>
              </a:lnSpc>
              <a:buNone/>
            </a:pPr>
            <a:r>
              <a:rPr lang="en-US" sz="600" dirty="0">
                <a:solidFill>
                  <a:srgbClr val="9AA6AA"/>
                </a:solidFill>
                <a:latin typeface="Courier New" pitchFamily="34" charset="0"/>
                <a:ea typeface="Courier New" pitchFamily="34" charset="-122"/>
                <a:cs typeface="Courier New" pitchFamily="34" charset="-120"/>
              </a:rPr>
              <a:t>The key hint is never the trust decision.</a:t>
            </a:r>
            <a:r>
              <a:rPr lang="en-US" sz="600" dirty="0">
                <a:solidFill>
                  <a:srgbClr val="9AA6AA"/>
                </a:solidFill>
                <a:latin typeface="Courier New" pitchFamily="34" charset="0"/>
                <a:ea typeface="Courier New" pitchFamily="34" charset="-122"/>
                <a:cs typeface="Courier New" pitchFamily="34" charset="-120"/>
              </a:rPr>
              <a:t>
</a:t>
            </a:r>
            <a:r>
              <a:rPr lang="en-US" sz="600" dirty="0">
                <a:solidFill>
                  <a:srgbClr val="9AA6AA"/>
                </a:solidFill>
                <a:latin typeface="Courier New" pitchFamily="34" charset="0"/>
                <a:ea typeface="Courier New" pitchFamily="34" charset="-122"/>
                <a:cs typeface="Courier New" pitchFamily="34" charset="-120"/>
              </a:rPr>
              <a:t>The policy selects the active identity.</a:t>
            </a:r>
            <a:endParaRPr lang="en-US" sz="600" dirty="0"/>
          </a:p>
        </p:txBody>
      </p:sp>
      <p:sp>
        <p:nvSpPr>
          <p:cNvPr id="11" name="Shape 7"/>
          <p:cNvSpPr/>
          <p:nvPr/>
        </p:nvSpPr>
        <p:spPr>
          <a:xfrm>
            <a:off x="414338" y="2051149"/>
            <a:ext cx="8315325" cy="1000125"/>
          </a:xfrm>
          <a:prstGeom prst="rect">
            <a:avLst/>
          </a:prstGeom>
          <a:solidFill>
            <a:srgbClr val="F4EFE4"/>
          </a:solidFill>
          <a:ln/>
        </p:spPr>
      </p:sp>
      <p:sp>
        <p:nvSpPr>
          <p:cNvPr id="12" name="Text 8"/>
          <p:cNvSpPr/>
          <p:nvPr/>
        </p:nvSpPr>
        <p:spPr>
          <a:xfrm>
            <a:off x="542925" y="2108299"/>
            <a:ext cx="1398724" cy="89297"/>
          </a:xfrm>
          <a:prstGeom prst="rect">
            <a:avLst/>
          </a:prstGeom>
          <a:noFill/>
          <a:ln/>
        </p:spPr>
        <p:txBody>
          <a:bodyPr wrap="square" lIns="0" tIns="0" rIns="0" bIns="0" rtlCol="0" anchor="t">
            <a:spAutoFit/>
          </a:bodyPr>
          <a:lstStyle/>
          <a:p>
            <a:pPr algn="l" indent="0" marL="0">
              <a:buNone/>
            </a:pPr>
            <a:r>
              <a:rPr lang="en-US" sz="550" spc="1" kern="0" dirty="0">
                <a:solidFill>
                  <a:srgbClr val="D64635"/>
                </a:solidFill>
                <a:latin typeface="Courier New" pitchFamily="34" charset="0"/>
                <a:ea typeface="Courier New" pitchFamily="34" charset="-122"/>
                <a:cs typeface="Courier New" pitchFamily="34" charset="-120"/>
              </a:rPr>
              <a:t>01 / TYPE</a:t>
            </a:r>
            <a:endParaRPr lang="en-US" sz="550" dirty="0"/>
          </a:p>
        </p:txBody>
      </p:sp>
      <p:sp>
        <p:nvSpPr>
          <p:cNvPr id="13" name="Text 9"/>
          <p:cNvSpPr/>
          <p:nvPr/>
        </p:nvSpPr>
        <p:spPr>
          <a:xfrm>
            <a:off x="542925" y="2297609"/>
            <a:ext cx="1398724"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118"/>
                </a:solidFill>
                <a:latin typeface="Georgia" pitchFamily="34" charset="0"/>
                <a:ea typeface="Georgia" pitchFamily="34" charset="-122"/>
                <a:cs typeface="Georgia" pitchFamily="34" charset="-120"/>
              </a:rPr>
              <a:t>Named payload</a:t>
            </a:r>
            <a:endParaRPr lang="en-US" sz="900" dirty="0"/>
          </a:p>
        </p:txBody>
      </p:sp>
      <p:sp>
        <p:nvSpPr>
          <p:cNvPr id="14" name="Text 10"/>
          <p:cNvSpPr/>
          <p:nvPr/>
        </p:nvSpPr>
        <p:spPr>
          <a:xfrm>
            <a:off x="542925" y="2518339"/>
            <a:ext cx="1398724"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4D5759"/>
                </a:solidFill>
                <a:latin typeface="Courier New" pitchFamily="34" charset="0"/>
                <a:ea typeface="Courier New" pitchFamily="34" charset="-122"/>
                <a:cs typeface="Courier New" pitchFamily="34" charset="-120"/>
              </a:rPr>
              <a:t>Exact schema + encoding.</a:t>
            </a:r>
            <a:r>
              <a:rPr lang="en-US" sz="550" dirty="0">
                <a:solidFill>
                  <a:srgbClr val="4D5759"/>
                </a:solidFill>
                <a:latin typeface="Courier New" pitchFamily="34" charset="0"/>
                <a:ea typeface="Courier New" pitchFamily="34" charset="-122"/>
                <a:cs typeface="Courier New" pitchFamily="34" charset="-120"/>
              </a:rPr>
              <a:t>
</a:t>
            </a:r>
            <a:r>
              <a:rPr lang="en-US" sz="550" dirty="0">
                <a:solidFill>
                  <a:srgbClr val="4D5759"/>
                </a:solidFill>
                <a:latin typeface="Courier New" pitchFamily="34" charset="0"/>
                <a:ea typeface="Courier New" pitchFamily="34" charset="-122"/>
                <a:cs typeface="Courier New" pitchFamily="34" charset="-120"/>
              </a:rPr>
              <a:t>Generic JSON is rejected.</a:t>
            </a:r>
            <a:endParaRPr lang="en-US" sz="550" dirty="0"/>
          </a:p>
        </p:txBody>
      </p:sp>
      <p:sp>
        <p:nvSpPr>
          <p:cNvPr id="15" name="Shape 11"/>
          <p:cNvSpPr/>
          <p:nvPr/>
        </p:nvSpPr>
        <p:spPr>
          <a:xfrm>
            <a:off x="2013086" y="2494062"/>
            <a:ext cx="114300" cy="14288"/>
          </a:xfrm>
          <a:prstGeom prst="rect">
            <a:avLst/>
          </a:prstGeom>
          <a:solidFill>
            <a:srgbClr val="D64635"/>
          </a:solidFill>
          <a:ln/>
        </p:spPr>
      </p:sp>
      <p:sp>
        <p:nvSpPr>
          <p:cNvPr id="16" name="Text 12"/>
          <p:cNvSpPr/>
          <p:nvPr/>
        </p:nvSpPr>
        <p:spPr>
          <a:xfrm>
            <a:off x="2205968" y="2108299"/>
            <a:ext cx="1398724" cy="89297"/>
          </a:xfrm>
          <a:prstGeom prst="rect">
            <a:avLst/>
          </a:prstGeom>
          <a:noFill/>
          <a:ln/>
        </p:spPr>
        <p:txBody>
          <a:bodyPr wrap="square" lIns="0" tIns="0" rIns="0" bIns="0" rtlCol="0" anchor="t">
            <a:spAutoFit/>
          </a:bodyPr>
          <a:lstStyle/>
          <a:p>
            <a:pPr algn="l" indent="0" marL="0">
              <a:buNone/>
            </a:pPr>
            <a:r>
              <a:rPr lang="en-US" sz="550" spc="1" kern="0" dirty="0">
                <a:solidFill>
                  <a:srgbClr val="D64635"/>
                </a:solidFill>
                <a:latin typeface="Courier New" pitchFamily="34" charset="0"/>
                <a:ea typeface="Courier New" pitchFamily="34" charset="-122"/>
                <a:cs typeface="Courier New" pitchFamily="34" charset="-120"/>
              </a:rPr>
              <a:t>02 / BYTES</a:t>
            </a:r>
            <a:endParaRPr lang="en-US" sz="550" dirty="0"/>
          </a:p>
        </p:txBody>
      </p:sp>
      <p:sp>
        <p:nvSpPr>
          <p:cNvPr id="17" name="Text 13"/>
          <p:cNvSpPr/>
          <p:nvPr/>
        </p:nvSpPr>
        <p:spPr>
          <a:xfrm>
            <a:off x="2205968" y="2297609"/>
            <a:ext cx="1398724"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118"/>
                </a:solidFill>
                <a:latin typeface="Georgia" pitchFamily="34" charset="0"/>
                <a:ea typeface="Georgia" pitchFamily="34" charset="-122"/>
                <a:cs typeface="Georgia" pitchFamily="34" charset="-120"/>
              </a:rPr>
              <a:t>Canonical body</a:t>
            </a:r>
            <a:endParaRPr lang="en-US" sz="900" dirty="0"/>
          </a:p>
        </p:txBody>
      </p:sp>
      <p:sp>
        <p:nvSpPr>
          <p:cNvPr id="18" name="Text 14"/>
          <p:cNvSpPr/>
          <p:nvPr/>
        </p:nvSpPr>
        <p:spPr>
          <a:xfrm>
            <a:off x="2205968" y="2518339"/>
            <a:ext cx="1398724"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4D5759"/>
                </a:solidFill>
                <a:latin typeface="Courier New" pitchFamily="34" charset="0"/>
                <a:ea typeface="Courier New" pitchFamily="34" charset="-122"/>
                <a:cs typeface="Courier New" pitchFamily="34" charset="-120"/>
              </a:rPr>
              <a:t>JCS-compatible bytes.</a:t>
            </a:r>
            <a:r>
              <a:rPr lang="en-US" sz="550" dirty="0">
                <a:solidFill>
                  <a:srgbClr val="4D5759"/>
                </a:solidFill>
                <a:latin typeface="Courier New" pitchFamily="34" charset="0"/>
                <a:ea typeface="Courier New" pitchFamily="34" charset="-122"/>
                <a:cs typeface="Courier New" pitchFamily="34" charset="-120"/>
              </a:rPr>
              <a:t>
</a:t>
            </a:r>
            <a:r>
              <a:rPr lang="en-US" sz="550" dirty="0">
                <a:solidFill>
                  <a:srgbClr val="4D5759"/>
                </a:solidFill>
                <a:latin typeface="Courier New" pitchFamily="34" charset="0"/>
                <a:ea typeface="Courier New" pitchFamily="34" charset="-122"/>
                <a:cs typeface="Courier New" pitchFamily="34" charset="-120"/>
              </a:rPr>
              <a:t>No mutable metadata.</a:t>
            </a:r>
            <a:endParaRPr lang="en-US" sz="550" dirty="0"/>
          </a:p>
        </p:txBody>
      </p:sp>
      <p:sp>
        <p:nvSpPr>
          <p:cNvPr id="19" name="Shape 15"/>
          <p:cNvSpPr/>
          <p:nvPr/>
        </p:nvSpPr>
        <p:spPr>
          <a:xfrm>
            <a:off x="3676129" y="2494062"/>
            <a:ext cx="114300" cy="14288"/>
          </a:xfrm>
          <a:prstGeom prst="rect">
            <a:avLst/>
          </a:prstGeom>
          <a:solidFill>
            <a:srgbClr val="D64635"/>
          </a:solidFill>
          <a:ln/>
        </p:spPr>
      </p:sp>
      <p:sp>
        <p:nvSpPr>
          <p:cNvPr id="20" name="Text 16"/>
          <p:cNvSpPr/>
          <p:nvPr/>
        </p:nvSpPr>
        <p:spPr>
          <a:xfrm>
            <a:off x="3869010" y="2108299"/>
            <a:ext cx="1398724" cy="89297"/>
          </a:xfrm>
          <a:prstGeom prst="rect">
            <a:avLst/>
          </a:prstGeom>
          <a:noFill/>
          <a:ln/>
        </p:spPr>
        <p:txBody>
          <a:bodyPr wrap="square" lIns="0" tIns="0" rIns="0" bIns="0" rtlCol="0" anchor="t">
            <a:spAutoFit/>
          </a:bodyPr>
          <a:lstStyle/>
          <a:p>
            <a:pPr algn="l" indent="0" marL="0">
              <a:buNone/>
            </a:pPr>
            <a:r>
              <a:rPr lang="en-US" sz="550" spc="1" kern="0" dirty="0">
                <a:solidFill>
                  <a:srgbClr val="D64635"/>
                </a:solidFill>
                <a:latin typeface="Courier New" pitchFamily="34" charset="0"/>
                <a:ea typeface="Courier New" pitchFamily="34" charset="-122"/>
                <a:cs typeface="Courier New" pitchFamily="34" charset="-120"/>
              </a:rPr>
              <a:t>03 / PAE</a:t>
            </a:r>
            <a:endParaRPr lang="en-US" sz="550" dirty="0"/>
          </a:p>
        </p:txBody>
      </p:sp>
      <p:sp>
        <p:nvSpPr>
          <p:cNvPr id="21" name="Text 17"/>
          <p:cNvSpPr/>
          <p:nvPr/>
        </p:nvSpPr>
        <p:spPr>
          <a:xfrm>
            <a:off x="3869010" y="2297609"/>
            <a:ext cx="1398724"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118"/>
                </a:solidFill>
                <a:latin typeface="Georgia" pitchFamily="34" charset="0"/>
                <a:ea typeface="Georgia" pitchFamily="34" charset="-122"/>
                <a:cs typeface="Georgia" pitchFamily="34" charset="-120"/>
              </a:rPr>
              <a:t>DSSE binding</a:t>
            </a:r>
            <a:endParaRPr lang="en-US" sz="900" dirty="0"/>
          </a:p>
        </p:txBody>
      </p:sp>
      <p:sp>
        <p:nvSpPr>
          <p:cNvPr id="22" name="Text 18"/>
          <p:cNvSpPr/>
          <p:nvPr/>
        </p:nvSpPr>
        <p:spPr>
          <a:xfrm>
            <a:off x="3869010" y="2518339"/>
            <a:ext cx="1398724"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4D5759"/>
                </a:solidFill>
                <a:latin typeface="Courier New" pitchFamily="34" charset="0"/>
                <a:ea typeface="Courier New" pitchFamily="34" charset="-122"/>
                <a:cs typeface="Courier New" pitchFamily="34" charset="-120"/>
              </a:rPr>
              <a:t>Payload type + bytes</a:t>
            </a:r>
            <a:r>
              <a:rPr lang="en-US" sz="550" dirty="0">
                <a:solidFill>
                  <a:srgbClr val="4D5759"/>
                </a:solidFill>
                <a:latin typeface="Courier New" pitchFamily="34" charset="0"/>
                <a:ea typeface="Courier New" pitchFamily="34" charset="-122"/>
                <a:cs typeface="Courier New" pitchFamily="34" charset="-120"/>
              </a:rPr>
              <a:t>
</a:t>
            </a:r>
            <a:r>
              <a:rPr lang="en-US" sz="550" dirty="0">
                <a:solidFill>
                  <a:srgbClr val="4D5759"/>
                </a:solidFill>
                <a:latin typeface="Courier New" pitchFamily="34" charset="0"/>
                <a:ea typeface="Courier New" pitchFamily="34" charset="-122"/>
                <a:cs typeface="Courier New" pitchFamily="34" charset="-120"/>
              </a:rPr>
              <a:t>enter pre-auth encoding.</a:t>
            </a:r>
            <a:endParaRPr lang="en-US" sz="550" dirty="0"/>
          </a:p>
        </p:txBody>
      </p:sp>
      <p:sp>
        <p:nvSpPr>
          <p:cNvPr id="23" name="Shape 19"/>
          <p:cNvSpPr/>
          <p:nvPr/>
        </p:nvSpPr>
        <p:spPr>
          <a:xfrm>
            <a:off x="5339172" y="2494062"/>
            <a:ext cx="114300" cy="14288"/>
          </a:xfrm>
          <a:prstGeom prst="rect">
            <a:avLst/>
          </a:prstGeom>
          <a:solidFill>
            <a:srgbClr val="D64635"/>
          </a:solidFill>
          <a:ln/>
        </p:spPr>
      </p:sp>
      <p:sp>
        <p:nvSpPr>
          <p:cNvPr id="24" name="Text 20"/>
          <p:cNvSpPr/>
          <p:nvPr/>
        </p:nvSpPr>
        <p:spPr>
          <a:xfrm>
            <a:off x="5532053" y="2108299"/>
            <a:ext cx="1398724" cy="89297"/>
          </a:xfrm>
          <a:prstGeom prst="rect">
            <a:avLst/>
          </a:prstGeom>
          <a:noFill/>
          <a:ln/>
        </p:spPr>
        <p:txBody>
          <a:bodyPr wrap="square" lIns="0" tIns="0" rIns="0" bIns="0" rtlCol="0" anchor="t">
            <a:spAutoFit/>
          </a:bodyPr>
          <a:lstStyle/>
          <a:p>
            <a:pPr algn="l" indent="0" marL="0">
              <a:buNone/>
            </a:pPr>
            <a:r>
              <a:rPr lang="en-US" sz="550" spc="1" kern="0" dirty="0">
                <a:solidFill>
                  <a:srgbClr val="D64635"/>
                </a:solidFill>
                <a:latin typeface="Courier New" pitchFamily="34" charset="0"/>
                <a:ea typeface="Courier New" pitchFamily="34" charset="-122"/>
                <a:cs typeface="Courier New" pitchFamily="34" charset="-120"/>
              </a:rPr>
              <a:t>04 / KEY</a:t>
            </a:r>
            <a:endParaRPr lang="en-US" sz="550" dirty="0"/>
          </a:p>
        </p:txBody>
      </p:sp>
      <p:sp>
        <p:nvSpPr>
          <p:cNvPr id="25" name="Text 21"/>
          <p:cNvSpPr/>
          <p:nvPr/>
        </p:nvSpPr>
        <p:spPr>
          <a:xfrm>
            <a:off x="5532053" y="2297609"/>
            <a:ext cx="1398724"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118"/>
                </a:solidFill>
                <a:latin typeface="Georgia" pitchFamily="34" charset="0"/>
                <a:ea typeface="Georgia" pitchFamily="34" charset="-122"/>
                <a:cs typeface="Georgia" pitchFamily="34" charset="-120"/>
              </a:rPr>
              <a:t>Policy check</a:t>
            </a:r>
            <a:endParaRPr lang="en-US" sz="900" dirty="0"/>
          </a:p>
        </p:txBody>
      </p:sp>
      <p:sp>
        <p:nvSpPr>
          <p:cNvPr id="26" name="Text 22"/>
          <p:cNvSpPr/>
          <p:nvPr/>
        </p:nvSpPr>
        <p:spPr>
          <a:xfrm>
            <a:off x="5532053" y="2518339"/>
            <a:ext cx="1398724"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4D5759"/>
                </a:solidFill>
                <a:latin typeface="Courier New" pitchFamily="34" charset="0"/>
                <a:ea typeface="Courier New" pitchFamily="34" charset="-122"/>
                <a:cs typeface="Courier New" pitchFamily="34" charset="-120"/>
              </a:rPr>
              <a:t>Active key, node, release,</a:t>
            </a:r>
            <a:r>
              <a:rPr lang="en-US" sz="550" dirty="0">
                <a:solidFill>
                  <a:srgbClr val="4D5759"/>
                </a:solidFill>
                <a:latin typeface="Courier New" pitchFamily="34" charset="0"/>
                <a:ea typeface="Courier New" pitchFamily="34" charset="-122"/>
                <a:cs typeface="Courier New" pitchFamily="34" charset="-120"/>
              </a:rPr>
              <a:t>
</a:t>
            </a:r>
            <a:r>
              <a:rPr lang="en-US" sz="550" dirty="0">
                <a:solidFill>
                  <a:srgbClr val="4D5759"/>
                </a:solidFill>
                <a:latin typeface="Courier New" pitchFamily="34" charset="0"/>
                <a:ea typeface="Courier New" pitchFamily="34" charset="-122"/>
                <a:cs typeface="Courier New" pitchFamily="34" charset="-120"/>
              </a:rPr>
              <a:t>validity and revocation.</a:t>
            </a:r>
            <a:endParaRPr lang="en-US" sz="550" dirty="0"/>
          </a:p>
        </p:txBody>
      </p:sp>
      <p:sp>
        <p:nvSpPr>
          <p:cNvPr id="27" name="Shape 23"/>
          <p:cNvSpPr/>
          <p:nvPr/>
        </p:nvSpPr>
        <p:spPr>
          <a:xfrm>
            <a:off x="7002214" y="2494062"/>
            <a:ext cx="114300" cy="14288"/>
          </a:xfrm>
          <a:prstGeom prst="rect">
            <a:avLst/>
          </a:prstGeom>
          <a:solidFill>
            <a:srgbClr val="D64635"/>
          </a:solidFill>
          <a:ln/>
        </p:spPr>
      </p:sp>
      <p:sp>
        <p:nvSpPr>
          <p:cNvPr id="28" name="Text 24"/>
          <p:cNvSpPr/>
          <p:nvPr/>
        </p:nvSpPr>
        <p:spPr>
          <a:xfrm>
            <a:off x="7195096" y="2108299"/>
            <a:ext cx="1405868" cy="89297"/>
          </a:xfrm>
          <a:prstGeom prst="rect">
            <a:avLst/>
          </a:prstGeom>
          <a:noFill/>
          <a:ln/>
        </p:spPr>
        <p:txBody>
          <a:bodyPr wrap="square" lIns="0" tIns="0" rIns="0" bIns="0" rtlCol="0" anchor="t">
            <a:spAutoFit/>
          </a:bodyPr>
          <a:lstStyle/>
          <a:p>
            <a:pPr algn="l" indent="0" marL="0">
              <a:buNone/>
            </a:pPr>
            <a:r>
              <a:rPr lang="en-US" sz="550" spc="1" kern="0" dirty="0">
                <a:solidFill>
                  <a:srgbClr val="D64635"/>
                </a:solidFill>
                <a:latin typeface="Courier New" pitchFamily="34" charset="0"/>
                <a:ea typeface="Courier New" pitchFamily="34" charset="-122"/>
                <a:cs typeface="Courier New" pitchFamily="34" charset="-120"/>
              </a:rPr>
              <a:t>05 / COUNT</a:t>
            </a:r>
            <a:endParaRPr lang="en-US" sz="550" dirty="0"/>
          </a:p>
        </p:txBody>
      </p:sp>
      <p:sp>
        <p:nvSpPr>
          <p:cNvPr id="29" name="Text 25"/>
          <p:cNvSpPr/>
          <p:nvPr/>
        </p:nvSpPr>
        <p:spPr>
          <a:xfrm>
            <a:off x="7195096" y="2297609"/>
            <a:ext cx="1405868"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0B1118"/>
                </a:solidFill>
                <a:latin typeface="Georgia" pitchFamily="34" charset="0"/>
                <a:ea typeface="Georgia" pitchFamily="34" charset="-122"/>
                <a:cs typeface="Georgia" pitchFamily="34" charset="-120"/>
              </a:rPr>
              <a:t>One identity</a:t>
            </a:r>
            <a:endParaRPr lang="en-US" sz="900" dirty="0"/>
          </a:p>
        </p:txBody>
      </p:sp>
      <p:sp>
        <p:nvSpPr>
          <p:cNvPr id="30" name="Text 26"/>
          <p:cNvSpPr/>
          <p:nvPr/>
        </p:nvSpPr>
        <p:spPr>
          <a:xfrm>
            <a:off x="7195096" y="2518339"/>
            <a:ext cx="1405868"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4D5759"/>
                </a:solidFill>
                <a:latin typeface="Courier New" pitchFamily="34" charset="0"/>
                <a:ea typeface="Courier New" pitchFamily="34" charset="-122"/>
                <a:cs typeface="Courier New" pitchFamily="34" charset="-120"/>
              </a:rPr>
              <a:t>Duplicate key counts once.</a:t>
            </a:r>
            <a:r>
              <a:rPr lang="en-US" sz="550" dirty="0">
                <a:solidFill>
                  <a:srgbClr val="4D5759"/>
                </a:solidFill>
                <a:latin typeface="Courier New" pitchFamily="34" charset="0"/>
                <a:ea typeface="Courier New" pitchFamily="34" charset="-122"/>
                <a:cs typeface="Courier New" pitchFamily="34" charset="-120"/>
              </a:rPr>
              <a:t>
</a:t>
            </a:r>
            <a:r>
              <a:rPr lang="en-US" sz="550" dirty="0">
                <a:solidFill>
                  <a:srgbClr val="4D5759"/>
                </a:solidFill>
                <a:latin typeface="Courier New" pitchFamily="34" charset="0"/>
                <a:ea typeface="Courier New" pitchFamily="34" charset="-122"/>
                <a:cs typeface="Courier New" pitchFamily="34" charset="-120"/>
              </a:rPr>
              <a:t>Conflicting bytes = evidence.</a:t>
            </a:r>
            <a:endParaRPr lang="en-US" sz="550" dirty="0"/>
          </a:p>
        </p:txBody>
      </p:sp>
      <p:sp>
        <p:nvSpPr>
          <p:cNvPr id="31" name="Text 27"/>
          <p:cNvSpPr/>
          <p:nvPr/>
        </p:nvSpPr>
        <p:spPr>
          <a:xfrm>
            <a:off x="414338" y="3136999"/>
            <a:ext cx="4242215"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ACCEPTED ONLY IF</a:t>
            </a:r>
            <a:endParaRPr lang="en-US" sz="550" dirty="0"/>
          </a:p>
        </p:txBody>
      </p:sp>
      <p:sp>
        <p:nvSpPr>
          <p:cNvPr id="32" name="Text 28"/>
          <p:cNvSpPr/>
          <p:nvPr/>
        </p:nvSpPr>
        <p:spPr>
          <a:xfrm>
            <a:off x="414338" y="3319165"/>
            <a:ext cx="157163" cy="418523"/>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Courier New" pitchFamily="34" charset="0"/>
                <a:ea typeface="Courier New" pitchFamily="34" charset="-122"/>
                <a:cs typeface="Courier New" pitchFamily="34" charset="-120"/>
              </a:rPr>
              <a:t>✓</a:t>
            </a:r>
            <a:endParaRPr lang="en-US" sz="950" dirty="0"/>
          </a:p>
        </p:txBody>
      </p:sp>
      <p:sp>
        <p:nvSpPr>
          <p:cNvPr id="33" name="Text 29"/>
          <p:cNvSpPr/>
          <p:nvPr/>
        </p:nvSpPr>
        <p:spPr>
          <a:xfrm>
            <a:off x="700088" y="3319165"/>
            <a:ext cx="3678250"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F4EFE4"/>
                </a:solidFill>
                <a:latin typeface="Georgia" pitchFamily="34" charset="0"/>
                <a:ea typeface="Georgia" pitchFamily="34" charset="-122"/>
                <a:cs typeface="Georgia" pitchFamily="34" charset="-120"/>
              </a:rPr>
              <a:t>Request binding survives</a:t>
            </a:r>
            <a:endParaRPr lang="en-US" sz="900" dirty="0"/>
          </a:p>
        </p:txBody>
      </p:sp>
      <p:sp>
        <p:nvSpPr>
          <p:cNvPr id="34" name="Text 30"/>
          <p:cNvSpPr/>
          <p:nvPr/>
        </p:nvSpPr>
        <p:spPr>
          <a:xfrm>
            <a:off x="700088" y="3489889"/>
            <a:ext cx="3678250" cy="106040"/>
          </a:xfrm>
          <a:prstGeom prst="rect">
            <a:avLst/>
          </a:prstGeom>
          <a:noFill/>
          <a:ln/>
        </p:spPr>
        <p:txBody>
          <a:bodyPr wrap="none" lIns="0" tIns="0" rIns="0" bIns="0" rtlCol="0" anchor="t">
            <a:spAutoFit/>
          </a:bodyPr>
          <a:lstStyle/>
          <a:p>
            <a:pPr algn="l" indent="0" marL="0">
              <a:lnSpc>
                <a:spcPct val="108000"/>
              </a:lnSpc>
              <a:buNone/>
            </a:pPr>
            <a:r>
              <a:rPr lang="en-US" sz="550" dirty="0">
                <a:solidFill>
                  <a:srgbClr val="9DA9AD"/>
                </a:solidFill>
                <a:latin typeface="Courier New" pitchFamily="34" charset="0"/>
                <a:ea typeface="Courier New" pitchFamily="34" charset="-122"/>
                <a:cs typeface="Courier New" pitchFamily="34" charset="-120"/>
              </a:rPr>
              <a:t>request_id, contract, operation, convention, scalar, tolerance, and policy all</a:t>
            </a:r>
            <a:endParaRPr lang="en-US" sz="550" dirty="0"/>
          </a:p>
        </p:txBody>
      </p:sp>
      <p:sp>
        <p:nvSpPr>
          <p:cNvPr id="35" name="Text 31"/>
          <p:cNvSpPr/>
          <p:nvPr/>
        </p:nvSpPr>
        <p:spPr>
          <a:xfrm>
            <a:off x="700088" y="3631648"/>
            <a:ext cx="3678250" cy="106040"/>
          </a:xfrm>
          <a:prstGeom prst="rect">
            <a:avLst/>
          </a:prstGeom>
          <a:noFill/>
          <a:ln/>
        </p:spPr>
        <p:txBody>
          <a:bodyPr wrap="none" lIns="0" tIns="0" rIns="0" bIns="0" rtlCol="0" anchor="t">
            <a:spAutoFit/>
          </a:bodyPr>
          <a:lstStyle/>
          <a:p>
            <a:pPr algn="l" indent="0" marL="0">
              <a:lnSpc>
                <a:spcPct val="108000"/>
              </a:lnSpc>
              <a:buNone/>
            </a:pPr>
            <a:r>
              <a:rPr lang="en-US" sz="550" dirty="0">
                <a:solidFill>
                  <a:srgbClr val="9DA9AD"/>
                </a:solidFill>
                <a:latin typeface="Courier New" pitchFamily="34" charset="0"/>
                <a:ea typeface="Courier New" pitchFamily="34" charset="-122"/>
                <a:cs typeface="Courier New" pitchFamily="34" charset="-120"/>
              </a:rPr>
              <a:t>match.</a:t>
            </a:r>
            <a:endParaRPr lang="en-US" sz="550" dirty="0"/>
          </a:p>
        </p:txBody>
      </p:sp>
      <p:sp>
        <p:nvSpPr>
          <p:cNvPr id="36" name="Text 32"/>
          <p:cNvSpPr/>
          <p:nvPr/>
        </p:nvSpPr>
        <p:spPr>
          <a:xfrm>
            <a:off x="414338" y="3830557"/>
            <a:ext cx="157163" cy="418523"/>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Courier New" pitchFamily="34" charset="0"/>
                <a:ea typeface="Courier New" pitchFamily="34" charset="-122"/>
                <a:cs typeface="Courier New" pitchFamily="34" charset="-120"/>
              </a:rPr>
              <a:t>✓</a:t>
            </a:r>
            <a:endParaRPr lang="en-US" sz="950" dirty="0"/>
          </a:p>
        </p:txBody>
      </p:sp>
      <p:sp>
        <p:nvSpPr>
          <p:cNvPr id="37" name="Text 33"/>
          <p:cNvSpPr/>
          <p:nvPr/>
        </p:nvSpPr>
        <p:spPr>
          <a:xfrm>
            <a:off x="700088" y="3830557"/>
            <a:ext cx="3725410"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F4EFE4"/>
                </a:solidFill>
                <a:latin typeface="Georgia" pitchFamily="34" charset="0"/>
                <a:ea typeface="Georgia" pitchFamily="34" charset="-122"/>
                <a:cs typeface="Georgia" pitchFamily="34" charset="-120"/>
              </a:rPr>
              <a:t>Payload bytes verify exactly</a:t>
            </a:r>
            <a:endParaRPr lang="en-US" sz="900" dirty="0"/>
          </a:p>
        </p:txBody>
      </p:sp>
      <p:sp>
        <p:nvSpPr>
          <p:cNvPr id="38" name="Text 34"/>
          <p:cNvSpPr/>
          <p:nvPr/>
        </p:nvSpPr>
        <p:spPr>
          <a:xfrm>
            <a:off x="700088" y="4001281"/>
            <a:ext cx="3725410" cy="106040"/>
          </a:xfrm>
          <a:prstGeom prst="rect">
            <a:avLst/>
          </a:prstGeom>
          <a:noFill/>
          <a:ln/>
        </p:spPr>
        <p:txBody>
          <a:bodyPr wrap="none" lIns="0" tIns="0" rIns="0" bIns="0" rtlCol="0" anchor="t">
            <a:spAutoFit/>
          </a:bodyPr>
          <a:lstStyle/>
          <a:p>
            <a:pPr algn="l" indent="0" marL="0">
              <a:lnSpc>
                <a:spcPct val="108000"/>
              </a:lnSpc>
              <a:buNone/>
            </a:pPr>
            <a:r>
              <a:rPr lang="en-US" sz="550" dirty="0">
                <a:solidFill>
                  <a:srgbClr val="9DA9AD"/>
                </a:solidFill>
                <a:latin typeface="Courier New" pitchFamily="34" charset="0"/>
                <a:ea typeface="Courier New" pitchFamily="34" charset="-122"/>
                <a:cs typeface="Courier New" pitchFamily="34" charset="-120"/>
              </a:rPr>
              <a:t>signature covers the bytes that the application parses; altered bytes cannot be</a:t>
            </a:r>
            <a:endParaRPr lang="en-US" sz="550" dirty="0"/>
          </a:p>
        </p:txBody>
      </p:sp>
      <p:sp>
        <p:nvSpPr>
          <p:cNvPr id="39" name="Text 35"/>
          <p:cNvSpPr/>
          <p:nvPr/>
        </p:nvSpPr>
        <p:spPr>
          <a:xfrm>
            <a:off x="700088" y="4143040"/>
            <a:ext cx="3725410" cy="106040"/>
          </a:xfrm>
          <a:prstGeom prst="rect">
            <a:avLst/>
          </a:prstGeom>
          <a:noFill/>
          <a:ln/>
        </p:spPr>
        <p:txBody>
          <a:bodyPr wrap="none" lIns="0" tIns="0" rIns="0" bIns="0" rtlCol="0" anchor="t">
            <a:spAutoFit/>
          </a:bodyPr>
          <a:lstStyle/>
          <a:p>
            <a:pPr algn="l" indent="0" marL="0">
              <a:lnSpc>
                <a:spcPct val="108000"/>
              </a:lnSpc>
              <a:buNone/>
            </a:pPr>
            <a:r>
              <a:rPr lang="en-US" sz="550" dirty="0">
                <a:solidFill>
                  <a:srgbClr val="9DA9AD"/>
                </a:solidFill>
                <a:latin typeface="Courier New" pitchFamily="34" charset="0"/>
                <a:ea typeface="Courier New" pitchFamily="34" charset="-122"/>
                <a:cs typeface="Courier New" pitchFamily="34" charset="-120"/>
              </a:rPr>
              <a:t>normalized into acceptance.</a:t>
            </a:r>
            <a:endParaRPr lang="en-US" sz="550" dirty="0"/>
          </a:p>
        </p:txBody>
      </p:sp>
      <p:sp>
        <p:nvSpPr>
          <p:cNvPr id="40" name="Text 36"/>
          <p:cNvSpPr/>
          <p:nvPr/>
        </p:nvSpPr>
        <p:spPr>
          <a:xfrm>
            <a:off x="414338" y="4341949"/>
            <a:ext cx="156995" cy="524563"/>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Courier New" pitchFamily="34" charset="0"/>
                <a:ea typeface="Courier New" pitchFamily="34" charset="-122"/>
                <a:cs typeface="Courier New" pitchFamily="34" charset="-120"/>
              </a:rPr>
              <a:t>✓</a:t>
            </a:r>
            <a:endParaRPr lang="en-US" sz="950" dirty="0"/>
          </a:p>
        </p:txBody>
      </p:sp>
      <p:sp>
        <p:nvSpPr>
          <p:cNvPr id="41" name="Text 37"/>
          <p:cNvSpPr/>
          <p:nvPr/>
        </p:nvSpPr>
        <p:spPr>
          <a:xfrm>
            <a:off x="699920" y="4341949"/>
            <a:ext cx="3956633" cy="135006"/>
          </a:xfrm>
          <a:prstGeom prst="rect">
            <a:avLst/>
          </a:prstGeom>
          <a:noFill/>
          <a:ln/>
        </p:spPr>
        <p:txBody>
          <a:bodyPr wrap="none" lIns="0" tIns="0" rIns="0" bIns="0" rtlCol="0" anchor="t">
            <a:spAutoFit/>
          </a:bodyPr>
          <a:lstStyle/>
          <a:p>
            <a:pPr algn="l" indent="0" marL="0">
              <a:lnSpc>
                <a:spcPct val="84000"/>
              </a:lnSpc>
              <a:buNone/>
            </a:pPr>
            <a:r>
              <a:rPr lang="en-US" sz="900" b="1" dirty="0">
                <a:solidFill>
                  <a:srgbClr val="F4EFE4"/>
                </a:solidFill>
                <a:latin typeface="Georgia" pitchFamily="34" charset="0"/>
                <a:ea typeface="Georgia" pitchFamily="34" charset="-122"/>
                <a:cs typeface="Georgia" pitchFamily="34" charset="-120"/>
              </a:rPr>
              <a:t>Identity remains distinct</a:t>
            </a:r>
            <a:endParaRPr lang="en-US" sz="900" dirty="0"/>
          </a:p>
        </p:txBody>
      </p:sp>
      <p:sp>
        <p:nvSpPr>
          <p:cNvPr id="42" name="Text 38"/>
          <p:cNvSpPr/>
          <p:nvPr/>
        </p:nvSpPr>
        <p:spPr>
          <a:xfrm>
            <a:off x="699920" y="4512673"/>
            <a:ext cx="3956633"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9DA9AD"/>
                </a:solidFill>
                <a:latin typeface="Courier New" pitchFamily="34" charset="0"/>
                <a:ea typeface="Courier New" pitchFamily="34" charset="-122"/>
                <a:cs typeface="Courier New" pitchFamily="34" charset="-120"/>
              </a:rPr>
              <a:t>two labels or node aliases cannot manufacture independent verifier evidence from one</a:t>
            </a:r>
            <a:endParaRPr lang="en-US" sz="550" dirty="0"/>
          </a:p>
        </p:txBody>
      </p:sp>
      <p:sp>
        <p:nvSpPr>
          <p:cNvPr id="43" name="Text 39"/>
          <p:cNvSpPr/>
          <p:nvPr/>
        </p:nvSpPr>
        <p:spPr>
          <a:xfrm>
            <a:off x="699920" y="4760472"/>
            <a:ext cx="3956633" cy="106040"/>
          </a:xfrm>
          <a:prstGeom prst="rect">
            <a:avLst/>
          </a:prstGeom>
          <a:noFill/>
          <a:ln/>
        </p:spPr>
        <p:txBody>
          <a:bodyPr wrap="none" lIns="0" tIns="0" rIns="0" bIns="0" rtlCol="0" anchor="t">
            <a:spAutoFit/>
          </a:bodyPr>
          <a:lstStyle/>
          <a:p>
            <a:pPr algn="l" indent="0" marL="0">
              <a:lnSpc>
                <a:spcPct val="108000"/>
              </a:lnSpc>
              <a:buNone/>
            </a:pPr>
            <a:r>
              <a:rPr lang="en-US" sz="550" dirty="0">
                <a:solidFill>
                  <a:srgbClr val="9DA9AD"/>
                </a:solidFill>
                <a:latin typeface="Courier New" pitchFamily="34" charset="0"/>
                <a:ea typeface="Courier New" pitchFamily="34" charset="-122"/>
                <a:cs typeface="Courier New" pitchFamily="34" charset="-120"/>
              </a:rPr>
              <a:t>active key.</a:t>
            </a:r>
            <a:endParaRPr lang="en-US" sz="550" dirty="0"/>
          </a:p>
        </p:txBody>
      </p:sp>
      <p:sp>
        <p:nvSpPr>
          <p:cNvPr id="44" name="Shape 40"/>
          <p:cNvSpPr/>
          <p:nvPr/>
        </p:nvSpPr>
        <p:spPr>
          <a:xfrm>
            <a:off x="5070890" y="3136999"/>
            <a:ext cx="3658716" cy="1891643"/>
          </a:xfrm>
          <a:prstGeom prst="rect">
            <a:avLst/>
          </a:prstGeom>
          <a:solidFill>
            <a:srgbClr val="111B24"/>
          </a:solidFill>
          <a:ln/>
        </p:spPr>
      </p:sp>
      <p:sp>
        <p:nvSpPr>
          <p:cNvPr id="45" name="Shape 41"/>
          <p:cNvSpPr/>
          <p:nvPr/>
        </p:nvSpPr>
        <p:spPr>
          <a:xfrm>
            <a:off x="5070890" y="3136999"/>
            <a:ext cx="3658716" cy="21431"/>
          </a:xfrm>
          <a:prstGeom prst="rect">
            <a:avLst/>
          </a:prstGeom>
          <a:solidFill>
            <a:srgbClr val="D64635"/>
          </a:solidFill>
          <a:ln/>
        </p:spPr>
      </p:sp>
      <p:sp>
        <p:nvSpPr>
          <p:cNvPr id="46" name="Text 42"/>
          <p:cNvSpPr/>
          <p:nvPr/>
        </p:nvSpPr>
        <p:spPr>
          <a:xfrm>
            <a:off x="5213765" y="3251299"/>
            <a:ext cx="3372966"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FIXTURE BOUNDARY</a:t>
            </a:r>
            <a:endParaRPr lang="en-US" sz="550" dirty="0"/>
          </a:p>
        </p:txBody>
      </p:sp>
      <p:sp>
        <p:nvSpPr>
          <p:cNvPr id="47" name="Text 43"/>
          <p:cNvSpPr/>
          <p:nvPr/>
        </p:nvSpPr>
        <p:spPr>
          <a:xfrm>
            <a:off x="5213765" y="3454896"/>
            <a:ext cx="3372966" cy="420030"/>
          </a:xfrm>
          <a:prstGeom prst="rect">
            <a:avLst/>
          </a:prstGeom>
          <a:noFill/>
          <a:ln/>
        </p:spPr>
        <p:txBody>
          <a:bodyPr wrap="square" lIns="0" tIns="0" rIns="0" bIns="0" rtlCol="0" anchor="t">
            <a:spAutoFit/>
          </a:bodyPr>
          <a:lstStyle/>
          <a:p>
            <a:pPr algn="l" indent="0" marL="0">
              <a:lnSpc>
                <a:spcPct val="84000"/>
              </a:lnSpc>
              <a:buNone/>
            </a:pPr>
            <a:r>
              <a:rPr lang="en-US" sz="1400" b="1" dirty="0">
                <a:solidFill>
                  <a:srgbClr val="F4EFE4"/>
                </a:solidFill>
                <a:latin typeface="Georgia" pitchFamily="34" charset="0"/>
                <a:ea typeface="Georgia" pitchFamily="34" charset="-122"/>
                <a:cs typeface="Georgia" pitchFamily="34" charset="-120"/>
              </a:rPr>
              <a:t>This is not</a:t>
            </a:r>
            <a:r>
              <a:rPr lang="en-US" sz="1400" b="1" dirty="0">
                <a:solidFill>
                  <a:srgbClr val="F4EFE4"/>
                </a:solidFill>
                <a:latin typeface="Georgia" pitchFamily="34" charset="0"/>
                <a:ea typeface="Georgia" pitchFamily="34" charset="-122"/>
                <a:cs typeface="Georgia" pitchFamily="34" charset="-120"/>
              </a:rPr>
              <a:t>
</a:t>
            </a:r>
            <a:r>
              <a:rPr lang="en-US" sz="1400" b="1" dirty="0">
                <a:solidFill>
                  <a:srgbClr val="F4EFE4"/>
                </a:solidFill>
                <a:latin typeface="Georgia" pitchFamily="34" charset="0"/>
                <a:ea typeface="Georgia" pitchFamily="34" charset="-122"/>
                <a:cs typeface="Georgia" pitchFamily="34" charset="-120"/>
              </a:rPr>
              <a:t>production signing.</a:t>
            </a:r>
            <a:endParaRPr lang="en-US" sz="1400" dirty="0"/>
          </a:p>
        </p:txBody>
      </p:sp>
      <p:sp>
        <p:nvSpPr>
          <p:cNvPr id="48" name="Text 44"/>
          <p:cNvSpPr/>
          <p:nvPr/>
        </p:nvSpPr>
        <p:spPr>
          <a:xfrm>
            <a:off x="5213765" y="3974939"/>
            <a:ext cx="2286000" cy="642938"/>
          </a:xfrm>
          <a:prstGeom prst="rect">
            <a:avLst/>
          </a:prstGeom>
          <a:noFill/>
          <a:ln/>
        </p:spPr>
        <p:txBody>
          <a:bodyPr wrap="square" lIns="0" tIns="0" rIns="0" bIns="0" rtlCol="0" anchor="t">
            <a:spAutoFit/>
          </a:bodyPr>
          <a:lstStyle/>
          <a:p>
            <a:pPr algn="l" indent="0" marL="0">
              <a:lnSpc>
                <a:spcPct val="120000"/>
              </a:lnSpc>
              <a:buNone/>
            </a:pPr>
            <a:r>
              <a:rPr lang="en-US" sz="600" dirty="0">
                <a:solidFill>
                  <a:srgbClr val="AAB4B6"/>
                </a:solidFill>
                <a:latin typeface="Courier New" pitchFamily="34" charset="0"/>
                <a:ea typeface="Courier New" pitchFamily="34" charset="-122"/>
                <a:cs typeface="Courier New" pitchFamily="34" charset="-120"/>
              </a:rPr>
              <a:t>Q0 uses HMAC-SHA256 fixtures only to exercise exact payload binding. Public-key selection, rotation, revocation, custody, compromise recovery, and algorithm approval remain separate security gates.</a:t>
            </a:r>
            <a:endParaRPr lang="en-US" sz="600" dirty="0"/>
          </a:p>
        </p:txBody>
      </p:sp>
      <p:sp>
        <p:nvSpPr>
          <p:cNvPr id="49" name="Text 45"/>
          <p:cNvSpPr/>
          <p:nvPr/>
        </p:nvSpPr>
        <p:spPr>
          <a:xfrm>
            <a:off x="5213765" y="4789326"/>
            <a:ext cx="1460395" cy="217884"/>
          </a:xfrm>
          <a:prstGeom prst="rect">
            <a:avLst/>
          </a:prstGeom>
          <a:noFill/>
          <a:ln/>
        </p:spPr>
        <p:txBody>
          <a:bodyPr wrap="square" lIns="85090" tIns="68072" rIns="85090" bIns="68072" rtlCol="0" anchor="t">
            <a:spAutoFit/>
          </a:bodyPr>
          <a:lstStyle/>
          <a:p>
            <a:pPr algn="l" indent="0" marL="0">
              <a:buNone/>
            </a:pPr>
            <a:r>
              <a:rPr lang="en-US" sz="550" spc="1" kern="0" dirty="0">
                <a:solidFill>
                  <a:srgbClr val="F08A78"/>
                </a:solidFill>
                <a:latin typeface="Courier New" pitchFamily="34" charset="0"/>
                <a:ea typeface="Courier New" pitchFamily="34" charset="-122"/>
                <a:cs typeface="Courier New" pitchFamily="34" charset="-120"/>
              </a:rPr>
              <a:t>OFFLINE / NO KEY CUSTODY</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413235"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05 / ADVERSARIAL MATRIX</a:t>
            </a:r>
            <a:endParaRPr lang="en-US" sz="550" dirty="0"/>
          </a:p>
        </p:txBody>
      </p:sp>
      <p:sp>
        <p:nvSpPr>
          <p:cNvPr id="7" name="Text 3"/>
          <p:cNvSpPr/>
          <p:nvPr/>
        </p:nvSpPr>
        <p:spPr>
          <a:xfrm>
            <a:off x="6560418" y="192881"/>
            <a:ext cx="2169244"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PRESERVE DISSENT · NEVER MANUFACTURE AGREEMENT</a:t>
            </a:r>
            <a:endParaRPr lang="en-US" sz="550" dirty="0"/>
          </a:p>
        </p:txBody>
      </p:sp>
      <p:sp>
        <p:nvSpPr>
          <p:cNvPr id="8" name="Text 4"/>
          <p:cNvSpPr/>
          <p:nvPr/>
        </p:nvSpPr>
        <p:spPr>
          <a:xfrm>
            <a:off x="485775" y="1128713"/>
            <a:ext cx="2028825"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WHEN THE EVIDENCE DISAGREES</a:t>
            </a:r>
            <a:endParaRPr lang="en-US" sz="550" dirty="0"/>
          </a:p>
        </p:txBody>
      </p:sp>
      <p:sp>
        <p:nvSpPr>
          <p:cNvPr id="9" name="Text 5"/>
          <p:cNvSpPr/>
          <p:nvPr/>
        </p:nvSpPr>
        <p:spPr>
          <a:xfrm>
            <a:off x="485775" y="1346597"/>
            <a:ext cx="2028825" cy="699418"/>
          </a:xfrm>
          <a:prstGeom prst="rect">
            <a:avLst/>
          </a:prstGeom>
          <a:noFill/>
          <a:ln/>
        </p:spPr>
        <p:txBody>
          <a:bodyPr wrap="square" lIns="0" tIns="0" rIns="0" bIns="0" rtlCol="0" anchor="t">
            <a:spAutoFit/>
          </a:bodyPr>
          <a:lstStyle/>
          <a:p>
            <a:pPr algn="l" indent="0" marL="0">
              <a:lnSpc>
                <a:spcPct val="81600"/>
              </a:lnSpc>
              <a:buNone/>
            </a:pPr>
            <a:r>
              <a:rPr lang="en-US" sz="2450" b="1" spc="-2" kern="0" dirty="0">
                <a:solidFill>
                  <a:srgbClr val="F4EFE4"/>
                </a:solidFill>
                <a:latin typeface="Georgia" pitchFamily="34" charset="0"/>
                <a:ea typeface="Georgia" pitchFamily="34" charset="-122"/>
                <a:cs typeface="Georgia" pitchFamily="34" charset="-120"/>
              </a:rPr>
              <a:t>Preserve.</a:t>
            </a:r>
            <a:r>
              <a:rPr lang="en-US" sz="2450" b="1" spc="-2" kern="0" dirty="0">
                <a:solidFill>
                  <a:srgbClr val="F4EFE4"/>
                </a:solidFill>
                <a:latin typeface="Georgia" pitchFamily="34" charset="0"/>
                <a:ea typeface="Georgia" pitchFamily="34" charset="-122"/>
                <a:cs typeface="Georgia" pitchFamily="34" charset="-120"/>
              </a:rPr>
              <a:t>
</a:t>
            </a:r>
            <a:r>
              <a:rPr lang="en-US" sz="2450" b="1" i="1" spc="-2" kern="0" dirty="0">
                <a:solidFill>
                  <a:srgbClr val="D85A49"/>
                </a:solidFill>
                <a:latin typeface="Georgia" pitchFamily="34" charset="0"/>
                <a:ea typeface="Georgia" pitchFamily="34" charset="-122"/>
                <a:cs typeface="Georgia" pitchFamily="34" charset="-120"/>
              </a:rPr>
              <a:t>Do not resolve.</a:t>
            </a:r>
            <a:endParaRPr lang="en-US" sz="2450" dirty="0"/>
          </a:p>
        </p:txBody>
      </p:sp>
      <p:sp>
        <p:nvSpPr>
          <p:cNvPr id="10" name="Text 6"/>
          <p:cNvSpPr/>
          <p:nvPr/>
        </p:nvSpPr>
        <p:spPr>
          <a:xfrm>
            <a:off x="485775" y="2246040"/>
            <a:ext cx="2028825" cy="1162645"/>
          </a:xfrm>
          <a:prstGeom prst="rect">
            <a:avLst/>
          </a:prstGeom>
          <a:noFill/>
          <a:ln/>
        </p:spPr>
        <p:txBody>
          <a:bodyPr wrap="square" lIns="0" tIns="0" rIns="0" bIns="0" rtlCol="0" anchor="t">
            <a:spAutoFit/>
          </a:bodyPr>
          <a:lstStyle/>
          <a:p>
            <a:pPr algn="l" indent="0" marL="0">
              <a:lnSpc>
                <a:spcPct val="124000"/>
              </a:lnSpc>
              <a:buNone/>
            </a:pPr>
            <a:r>
              <a:rPr lang="en-US" sz="800" dirty="0">
                <a:solidFill>
                  <a:srgbClr val="AEB7BA"/>
                </a:solidFill>
                <a:latin typeface="Courier New" pitchFamily="34" charset="0"/>
                <a:ea typeface="Courier New" pitchFamily="34" charset="-122"/>
                <a:cs typeface="Courier New" pitchFamily="34" charset="-120"/>
              </a:rPr>
              <a:t>Q0 treats disagreement as a first-class outcome. Identity aliases count once. Conflicting signed responses remain inspectable. Thresholds do not silently fall when a node disappears.</a:t>
            </a:r>
            <a:endParaRPr lang="en-US" sz="800" dirty="0"/>
          </a:p>
        </p:txBody>
      </p:sp>
      <p:sp>
        <p:nvSpPr>
          <p:cNvPr id="11" name="Text 7"/>
          <p:cNvSpPr/>
          <p:nvPr/>
        </p:nvSpPr>
        <p:spPr>
          <a:xfrm>
            <a:off x="485775" y="3665860"/>
            <a:ext cx="2028825" cy="650081"/>
          </a:xfrm>
          <a:prstGeom prst="rect">
            <a:avLst/>
          </a:prstGeom>
          <a:noFill/>
          <a:ln/>
        </p:spPr>
        <p:txBody>
          <a:bodyPr wrap="square" lIns="0" tIns="153035" rIns="0" bIns="0" rtlCol="0" anchor="t">
            <a:spAutoFit/>
          </a:bodyPr>
          <a:lstStyle/>
          <a:p>
            <a:pPr algn="l" indent="0" marL="0">
              <a:lnSpc>
                <a:spcPct val="120000"/>
              </a:lnSpc>
              <a:buNone/>
            </a:pPr>
            <a:r>
              <a:rPr lang="en-US" sz="600" b="1" dirty="0">
                <a:solidFill>
                  <a:srgbClr val="D85A49"/>
                </a:solidFill>
                <a:latin typeface="Courier New" pitchFamily="34" charset="0"/>
                <a:ea typeface="Courier New" pitchFamily="34" charset="-122"/>
                <a:cs typeface="Courier New" pitchFamily="34" charset="-120"/>
              </a:rPr>
              <a:t>Operating rule</a:t>
            </a:r>
            <a:r>
              <a:rPr lang="en-US" sz="600" dirty="0">
                <a:solidFill>
                  <a:srgbClr val="F4EFE4"/>
                </a:solidFill>
                <a:latin typeface="Courier New" pitchFamily="34" charset="0"/>
                <a:ea typeface="Courier New" pitchFamily="34" charset="-122"/>
                <a:cs typeface="Courier New" pitchFamily="34" charset="-120"/>
              </a:rPr>
              <a:t>
</a:t>
            </a:r>
            <a:r>
              <a:rPr lang="en-US" sz="600" dirty="0">
                <a:solidFill>
                  <a:srgbClr val="F4EFE4"/>
                </a:solidFill>
                <a:latin typeface="Courier New" pitchFamily="34" charset="0"/>
                <a:ea typeface="Courier New" pitchFamily="34" charset="-122"/>
                <a:cs typeface="Courier New" pitchFamily="34" charset="-120"/>
              </a:rPr>
              <a:t>No arrival-order winner. No text-only </a:t>
            </a:r>
            <a:r>
              <a:rPr lang="en-US" sz="600" dirty="0">
                <a:solidFill>
                  <a:srgbClr val="F4EFE4"/>
                </a:solidFill>
                <a:latin typeface="Courier New" pitchFamily="34" charset="0"/>
                <a:ea typeface="Courier New" pitchFamily="34" charset="-122"/>
                <a:cs typeface="Courier New" pitchFamily="34" charset="-120"/>
              </a:rPr>
              <a:t>equivalence. No key hint as a trust </a:t>
            </a:r>
            <a:r>
              <a:rPr lang="en-US" sz="600" dirty="0">
                <a:solidFill>
                  <a:srgbClr val="F4EFE4"/>
                </a:solidFill>
                <a:latin typeface="Courier New" pitchFamily="34" charset="0"/>
                <a:ea typeface="Courier New" pitchFamily="34" charset="-122"/>
                <a:cs typeface="Courier New" pitchFamily="34" charset="-120"/>
              </a:rPr>
              <a:t>decision.</a:t>
            </a:r>
            <a:endParaRPr lang="en-US" sz="600" dirty="0"/>
          </a:p>
        </p:txBody>
      </p:sp>
      <p:sp>
        <p:nvSpPr>
          <p:cNvPr id="12" name="Shape 8"/>
          <p:cNvSpPr/>
          <p:nvPr/>
        </p:nvSpPr>
        <p:spPr>
          <a:xfrm>
            <a:off x="2786063" y="600075"/>
            <a:ext cx="6357938" cy="4543425"/>
          </a:xfrm>
          <a:prstGeom prst="rect">
            <a:avLst/>
          </a:prstGeom>
          <a:solidFill>
            <a:srgbClr val="111B24"/>
          </a:solidFill>
          <a:ln/>
        </p:spPr>
      </p:sp>
      <p:sp>
        <p:nvSpPr>
          <p:cNvPr id="13" name="Text 9"/>
          <p:cNvSpPr/>
          <p:nvPr/>
        </p:nvSpPr>
        <p:spPr>
          <a:xfrm>
            <a:off x="2986088" y="900113"/>
            <a:ext cx="1464469" cy="82153"/>
          </a:xfrm>
          <a:prstGeom prst="rect">
            <a:avLst/>
          </a:prstGeom>
          <a:noFill/>
          <a:ln/>
        </p:spPr>
        <p:txBody>
          <a:bodyPr wrap="square" lIns="0" tIns="0" rIns="0" bIns="0" rtlCol="0" anchor="t">
            <a:spAutoFit/>
          </a:bodyPr>
          <a:lstStyle/>
          <a:p>
            <a:pPr algn="l" indent="0" marL="0">
              <a:buNone/>
            </a:pPr>
            <a:r>
              <a:rPr lang="en-US" sz="500" spc="1" kern="0" dirty="0">
                <a:solidFill>
                  <a:srgbClr val="7F8C91"/>
                </a:solidFill>
                <a:latin typeface="Courier New" pitchFamily="34" charset="0"/>
                <a:ea typeface="Courier New" pitchFamily="34" charset="-122"/>
                <a:cs typeface="Courier New" pitchFamily="34" charset="-120"/>
              </a:rPr>
              <a:t>SCENARIO</a:t>
            </a:r>
            <a:endParaRPr lang="en-US" sz="500" dirty="0"/>
          </a:p>
        </p:txBody>
      </p:sp>
      <p:sp>
        <p:nvSpPr>
          <p:cNvPr id="14" name="Text 10"/>
          <p:cNvSpPr/>
          <p:nvPr/>
        </p:nvSpPr>
        <p:spPr>
          <a:xfrm>
            <a:off x="4579144" y="900113"/>
            <a:ext cx="1035844" cy="82153"/>
          </a:xfrm>
          <a:prstGeom prst="rect">
            <a:avLst/>
          </a:prstGeom>
          <a:noFill/>
          <a:ln/>
        </p:spPr>
        <p:txBody>
          <a:bodyPr wrap="none" lIns="0" tIns="0" rIns="0" bIns="0" rtlCol="0" anchor="t">
            <a:spAutoFit/>
          </a:bodyPr>
          <a:lstStyle/>
          <a:p>
            <a:pPr algn="l" indent="0" marL="0">
              <a:buNone/>
            </a:pPr>
            <a:r>
              <a:rPr lang="en-US" sz="500" spc="1" kern="0" dirty="0">
                <a:solidFill>
                  <a:srgbClr val="7F8C91"/>
                </a:solidFill>
                <a:latin typeface="Courier New" pitchFamily="34" charset="0"/>
                <a:ea typeface="Courier New" pitchFamily="34" charset="-122"/>
                <a:cs typeface="Courier New" pitchFamily="34" charset="-120"/>
              </a:rPr>
              <a:t>SIGNAL</a:t>
            </a:r>
            <a:endParaRPr lang="en-US" sz="500" dirty="0"/>
          </a:p>
        </p:txBody>
      </p:sp>
      <p:sp>
        <p:nvSpPr>
          <p:cNvPr id="15" name="Text 11"/>
          <p:cNvSpPr/>
          <p:nvPr/>
        </p:nvSpPr>
        <p:spPr>
          <a:xfrm>
            <a:off x="5743575" y="900113"/>
            <a:ext cx="2986088" cy="82153"/>
          </a:xfrm>
          <a:prstGeom prst="rect">
            <a:avLst/>
          </a:prstGeom>
          <a:noFill/>
          <a:ln/>
        </p:spPr>
        <p:txBody>
          <a:bodyPr wrap="square" lIns="0" tIns="0" rIns="0" bIns="0" rtlCol="0" anchor="t">
            <a:spAutoFit/>
          </a:bodyPr>
          <a:lstStyle/>
          <a:p>
            <a:pPr algn="l" indent="0" marL="0">
              <a:buNone/>
            </a:pPr>
            <a:r>
              <a:rPr lang="en-US" sz="500" spc="1" kern="0" dirty="0">
                <a:solidFill>
                  <a:srgbClr val="7F8C91"/>
                </a:solidFill>
                <a:latin typeface="Courier New" pitchFamily="34" charset="0"/>
                <a:ea typeface="Courier New" pitchFamily="34" charset="-122"/>
                <a:cs typeface="Courier New" pitchFamily="34" charset="-120"/>
              </a:rPr>
              <a:t>REQUIRED BEHAVIOR</a:t>
            </a:r>
            <a:endParaRPr lang="en-US" sz="500" dirty="0"/>
          </a:p>
        </p:txBody>
      </p:sp>
      <p:sp>
        <p:nvSpPr>
          <p:cNvPr id="16" name="Text 12"/>
          <p:cNvSpPr/>
          <p:nvPr/>
        </p:nvSpPr>
        <p:spPr>
          <a:xfrm>
            <a:off x="2986088" y="1182291"/>
            <a:ext cx="1464469" cy="150019"/>
          </a:xfrm>
          <a:prstGeom prst="rect">
            <a:avLst/>
          </a:prstGeom>
          <a:noFill/>
          <a:ln/>
        </p:spPr>
        <p:txBody>
          <a:bodyPr wrap="none" lIns="0" tIns="0" rIns="0" bIns="0" rtlCol="0" anchor="t">
            <a:spAutoFit/>
          </a:bodyPr>
          <a:lstStyle/>
          <a:p>
            <a:pPr algn="l" indent="0" marL="0">
              <a:lnSpc>
                <a:spcPct val="84000"/>
              </a:lnSpc>
              <a:buNone/>
            </a:pPr>
            <a:r>
              <a:rPr lang="en-US" sz="1050" dirty="0">
                <a:solidFill>
                  <a:srgbClr val="F4EFE4"/>
                </a:solidFill>
                <a:latin typeface="Georgia" pitchFamily="34" charset="0"/>
                <a:ea typeface="Georgia" pitchFamily="34" charset="-122"/>
                <a:cs typeface="Georgia" pitchFamily="34" charset="-120"/>
              </a:rPr>
              <a:t>Duplicate identity</a:t>
            </a:r>
            <a:endParaRPr lang="en-US" sz="1050" dirty="0"/>
          </a:p>
        </p:txBody>
      </p:sp>
      <p:sp>
        <p:nvSpPr>
          <p:cNvPr id="17" name="Text 13"/>
          <p:cNvSpPr/>
          <p:nvPr/>
        </p:nvSpPr>
        <p:spPr>
          <a:xfrm>
            <a:off x="4579144" y="1182291"/>
            <a:ext cx="1035844" cy="115695"/>
          </a:xfrm>
          <a:prstGeom prst="rect">
            <a:avLst/>
          </a:prstGeom>
          <a:noFill/>
          <a:ln/>
        </p:spPr>
        <p:txBody>
          <a:bodyPr wrap="none" lIns="0" tIns="0" rIns="0" bIns="0" rtlCol="0" anchor="t">
            <a:spAutoFit/>
          </a:bodyPr>
          <a:lstStyle/>
          <a:p>
            <a:pPr algn="l" indent="0" marL="0">
              <a:lnSpc>
                <a:spcPct val="108000"/>
              </a:lnSpc>
              <a:buNone/>
            </a:pPr>
            <a:r>
              <a:rPr lang="en-US" sz="600" dirty="0">
                <a:solidFill>
                  <a:srgbClr val="D85A49"/>
                </a:solidFill>
                <a:latin typeface="Courier New" pitchFamily="34" charset="0"/>
                <a:ea typeface="Courier New" pitchFamily="34" charset="-122"/>
                <a:cs typeface="Courier New" pitchFamily="34" charset="-120"/>
              </a:rPr>
              <a:t>COUNT ONCE</a:t>
            </a:r>
            <a:endParaRPr lang="en-US" sz="600" dirty="0"/>
          </a:p>
        </p:txBody>
      </p:sp>
      <p:sp>
        <p:nvSpPr>
          <p:cNvPr id="18" name="Text 14"/>
          <p:cNvSpPr/>
          <p:nvPr/>
        </p:nvSpPr>
        <p:spPr>
          <a:xfrm>
            <a:off x="5743575" y="1182291"/>
            <a:ext cx="2986088"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BEC7C8"/>
                </a:solidFill>
                <a:latin typeface="Courier New" pitchFamily="34" charset="0"/>
                <a:ea typeface="Courier New" pitchFamily="34" charset="-122"/>
                <a:cs typeface="Courier New" pitchFamily="34" charset="-120"/>
              </a:rPr>
              <a:t>Two responses from one active verifier identity cannot </a:t>
            </a:r>
            <a:r>
              <a:rPr lang="en-US" sz="600" dirty="0">
                <a:solidFill>
                  <a:srgbClr val="BEC7C8"/>
                </a:solidFill>
                <a:latin typeface="Courier New" pitchFamily="34" charset="0"/>
                <a:ea typeface="Courier New" pitchFamily="34" charset="-122"/>
                <a:cs typeface="Courier New" pitchFamily="34" charset="-120"/>
              </a:rPr>
              <a:t>create two votes. </a:t>
            </a:r>
            <a:r>
              <a:rPr lang="en-US" sz="600" dirty="0">
                <a:solidFill>
                  <a:srgbClr val="F4EFE4"/>
                </a:solidFill>
                <a:latin typeface="Courier New" pitchFamily="34" charset="0"/>
                <a:ea typeface="Courier New" pitchFamily="34" charset="-122"/>
                <a:cs typeface="Courier New" pitchFamily="34" charset="-120"/>
              </a:rPr>
              <a:t>Preserve the duplicate evidence.</a:t>
            </a:r>
            <a:endParaRPr lang="en-US" sz="600" dirty="0"/>
          </a:p>
        </p:txBody>
      </p:sp>
      <p:sp>
        <p:nvSpPr>
          <p:cNvPr id="19" name="Text 15"/>
          <p:cNvSpPr/>
          <p:nvPr/>
        </p:nvSpPr>
        <p:spPr>
          <a:xfrm>
            <a:off x="2986088" y="1725216"/>
            <a:ext cx="1464469" cy="150019"/>
          </a:xfrm>
          <a:prstGeom prst="rect">
            <a:avLst/>
          </a:prstGeom>
          <a:noFill/>
          <a:ln/>
        </p:spPr>
        <p:txBody>
          <a:bodyPr wrap="none" lIns="0" tIns="0" rIns="0" bIns="0" rtlCol="0" anchor="t">
            <a:spAutoFit/>
          </a:bodyPr>
          <a:lstStyle/>
          <a:p>
            <a:pPr algn="l" indent="0" marL="0">
              <a:lnSpc>
                <a:spcPct val="84000"/>
              </a:lnSpc>
              <a:buNone/>
            </a:pPr>
            <a:r>
              <a:rPr lang="en-US" sz="1050" dirty="0">
                <a:solidFill>
                  <a:srgbClr val="F4EFE4"/>
                </a:solidFill>
                <a:latin typeface="Georgia" pitchFamily="34" charset="0"/>
                <a:ea typeface="Georgia" pitchFamily="34" charset="-122"/>
                <a:cs typeface="Georgia" pitchFamily="34" charset="-120"/>
              </a:rPr>
              <a:t>Same-key equivocation</a:t>
            </a:r>
            <a:endParaRPr lang="en-US" sz="1050" dirty="0"/>
          </a:p>
        </p:txBody>
      </p:sp>
      <p:sp>
        <p:nvSpPr>
          <p:cNvPr id="20" name="Text 16"/>
          <p:cNvSpPr/>
          <p:nvPr/>
        </p:nvSpPr>
        <p:spPr>
          <a:xfrm>
            <a:off x="4579144" y="1725216"/>
            <a:ext cx="1035844" cy="115695"/>
          </a:xfrm>
          <a:prstGeom prst="rect">
            <a:avLst/>
          </a:prstGeom>
          <a:noFill/>
          <a:ln/>
        </p:spPr>
        <p:txBody>
          <a:bodyPr wrap="none" lIns="0" tIns="0" rIns="0" bIns="0" rtlCol="0" anchor="t">
            <a:spAutoFit/>
          </a:bodyPr>
          <a:lstStyle/>
          <a:p>
            <a:pPr algn="l" indent="0" marL="0">
              <a:lnSpc>
                <a:spcPct val="108000"/>
              </a:lnSpc>
              <a:buNone/>
            </a:pPr>
            <a:r>
              <a:rPr lang="en-US" sz="600" dirty="0">
                <a:solidFill>
                  <a:srgbClr val="D85A49"/>
                </a:solidFill>
                <a:latin typeface="Courier New" pitchFamily="34" charset="0"/>
                <a:ea typeface="Courier New" pitchFamily="34" charset="-122"/>
                <a:cs typeface="Courier New" pitchFamily="34" charset="-120"/>
              </a:rPr>
              <a:t>CONTESTED</a:t>
            </a:r>
            <a:endParaRPr lang="en-US" sz="600" dirty="0"/>
          </a:p>
        </p:txBody>
      </p:sp>
      <p:sp>
        <p:nvSpPr>
          <p:cNvPr id="21" name="Text 17"/>
          <p:cNvSpPr/>
          <p:nvPr/>
        </p:nvSpPr>
        <p:spPr>
          <a:xfrm>
            <a:off x="5743575" y="1725216"/>
            <a:ext cx="2986088"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BEC7C8"/>
                </a:solidFill>
                <a:latin typeface="Courier New" pitchFamily="34" charset="0"/>
                <a:ea typeface="Courier New" pitchFamily="34" charset="-122"/>
                <a:cs typeface="Courier New" pitchFamily="34" charset="-120"/>
              </a:rPr>
              <a:t>One key signs incompatible outputs for one request. </a:t>
            </a:r>
            <a:r>
              <a:rPr lang="en-US" sz="600" dirty="0">
                <a:solidFill>
                  <a:srgbClr val="F4EFE4"/>
                </a:solidFill>
                <a:latin typeface="Courier New" pitchFamily="34" charset="0"/>
                <a:ea typeface="Courier New" pitchFamily="34" charset="-122"/>
                <a:cs typeface="Courier New" pitchFamily="34" charset="-120"/>
              </a:rPr>
              <a:t>Emit equivocation evidence and block a clean decision.</a:t>
            </a:r>
            <a:endParaRPr lang="en-US" sz="600" dirty="0"/>
          </a:p>
        </p:txBody>
      </p:sp>
      <p:sp>
        <p:nvSpPr>
          <p:cNvPr id="22" name="Text 18"/>
          <p:cNvSpPr/>
          <p:nvPr/>
        </p:nvSpPr>
        <p:spPr>
          <a:xfrm>
            <a:off x="2986088" y="2268141"/>
            <a:ext cx="1464469" cy="150019"/>
          </a:xfrm>
          <a:prstGeom prst="rect">
            <a:avLst/>
          </a:prstGeom>
          <a:noFill/>
          <a:ln/>
        </p:spPr>
        <p:txBody>
          <a:bodyPr wrap="none" lIns="0" tIns="0" rIns="0" bIns="0" rtlCol="0" anchor="t">
            <a:spAutoFit/>
          </a:bodyPr>
          <a:lstStyle/>
          <a:p>
            <a:pPr algn="l" indent="0" marL="0">
              <a:lnSpc>
                <a:spcPct val="84000"/>
              </a:lnSpc>
              <a:buNone/>
            </a:pPr>
            <a:r>
              <a:rPr lang="en-US" sz="1050" dirty="0">
                <a:solidFill>
                  <a:srgbClr val="F4EFE4"/>
                </a:solidFill>
                <a:latin typeface="Georgia" pitchFamily="34" charset="0"/>
                <a:ea typeface="Georgia" pitchFamily="34" charset="-122"/>
                <a:cs typeface="Georgia" pitchFamily="34" charset="-120"/>
              </a:rPr>
              <a:t>Output divergence</a:t>
            </a:r>
            <a:endParaRPr lang="en-US" sz="1050" dirty="0"/>
          </a:p>
        </p:txBody>
      </p:sp>
      <p:sp>
        <p:nvSpPr>
          <p:cNvPr id="23" name="Text 19"/>
          <p:cNvSpPr/>
          <p:nvPr/>
        </p:nvSpPr>
        <p:spPr>
          <a:xfrm>
            <a:off x="4579144" y="2268141"/>
            <a:ext cx="1035844" cy="115695"/>
          </a:xfrm>
          <a:prstGeom prst="rect">
            <a:avLst/>
          </a:prstGeom>
          <a:noFill/>
          <a:ln/>
        </p:spPr>
        <p:txBody>
          <a:bodyPr wrap="none" lIns="0" tIns="0" rIns="0" bIns="0" rtlCol="0" anchor="t">
            <a:spAutoFit/>
          </a:bodyPr>
          <a:lstStyle/>
          <a:p>
            <a:pPr algn="l" indent="0" marL="0">
              <a:lnSpc>
                <a:spcPct val="108000"/>
              </a:lnSpc>
              <a:buNone/>
            </a:pPr>
            <a:r>
              <a:rPr lang="en-US" sz="600" dirty="0">
                <a:solidFill>
                  <a:srgbClr val="D85A49"/>
                </a:solidFill>
                <a:latin typeface="Courier New" pitchFamily="34" charset="0"/>
                <a:ea typeface="Courier New" pitchFamily="34" charset="-122"/>
                <a:cs typeface="Courier New" pitchFamily="34" charset="-120"/>
              </a:rPr>
              <a:t>NO MERGE</a:t>
            </a:r>
            <a:endParaRPr lang="en-US" sz="600" dirty="0"/>
          </a:p>
        </p:txBody>
      </p:sp>
      <p:sp>
        <p:nvSpPr>
          <p:cNvPr id="24" name="Text 20"/>
          <p:cNvSpPr/>
          <p:nvPr/>
        </p:nvSpPr>
        <p:spPr>
          <a:xfrm>
            <a:off x="5743575" y="2268141"/>
            <a:ext cx="2986088" cy="37287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BEC7C8"/>
                </a:solidFill>
                <a:latin typeface="Courier New" pitchFamily="34" charset="0"/>
                <a:ea typeface="Courier New" pitchFamily="34" charset="-122"/>
                <a:cs typeface="Courier New" pitchFamily="34" charset="-120"/>
              </a:rPr>
              <a:t>Same status, different output IDs, or incompatible </a:t>
            </a:r>
            <a:r>
              <a:rPr lang="en-US" sz="600" dirty="0">
                <a:solidFill>
                  <a:srgbClr val="BEC7C8"/>
                </a:solidFill>
                <a:latin typeface="Courier New" pitchFamily="34" charset="0"/>
                <a:ea typeface="Courier New" pitchFamily="34" charset="-122"/>
                <a:cs typeface="Courier New" pitchFamily="34" charset="-120"/>
              </a:rPr>
              <a:t>residual class. </a:t>
            </a:r>
            <a:r>
              <a:rPr lang="en-US" sz="600" dirty="0">
                <a:solidFill>
                  <a:srgbClr val="F4EFE4"/>
                </a:solidFill>
                <a:latin typeface="Courier New" pitchFamily="34" charset="0"/>
                <a:ea typeface="Courier New" pitchFamily="34" charset="-122"/>
                <a:cs typeface="Courier New" pitchFamily="34" charset="-120"/>
              </a:rPr>
              <a:t>Group separately; never merge by explanation text.</a:t>
            </a:r>
            <a:endParaRPr lang="en-US" sz="600" dirty="0"/>
          </a:p>
        </p:txBody>
      </p:sp>
      <p:sp>
        <p:nvSpPr>
          <p:cNvPr id="25" name="Text 21"/>
          <p:cNvSpPr/>
          <p:nvPr/>
        </p:nvSpPr>
        <p:spPr>
          <a:xfrm>
            <a:off x="2986088" y="2862467"/>
            <a:ext cx="1464469" cy="150019"/>
          </a:xfrm>
          <a:prstGeom prst="rect">
            <a:avLst/>
          </a:prstGeom>
          <a:noFill/>
          <a:ln/>
        </p:spPr>
        <p:txBody>
          <a:bodyPr wrap="none" lIns="0" tIns="0" rIns="0" bIns="0" rtlCol="0" anchor="t">
            <a:spAutoFit/>
          </a:bodyPr>
          <a:lstStyle/>
          <a:p>
            <a:pPr algn="l" indent="0" marL="0">
              <a:lnSpc>
                <a:spcPct val="84000"/>
              </a:lnSpc>
              <a:buNone/>
            </a:pPr>
            <a:r>
              <a:rPr lang="en-US" sz="1050" dirty="0">
                <a:solidFill>
                  <a:srgbClr val="F4EFE4"/>
                </a:solidFill>
                <a:latin typeface="Georgia" pitchFamily="34" charset="0"/>
                <a:ea typeface="Georgia" pitchFamily="34" charset="-122"/>
                <a:cs typeface="Georgia" pitchFamily="34" charset="-120"/>
              </a:rPr>
              <a:t>Stale or revoked key</a:t>
            </a:r>
            <a:endParaRPr lang="en-US" sz="1050" dirty="0"/>
          </a:p>
        </p:txBody>
      </p:sp>
      <p:sp>
        <p:nvSpPr>
          <p:cNvPr id="26" name="Text 22"/>
          <p:cNvSpPr/>
          <p:nvPr/>
        </p:nvSpPr>
        <p:spPr>
          <a:xfrm>
            <a:off x="4579144" y="2862467"/>
            <a:ext cx="1035844" cy="115695"/>
          </a:xfrm>
          <a:prstGeom prst="rect">
            <a:avLst/>
          </a:prstGeom>
          <a:noFill/>
          <a:ln/>
        </p:spPr>
        <p:txBody>
          <a:bodyPr wrap="none" lIns="0" tIns="0" rIns="0" bIns="0" rtlCol="0" anchor="t">
            <a:spAutoFit/>
          </a:bodyPr>
          <a:lstStyle/>
          <a:p>
            <a:pPr algn="l" indent="0" marL="0">
              <a:lnSpc>
                <a:spcPct val="108000"/>
              </a:lnSpc>
              <a:buNone/>
            </a:pPr>
            <a:r>
              <a:rPr lang="en-US" sz="600" dirty="0">
                <a:solidFill>
                  <a:srgbClr val="D85A49"/>
                </a:solidFill>
                <a:latin typeface="Courier New" pitchFamily="34" charset="0"/>
                <a:ea typeface="Courier New" pitchFamily="34" charset="-122"/>
                <a:cs typeface="Courier New" pitchFamily="34" charset="-120"/>
              </a:rPr>
              <a:t>REJECT</a:t>
            </a:r>
            <a:endParaRPr lang="en-US" sz="600" dirty="0"/>
          </a:p>
        </p:txBody>
      </p:sp>
      <p:sp>
        <p:nvSpPr>
          <p:cNvPr id="27" name="Text 23"/>
          <p:cNvSpPr/>
          <p:nvPr/>
        </p:nvSpPr>
        <p:spPr>
          <a:xfrm>
            <a:off x="5743575" y="2862467"/>
            <a:ext cx="2986088"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BEC7C8"/>
                </a:solidFill>
                <a:latin typeface="Courier New" pitchFamily="34" charset="0"/>
                <a:ea typeface="Courier New" pitchFamily="34" charset="-122"/>
                <a:cs typeface="Courier New" pitchFamily="34" charset="-120"/>
              </a:rPr>
              <a:t>Inactive policy identity is excluded. </a:t>
            </a:r>
            <a:r>
              <a:rPr lang="en-US" sz="600" dirty="0">
                <a:solidFill>
                  <a:srgbClr val="F4EFE4"/>
                </a:solidFill>
                <a:latin typeface="Courier New" pitchFamily="34" charset="0"/>
                <a:ea typeface="Courier New" pitchFamily="34" charset="-122"/>
                <a:cs typeface="Courier New" pitchFamily="34" charset="-120"/>
              </a:rPr>
              <a:t>Do not lower the threshold to compensate.</a:t>
            </a:r>
            <a:endParaRPr lang="en-US" sz="600" dirty="0"/>
          </a:p>
        </p:txBody>
      </p:sp>
      <p:sp>
        <p:nvSpPr>
          <p:cNvPr id="28" name="Text 24"/>
          <p:cNvSpPr/>
          <p:nvPr/>
        </p:nvSpPr>
        <p:spPr>
          <a:xfrm>
            <a:off x="2986088" y="3405392"/>
            <a:ext cx="1464469" cy="150019"/>
          </a:xfrm>
          <a:prstGeom prst="rect">
            <a:avLst/>
          </a:prstGeom>
          <a:noFill/>
          <a:ln/>
        </p:spPr>
        <p:txBody>
          <a:bodyPr wrap="none" lIns="0" tIns="0" rIns="0" bIns="0" rtlCol="0" anchor="t">
            <a:spAutoFit/>
          </a:bodyPr>
          <a:lstStyle/>
          <a:p>
            <a:pPr algn="l" indent="0" marL="0">
              <a:lnSpc>
                <a:spcPct val="84000"/>
              </a:lnSpc>
              <a:buNone/>
            </a:pPr>
            <a:r>
              <a:rPr lang="en-US" sz="1050" dirty="0">
                <a:solidFill>
                  <a:srgbClr val="F4EFE4"/>
                </a:solidFill>
                <a:latin typeface="Georgia" pitchFamily="34" charset="0"/>
                <a:ea typeface="Georgia" pitchFamily="34" charset="-122"/>
                <a:cs typeface="Georgia" pitchFamily="34" charset="-120"/>
              </a:rPr>
              <a:t>Request mismatch</a:t>
            </a:r>
            <a:endParaRPr lang="en-US" sz="1050" dirty="0"/>
          </a:p>
        </p:txBody>
      </p:sp>
      <p:sp>
        <p:nvSpPr>
          <p:cNvPr id="29" name="Text 25"/>
          <p:cNvSpPr/>
          <p:nvPr/>
        </p:nvSpPr>
        <p:spPr>
          <a:xfrm>
            <a:off x="4579144" y="3405392"/>
            <a:ext cx="1035844" cy="115695"/>
          </a:xfrm>
          <a:prstGeom prst="rect">
            <a:avLst/>
          </a:prstGeom>
          <a:noFill/>
          <a:ln/>
        </p:spPr>
        <p:txBody>
          <a:bodyPr wrap="none" lIns="0" tIns="0" rIns="0" bIns="0" rtlCol="0" anchor="t">
            <a:spAutoFit/>
          </a:bodyPr>
          <a:lstStyle/>
          <a:p>
            <a:pPr algn="l" indent="0" marL="0">
              <a:lnSpc>
                <a:spcPct val="108000"/>
              </a:lnSpc>
              <a:buNone/>
            </a:pPr>
            <a:r>
              <a:rPr lang="en-US" sz="600" dirty="0">
                <a:solidFill>
                  <a:srgbClr val="D85A49"/>
                </a:solidFill>
                <a:latin typeface="Courier New" pitchFamily="34" charset="0"/>
                <a:ea typeface="Courier New" pitchFamily="34" charset="-122"/>
                <a:cs typeface="Courier New" pitchFamily="34" charset="-120"/>
              </a:rPr>
              <a:t>REJECT</a:t>
            </a:r>
            <a:endParaRPr lang="en-US" sz="600" dirty="0"/>
          </a:p>
        </p:txBody>
      </p:sp>
      <p:sp>
        <p:nvSpPr>
          <p:cNvPr id="30" name="Text 26"/>
          <p:cNvSpPr/>
          <p:nvPr/>
        </p:nvSpPr>
        <p:spPr>
          <a:xfrm>
            <a:off x="5743575" y="3405392"/>
            <a:ext cx="2986088"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BEC7C8"/>
                </a:solidFill>
                <a:latin typeface="Courier New" pitchFamily="34" charset="0"/>
                <a:ea typeface="Courier New" pitchFamily="34" charset="-122"/>
                <a:cs typeface="Courier New" pitchFamily="34" charset="-120"/>
              </a:rPr>
              <a:t>Wrong request, contract, convention, or payload type. </a:t>
            </a:r>
            <a:r>
              <a:rPr lang="en-US" sz="600" dirty="0">
                <a:solidFill>
                  <a:srgbClr val="F4EFE4"/>
                </a:solidFill>
                <a:latin typeface="Courier New" pitchFamily="34" charset="0"/>
                <a:ea typeface="Courier New" pitchFamily="34" charset="-122"/>
                <a:cs typeface="Courier New" pitchFamily="34" charset="-120"/>
              </a:rPr>
              <a:t>Return a typed rejection and retain the envelope.</a:t>
            </a:r>
            <a:endParaRPr lang="en-US" sz="600" dirty="0"/>
          </a:p>
        </p:txBody>
      </p:sp>
      <p:sp>
        <p:nvSpPr>
          <p:cNvPr id="31" name="Text 27"/>
          <p:cNvSpPr/>
          <p:nvPr/>
        </p:nvSpPr>
        <p:spPr>
          <a:xfrm>
            <a:off x="2986088" y="3948317"/>
            <a:ext cx="1464469" cy="150019"/>
          </a:xfrm>
          <a:prstGeom prst="rect">
            <a:avLst/>
          </a:prstGeom>
          <a:noFill/>
          <a:ln/>
        </p:spPr>
        <p:txBody>
          <a:bodyPr wrap="none" lIns="0" tIns="0" rIns="0" bIns="0" rtlCol="0" anchor="t">
            <a:spAutoFit/>
          </a:bodyPr>
          <a:lstStyle/>
          <a:p>
            <a:pPr algn="l" indent="0" marL="0">
              <a:lnSpc>
                <a:spcPct val="84000"/>
              </a:lnSpc>
              <a:buNone/>
            </a:pPr>
            <a:r>
              <a:rPr lang="en-US" sz="1050" dirty="0">
                <a:solidFill>
                  <a:srgbClr val="F4EFE4"/>
                </a:solidFill>
                <a:latin typeface="Georgia" pitchFamily="34" charset="0"/>
                <a:ea typeface="Georgia" pitchFamily="34" charset="-122"/>
                <a:cs typeface="Georgia" pitchFamily="34" charset="-120"/>
              </a:rPr>
              <a:t>Insufficient quorum</a:t>
            </a:r>
            <a:endParaRPr lang="en-US" sz="1050" dirty="0"/>
          </a:p>
        </p:txBody>
      </p:sp>
      <p:sp>
        <p:nvSpPr>
          <p:cNvPr id="32" name="Text 28"/>
          <p:cNvSpPr/>
          <p:nvPr/>
        </p:nvSpPr>
        <p:spPr>
          <a:xfrm>
            <a:off x="4579144" y="3948317"/>
            <a:ext cx="1035844" cy="115695"/>
          </a:xfrm>
          <a:prstGeom prst="rect">
            <a:avLst/>
          </a:prstGeom>
          <a:noFill/>
          <a:ln/>
        </p:spPr>
        <p:txBody>
          <a:bodyPr wrap="none" lIns="0" tIns="0" rIns="0" bIns="0" rtlCol="0" anchor="t">
            <a:spAutoFit/>
          </a:bodyPr>
          <a:lstStyle/>
          <a:p>
            <a:pPr algn="l" indent="0" marL="0">
              <a:lnSpc>
                <a:spcPct val="108000"/>
              </a:lnSpc>
              <a:buNone/>
            </a:pPr>
            <a:r>
              <a:rPr lang="en-US" sz="600" dirty="0">
                <a:solidFill>
                  <a:srgbClr val="D85A49"/>
                </a:solidFill>
                <a:latin typeface="Courier New" pitchFamily="34" charset="0"/>
                <a:ea typeface="Courier New" pitchFamily="34" charset="-122"/>
                <a:cs typeface="Courier New" pitchFamily="34" charset="-120"/>
              </a:rPr>
              <a:t>AVAILABILITY</a:t>
            </a:r>
            <a:endParaRPr lang="en-US" sz="600" dirty="0"/>
          </a:p>
        </p:txBody>
      </p:sp>
      <p:sp>
        <p:nvSpPr>
          <p:cNvPr id="33" name="Text 29"/>
          <p:cNvSpPr/>
          <p:nvPr/>
        </p:nvSpPr>
        <p:spPr>
          <a:xfrm>
            <a:off x="5743575" y="3948317"/>
            <a:ext cx="2986088" cy="37287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BEC7C8"/>
                </a:solidFill>
                <a:latin typeface="Courier New" pitchFamily="34" charset="0"/>
                <a:ea typeface="Courier New" pitchFamily="34" charset="-122"/>
                <a:cs typeface="Courier New" pitchFamily="34" charset="-120"/>
              </a:rPr>
              <a:t>Fewer than </a:t>
            </a:r>
            <a:r>
              <a:rPr lang="en-US" sz="600" dirty="0">
                <a:solidFill>
                  <a:srgbClr val="F4EFE4"/>
                </a:solidFill>
                <a:latin typeface="Courier New" pitchFamily="34" charset="0"/>
                <a:ea typeface="Courier New" pitchFamily="34" charset="-122"/>
                <a:cs typeface="Courier New" pitchFamily="34" charset="-120"/>
              </a:rPr>
              <a:t>t</a:t>
            </a:r>
            <a:r>
              <a:rPr lang="en-US" sz="600" dirty="0">
                <a:solidFill>
                  <a:srgbClr val="BEC7C8"/>
                </a:solidFill>
                <a:latin typeface="Courier New" pitchFamily="34" charset="0"/>
                <a:ea typeface="Courier New" pitchFamily="34" charset="-122"/>
                <a:cs typeface="Courier New" pitchFamily="34" charset="-120"/>
              </a:rPr>
              <a:t> eligible identities before the policy </a:t>
            </a:r>
            <a:r>
              <a:rPr lang="en-US" sz="600" dirty="0">
                <a:solidFill>
                  <a:srgbClr val="BEC7C8"/>
                </a:solidFill>
                <a:latin typeface="Courier New" pitchFamily="34" charset="0"/>
                <a:ea typeface="Courier New" pitchFamily="34" charset="-122"/>
                <a:cs typeface="Courier New" pitchFamily="34" charset="-120"/>
              </a:rPr>
              <a:t>boundary. </a:t>
            </a:r>
            <a:r>
              <a:rPr lang="en-US" sz="600" dirty="0">
                <a:solidFill>
                  <a:srgbClr val="F4EFE4"/>
                </a:solidFill>
                <a:latin typeface="Courier New" pitchFamily="34" charset="0"/>
                <a:ea typeface="Courier New" pitchFamily="34" charset="-122"/>
                <a:cs typeface="Courier New" pitchFamily="34" charset="-120"/>
              </a:rPr>
              <a:t>Availability limitation, not mathematical failure.</a:t>
            </a:r>
            <a:endParaRPr lang="en-US" sz="600" dirty="0"/>
          </a:p>
        </p:txBody>
      </p:sp>
      <p:sp>
        <p:nvSpPr>
          <p:cNvPr id="34" name="Text 30"/>
          <p:cNvSpPr/>
          <p:nvPr/>
        </p:nvSpPr>
        <p:spPr>
          <a:xfrm>
            <a:off x="2986088" y="4592650"/>
            <a:ext cx="5743575" cy="164306"/>
          </a:xfrm>
          <a:prstGeom prst="rect">
            <a:avLst/>
          </a:prstGeom>
          <a:noFill/>
          <a:ln/>
        </p:spPr>
        <p:txBody>
          <a:bodyPr wrap="square" lIns="0" tIns="0" rIns="0" bIns="0" rtlCol="0" anchor="t">
            <a:spAutoFit/>
          </a:bodyPr>
          <a:lstStyle/>
          <a:p>
            <a:pPr algn="l" indent="0" marL="0">
              <a:buNone/>
            </a:pPr>
            <a:r>
              <a:rPr lang="en-US" sz="500" spc="1" kern="0" dirty="0">
                <a:solidFill>
                  <a:srgbClr val="7D8A8E"/>
                </a:solidFill>
                <a:latin typeface="Courier New" pitchFamily="34" charset="0"/>
                <a:ea typeface="Courier New" pitchFamily="34" charset="-122"/>
                <a:cs typeface="Courier New" pitchFamily="34" charset="-120"/>
              </a:rPr>
              <a:t>Q0 STATUS VOCABULARY: THRESHOLD_VERIFIED · THRESHOLD_FAILED · THRESHOLD_UNVERIFIABLE · CONTESTED · INSUFFICIENT_QUORUM · REJECTED_RESPONSE</a:t>
            </a:r>
            <a:endParaRPr lang="en-US" sz="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659024"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07 / ADVERSARIAL CONFIDENCE</a:t>
            </a:r>
            <a:endParaRPr lang="en-US" sz="550" dirty="0"/>
          </a:p>
        </p:txBody>
      </p:sp>
      <p:sp>
        <p:nvSpPr>
          <p:cNvPr id="7" name="Text 3"/>
          <p:cNvSpPr/>
          <p:nvPr/>
        </p:nvSpPr>
        <p:spPr>
          <a:xfrm>
            <a:off x="7126337" y="192881"/>
            <a:ext cx="1603325"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FUZZ CAMPAIGN DESIGN · FIXED SEEDS</a:t>
            </a:r>
            <a:endParaRPr lang="en-US" sz="550" dirty="0"/>
          </a:p>
        </p:txBody>
      </p:sp>
      <p:sp>
        <p:nvSpPr>
          <p:cNvPr id="8" name="Text 4"/>
          <p:cNvSpPr/>
          <p:nvPr/>
        </p:nvSpPr>
        <p:spPr>
          <a:xfrm>
            <a:off x="414338" y="1000125"/>
            <a:ext cx="1307306"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CAMPAIGN</a:t>
            </a:r>
            <a:endParaRPr lang="en-US" sz="550" dirty="0"/>
          </a:p>
        </p:txBody>
      </p:sp>
      <p:sp>
        <p:nvSpPr>
          <p:cNvPr id="9" name="Text 5"/>
          <p:cNvSpPr/>
          <p:nvPr/>
        </p:nvSpPr>
        <p:spPr>
          <a:xfrm>
            <a:off x="414338" y="1232297"/>
            <a:ext cx="1307306" cy="874328"/>
          </a:xfrm>
          <a:prstGeom prst="rect">
            <a:avLst/>
          </a:prstGeom>
          <a:noFill/>
          <a:ln/>
        </p:spPr>
        <p:txBody>
          <a:bodyPr wrap="square" lIns="0" tIns="0" rIns="0" bIns="0" rtlCol="0" anchor="t">
            <a:spAutoFit/>
          </a:bodyPr>
          <a:lstStyle/>
          <a:p>
            <a:pPr algn="l" indent="0" marL="0">
              <a:lnSpc>
                <a:spcPct val="72000"/>
              </a:lnSpc>
              <a:buNone/>
            </a:pPr>
            <a:r>
              <a:rPr lang="en-US" sz="3750" spc="-2" kern="0" dirty="0">
                <a:solidFill>
                  <a:srgbClr val="F4EFE4"/>
                </a:solidFill>
                <a:latin typeface="Georgia" pitchFamily="34" charset="0"/>
                <a:ea typeface="Georgia" pitchFamily="34" charset="-122"/>
                <a:cs typeface="Georgia" pitchFamily="34" charset="-120"/>
              </a:rPr>
              <a:t>10k</a:t>
            </a:r>
            <a:r>
              <a:rPr lang="en-US" sz="3750" spc="-2" kern="0" dirty="0">
                <a:solidFill>
                  <a:srgbClr val="F4EFE4"/>
                </a:solidFill>
                <a:latin typeface="Georgia" pitchFamily="34" charset="0"/>
                <a:ea typeface="Georgia" pitchFamily="34" charset="-122"/>
                <a:cs typeface="Georgia" pitchFamily="34" charset="-120"/>
              </a:rPr>
              <a:t>
</a:t>
            </a:r>
            <a:r>
              <a:rPr lang="en-US" sz="3750" i="1" spc="-2" kern="0" dirty="0">
                <a:solidFill>
                  <a:srgbClr val="D85A49"/>
                </a:solidFill>
                <a:latin typeface="Georgia" pitchFamily="34" charset="0"/>
                <a:ea typeface="Georgia" pitchFamily="34" charset="-122"/>
                <a:cs typeface="Georgia" pitchFamily="34" charset="-120"/>
              </a:rPr>
              <a:t>+</a:t>
            </a:r>
            <a:endParaRPr lang="en-US" sz="3750" dirty="0"/>
          </a:p>
        </p:txBody>
      </p:sp>
      <p:sp>
        <p:nvSpPr>
          <p:cNvPr id="10" name="Text 6"/>
          <p:cNvSpPr/>
          <p:nvPr/>
        </p:nvSpPr>
        <p:spPr>
          <a:xfrm>
            <a:off x="414338" y="2235212"/>
            <a:ext cx="1307306" cy="642938"/>
          </a:xfrm>
          <a:prstGeom prst="rect">
            <a:avLst/>
          </a:prstGeom>
          <a:noFill/>
          <a:ln/>
        </p:spPr>
        <p:txBody>
          <a:bodyPr wrap="square" lIns="0" tIns="0" rIns="0" bIns="0" rtlCol="0" anchor="t">
            <a:spAutoFit/>
          </a:bodyPr>
          <a:lstStyle/>
          <a:p>
            <a:pPr algn="l" indent="0" marL="0">
              <a:lnSpc>
                <a:spcPct val="120000"/>
              </a:lnSpc>
              <a:buNone/>
            </a:pPr>
            <a:r>
              <a:rPr lang="en-US" sz="600" dirty="0">
                <a:solidFill>
                  <a:srgbClr val="9EAAAD"/>
                </a:solidFill>
                <a:latin typeface="Courier New" pitchFamily="34" charset="0"/>
                <a:ea typeface="Courier New" pitchFamily="34" charset="-122"/>
                <a:cs typeface="Courier New" pitchFamily="34" charset="-120"/>
              </a:rPr>
              <a:t>generated cases across the shared Rust/Python domain before the extended campaign is admitted.</a:t>
            </a:r>
            <a:endParaRPr lang="en-US" sz="600" dirty="0"/>
          </a:p>
        </p:txBody>
      </p:sp>
      <p:sp>
        <p:nvSpPr>
          <p:cNvPr id="11" name="Text 7"/>
          <p:cNvSpPr/>
          <p:nvPr/>
        </p:nvSpPr>
        <p:spPr>
          <a:xfrm>
            <a:off x="414338" y="3299631"/>
            <a:ext cx="557324" cy="107156"/>
          </a:xfrm>
          <a:prstGeom prst="rect">
            <a:avLst/>
          </a:prstGeom>
          <a:noFill/>
          <a:ln/>
        </p:spPr>
        <p:txBody>
          <a:bodyPr wrap="none" lIns="0" tIns="0" rIns="0" bIns="0" rtlCol="0" anchor="t">
            <a:spAutoFit/>
          </a:bodyPr>
          <a:lstStyle/>
          <a:p>
            <a:pPr algn="l" indent="0" marL="0">
              <a:buNone/>
            </a:pPr>
            <a:r>
              <a:rPr lang="en-US" sz="650" dirty="0">
                <a:solidFill>
                  <a:srgbClr val="F4EFE4"/>
                </a:solidFill>
                <a:latin typeface="Courier New" pitchFamily="34" charset="0"/>
                <a:ea typeface="Courier New" pitchFamily="34" charset="-122"/>
                <a:cs typeface="Courier New" pitchFamily="34" charset="-120"/>
              </a:rPr>
              <a:t>SEEDS / 03</a:t>
            </a:r>
            <a:endParaRPr lang="en-US" sz="650" dirty="0"/>
          </a:p>
        </p:txBody>
      </p:sp>
      <p:sp>
        <p:nvSpPr>
          <p:cNvPr id="12" name="Text 8"/>
          <p:cNvSpPr/>
          <p:nvPr/>
        </p:nvSpPr>
        <p:spPr>
          <a:xfrm>
            <a:off x="414338" y="3463937"/>
            <a:ext cx="1307306" cy="353616"/>
          </a:xfrm>
          <a:prstGeom prst="rect">
            <a:avLst/>
          </a:prstGeom>
          <a:noFill/>
          <a:ln/>
        </p:spPr>
        <p:txBody>
          <a:bodyPr wrap="square" lIns="0" tIns="0" rIns="0" bIns="0" rtlCol="0" anchor="t">
            <a:spAutoFit/>
          </a:bodyPr>
          <a:lstStyle/>
          <a:p>
            <a:pPr algn="l" indent="0" marL="0">
              <a:lnSpc>
                <a:spcPct val="120000"/>
              </a:lnSpc>
              <a:buNone/>
            </a:pPr>
            <a:r>
              <a:rPr lang="en-US" sz="550" dirty="0">
                <a:solidFill>
                  <a:srgbClr val="75848A"/>
                </a:solidFill>
                <a:latin typeface="Courier New" pitchFamily="34" charset="0"/>
                <a:ea typeface="Courier New" pitchFamily="34" charset="-122"/>
                <a:cs typeface="Courier New" pitchFamily="34" charset="-120"/>
              </a:rPr>
              <a:t>R1 · R2 · P1</a:t>
            </a:r>
            <a:r>
              <a:rPr lang="en-US" sz="550" dirty="0">
                <a:solidFill>
                  <a:srgbClr val="75848A"/>
                </a:solidFill>
                <a:latin typeface="Courier New" pitchFamily="34" charset="0"/>
                <a:ea typeface="Courier New" pitchFamily="34" charset="-122"/>
                <a:cs typeface="Courier New" pitchFamily="34" charset="-120"/>
              </a:rPr>
              <a:t>
</a:t>
            </a:r>
            <a:r>
              <a:rPr lang="en-US" sz="550" dirty="0">
                <a:solidFill>
                  <a:srgbClr val="75848A"/>
                </a:solidFill>
                <a:latin typeface="Courier New" pitchFamily="34" charset="0"/>
                <a:ea typeface="Courier New" pitchFamily="34" charset="-122"/>
                <a:cs typeface="Courier New" pitchFamily="34" charset="-120"/>
              </a:rPr>
              <a:t>recorded, replayable,</a:t>
            </a:r>
            <a:r>
              <a:rPr lang="en-US" sz="550" dirty="0">
                <a:solidFill>
                  <a:srgbClr val="75848A"/>
                </a:solidFill>
                <a:latin typeface="Courier New" pitchFamily="34" charset="0"/>
                <a:ea typeface="Courier New" pitchFamily="34" charset="-122"/>
                <a:cs typeface="Courier New" pitchFamily="34" charset="-120"/>
              </a:rPr>
              <a:t>
</a:t>
            </a:r>
            <a:r>
              <a:rPr lang="en-US" sz="550" dirty="0">
                <a:solidFill>
                  <a:srgbClr val="75848A"/>
                </a:solidFill>
                <a:latin typeface="Courier New" pitchFamily="34" charset="0"/>
                <a:ea typeface="Courier New" pitchFamily="34" charset="-122"/>
                <a:cs typeface="Courier New" pitchFamily="34" charset="-120"/>
              </a:rPr>
              <a:t>never “random” in CI.</a:t>
            </a:r>
            <a:endParaRPr lang="en-US" sz="550" dirty="0"/>
          </a:p>
        </p:txBody>
      </p:sp>
      <p:sp>
        <p:nvSpPr>
          <p:cNvPr id="13" name="Text 9"/>
          <p:cNvSpPr/>
          <p:nvPr/>
        </p:nvSpPr>
        <p:spPr>
          <a:xfrm>
            <a:off x="2185988" y="1000125"/>
            <a:ext cx="3500438" cy="96441"/>
          </a:xfrm>
          <a:prstGeom prst="rect">
            <a:avLst/>
          </a:prstGeom>
          <a:noFill/>
          <a:ln/>
        </p:spPr>
        <p:txBody>
          <a:bodyPr wrap="square" lIns="0" tIns="0" rIns="0" bIns="0" rtlCol="0" anchor="t">
            <a:spAutoFit/>
          </a:bodyPr>
          <a:lstStyle/>
          <a:p>
            <a:pPr algn="l" indent="0" marL="0">
              <a:buNone/>
            </a:pPr>
            <a:r>
              <a:rPr lang="en-US" sz="600" spc="1" kern="0" dirty="0">
                <a:solidFill>
                  <a:srgbClr val="F0B8A8"/>
                </a:solidFill>
                <a:latin typeface="Courier New" pitchFamily="34" charset="0"/>
                <a:ea typeface="Courier New" pitchFamily="34" charset="-122"/>
                <a:cs typeface="Courier New" pitchFamily="34" charset="-120"/>
              </a:rPr>
              <a:t>TARGET LANES / WHAT CAN BREAK</a:t>
            </a:r>
            <a:endParaRPr lang="en-US" sz="600" dirty="0"/>
          </a:p>
        </p:txBody>
      </p:sp>
      <p:sp>
        <p:nvSpPr>
          <p:cNvPr id="14" name="Text 10"/>
          <p:cNvSpPr/>
          <p:nvPr/>
        </p:nvSpPr>
        <p:spPr>
          <a:xfrm>
            <a:off x="2185988" y="1368028"/>
            <a:ext cx="585788" cy="402841"/>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Georgia" pitchFamily="34" charset="0"/>
                <a:ea typeface="Georgia" pitchFamily="34" charset="-122"/>
                <a:cs typeface="Georgia" pitchFamily="34" charset="-120"/>
              </a:rPr>
              <a:t>R1</a:t>
            </a:r>
            <a:endParaRPr lang="en-US" sz="950" dirty="0"/>
          </a:p>
        </p:txBody>
      </p:sp>
      <p:sp>
        <p:nvSpPr>
          <p:cNvPr id="15" name="Text 11"/>
          <p:cNvSpPr/>
          <p:nvPr/>
        </p:nvSpPr>
        <p:spPr>
          <a:xfrm>
            <a:off x="2886075" y="1368028"/>
            <a:ext cx="2800350" cy="132159"/>
          </a:xfrm>
          <a:prstGeom prst="rect">
            <a:avLst/>
          </a:prstGeom>
          <a:noFill/>
          <a:ln/>
        </p:spPr>
        <p:txBody>
          <a:bodyPr wrap="square" lIns="0" tIns="0" rIns="0" bIns="0" rtlCol="0" anchor="t">
            <a:spAutoFit/>
          </a:bodyPr>
          <a:lstStyle/>
          <a:p>
            <a:pPr algn="l" indent="0" marL="0">
              <a:buNone/>
            </a:pPr>
            <a:r>
              <a:rPr lang="en-US" sz="850" dirty="0">
                <a:solidFill>
                  <a:srgbClr val="F4EFE4"/>
                </a:solidFill>
                <a:latin typeface="Georgia" pitchFamily="34" charset="0"/>
                <a:ea typeface="Georgia" pitchFamily="34" charset="-122"/>
                <a:cs typeface="Georgia" pitchFamily="34" charset="-120"/>
              </a:rPr>
              <a:t>Canonical bytes</a:t>
            </a:r>
            <a:endParaRPr lang="en-US" sz="850" dirty="0"/>
          </a:p>
        </p:txBody>
      </p:sp>
      <p:sp>
        <p:nvSpPr>
          <p:cNvPr id="16" name="Text 12"/>
          <p:cNvSpPr/>
          <p:nvPr/>
        </p:nvSpPr>
        <p:spPr>
          <a:xfrm>
            <a:off x="2886075" y="1543050"/>
            <a:ext cx="2800350" cy="227819"/>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A9B4B6"/>
                </a:solidFill>
                <a:latin typeface="Courier New" pitchFamily="34" charset="0"/>
                <a:ea typeface="Courier New" pitchFamily="34" charset="-122"/>
                <a:cs typeface="Courier New" pitchFamily="34" charset="-120"/>
              </a:rPr>
              <a:t>Key permutations, Unicode, integer boundaries, raw floats, deep values.</a:t>
            </a:r>
            <a:endParaRPr lang="en-US" sz="550" dirty="0"/>
          </a:p>
        </p:txBody>
      </p:sp>
      <p:sp>
        <p:nvSpPr>
          <p:cNvPr id="17" name="Text 13"/>
          <p:cNvSpPr/>
          <p:nvPr/>
        </p:nvSpPr>
        <p:spPr>
          <a:xfrm>
            <a:off x="2185988" y="2020900"/>
            <a:ext cx="585788" cy="402841"/>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Georgia" pitchFamily="34" charset="0"/>
                <a:ea typeface="Georgia" pitchFamily="34" charset="-122"/>
                <a:cs typeface="Georgia" pitchFamily="34" charset="-120"/>
              </a:rPr>
              <a:t>R2</a:t>
            </a:r>
            <a:endParaRPr lang="en-US" sz="950" dirty="0"/>
          </a:p>
        </p:txBody>
      </p:sp>
      <p:sp>
        <p:nvSpPr>
          <p:cNvPr id="18" name="Text 14"/>
          <p:cNvSpPr/>
          <p:nvPr/>
        </p:nvSpPr>
        <p:spPr>
          <a:xfrm>
            <a:off x="2886075" y="2020900"/>
            <a:ext cx="2800350" cy="132159"/>
          </a:xfrm>
          <a:prstGeom prst="rect">
            <a:avLst/>
          </a:prstGeom>
          <a:noFill/>
          <a:ln/>
        </p:spPr>
        <p:txBody>
          <a:bodyPr wrap="square" lIns="0" tIns="0" rIns="0" bIns="0" rtlCol="0" anchor="t">
            <a:spAutoFit/>
          </a:bodyPr>
          <a:lstStyle/>
          <a:p>
            <a:pPr algn="l" indent="0" marL="0">
              <a:buNone/>
            </a:pPr>
            <a:r>
              <a:rPr lang="en-US" sz="850" dirty="0">
                <a:solidFill>
                  <a:srgbClr val="F4EFE4"/>
                </a:solidFill>
                <a:latin typeface="Georgia" pitchFamily="34" charset="0"/>
                <a:ea typeface="Georgia" pitchFamily="34" charset="-122"/>
                <a:cs typeface="Georgia" pitchFamily="34" charset="-120"/>
              </a:rPr>
              <a:t>Derived identity</a:t>
            </a:r>
            <a:endParaRPr lang="en-US" sz="850" dirty="0"/>
          </a:p>
        </p:txBody>
      </p:sp>
      <p:sp>
        <p:nvSpPr>
          <p:cNvPr id="19" name="Text 15"/>
          <p:cNvSpPr/>
          <p:nvPr/>
        </p:nvSpPr>
        <p:spPr>
          <a:xfrm>
            <a:off x="2886075" y="2195922"/>
            <a:ext cx="2800350" cy="227819"/>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A9B4B6"/>
                </a:solidFill>
                <a:latin typeface="Courier New" pitchFamily="34" charset="0"/>
                <a:ea typeface="Courier New" pitchFamily="34" charset="-122"/>
                <a:cs typeface="Courier New" pitchFamily="34" charset="-120"/>
              </a:rPr>
              <a:t>Mutation pairs, accepted-body ID stability, implementation-induced collisions.</a:t>
            </a:r>
            <a:endParaRPr lang="en-US" sz="550" dirty="0"/>
          </a:p>
        </p:txBody>
      </p:sp>
      <p:sp>
        <p:nvSpPr>
          <p:cNvPr id="20" name="Text 16"/>
          <p:cNvSpPr/>
          <p:nvPr/>
        </p:nvSpPr>
        <p:spPr>
          <a:xfrm>
            <a:off x="2185988" y="2673772"/>
            <a:ext cx="585788" cy="402841"/>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Georgia" pitchFamily="34" charset="0"/>
                <a:ea typeface="Georgia" pitchFamily="34" charset="-122"/>
                <a:cs typeface="Georgia" pitchFamily="34" charset="-120"/>
              </a:rPr>
              <a:t>R3</a:t>
            </a:r>
            <a:endParaRPr lang="en-US" sz="950" dirty="0"/>
          </a:p>
        </p:txBody>
      </p:sp>
      <p:sp>
        <p:nvSpPr>
          <p:cNvPr id="21" name="Text 17"/>
          <p:cNvSpPr/>
          <p:nvPr/>
        </p:nvSpPr>
        <p:spPr>
          <a:xfrm>
            <a:off x="2886075" y="2673772"/>
            <a:ext cx="2800350" cy="132159"/>
          </a:xfrm>
          <a:prstGeom prst="rect">
            <a:avLst/>
          </a:prstGeom>
          <a:noFill/>
          <a:ln/>
        </p:spPr>
        <p:txBody>
          <a:bodyPr wrap="square" lIns="0" tIns="0" rIns="0" bIns="0" rtlCol="0" anchor="t">
            <a:spAutoFit/>
          </a:bodyPr>
          <a:lstStyle/>
          <a:p>
            <a:pPr algn="l" indent="0" marL="0">
              <a:buNone/>
            </a:pPr>
            <a:r>
              <a:rPr lang="en-US" sz="850" dirty="0">
                <a:solidFill>
                  <a:srgbClr val="F4EFE4"/>
                </a:solidFill>
                <a:latin typeface="Georgia" pitchFamily="34" charset="0"/>
                <a:ea typeface="Georgia" pitchFamily="34" charset="-122"/>
                <a:cs typeface="Georgia" pitchFamily="34" charset="-120"/>
              </a:rPr>
              <a:t>Invariant interpreter</a:t>
            </a:r>
            <a:endParaRPr lang="en-US" sz="850" dirty="0"/>
          </a:p>
        </p:txBody>
      </p:sp>
      <p:sp>
        <p:nvSpPr>
          <p:cNvPr id="22" name="Text 18"/>
          <p:cNvSpPr/>
          <p:nvPr/>
        </p:nvSpPr>
        <p:spPr>
          <a:xfrm>
            <a:off x="2886075" y="2848794"/>
            <a:ext cx="2800350" cy="227819"/>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A9B4B6"/>
                </a:solidFill>
                <a:latin typeface="Courier New" pitchFamily="34" charset="0"/>
                <a:ea typeface="Courier New" pitchFamily="34" charset="-122"/>
                <a:cs typeface="Courier New" pitchFamily="34" charset="-120"/>
              </a:rPr>
              <a:t>Metric matrices, sparse tensors, malformed references, unknown operations.</a:t>
            </a:r>
            <a:endParaRPr lang="en-US" sz="550" dirty="0"/>
          </a:p>
        </p:txBody>
      </p:sp>
      <p:sp>
        <p:nvSpPr>
          <p:cNvPr id="23" name="Text 19"/>
          <p:cNvSpPr/>
          <p:nvPr/>
        </p:nvSpPr>
        <p:spPr>
          <a:xfrm>
            <a:off x="2185988" y="3326643"/>
            <a:ext cx="585788" cy="402841"/>
          </a:xfrm>
          <a:prstGeom prst="rect">
            <a:avLst/>
          </a:prstGeom>
          <a:noFill/>
          <a:ln/>
        </p:spPr>
        <p:txBody>
          <a:bodyPr wrap="none" lIns="0" tIns="0" rIns="0" bIns="0" rtlCol="0" anchor="t">
            <a:spAutoFit/>
          </a:bodyPr>
          <a:lstStyle/>
          <a:p>
            <a:pPr algn="l" indent="0" marL="0">
              <a:buNone/>
            </a:pPr>
            <a:r>
              <a:rPr lang="en-US" sz="950" dirty="0">
                <a:solidFill>
                  <a:srgbClr val="D85A49"/>
                </a:solidFill>
                <a:latin typeface="Georgia" pitchFamily="34" charset="0"/>
                <a:ea typeface="Georgia" pitchFamily="34" charset="-122"/>
                <a:cs typeface="Georgia" pitchFamily="34" charset="-120"/>
              </a:rPr>
              <a:t>P1</a:t>
            </a:r>
            <a:endParaRPr lang="en-US" sz="950" dirty="0"/>
          </a:p>
        </p:txBody>
      </p:sp>
      <p:sp>
        <p:nvSpPr>
          <p:cNvPr id="24" name="Text 20"/>
          <p:cNvSpPr/>
          <p:nvPr/>
        </p:nvSpPr>
        <p:spPr>
          <a:xfrm>
            <a:off x="2886075" y="3326643"/>
            <a:ext cx="2800350" cy="132159"/>
          </a:xfrm>
          <a:prstGeom prst="rect">
            <a:avLst/>
          </a:prstGeom>
          <a:noFill/>
          <a:ln/>
        </p:spPr>
        <p:txBody>
          <a:bodyPr wrap="square" lIns="0" tIns="0" rIns="0" bIns="0" rtlCol="0" anchor="t">
            <a:spAutoFit/>
          </a:bodyPr>
          <a:lstStyle/>
          <a:p>
            <a:pPr algn="l" indent="0" marL="0">
              <a:buNone/>
            </a:pPr>
            <a:r>
              <a:rPr lang="en-US" sz="850" dirty="0">
                <a:solidFill>
                  <a:srgbClr val="F4EFE4"/>
                </a:solidFill>
                <a:latin typeface="Georgia" pitchFamily="34" charset="0"/>
                <a:ea typeface="Georgia" pitchFamily="34" charset="-122"/>
                <a:cs typeface="Georgia" pitchFamily="34" charset="-120"/>
              </a:rPr>
              <a:t>Durable replay</a:t>
            </a:r>
            <a:endParaRPr lang="en-US" sz="850" dirty="0"/>
          </a:p>
        </p:txBody>
      </p:sp>
      <p:sp>
        <p:nvSpPr>
          <p:cNvPr id="25" name="Text 21"/>
          <p:cNvSpPr/>
          <p:nvPr/>
        </p:nvSpPr>
        <p:spPr>
          <a:xfrm>
            <a:off x="2886075" y="3501665"/>
            <a:ext cx="2800350" cy="227819"/>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A9B4B6"/>
                </a:solidFill>
                <a:latin typeface="Courier New" pitchFamily="34" charset="0"/>
                <a:ea typeface="Courier New" pitchFamily="34" charset="-122"/>
                <a:cs typeface="Courier New" pitchFamily="34" charset="-120"/>
              </a:rPr>
              <a:t>Truncation, manifest drift, tampered bytes, path boundaries, idempotent re-put.</a:t>
            </a:r>
            <a:endParaRPr lang="en-US" sz="550" dirty="0"/>
          </a:p>
        </p:txBody>
      </p:sp>
      <p:sp>
        <p:nvSpPr>
          <p:cNvPr id="26" name="Shape 22"/>
          <p:cNvSpPr/>
          <p:nvPr/>
        </p:nvSpPr>
        <p:spPr>
          <a:xfrm>
            <a:off x="5929313" y="600075"/>
            <a:ext cx="3214688" cy="4543425"/>
          </a:xfrm>
          <a:prstGeom prst="rect">
            <a:avLst/>
          </a:prstGeom>
          <a:solidFill>
            <a:srgbClr val="111B24"/>
          </a:solidFill>
          <a:ln/>
        </p:spPr>
      </p:sp>
      <p:sp>
        <p:nvSpPr>
          <p:cNvPr id="27" name="Text 23"/>
          <p:cNvSpPr/>
          <p:nvPr/>
        </p:nvSpPr>
        <p:spPr>
          <a:xfrm>
            <a:off x="6172200" y="1000125"/>
            <a:ext cx="2628900"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ORACLE HIERARCHY</a:t>
            </a:r>
            <a:endParaRPr lang="en-US" sz="550" dirty="0"/>
          </a:p>
        </p:txBody>
      </p:sp>
      <p:sp>
        <p:nvSpPr>
          <p:cNvPr id="28" name="Text 24"/>
          <p:cNvSpPr/>
          <p:nvPr/>
        </p:nvSpPr>
        <p:spPr>
          <a:xfrm>
            <a:off x="6172200" y="1218009"/>
            <a:ext cx="2628900" cy="479971"/>
          </a:xfrm>
          <a:prstGeom prst="rect">
            <a:avLst/>
          </a:prstGeom>
          <a:noFill/>
          <a:ln/>
        </p:spPr>
        <p:txBody>
          <a:bodyPr wrap="square" lIns="0" tIns="0" rIns="0" bIns="0" rtlCol="0" anchor="t">
            <a:spAutoFit/>
          </a:bodyPr>
          <a:lstStyle/>
          <a:p>
            <a:pPr algn="l" indent="0" marL="0">
              <a:lnSpc>
                <a:spcPct val="84000"/>
              </a:lnSpc>
              <a:buNone/>
            </a:pPr>
            <a:r>
              <a:rPr lang="en-US" sz="1600" b="1" spc="-1" kern="0" dirty="0">
                <a:solidFill>
                  <a:srgbClr val="F4EFE4"/>
                </a:solidFill>
                <a:latin typeface="Georgia" pitchFamily="34" charset="0"/>
                <a:ea typeface="Georgia" pitchFamily="34" charset="-122"/>
                <a:cs typeface="Georgia" pitchFamily="34" charset="-120"/>
              </a:rPr>
              <a:t>Fail closed</a:t>
            </a:r>
            <a:r>
              <a:rPr lang="en-US" sz="1600" b="1" spc="-1" kern="0" dirty="0">
                <a:solidFill>
                  <a:srgbClr val="F4EFE4"/>
                </a:solidFill>
                <a:latin typeface="Georgia" pitchFamily="34" charset="0"/>
                <a:ea typeface="Georgia" pitchFamily="34" charset="-122"/>
                <a:cs typeface="Georgia" pitchFamily="34" charset="-120"/>
              </a:rPr>
              <a:t>
</a:t>
            </a:r>
            <a:r>
              <a:rPr lang="en-US" sz="1600" b="1" spc="-1" kern="0" dirty="0">
                <a:solidFill>
                  <a:srgbClr val="F4EFE4"/>
                </a:solidFill>
                <a:latin typeface="Georgia" pitchFamily="34" charset="0"/>
                <a:ea typeface="Georgia" pitchFamily="34" charset="-122"/>
                <a:cs typeface="Georgia" pitchFamily="34" charset="-120"/>
              </a:rPr>
              <a:t>by construction.</a:t>
            </a:r>
            <a:endParaRPr lang="en-US" sz="1600" dirty="0"/>
          </a:p>
        </p:txBody>
      </p:sp>
      <p:sp>
        <p:nvSpPr>
          <p:cNvPr id="29" name="Text 25"/>
          <p:cNvSpPr/>
          <p:nvPr/>
        </p:nvSpPr>
        <p:spPr>
          <a:xfrm>
            <a:off x="6172200" y="1869430"/>
            <a:ext cx="257175" cy="248580"/>
          </a:xfrm>
          <a:prstGeom prst="rect">
            <a:avLst/>
          </a:prstGeom>
          <a:noFill/>
          <a:ln/>
        </p:spPr>
        <p:txBody>
          <a:bodyPr wrap="none" lIns="0" tIns="0" rIns="0" bIns="0" rtlCol="0" anchor="t">
            <a:spAutoFit/>
          </a:bodyPr>
          <a:lstStyle/>
          <a:p>
            <a:pPr algn="l" indent="0" marL="0">
              <a:buNone/>
            </a:pPr>
            <a:r>
              <a:rPr lang="en-US" sz="850" dirty="0">
                <a:solidFill>
                  <a:srgbClr val="D85A49"/>
                </a:solidFill>
                <a:latin typeface="Courier New" pitchFamily="34" charset="0"/>
                <a:ea typeface="Courier New" pitchFamily="34" charset="-122"/>
                <a:cs typeface="Courier New" pitchFamily="34" charset="-120"/>
              </a:rPr>
              <a:t>01</a:t>
            </a:r>
            <a:endParaRPr lang="en-US" sz="850" dirty="0"/>
          </a:p>
        </p:txBody>
      </p:sp>
      <p:sp>
        <p:nvSpPr>
          <p:cNvPr id="30" name="Text 26"/>
          <p:cNvSpPr/>
          <p:nvPr/>
        </p:nvSpPr>
        <p:spPr>
          <a:xfrm>
            <a:off x="6529388" y="1869430"/>
            <a:ext cx="2271713"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C1C9C9"/>
                </a:solidFill>
                <a:latin typeface="Courier New" pitchFamily="34" charset="0"/>
                <a:ea typeface="Courier New" pitchFamily="34" charset="-122"/>
                <a:cs typeface="Courier New" pitchFamily="34" charset="-120"/>
              </a:rPr>
              <a:t>Exact canonical bytes: Python reference and Rust output match.</a:t>
            </a:r>
            <a:endParaRPr lang="en-US" sz="600" dirty="0"/>
          </a:p>
        </p:txBody>
      </p:sp>
      <p:sp>
        <p:nvSpPr>
          <p:cNvPr id="31" name="Text 27"/>
          <p:cNvSpPr/>
          <p:nvPr/>
        </p:nvSpPr>
        <p:spPr>
          <a:xfrm>
            <a:off x="6172200" y="2225167"/>
            <a:ext cx="257175" cy="248580"/>
          </a:xfrm>
          <a:prstGeom prst="rect">
            <a:avLst/>
          </a:prstGeom>
          <a:noFill/>
          <a:ln/>
        </p:spPr>
        <p:txBody>
          <a:bodyPr wrap="none" lIns="0" tIns="0" rIns="0" bIns="0" rtlCol="0" anchor="t">
            <a:spAutoFit/>
          </a:bodyPr>
          <a:lstStyle/>
          <a:p>
            <a:pPr algn="l" indent="0" marL="0">
              <a:buNone/>
            </a:pPr>
            <a:r>
              <a:rPr lang="en-US" sz="850" dirty="0">
                <a:solidFill>
                  <a:srgbClr val="D85A49"/>
                </a:solidFill>
                <a:latin typeface="Courier New" pitchFamily="34" charset="0"/>
                <a:ea typeface="Courier New" pitchFamily="34" charset="-122"/>
                <a:cs typeface="Courier New" pitchFamily="34" charset="-120"/>
              </a:rPr>
              <a:t>02</a:t>
            </a:r>
            <a:endParaRPr lang="en-US" sz="850" dirty="0"/>
          </a:p>
        </p:txBody>
      </p:sp>
      <p:sp>
        <p:nvSpPr>
          <p:cNvPr id="32" name="Text 28"/>
          <p:cNvSpPr/>
          <p:nvPr/>
        </p:nvSpPr>
        <p:spPr>
          <a:xfrm>
            <a:off x="6529388" y="2225167"/>
            <a:ext cx="2271713"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C1C9C9"/>
                </a:solidFill>
                <a:latin typeface="Courier New" pitchFamily="34" charset="0"/>
                <a:ea typeface="Courier New" pitchFamily="34" charset="-122"/>
                <a:cs typeface="Courier New" pitchFamily="34" charset="-120"/>
              </a:rPr>
              <a:t>Contract oracle: invalid, failed, or unverifiable is explicit.</a:t>
            </a:r>
            <a:endParaRPr lang="en-US" sz="600" dirty="0"/>
          </a:p>
        </p:txBody>
      </p:sp>
      <p:sp>
        <p:nvSpPr>
          <p:cNvPr id="33" name="Text 29"/>
          <p:cNvSpPr/>
          <p:nvPr/>
        </p:nvSpPr>
        <p:spPr>
          <a:xfrm>
            <a:off x="6172200" y="2580903"/>
            <a:ext cx="257175" cy="248580"/>
          </a:xfrm>
          <a:prstGeom prst="rect">
            <a:avLst/>
          </a:prstGeom>
          <a:noFill/>
          <a:ln/>
        </p:spPr>
        <p:txBody>
          <a:bodyPr wrap="none" lIns="0" tIns="0" rIns="0" bIns="0" rtlCol="0" anchor="t">
            <a:spAutoFit/>
          </a:bodyPr>
          <a:lstStyle/>
          <a:p>
            <a:pPr algn="l" indent="0" marL="0">
              <a:buNone/>
            </a:pPr>
            <a:r>
              <a:rPr lang="en-US" sz="850" dirty="0">
                <a:solidFill>
                  <a:srgbClr val="D85A49"/>
                </a:solidFill>
                <a:latin typeface="Courier New" pitchFamily="34" charset="0"/>
                <a:ea typeface="Courier New" pitchFamily="34" charset="-122"/>
                <a:cs typeface="Courier New" pitchFamily="34" charset="-120"/>
              </a:rPr>
              <a:t>03</a:t>
            </a:r>
            <a:endParaRPr lang="en-US" sz="850" dirty="0"/>
          </a:p>
        </p:txBody>
      </p:sp>
      <p:sp>
        <p:nvSpPr>
          <p:cNvPr id="34" name="Text 30"/>
          <p:cNvSpPr/>
          <p:nvPr/>
        </p:nvSpPr>
        <p:spPr>
          <a:xfrm>
            <a:off x="6529388" y="2580903"/>
            <a:ext cx="2271713"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C1C9C9"/>
                </a:solidFill>
                <a:latin typeface="Courier New" pitchFamily="34" charset="0"/>
                <a:ea typeface="Courier New" pitchFamily="34" charset="-122"/>
                <a:cs typeface="Courier New" pitchFamily="34" charset="-120"/>
              </a:rPr>
              <a:t>Metamorphic oracle: key order, replay, and idempotence properties.</a:t>
            </a:r>
            <a:endParaRPr lang="en-US" sz="600" dirty="0"/>
          </a:p>
        </p:txBody>
      </p:sp>
      <p:sp>
        <p:nvSpPr>
          <p:cNvPr id="35" name="Text 31"/>
          <p:cNvSpPr/>
          <p:nvPr/>
        </p:nvSpPr>
        <p:spPr>
          <a:xfrm>
            <a:off x="6172200" y="2936639"/>
            <a:ext cx="257175" cy="248580"/>
          </a:xfrm>
          <a:prstGeom prst="rect">
            <a:avLst/>
          </a:prstGeom>
          <a:noFill/>
          <a:ln/>
        </p:spPr>
        <p:txBody>
          <a:bodyPr wrap="none" lIns="0" tIns="0" rIns="0" bIns="0" rtlCol="0" anchor="t">
            <a:spAutoFit/>
          </a:bodyPr>
          <a:lstStyle/>
          <a:p>
            <a:pPr algn="l" indent="0" marL="0">
              <a:buNone/>
            </a:pPr>
            <a:r>
              <a:rPr lang="en-US" sz="850" dirty="0">
                <a:solidFill>
                  <a:srgbClr val="D85A49"/>
                </a:solidFill>
                <a:latin typeface="Courier New" pitchFamily="34" charset="0"/>
                <a:ea typeface="Courier New" pitchFamily="34" charset="-122"/>
                <a:cs typeface="Courier New" pitchFamily="34" charset="-120"/>
              </a:rPr>
              <a:t>04</a:t>
            </a:r>
            <a:endParaRPr lang="en-US" sz="850" dirty="0"/>
          </a:p>
        </p:txBody>
      </p:sp>
      <p:sp>
        <p:nvSpPr>
          <p:cNvPr id="36" name="Text 32"/>
          <p:cNvSpPr/>
          <p:nvPr/>
        </p:nvSpPr>
        <p:spPr>
          <a:xfrm>
            <a:off x="6529388" y="2936639"/>
            <a:ext cx="2271713"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C1C9C9"/>
                </a:solidFill>
                <a:latin typeface="Courier New" pitchFamily="34" charset="0"/>
                <a:ea typeface="Courier New" pitchFamily="34" charset="-122"/>
                <a:cs typeface="Courier New" pitchFamily="34" charset="-120"/>
              </a:rPr>
              <a:t>No oracle: never promote unsupported </a:t>
            </a:r>
            <a:r>
              <a:rPr lang="en-US" sz="600" dirty="0">
                <a:solidFill>
                  <a:srgbClr val="C1C9C9"/>
                </a:solidFill>
                <a:latin typeface="Courier New" pitchFamily="34" charset="0"/>
                <a:ea typeface="Courier New" pitchFamily="34" charset="-122"/>
                <a:cs typeface="Courier New" pitchFamily="34" charset="-120"/>
              </a:rPr>
              <a:t>behavior to </a:t>
            </a:r>
            <a:r>
              <a:rPr lang="en-US" sz="600" i="1" dirty="0">
                <a:solidFill>
                  <a:srgbClr val="C1C9C9"/>
                </a:solidFill>
                <a:latin typeface="Courier New" pitchFamily="34" charset="0"/>
                <a:ea typeface="Courier New" pitchFamily="34" charset="-122"/>
                <a:cs typeface="Courier New" pitchFamily="34" charset="-120"/>
              </a:rPr>
              <a:t>verified</a:t>
            </a:r>
            <a:r>
              <a:rPr lang="en-US" sz="600" dirty="0">
                <a:solidFill>
                  <a:srgbClr val="C1C9C9"/>
                </a:solidFill>
                <a:latin typeface="Courier New" pitchFamily="34" charset="0"/>
                <a:ea typeface="Courier New" pitchFamily="34" charset="-122"/>
                <a:cs typeface="Courier New" pitchFamily="34" charset="-120"/>
              </a:rPr>
              <a:t>.</a:t>
            </a:r>
            <a:endParaRPr lang="en-US" sz="600" dirty="0"/>
          </a:p>
        </p:txBody>
      </p:sp>
      <p:sp>
        <p:nvSpPr>
          <p:cNvPr id="37" name="Text 33"/>
          <p:cNvSpPr/>
          <p:nvPr/>
        </p:nvSpPr>
        <p:spPr>
          <a:xfrm>
            <a:off x="6172200" y="3435251"/>
            <a:ext cx="2628900" cy="546497"/>
          </a:xfrm>
          <a:prstGeom prst="rect">
            <a:avLst/>
          </a:prstGeom>
          <a:noFill/>
          <a:ln/>
        </p:spPr>
        <p:txBody>
          <a:bodyPr wrap="square" lIns="0" tIns="144526" rIns="0" bIns="0" rtlCol="0" anchor="t">
            <a:spAutoFit/>
          </a:bodyPr>
          <a:lstStyle/>
          <a:p>
            <a:pPr algn="l" indent="0" marL="0">
              <a:lnSpc>
                <a:spcPct val="120000"/>
              </a:lnSpc>
              <a:buNone/>
            </a:pPr>
            <a:r>
              <a:rPr lang="en-US" sz="650" b="1" dirty="0">
                <a:solidFill>
                  <a:srgbClr val="D85A49"/>
                </a:solidFill>
                <a:latin typeface="Courier New" pitchFamily="34" charset="0"/>
                <a:ea typeface="Courier New" pitchFamily="34" charset="-122"/>
                <a:cs typeface="Courier New" pitchFamily="34" charset="-120"/>
              </a:rPr>
              <a:t>Promotion rule:</a:t>
            </a:r>
            <a:r>
              <a:rPr lang="en-US" sz="650" dirty="0">
                <a:solidFill>
                  <a:srgbClr val="F4EFE4"/>
                </a:solidFill>
                <a:latin typeface="Courier New" pitchFamily="34" charset="0"/>
                <a:ea typeface="Courier New" pitchFamily="34" charset="-122"/>
                <a:cs typeface="Courier New" pitchFamily="34" charset="-120"/>
              </a:rPr>
              <a:t> a zero-collision corpus is </a:t>
            </a:r>
            <a:r>
              <a:rPr lang="en-US" sz="650" dirty="0">
                <a:solidFill>
                  <a:srgbClr val="F4EFE4"/>
                </a:solidFill>
                <a:latin typeface="Courier New" pitchFamily="34" charset="0"/>
                <a:ea typeface="Courier New" pitchFamily="34" charset="-122"/>
                <a:cs typeface="Courier New" pitchFamily="34" charset="-120"/>
              </a:rPr>
              <a:t>evidence about this implementation—not a proof </a:t>
            </a:r>
            <a:r>
              <a:rPr lang="en-US" sz="650" dirty="0">
                <a:solidFill>
                  <a:srgbClr val="F4EFE4"/>
                </a:solidFill>
                <a:latin typeface="Courier New" pitchFamily="34" charset="0"/>
                <a:ea typeface="Courier New" pitchFamily="34" charset="-122"/>
                <a:cs typeface="Courier New" pitchFamily="34" charset="-120"/>
              </a:rPr>
              <a:t>that SHA-256 has no collisions.</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290340"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08 / CAMPAIGN RESULTS</a:t>
            </a:r>
            <a:endParaRPr lang="en-US" sz="550" dirty="0"/>
          </a:p>
        </p:txBody>
      </p:sp>
      <p:sp>
        <p:nvSpPr>
          <p:cNvPr id="7" name="Text 3"/>
          <p:cNvSpPr/>
          <p:nvPr/>
        </p:nvSpPr>
        <p:spPr>
          <a:xfrm>
            <a:off x="6701898" y="192881"/>
            <a:ext cx="2027765"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SEED 0x51554F52554D5F51 · DETERMINISTIC RUN</a:t>
            </a:r>
            <a:endParaRPr lang="en-US" sz="550" dirty="0"/>
          </a:p>
        </p:txBody>
      </p:sp>
      <p:sp>
        <p:nvSpPr>
          <p:cNvPr id="8" name="Text 4"/>
          <p:cNvSpPr/>
          <p:nvPr/>
        </p:nvSpPr>
        <p:spPr>
          <a:xfrm>
            <a:off x="485775" y="1042988"/>
            <a:ext cx="1421606"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ADVERSARIAL CASES</a:t>
            </a:r>
            <a:endParaRPr lang="en-US" sz="550" dirty="0"/>
          </a:p>
        </p:txBody>
      </p:sp>
      <p:sp>
        <p:nvSpPr>
          <p:cNvPr id="9" name="Text 5"/>
          <p:cNvSpPr/>
          <p:nvPr/>
        </p:nvSpPr>
        <p:spPr>
          <a:xfrm>
            <a:off x="485775" y="1310878"/>
            <a:ext cx="1421606" cy="597452"/>
          </a:xfrm>
          <a:prstGeom prst="rect">
            <a:avLst/>
          </a:prstGeom>
          <a:noFill/>
          <a:ln/>
        </p:spPr>
        <p:txBody>
          <a:bodyPr wrap="none" lIns="0" tIns="0" rIns="0" bIns="0" rtlCol="0" anchor="t">
            <a:spAutoFit/>
          </a:bodyPr>
          <a:lstStyle/>
          <a:p>
            <a:pPr algn="l" indent="0" marL="0">
              <a:lnSpc>
                <a:spcPct val="65600"/>
              </a:lnSpc>
              <a:buNone/>
            </a:pPr>
            <a:r>
              <a:rPr lang="en-US" sz="5600" spc="-5" kern="0" dirty="0">
                <a:solidFill>
                  <a:srgbClr val="F4EFE4"/>
                </a:solidFill>
                <a:latin typeface="Georgia" pitchFamily="34" charset="0"/>
                <a:ea typeface="Georgia" pitchFamily="34" charset="-122"/>
                <a:cs typeface="Georgia" pitchFamily="34" charset="-120"/>
              </a:rPr>
              <a:t>5,750</a:t>
            </a:r>
            <a:r>
              <a:rPr lang="en-US" sz="1700" dirty="0">
                <a:solidFill>
                  <a:srgbClr val="D85A49"/>
                </a:solidFill>
                <a:latin typeface="Georgia" pitchFamily="34" charset="0"/>
                <a:ea typeface="Georgia" pitchFamily="34" charset="-122"/>
                <a:cs typeface="Georgia" pitchFamily="34" charset="-120"/>
              </a:rPr>
              <a:t>✓</a:t>
            </a:r>
            <a:endParaRPr lang="en-US" sz="5600" dirty="0"/>
          </a:p>
        </p:txBody>
      </p:sp>
      <p:sp>
        <p:nvSpPr>
          <p:cNvPr id="10" name="Text 6"/>
          <p:cNvSpPr/>
          <p:nvPr/>
        </p:nvSpPr>
        <p:spPr>
          <a:xfrm>
            <a:off x="485775" y="2008343"/>
            <a:ext cx="1421606" cy="514350"/>
          </a:xfrm>
          <a:prstGeom prst="rect">
            <a:avLst/>
          </a:prstGeom>
          <a:noFill/>
          <a:ln/>
        </p:spPr>
        <p:txBody>
          <a:bodyPr wrap="square" lIns="0" tIns="0" rIns="0" bIns="0" rtlCol="0" anchor="t">
            <a:spAutoFit/>
          </a:bodyPr>
          <a:lstStyle/>
          <a:p>
            <a:pPr algn="l" indent="0" marL="0">
              <a:lnSpc>
                <a:spcPct val="120000"/>
              </a:lnSpc>
              <a:buNone/>
            </a:pPr>
            <a:r>
              <a:rPr lang="en-US" sz="600" dirty="0">
                <a:solidFill>
                  <a:srgbClr val="9DA9AD"/>
                </a:solidFill>
                <a:latin typeface="Courier New" pitchFamily="34" charset="0"/>
                <a:ea typeface="Courier New" pitchFamily="34" charset="-122"/>
                <a:cs typeface="Courier New" pitchFamily="34" charset="-120"/>
              </a:rPr>
              <a:t>Across duplicate identity, equivocation, order, binding, signature, and invalid-policy lanes.</a:t>
            </a:r>
            <a:endParaRPr lang="en-US" sz="600" dirty="0"/>
          </a:p>
        </p:txBody>
      </p:sp>
      <p:sp>
        <p:nvSpPr>
          <p:cNvPr id="11" name="Text 7"/>
          <p:cNvSpPr/>
          <p:nvPr/>
        </p:nvSpPr>
        <p:spPr>
          <a:xfrm>
            <a:off x="485775" y="2808443"/>
            <a:ext cx="1421606" cy="477515"/>
          </a:xfrm>
          <a:prstGeom prst="rect">
            <a:avLst/>
          </a:prstGeom>
          <a:noFill/>
          <a:ln/>
        </p:spPr>
        <p:txBody>
          <a:bodyPr wrap="square" lIns="0" tIns="136017" rIns="0" bIns="0" rtlCol="0" anchor="t">
            <a:spAutoFit/>
          </a:bodyPr>
          <a:lstStyle/>
          <a:p>
            <a:pPr algn="l" indent="0" marL="0">
              <a:lnSpc>
                <a:spcPct val="75400"/>
              </a:lnSpc>
              <a:buNone/>
            </a:pPr>
            <a:r>
              <a:rPr lang="en-US" sz="1050" dirty="0">
                <a:solidFill>
                  <a:srgbClr val="D85A49"/>
                </a:solidFill>
                <a:latin typeface="Courier New" pitchFamily="34" charset="0"/>
                <a:ea typeface="Courier New" pitchFamily="34" charset="-122"/>
                <a:cs typeface="Courier New" pitchFamily="34" charset="-120"/>
              </a:rPr>
              <a:t>0</a:t>
            </a:r>
            <a:r>
              <a:rPr lang="en-US" sz="650" dirty="0">
                <a:solidFill>
                  <a:srgbClr val="F4EFE4"/>
                </a:solidFill>
                <a:latin typeface="Courier New" pitchFamily="34" charset="0"/>
                <a:ea typeface="Courier New" pitchFamily="34" charset="-122"/>
                <a:cs typeface="Courier New" pitchFamily="34" charset="-120"/>
              </a:rPr>
              <a:t>
</a:t>
            </a:r>
            <a:r>
              <a:rPr lang="en-US" sz="650" dirty="0">
                <a:solidFill>
                  <a:srgbClr val="F4EFE4"/>
                </a:solidFill>
                <a:latin typeface="Courier New" pitchFamily="34" charset="0"/>
                <a:ea typeface="Courier New" pitchFamily="34" charset="-122"/>
                <a:cs typeface="Courier New" pitchFamily="34" charset="-120"/>
              </a:rPr>
              <a:t>unexplained failures</a:t>
            </a:r>
            <a:endParaRPr lang="en-US" sz="1050" dirty="0"/>
          </a:p>
        </p:txBody>
      </p:sp>
      <p:sp>
        <p:nvSpPr>
          <p:cNvPr id="12" name="Text 8"/>
          <p:cNvSpPr/>
          <p:nvPr/>
        </p:nvSpPr>
        <p:spPr>
          <a:xfrm>
            <a:off x="2386013" y="1028700"/>
            <a:ext cx="4200525"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OBSERVED CAMPAIGN VOLUME</a:t>
            </a:r>
            <a:endParaRPr lang="en-US" sz="550" dirty="0"/>
          </a:p>
        </p:txBody>
      </p:sp>
      <p:sp>
        <p:nvSpPr>
          <p:cNvPr id="13" name="Text 9"/>
          <p:cNvSpPr/>
          <p:nvPr/>
        </p:nvSpPr>
        <p:spPr>
          <a:xfrm>
            <a:off x="2386013" y="1232297"/>
            <a:ext cx="4200525" cy="509997"/>
          </a:xfrm>
          <a:prstGeom prst="rect">
            <a:avLst/>
          </a:prstGeom>
          <a:noFill/>
          <a:ln/>
        </p:spPr>
        <p:txBody>
          <a:bodyPr wrap="square" lIns="0" tIns="0" rIns="0" bIns="0" rtlCol="0" anchor="t">
            <a:spAutoFit/>
          </a:bodyPr>
          <a:lstStyle/>
          <a:p>
            <a:pPr algn="l" indent="0" marL="0">
              <a:lnSpc>
                <a:spcPct val="84000"/>
              </a:lnSpc>
              <a:buNone/>
            </a:pPr>
            <a:r>
              <a:rPr lang="en-US" sz="1700" b="1" spc="-1" kern="0" dirty="0">
                <a:solidFill>
                  <a:srgbClr val="F4EFE4"/>
                </a:solidFill>
                <a:latin typeface="Georgia" pitchFamily="34" charset="0"/>
                <a:ea typeface="Georgia" pitchFamily="34" charset="-122"/>
                <a:cs typeface="Georgia" pitchFamily="34" charset="-120"/>
              </a:rPr>
              <a:t>Every lane returned</a:t>
            </a:r>
            <a:r>
              <a:rPr lang="en-US" sz="1700" b="1" spc="-1" kern="0" dirty="0">
                <a:solidFill>
                  <a:srgbClr val="F4EFE4"/>
                </a:solidFill>
                <a:latin typeface="Georgia" pitchFamily="34" charset="0"/>
                <a:ea typeface="Georgia" pitchFamily="34" charset="-122"/>
                <a:cs typeface="Georgia" pitchFamily="34" charset="-120"/>
              </a:rPr>
              <a:t>
</a:t>
            </a:r>
            <a:r>
              <a:rPr lang="en-US" sz="1700" b="1" spc="-1" kern="0" dirty="0">
                <a:solidFill>
                  <a:srgbClr val="F4EFE4"/>
                </a:solidFill>
                <a:latin typeface="Georgia" pitchFamily="34" charset="0"/>
                <a:ea typeface="Georgia" pitchFamily="34" charset="-122"/>
                <a:cs typeface="Georgia" pitchFamily="34" charset="-120"/>
              </a:rPr>
              <a:t>the expected boundary.</a:t>
            </a:r>
            <a:endParaRPr lang="en-US" sz="1700" dirty="0"/>
          </a:p>
        </p:txBody>
      </p:sp>
      <p:sp>
        <p:nvSpPr>
          <p:cNvPr id="14" name="Text 10"/>
          <p:cNvSpPr/>
          <p:nvPr/>
        </p:nvSpPr>
        <p:spPr>
          <a:xfrm>
            <a:off x="2386013" y="1799444"/>
            <a:ext cx="4200525" cy="89297"/>
          </a:xfrm>
          <a:prstGeom prst="rect">
            <a:avLst/>
          </a:prstGeom>
          <a:noFill/>
          <a:ln/>
        </p:spPr>
        <p:txBody>
          <a:bodyPr wrap="square" lIns="0" tIns="0" rIns="0" bIns="0" rtlCol="0" anchor="t">
            <a:spAutoFit/>
          </a:bodyPr>
          <a:lstStyle/>
          <a:p>
            <a:pPr algn="l" indent="0" marL="0">
              <a:buNone/>
            </a:pPr>
            <a:r>
              <a:rPr lang="en-US" sz="550" dirty="0">
                <a:solidFill>
                  <a:srgbClr val="8F9CA0"/>
                </a:solidFill>
                <a:latin typeface="Courier New" pitchFamily="34" charset="0"/>
                <a:ea typeface="Courier New" pitchFamily="34" charset="-122"/>
                <a:cs typeface="Courier New" pitchFamily="34" charset="-120"/>
              </a:rPr>
              <a:t>MAX SCALE = 2,000 CASES · COUNTS ARE RECORDED TEST INPUTS</a:t>
            </a:r>
            <a:endParaRPr lang="en-US" sz="550" dirty="0"/>
          </a:p>
        </p:txBody>
      </p:sp>
      <p:sp>
        <p:nvSpPr>
          <p:cNvPr id="15" name="Text 11"/>
          <p:cNvSpPr/>
          <p:nvPr/>
        </p:nvSpPr>
        <p:spPr>
          <a:xfrm>
            <a:off x="2386013" y="2229855"/>
            <a:ext cx="1214438" cy="96441"/>
          </a:xfrm>
          <a:prstGeom prst="rect">
            <a:avLst/>
          </a:prstGeom>
          <a:noFill/>
          <a:ln/>
        </p:spPr>
        <p:txBody>
          <a:bodyPr wrap="none" lIns="0" tIns="0" rIns="0" bIns="0" rtlCol="0" anchor="t">
            <a:spAutoFit/>
          </a:bodyPr>
          <a:lstStyle/>
          <a:p>
            <a:pPr algn="l" indent="0" marL="0">
              <a:buNone/>
            </a:pPr>
            <a:r>
              <a:rPr lang="en-US" sz="600" dirty="0">
                <a:solidFill>
                  <a:srgbClr val="D5DCDA"/>
                </a:solidFill>
                <a:latin typeface="Courier New" pitchFamily="34" charset="0"/>
                <a:ea typeface="Courier New" pitchFamily="34" charset="-122"/>
                <a:cs typeface="Courier New" pitchFamily="34" charset="-120"/>
              </a:rPr>
              <a:t>equivocation</a:t>
            </a:r>
            <a:endParaRPr lang="en-US" sz="600" dirty="0"/>
          </a:p>
        </p:txBody>
      </p:sp>
      <p:sp>
        <p:nvSpPr>
          <p:cNvPr id="16" name="Shape 12"/>
          <p:cNvSpPr/>
          <p:nvPr/>
        </p:nvSpPr>
        <p:spPr>
          <a:xfrm>
            <a:off x="3700463" y="2231641"/>
            <a:ext cx="2286000" cy="92869"/>
          </a:xfrm>
          <a:prstGeom prst="rect">
            <a:avLst/>
          </a:prstGeom>
          <a:solidFill>
            <a:srgbClr val="1C2A33"/>
          </a:solidFill>
          <a:ln/>
        </p:spPr>
      </p:sp>
      <p:sp>
        <p:nvSpPr>
          <p:cNvPr id="17" name="Text 13"/>
          <p:cNvSpPr/>
          <p:nvPr/>
        </p:nvSpPr>
        <p:spPr>
          <a:xfrm>
            <a:off x="6086475" y="2229855"/>
            <a:ext cx="500063" cy="96441"/>
          </a:xfrm>
          <a:prstGeom prst="rect">
            <a:avLst/>
          </a:prstGeom>
          <a:noFill/>
          <a:ln/>
        </p:spPr>
        <p:txBody>
          <a:bodyPr wrap="none" lIns="0" tIns="0" rIns="0" bIns="0" rtlCol="0" anchor="t">
            <a:spAutoFit/>
          </a:bodyPr>
          <a:lstStyle/>
          <a:p>
            <a:pPr algn="r" indent="0" marL="0">
              <a:buNone/>
            </a:pPr>
            <a:r>
              <a:rPr lang="en-US" sz="600" dirty="0">
                <a:solidFill>
                  <a:srgbClr val="AEB9BB"/>
                </a:solidFill>
                <a:latin typeface="Courier New" pitchFamily="34" charset="0"/>
                <a:ea typeface="Courier New" pitchFamily="34" charset="-122"/>
                <a:cs typeface="Courier New" pitchFamily="34" charset="-120"/>
              </a:rPr>
              <a:t>2,000</a:t>
            </a:r>
            <a:endParaRPr lang="en-US" sz="600" dirty="0"/>
          </a:p>
        </p:txBody>
      </p:sp>
      <p:sp>
        <p:nvSpPr>
          <p:cNvPr id="18" name="Text 14"/>
          <p:cNvSpPr/>
          <p:nvPr/>
        </p:nvSpPr>
        <p:spPr>
          <a:xfrm>
            <a:off x="2386013" y="2572755"/>
            <a:ext cx="1214438" cy="96441"/>
          </a:xfrm>
          <a:prstGeom prst="rect">
            <a:avLst/>
          </a:prstGeom>
          <a:noFill/>
          <a:ln/>
        </p:spPr>
        <p:txBody>
          <a:bodyPr wrap="none" lIns="0" tIns="0" rIns="0" bIns="0" rtlCol="0" anchor="t">
            <a:spAutoFit/>
          </a:bodyPr>
          <a:lstStyle/>
          <a:p>
            <a:pPr algn="l" indent="0" marL="0">
              <a:buNone/>
            </a:pPr>
            <a:r>
              <a:rPr lang="en-US" sz="600" dirty="0">
                <a:solidFill>
                  <a:srgbClr val="D5DCDA"/>
                </a:solidFill>
                <a:latin typeface="Courier New" pitchFamily="34" charset="0"/>
                <a:ea typeface="Courier New" pitchFamily="34" charset="-122"/>
                <a:cs typeface="Courier New" pitchFamily="34" charset="-120"/>
              </a:rPr>
              <a:t>duplicate identity</a:t>
            </a:r>
            <a:endParaRPr lang="en-US" sz="600" dirty="0"/>
          </a:p>
        </p:txBody>
      </p:sp>
      <p:sp>
        <p:nvSpPr>
          <p:cNvPr id="19" name="Shape 15"/>
          <p:cNvSpPr/>
          <p:nvPr/>
        </p:nvSpPr>
        <p:spPr>
          <a:xfrm>
            <a:off x="3700463" y="2574541"/>
            <a:ext cx="2286000" cy="92869"/>
          </a:xfrm>
          <a:prstGeom prst="rect">
            <a:avLst/>
          </a:prstGeom>
          <a:solidFill>
            <a:srgbClr val="1C2A33"/>
          </a:solidFill>
          <a:ln/>
        </p:spPr>
      </p:sp>
      <p:sp>
        <p:nvSpPr>
          <p:cNvPr id="20" name="Text 16"/>
          <p:cNvSpPr/>
          <p:nvPr/>
        </p:nvSpPr>
        <p:spPr>
          <a:xfrm>
            <a:off x="6086475" y="2572755"/>
            <a:ext cx="500063" cy="96441"/>
          </a:xfrm>
          <a:prstGeom prst="rect">
            <a:avLst/>
          </a:prstGeom>
          <a:noFill/>
          <a:ln/>
        </p:spPr>
        <p:txBody>
          <a:bodyPr wrap="none" lIns="0" tIns="0" rIns="0" bIns="0" rtlCol="0" anchor="t">
            <a:spAutoFit/>
          </a:bodyPr>
          <a:lstStyle/>
          <a:p>
            <a:pPr algn="r" indent="0" marL="0">
              <a:buNone/>
            </a:pPr>
            <a:r>
              <a:rPr lang="en-US" sz="600" dirty="0">
                <a:solidFill>
                  <a:srgbClr val="AEB9BB"/>
                </a:solidFill>
                <a:latin typeface="Courier New" pitchFamily="34" charset="0"/>
                <a:ea typeface="Courier New" pitchFamily="34" charset="-122"/>
                <a:cs typeface="Courier New" pitchFamily="34" charset="-120"/>
              </a:rPr>
              <a:t>1,650</a:t>
            </a:r>
            <a:endParaRPr lang="en-US" sz="600" dirty="0"/>
          </a:p>
        </p:txBody>
      </p:sp>
      <p:sp>
        <p:nvSpPr>
          <p:cNvPr id="21" name="Text 17"/>
          <p:cNvSpPr/>
          <p:nvPr/>
        </p:nvSpPr>
        <p:spPr>
          <a:xfrm>
            <a:off x="2386013" y="2915655"/>
            <a:ext cx="1214438" cy="96441"/>
          </a:xfrm>
          <a:prstGeom prst="rect">
            <a:avLst/>
          </a:prstGeom>
          <a:noFill/>
          <a:ln/>
        </p:spPr>
        <p:txBody>
          <a:bodyPr wrap="none" lIns="0" tIns="0" rIns="0" bIns="0" rtlCol="0" anchor="t">
            <a:spAutoFit/>
          </a:bodyPr>
          <a:lstStyle/>
          <a:p>
            <a:pPr algn="l" indent="0" marL="0">
              <a:buNone/>
            </a:pPr>
            <a:r>
              <a:rPr lang="en-US" sz="600" dirty="0">
                <a:solidFill>
                  <a:srgbClr val="D5DCDA"/>
                </a:solidFill>
                <a:latin typeface="Courier New" pitchFamily="34" charset="0"/>
                <a:ea typeface="Courier New" pitchFamily="34" charset="-122"/>
                <a:cs typeface="Courier New" pitchFamily="34" charset="-120"/>
              </a:rPr>
              <a:t>order permutation</a:t>
            </a:r>
            <a:endParaRPr lang="en-US" sz="600" dirty="0"/>
          </a:p>
        </p:txBody>
      </p:sp>
      <p:sp>
        <p:nvSpPr>
          <p:cNvPr id="22" name="Shape 18"/>
          <p:cNvSpPr/>
          <p:nvPr/>
        </p:nvSpPr>
        <p:spPr>
          <a:xfrm>
            <a:off x="3700463" y="2917441"/>
            <a:ext cx="2286000" cy="92869"/>
          </a:xfrm>
          <a:prstGeom prst="rect">
            <a:avLst/>
          </a:prstGeom>
          <a:solidFill>
            <a:srgbClr val="1C2A33"/>
          </a:solidFill>
          <a:ln/>
        </p:spPr>
      </p:sp>
      <p:sp>
        <p:nvSpPr>
          <p:cNvPr id="23" name="Text 19"/>
          <p:cNvSpPr/>
          <p:nvPr/>
        </p:nvSpPr>
        <p:spPr>
          <a:xfrm>
            <a:off x="6086475" y="2915655"/>
            <a:ext cx="500063" cy="96441"/>
          </a:xfrm>
          <a:prstGeom prst="rect">
            <a:avLst/>
          </a:prstGeom>
          <a:noFill/>
          <a:ln/>
        </p:spPr>
        <p:txBody>
          <a:bodyPr wrap="none" lIns="0" tIns="0" rIns="0" bIns="0" rtlCol="0" anchor="t">
            <a:spAutoFit/>
          </a:bodyPr>
          <a:lstStyle/>
          <a:p>
            <a:pPr algn="r" indent="0" marL="0">
              <a:buNone/>
            </a:pPr>
            <a:r>
              <a:rPr lang="en-US" sz="600" dirty="0">
                <a:solidFill>
                  <a:srgbClr val="AEB9BB"/>
                </a:solidFill>
                <a:latin typeface="Courier New" pitchFamily="34" charset="0"/>
                <a:ea typeface="Courier New" pitchFamily="34" charset="-122"/>
                <a:cs typeface="Courier New" pitchFamily="34" charset="-120"/>
              </a:rPr>
              <a:t>1,000</a:t>
            </a:r>
            <a:endParaRPr lang="en-US" sz="600" dirty="0"/>
          </a:p>
        </p:txBody>
      </p:sp>
      <p:sp>
        <p:nvSpPr>
          <p:cNvPr id="24" name="Text 20"/>
          <p:cNvSpPr/>
          <p:nvPr/>
        </p:nvSpPr>
        <p:spPr>
          <a:xfrm>
            <a:off x="2386013" y="3258555"/>
            <a:ext cx="1214438" cy="96441"/>
          </a:xfrm>
          <a:prstGeom prst="rect">
            <a:avLst/>
          </a:prstGeom>
          <a:noFill/>
          <a:ln/>
        </p:spPr>
        <p:txBody>
          <a:bodyPr wrap="none" lIns="0" tIns="0" rIns="0" bIns="0" rtlCol="0" anchor="t">
            <a:spAutoFit/>
          </a:bodyPr>
          <a:lstStyle/>
          <a:p>
            <a:pPr algn="l" indent="0" marL="0">
              <a:buNone/>
            </a:pPr>
            <a:r>
              <a:rPr lang="en-US" sz="600" dirty="0">
                <a:solidFill>
                  <a:srgbClr val="D5DCDA"/>
                </a:solidFill>
                <a:latin typeface="Courier New" pitchFamily="34" charset="0"/>
                <a:ea typeface="Courier New" pitchFamily="34" charset="-122"/>
                <a:cs typeface="Courier New" pitchFamily="34" charset="-120"/>
              </a:rPr>
              <a:t>binding mutation</a:t>
            </a:r>
            <a:endParaRPr lang="en-US" sz="600" dirty="0"/>
          </a:p>
        </p:txBody>
      </p:sp>
      <p:sp>
        <p:nvSpPr>
          <p:cNvPr id="25" name="Shape 21"/>
          <p:cNvSpPr/>
          <p:nvPr/>
        </p:nvSpPr>
        <p:spPr>
          <a:xfrm>
            <a:off x="3700463" y="3260341"/>
            <a:ext cx="2286000" cy="92869"/>
          </a:xfrm>
          <a:prstGeom prst="rect">
            <a:avLst/>
          </a:prstGeom>
          <a:solidFill>
            <a:srgbClr val="1C2A33"/>
          </a:solidFill>
          <a:ln/>
        </p:spPr>
      </p:sp>
      <p:sp>
        <p:nvSpPr>
          <p:cNvPr id="26" name="Text 22"/>
          <p:cNvSpPr/>
          <p:nvPr/>
        </p:nvSpPr>
        <p:spPr>
          <a:xfrm>
            <a:off x="6086475" y="3258555"/>
            <a:ext cx="500063" cy="96441"/>
          </a:xfrm>
          <a:prstGeom prst="rect">
            <a:avLst/>
          </a:prstGeom>
          <a:noFill/>
          <a:ln/>
        </p:spPr>
        <p:txBody>
          <a:bodyPr wrap="none" lIns="0" tIns="0" rIns="0" bIns="0" rtlCol="0" anchor="t">
            <a:spAutoFit/>
          </a:bodyPr>
          <a:lstStyle/>
          <a:p>
            <a:pPr algn="r" indent="0" marL="0">
              <a:buNone/>
            </a:pPr>
            <a:r>
              <a:rPr lang="en-US" sz="600" dirty="0">
                <a:solidFill>
                  <a:srgbClr val="AEB9BB"/>
                </a:solidFill>
                <a:latin typeface="Courier New" pitchFamily="34" charset="0"/>
                <a:ea typeface="Courier New" pitchFamily="34" charset="-122"/>
                <a:cs typeface="Courier New" pitchFamily="34" charset="-120"/>
              </a:rPr>
              <a:t>500</a:t>
            </a:r>
            <a:endParaRPr lang="en-US" sz="600" dirty="0"/>
          </a:p>
        </p:txBody>
      </p:sp>
      <p:sp>
        <p:nvSpPr>
          <p:cNvPr id="27" name="Text 23"/>
          <p:cNvSpPr/>
          <p:nvPr/>
        </p:nvSpPr>
        <p:spPr>
          <a:xfrm>
            <a:off x="2386013" y="3601455"/>
            <a:ext cx="1214438" cy="96441"/>
          </a:xfrm>
          <a:prstGeom prst="rect">
            <a:avLst/>
          </a:prstGeom>
          <a:noFill/>
          <a:ln/>
        </p:spPr>
        <p:txBody>
          <a:bodyPr wrap="none" lIns="0" tIns="0" rIns="0" bIns="0" rtlCol="0" anchor="t">
            <a:spAutoFit/>
          </a:bodyPr>
          <a:lstStyle/>
          <a:p>
            <a:pPr algn="l" indent="0" marL="0">
              <a:buNone/>
            </a:pPr>
            <a:r>
              <a:rPr lang="en-US" sz="600" dirty="0">
                <a:solidFill>
                  <a:srgbClr val="D5DCDA"/>
                </a:solidFill>
                <a:latin typeface="Courier New" pitchFamily="34" charset="0"/>
                <a:ea typeface="Courier New" pitchFamily="34" charset="-122"/>
                <a:cs typeface="Courier New" pitchFamily="34" charset="-120"/>
              </a:rPr>
              <a:t>signature mutation</a:t>
            </a:r>
            <a:endParaRPr lang="en-US" sz="600" dirty="0"/>
          </a:p>
        </p:txBody>
      </p:sp>
      <p:sp>
        <p:nvSpPr>
          <p:cNvPr id="28" name="Shape 24"/>
          <p:cNvSpPr/>
          <p:nvPr/>
        </p:nvSpPr>
        <p:spPr>
          <a:xfrm>
            <a:off x="3700463" y="3603241"/>
            <a:ext cx="2286000" cy="92869"/>
          </a:xfrm>
          <a:prstGeom prst="rect">
            <a:avLst/>
          </a:prstGeom>
          <a:solidFill>
            <a:srgbClr val="1C2A33"/>
          </a:solidFill>
          <a:ln/>
        </p:spPr>
      </p:sp>
      <p:sp>
        <p:nvSpPr>
          <p:cNvPr id="29" name="Text 25"/>
          <p:cNvSpPr/>
          <p:nvPr/>
        </p:nvSpPr>
        <p:spPr>
          <a:xfrm>
            <a:off x="6086475" y="3601455"/>
            <a:ext cx="500063" cy="96441"/>
          </a:xfrm>
          <a:prstGeom prst="rect">
            <a:avLst/>
          </a:prstGeom>
          <a:noFill/>
          <a:ln/>
        </p:spPr>
        <p:txBody>
          <a:bodyPr wrap="none" lIns="0" tIns="0" rIns="0" bIns="0" rtlCol="0" anchor="t">
            <a:spAutoFit/>
          </a:bodyPr>
          <a:lstStyle/>
          <a:p>
            <a:pPr algn="r" indent="0" marL="0">
              <a:buNone/>
            </a:pPr>
            <a:r>
              <a:rPr lang="en-US" sz="600" dirty="0">
                <a:solidFill>
                  <a:srgbClr val="AEB9BB"/>
                </a:solidFill>
                <a:latin typeface="Courier New" pitchFamily="34" charset="0"/>
                <a:ea typeface="Courier New" pitchFamily="34" charset="-122"/>
                <a:cs typeface="Courier New" pitchFamily="34" charset="-120"/>
              </a:rPr>
              <a:t>500</a:t>
            </a:r>
            <a:endParaRPr lang="en-US" sz="600" dirty="0"/>
          </a:p>
        </p:txBody>
      </p:sp>
      <p:sp>
        <p:nvSpPr>
          <p:cNvPr id="30" name="Text 26"/>
          <p:cNvSpPr/>
          <p:nvPr/>
        </p:nvSpPr>
        <p:spPr>
          <a:xfrm>
            <a:off x="2386013" y="3944355"/>
            <a:ext cx="1214438" cy="96441"/>
          </a:xfrm>
          <a:prstGeom prst="rect">
            <a:avLst/>
          </a:prstGeom>
          <a:noFill/>
          <a:ln/>
        </p:spPr>
        <p:txBody>
          <a:bodyPr wrap="none" lIns="0" tIns="0" rIns="0" bIns="0" rtlCol="0" anchor="t">
            <a:spAutoFit/>
          </a:bodyPr>
          <a:lstStyle/>
          <a:p>
            <a:pPr algn="l" indent="0" marL="0">
              <a:buNone/>
            </a:pPr>
            <a:r>
              <a:rPr lang="en-US" sz="600" dirty="0">
                <a:solidFill>
                  <a:srgbClr val="D5DCDA"/>
                </a:solidFill>
                <a:latin typeface="Courier New" pitchFamily="34" charset="0"/>
                <a:ea typeface="Courier New" pitchFamily="34" charset="-122"/>
                <a:cs typeface="Courier New" pitchFamily="34" charset="-120"/>
              </a:rPr>
              <a:t>invalid policy</a:t>
            </a:r>
            <a:endParaRPr lang="en-US" sz="600" dirty="0"/>
          </a:p>
        </p:txBody>
      </p:sp>
      <p:sp>
        <p:nvSpPr>
          <p:cNvPr id="31" name="Shape 27"/>
          <p:cNvSpPr/>
          <p:nvPr/>
        </p:nvSpPr>
        <p:spPr>
          <a:xfrm>
            <a:off x="3700463" y="3946141"/>
            <a:ext cx="2286000" cy="92869"/>
          </a:xfrm>
          <a:prstGeom prst="rect">
            <a:avLst/>
          </a:prstGeom>
          <a:solidFill>
            <a:srgbClr val="1C2A33"/>
          </a:solidFill>
          <a:ln/>
        </p:spPr>
      </p:sp>
      <p:sp>
        <p:nvSpPr>
          <p:cNvPr id="32" name="Text 28"/>
          <p:cNvSpPr/>
          <p:nvPr/>
        </p:nvSpPr>
        <p:spPr>
          <a:xfrm>
            <a:off x="6086475" y="3944355"/>
            <a:ext cx="500063" cy="96441"/>
          </a:xfrm>
          <a:prstGeom prst="rect">
            <a:avLst/>
          </a:prstGeom>
          <a:noFill/>
          <a:ln/>
        </p:spPr>
        <p:txBody>
          <a:bodyPr wrap="none" lIns="0" tIns="0" rIns="0" bIns="0" rtlCol="0" anchor="t">
            <a:spAutoFit/>
          </a:bodyPr>
          <a:lstStyle/>
          <a:p>
            <a:pPr algn="r" indent="0" marL="0">
              <a:buNone/>
            </a:pPr>
            <a:r>
              <a:rPr lang="en-US" sz="600" dirty="0">
                <a:solidFill>
                  <a:srgbClr val="AEB9BB"/>
                </a:solidFill>
                <a:latin typeface="Courier New" pitchFamily="34" charset="0"/>
                <a:ea typeface="Courier New" pitchFamily="34" charset="-122"/>
                <a:cs typeface="Courier New" pitchFamily="34" charset="-120"/>
              </a:rPr>
              <a:t>100</a:t>
            </a:r>
            <a:endParaRPr lang="en-US" sz="600" dirty="0"/>
          </a:p>
        </p:txBody>
      </p:sp>
      <p:sp>
        <p:nvSpPr>
          <p:cNvPr id="33" name="Text 29"/>
          <p:cNvSpPr/>
          <p:nvPr/>
        </p:nvSpPr>
        <p:spPr>
          <a:xfrm>
            <a:off x="3700463" y="4253322"/>
            <a:ext cx="42918" cy="82153"/>
          </a:xfrm>
          <a:prstGeom prst="rect">
            <a:avLst/>
          </a:prstGeom>
          <a:noFill/>
          <a:ln/>
        </p:spPr>
        <p:txBody>
          <a:bodyPr wrap="none" lIns="0" tIns="0" rIns="0" bIns="0" rtlCol="0" anchor="t">
            <a:spAutoFit/>
          </a:bodyPr>
          <a:lstStyle/>
          <a:p>
            <a:pPr algn="l" indent="0" marL="0">
              <a:buNone/>
            </a:pPr>
            <a:r>
              <a:rPr lang="en-US" sz="500" dirty="0">
                <a:solidFill>
                  <a:srgbClr val="66757A"/>
                </a:solidFill>
                <a:latin typeface="Courier New" pitchFamily="34" charset="0"/>
                <a:ea typeface="Courier New" pitchFamily="34" charset="-122"/>
                <a:cs typeface="Courier New" pitchFamily="34" charset="-120"/>
              </a:rPr>
              <a:t>0</a:t>
            </a:r>
            <a:endParaRPr lang="en-US" sz="500" dirty="0"/>
          </a:p>
        </p:txBody>
      </p:sp>
      <p:sp>
        <p:nvSpPr>
          <p:cNvPr id="34" name="Text 30"/>
          <p:cNvSpPr/>
          <p:nvPr/>
        </p:nvSpPr>
        <p:spPr>
          <a:xfrm>
            <a:off x="4700532" y="4253322"/>
            <a:ext cx="214368" cy="82153"/>
          </a:xfrm>
          <a:prstGeom prst="rect">
            <a:avLst/>
          </a:prstGeom>
          <a:noFill/>
          <a:ln/>
        </p:spPr>
        <p:txBody>
          <a:bodyPr wrap="none" lIns="0" tIns="0" rIns="0" bIns="0" rtlCol="0" anchor="t">
            <a:spAutoFit/>
          </a:bodyPr>
          <a:lstStyle/>
          <a:p>
            <a:pPr algn="l" indent="0" marL="0">
              <a:buNone/>
            </a:pPr>
            <a:r>
              <a:rPr lang="en-US" sz="500" dirty="0">
                <a:solidFill>
                  <a:srgbClr val="66757A"/>
                </a:solidFill>
                <a:latin typeface="Courier New" pitchFamily="34" charset="0"/>
                <a:ea typeface="Courier New" pitchFamily="34" charset="-122"/>
                <a:cs typeface="Courier New" pitchFamily="34" charset="-120"/>
              </a:rPr>
              <a:t>1,000</a:t>
            </a:r>
            <a:endParaRPr lang="en-US" sz="500" dirty="0"/>
          </a:p>
        </p:txBody>
      </p:sp>
      <p:sp>
        <p:nvSpPr>
          <p:cNvPr id="35" name="Text 31"/>
          <p:cNvSpPr/>
          <p:nvPr/>
        </p:nvSpPr>
        <p:spPr>
          <a:xfrm>
            <a:off x="5872051" y="4253322"/>
            <a:ext cx="214368" cy="82153"/>
          </a:xfrm>
          <a:prstGeom prst="rect">
            <a:avLst/>
          </a:prstGeom>
          <a:noFill/>
          <a:ln/>
        </p:spPr>
        <p:txBody>
          <a:bodyPr wrap="none" lIns="0" tIns="0" rIns="0" bIns="0" rtlCol="0" anchor="t">
            <a:spAutoFit/>
          </a:bodyPr>
          <a:lstStyle/>
          <a:p>
            <a:pPr algn="l" indent="0" marL="0">
              <a:buNone/>
            </a:pPr>
            <a:r>
              <a:rPr lang="en-US" sz="500" dirty="0">
                <a:solidFill>
                  <a:srgbClr val="66757A"/>
                </a:solidFill>
                <a:latin typeface="Courier New" pitchFamily="34" charset="0"/>
                <a:ea typeface="Courier New" pitchFamily="34" charset="-122"/>
                <a:cs typeface="Courier New" pitchFamily="34" charset="-120"/>
              </a:rPr>
              <a:t>2,000</a:t>
            </a:r>
            <a:endParaRPr lang="en-US" sz="500" dirty="0"/>
          </a:p>
        </p:txBody>
      </p:sp>
      <p:sp>
        <p:nvSpPr>
          <p:cNvPr id="36" name="Text 32"/>
          <p:cNvSpPr/>
          <p:nvPr/>
        </p:nvSpPr>
        <p:spPr>
          <a:xfrm>
            <a:off x="2386013" y="4514069"/>
            <a:ext cx="4200525" cy="334975"/>
          </a:xfrm>
          <a:prstGeom prst="rect">
            <a:avLst/>
          </a:prstGeom>
          <a:noFill/>
          <a:ln/>
        </p:spPr>
        <p:txBody>
          <a:bodyPr wrap="square" lIns="0" tIns="119126" rIns="0" bIns="0" rtlCol="0" anchor="t">
            <a:spAutoFit/>
          </a:bodyPr>
          <a:lstStyle/>
          <a:p>
            <a:pPr algn="l" indent="0" marL="0">
              <a:lnSpc>
                <a:spcPct val="116000"/>
              </a:lnSpc>
              <a:buNone/>
            </a:pPr>
            <a:r>
              <a:rPr lang="en-US" sz="550" dirty="0">
                <a:solidFill>
                  <a:srgbClr val="8F9CA0"/>
                </a:solidFill>
                <a:latin typeface="Courier New" pitchFamily="34" charset="0"/>
                <a:ea typeface="Courier New" pitchFamily="34" charset="-122"/>
                <a:cs typeface="Courier New" pitchFamily="34" charset="-120"/>
              </a:rPr>
              <a:t>The campaign is deterministic and replayable. It tests the implemented Q0 fixture profile; it does not substitute for a security proof.</a:t>
            </a:r>
            <a:endParaRPr lang="en-US" sz="550" dirty="0"/>
          </a:p>
        </p:txBody>
      </p:sp>
      <p:sp>
        <p:nvSpPr>
          <p:cNvPr id="37" name="Shape 33"/>
          <p:cNvSpPr/>
          <p:nvPr/>
        </p:nvSpPr>
        <p:spPr>
          <a:xfrm>
            <a:off x="6786563" y="600075"/>
            <a:ext cx="2357438" cy="4543425"/>
          </a:xfrm>
          <a:prstGeom prst="rect">
            <a:avLst/>
          </a:prstGeom>
          <a:solidFill>
            <a:srgbClr val="111B24"/>
          </a:solidFill>
          <a:ln/>
        </p:spPr>
      </p:sp>
      <p:sp>
        <p:nvSpPr>
          <p:cNvPr id="38" name="Text 34"/>
          <p:cNvSpPr/>
          <p:nvPr/>
        </p:nvSpPr>
        <p:spPr>
          <a:xfrm>
            <a:off x="6986588" y="1042988"/>
            <a:ext cx="1814513"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RESULT SIGNAL</a:t>
            </a:r>
            <a:endParaRPr lang="en-US" sz="550" dirty="0"/>
          </a:p>
        </p:txBody>
      </p:sp>
      <p:sp>
        <p:nvSpPr>
          <p:cNvPr id="39" name="Text 35"/>
          <p:cNvSpPr/>
          <p:nvPr/>
        </p:nvSpPr>
        <p:spPr>
          <a:xfrm>
            <a:off x="6986588" y="1260872"/>
            <a:ext cx="1814513" cy="588020"/>
          </a:xfrm>
          <a:prstGeom prst="rect">
            <a:avLst/>
          </a:prstGeom>
          <a:noFill/>
          <a:ln/>
        </p:spPr>
        <p:txBody>
          <a:bodyPr wrap="square" lIns="0" tIns="0" rIns="0" bIns="0" rtlCol="0" anchor="t">
            <a:spAutoFit/>
          </a:bodyPr>
          <a:lstStyle/>
          <a:p>
            <a:pPr algn="l" indent="0" marL="0">
              <a:lnSpc>
                <a:spcPct val="78400"/>
              </a:lnSpc>
              <a:buNone/>
            </a:pPr>
            <a:r>
              <a:rPr lang="en-US" sz="2100" b="1" spc="-1" kern="0" dirty="0">
                <a:solidFill>
                  <a:srgbClr val="F4EFE4"/>
                </a:solidFill>
                <a:latin typeface="Georgia" pitchFamily="34" charset="0"/>
                <a:ea typeface="Georgia" pitchFamily="34" charset="-122"/>
                <a:cs typeface="Georgia" pitchFamily="34" charset="-120"/>
              </a:rPr>
              <a:t>Boundaries</a:t>
            </a:r>
            <a:r>
              <a:rPr lang="en-US" sz="2100" b="1" spc="-1" kern="0" dirty="0">
                <a:solidFill>
                  <a:srgbClr val="F4EFE4"/>
                </a:solidFill>
                <a:latin typeface="Georgia" pitchFamily="34" charset="0"/>
                <a:ea typeface="Georgia" pitchFamily="34" charset="-122"/>
                <a:cs typeface="Georgia" pitchFamily="34" charset="-120"/>
              </a:rPr>
              <a:t>
</a:t>
            </a:r>
            <a:r>
              <a:rPr lang="en-US" sz="2100" b="1" i="1" spc="-1" kern="0" dirty="0">
                <a:solidFill>
                  <a:srgbClr val="D85A49"/>
                </a:solidFill>
                <a:latin typeface="Georgia" pitchFamily="34" charset="0"/>
                <a:ea typeface="Georgia" pitchFamily="34" charset="-122"/>
                <a:cs typeface="Georgia" pitchFamily="34" charset="-120"/>
              </a:rPr>
              <a:t>held.</a:t>
            </a:r>
            <a:endParaRPr lang="en-US" sz="2100" dirty="0"/>
          </a:p>
        </p:txBody>
      </p:sp>
      <p:sp>
        <p:nvSpPr>
          <p:cNvPr id="40" name="Text 36"/>
          <p:cNvSpPr/>
          <p:nvPr/>
        </p:nvSpPr>
        <p:spPr>
          <a:xfrm>
            <a:off x="6986588" y="2020342"/>
            <a:ext cx="1814513" cy="796975"/>
          </a:xfrm>
          <a:prstGeom prst="rect">
            <a:avLst/>
          </a:prstGeom>
          <a:noFill/>
          <a:ln/>
        </p:spPr>
        <p:txBody>
          <a:bodyPr wrap="square" lIns="0" tIns="0" rIns="0" bIns="0" rtlCol="0" anchor="t">
            <a:spAutoFit/>
          </a:bodyPr>
          <a:lstStyle/>
          <a:p>
            <a:pPr algn="l" indent="0" marL="0">
              <a:lnSpc>
                <a:spcPct val="124000"/>
              </a:lnSpc>
              <a:buNone/>
            </a:pPr>
            <a:r>
              <a:rPr lang="en-US" sz="600" dirty="0">
                <a:solidFill>
                  <a:srgbClr val="AAB5B8"/>
                </a:solidFill>
                <a:latin typeface="Courier New" pitchFamily="34" charset="0"/>
                <a:ea typeface="Courier New" pitchFamily="34" charset="-122"/>
                <a:cs typeface="Courier New" pitchFamily="34" charset="-120"/>
              </a:rPr>
              <a:t>Equivocation stayed contested. Duplicate identities never manufactured extra votes. Response ordering did not alter the decision identity. Invalid policies failed closed.</a:t>
            </a:r>
            <a:endParaRPr lang="en-US" sz="600" dirty="0"/>
          </a:p>
        </p:txBody>
      </p:sp>
      <p:sp>
        <p:nvSpPr>
          <p:cNvPr id="41" name="Text 37"/>
          <p:cNvSpPr/>
          <p:nvPr/>
        </p:nvSpPr>
        <p:spPr>
          <a:xfrm>
            <a:off x="6986588" y="3088779"/>
            <a:ext cx="1814513" cy="507206"/>
          </a:xfrm>
          <a:prstGeom prst="rect">
            <a:avLst/>
          </a:prstGeom>
          <a:noFill/>
          <a:ln/>
        </p:spPr>
        <p:txBody>
          <a:bodyPr wrap="square" lIns="0" tIns="136017" rIns="0" bIns="0" rtlCol="0" anchor="t">
            <a:spAutoFit/>
          </a:bodyPr>
          <a:lstStyle/>
          <a:p>
            <a:pPr algn="l" indent="0" marL="0">
              <a:lnSpc>
                <a:spcPct val="120000"/>
              </a:lnSpc>
              <a:buNone/>
            </a:pPr>
            <a:r>
              <a:rPr lang="en-US" sz="600" dirty="0">
                <a:solidFill>
                  <a:srgbClr val="D85A49"/>
                </a:solidFill>
                <a:latin typeface="Courier New" pitchFamily="34" charset="0"/>
                <a:ea typeface="Courier New" pitchFamily="34" charset="-122"/>
                <a:cs typeface="Courier New" pitchFamily="34" charset="-120"/>
              </a:rPr>
              <a:t>0</a:t>
            </a:r>
            <a:r>
              <a:rPr lang="en-US" sz="600" dirty="0">
                <a:solidFill>
                  <a:srgbClr val="F4EFE4"/>
                </a:solidFill>
                <a:latin typeface="Courier New" pitchFamily="34" charset="0"/>
                <a:ea typeface="Courier New" pitchFamily="34" charset="-122"/>
                <a:cs typeface="Courier New" pitchFamily="34" charset="-120"/>
              </a:rPr>
              <a:t> cross-language ordering failures</a:t>
            </a:r>
            <a:r>
              <a:rPr lang="en-US" sz="600" dirty="0">
                <a:solidFill>
                  <a:srgbClr val="F4EFE4"/>
                </a:solidFill>
                <a:latin typeface="Courier New" pitchFamily="34" charset="0"/>
                <a:ea typeface="Courier New" pitchFamily="34" charset="-122"/>
                <a:cs typeface="Courier New" pitchFamily="34" charset="-120"/>
              </a:rPr>
              <a:t>
</a:t>
            </a:r>
            <a:r>
              <a:rPr lang="en-US" sz="600" dirty="0">
                <a:solidFill>
                  <a:srgbClr val="D85A49"/>
                </a:solidFill>
                <a:latin typeface="Courier New" pitchFamily="34" charset="0"/>
                <a:ea typeface="Courier New" pitchFamily="34" charset="-122"/>
                <a:cs typeface="Courier New" pitchFamily="34" charset="-120"/>
              </a:rPr>
              <a:t>0</a:t>
            </a:r>
            <a:r>
              <a:rPr lang="en-US" sz="600" dirty="0">
                <a:solidFill>
                  <a:srgbClr val="F4EFE4"/>
                </a:solidFill>
                <a:latin typeface="Courier New" pitchFamily="34" charset="0"/>
                <a:ea typeface="Courier New" pitchFamily="34" charset="-122"/>
                <a:cs typeface="Courier New" pitchFamily="34" charset="-120"/>
              </a:rPr>
              <a:t> accepted equivocation cases</a:t>
            </a:r>
            <a:r>
              <a:rPr lang="en-US" sz="600" dirty="0">
                <a:solidFill>
                  <a:srgbClr val="F4EFE4"/>
                </a:solidFill>
                <a:latin typeface="Courier New" pitchFamily="34" charset="0"/>
                <a:ea typeface="Courier New" pitchFamily="34" charset="-122"/>
                <a:cs typeface="Courier New" pitchFamily="34" charset="-120"/>
              </a:rPr>
              <a:t>
</a:t>
            </a:r>
            <a:r>
              <a:rPr lang="en-US" sz="600" dirty="0">
                <a:solidFill>
                  <a:srgbClr val="D85A49"/>
                </a:solidFill>
                <a:latin typeface="Courier New" pitchFamily="34" charset="0"/>
                <a:ea typeface="Courier New" pitchFamily="34" charset="-122"/>
                <a:cs typeface="Courier New" pitchFamily="34" charset="-120"/>
              </a:rPr>
              <a:t>0</a:t>
            </a:r>
            <a:r>
              <a:rPr lang="en-US" sz="600" dirty="0">
                <a:solidFill>
                  <a:srgbClr val="F4EFE4"/>
                </a:solidFill>
                <a:latin typeface="Courier New" pitchFamily="34" charset="0"/>
                <a:ea typeface="Courier New" pitchFamily="34" charset="-122"/>
                <a:cs typeface="Courier New" pitchFamily="34" charset="-120"/>
              </a:rPr>
              <a:t> duplicate-vote promotions</a:t>
            </a:r>
            <a:endParaRPr lang="en-US" sz="600" dirty="0"/>
          </a:p>
        </p:txBody>
      </p:sp>
      <p:sp>
        <p:nvSpPr>
          <p:cNvPr id="42" name="Text 38"/>
          <p:cNvSpPr/>
          <p:nvPr/>
        </p:nvSpPr>
        <p:spPr>
          <a:xfrm>
            <a:off x="6986588" y="3796010"/>
            <a:ext cx="1814513" cy="414338"/>
          </a:xfrm>
          <a:prstGeom prst="rect">
            <a:avLst/>
          </a:prstGeom>
          <a:noFill/>
          <a:ln/>
        </p:spPr>
        <p:txBody>
          <a:bodyPr wrap="square" lIns="0" tIns="0" rIns="0" bIns="0" rtlCol="0" anchor="t">
            <a:spAutoFit/>
          </a:bodyPr>
          <a:lstStyle/>
          <a:p>
            <a:pPr algn="l" indent="0" marL="0">
              <a:lnSpc>
                <a:spcPct val="116000"/>
              </a:lnSpc>
              <a:buNone/>
            </a:pPr>
            <a:r>
              <a:rPr lang="en-US" sz="500" dirty="0">
                <a:solidFill>
                  <a:srgbClr val="728086"/>
                </a:solidFill>
                <a:latin typeface="Courier New" pitchFamily="34" charset="0"/>
                <a:ea typeface="Courier New" pitchFamily="34" charset="-122"/>
                <a:cs typeface="Courier New" pitchFamily="34" charset="-120"/>
              </a:rPr>
              <a:t>Interpretation: implementation evidence for Q0 v0.1. Not a proof of SHA-256 collision resistance, production consensus, key custody, or physical truth.</a:t>
            </a:r>
            <a:endParaRPr lang="en-US" sz="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600075"/>
          </a:xfrm>
          <a:prstGeom prst="rect">
            <a:avLst/>
          </a:prstGeom>
          <a:solidFill>
            <a:srgbClr val="000000">
              <a:alpha val="0"/>
            </a:srgbClr>
          </a:solidFill>
          <a:ln/>
        </p:spPr>
      </p:sp>
      <p:sp>
        <p:nvSpPr>
          <p:cNvPr id="5" name="Shape 1"/>
          <p:cNvSpPr/>
          <p:nvPr/>
        </p:nvSpPr>
        <p:spPr>
          <a:xfrm>
            <a:off x="0" y="592931"/>
            <a:ext cx="9144000" cy="7144"/>
          </a:xfrm>
          <a:prstGeom prst="rect">
            <a:avLst/>
          </a:prstGeom>
          <a:solidFill>
            <a:srgbClr val="2C373E"/>
          </a:solidFill>
          <a:ln/>
        </p:spPr>
      </p:sp>
      <p:sp>
        <p:nvSpPr>
          <p:cNvPr id="6" name="Text 2"/>
          <p:cNvSpPr/>
          <p:nvPr/>
        </p:nvSpPr>
        <p:spPr>
          <a:xfrm>
            <a:off x="414338" y="192881"/>
            <a:ext cx="1351787"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08 / EVIDENCE BOUNDARY</a:t>
            </a:r>
            <a:endParaRPr lang="en-US" sz="550" dirty="0"/>
          </a:p>
        </p:txBody>
      </p:sp>
      <p:sp>
        <p:nvSpPr>
          <p:cNvPr id="7" name="Text 3"/>
          <p:cNvSpPr/>
          <p:nvPr/>
        </p:nvSpPr>
        <p:spPr>
          <a:xfrm>
            <a:off x="6843378" y="192881"/>
            <a:ext cx="1886285"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THE NEGATIVE SPACE IS PART OF THE RESULT</a:t>
            </a:r>
            <a:endParaRPr lang="en-US" sz="550" dirty="0"/>
          </a:p>
        </p:txBody>
      </p:sp>
      <p:sp>
        <p:nvSpPr>
          <p:cNvPr id="8" name="Text 4"/>
          <p:cNvSpPr/>
          <p:nvPr/>
        </p:nvSpPr>
        <p:spPr>
          <a:xfrm>
            <a:off x="485775" y="907256"/>
            <a:ext cx="2642127"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A PASSING CAMPAIGN IS NOT A UNIVERSAL PROOF</a:t>
            </a:r>
            <a:endParaRPr lang="en-US" sz="550" dirty="0"/>
          </a:p>
        </p:txBody>
      </p:sp>
      <p:sp>
        <p:nvSpPr>
          <p:cNvPr id="9" name="Text 5"/>
          <p:cNvSpPr/>
          <p:nvPr/>
        </p:nvSpPr>
        <p:spPr>
          <a:xfrm>
            <a:off x="485775" y="1110853"/>
            <a:ext cx="2642127" cy="641152"/>
          </a:xfrm>
          <a:prstGeom prst="rect">
            <a:avLst/>
          </a:prstGeom>
          <a:noFill/>
          <a:ln/>
        </p:spPr>
        <p:txBody>
          <a:bodyPr wrap="square" lIns="0" tIns="0" rIns="0" bIns="0" rtlCol="0" anchor="t">
            <a:spAutoFit/>
          </a:bodyPr>
          <a:lstStyle/>
          <a:p>
            <a:pPr algn="l" indent="0" marL="0">
              <a:lnSpc>
                <a:spcPct val="81600"/>
              </a:lnSpc>
              <a:buNone/>
            </a:pPr>
            <a:r>
              <a:rPr lang="en-US" sz="2350" spc="-1" kern="0" dirty="0">
                <a:solidFill>
                  <a:srgbClr val="F4EFE4"/>
                </a:solidFill>
                <a:latin typeface="Georgia" pitchFamily="34" charset="0"/>
                <a:ea typeface="Georgia" pitchFamily="34" charset="-122"/>
                <a:cs typeface="Georgia" pitchFamily="34" charset="-120"/>
              </a:rPr>
              <a:t>What survived.</a:t>
            </a:r>
            <a:r>
              <a:rPr lang="en-US" sz="2350" spc="-1" kern="0" dirty="0">
                <a:solidFill>
                  <a:srgbClr val="F4EFE4"/>
                </a:solidFill>
                <a:latin typeface="Georgia" pitchFamily="34" charset="0"/>
                <a:ea typeface="Georgia" pitchFamily="34" charset="-122"/>
                <a:cs typeface="Georgia" pitchFamily="34" charset="-120"/>
              </a:rPr>
              <a:t>
</a:t>
            </a:r>
            <a:r>
              <a:rPr lang="en-US" sz="2350" i="1" spc="-1" kern="0" dirty="0">
                <a:solidFill>
                  <a:srgbClr val="D85A49"/>
                </a:solidFill>
                <a:latin typeface="Georgia" pitchFamily="34" charset="0"/>
                <a:ea typeface="Georgia" pitchFamily="34" charset="-122"/>
                <a:cs typeface="Georgia" pitchFamily="34" charset="-120"/>
              </a:rPr>
              <a:t>What remains open.</a:t>
            </a:r>
            <a:endParaRPr lang="en-US" sz="2350" dirty="0"/>
          </a:p>
        </p:txBody>
      </p:sp>
      <p:sp>
        <p:nvSpPr>
          <p:cNvPr id="10" name="Text 6"/>
          <p:cNvSpPr/>
          <p:nvPr/>
        </p:nvSpPr>
        <p:spPr>
          <a:xfrm>
            <a:off x="6086475" y="1379134"/>
            <a:ext cx="2571750" cy="372870"/>
          </a:xfrm>
          <a:prstGeom prst="rect">
            <a:avLst/>
          </a:prstGeom>
          <a:noFill/>
          <a:ln/>
        </p:spPr>
        <p:txBody>
          <a:bodyPr wrap="square" lIns="0" tIns="0" rIns="0" bIns="0" rtlCol="0" anchor="t">
            <a:spAutoFit/>
          </a:bodyPr>
          <a:lstStyle/>
          <a:p>
            <a:pPr algn="r" indent="0" marL="0">
              <a:lnSpc>
                <a:spcPct val="116000"/>
              </a:lnSpc>
              <a:buNone/>
            </a:pPr>
            <a:r>
              <a:rPr lang="en-US" sz="600" dirty="0">
                <a:solidFill>
                  <a:srgbClr val="A8B3B6"/>
                </a:solidFill>
                <a:latin typeface="Courier New" pitchFamily="34" charset="0"/>
                <a:ea typeface="Courier New" pitchFamily="34" charset="-122"/>
                <a:cs typeface="Courier New" pitchFamily="34" charset="-120"/>
              </a:rPr>
              <a:t>The correct conclusion is narrower than the ambition—and therefore more useful for the next gate.</a:t>
            </a:r>
            <a:endParaRPr lang="en-US" sz="600" dirty="0"/>
          </a:p>
        </p:txBody>
      </p:sp>
      <p:sp>
        <p:nvSpPr>
          <p:cNvPr id="11" name="Shape 7"/>
          <p:cNvSpPr/>
          <p:nvPr/>
        </p:nvSpPr>
        <p:spPr>
          <a:xfrm>
            <a:off x="485775" y="2052042"/>
            <a:ext cx="8172450" cy="2221706"/>
          </a:xfrm>
          <a:prstGeom prst="rect">
            <a:avLst/>
          </a:prstGeom>
          <a:solidFill>
            <a:srgbClr val="000000">
              <a:alpha val="0"/>
            </a:srgbClr>
          </a:solidFill>
          <a:ln/>
        </p:spPr>
      </p:sp>
      <p:sp>
        <p:nvSpPr>
          <p:cNvPr id="12" name="Shape 8"/>
          <p:cNvSpPr/>
          <p:nvPr/>
        </p:nvSpPr>
        <p:spPr>
          <a:xfrm>
            <a:off x="485775" y="2052042"/>
            <a:ext cx="8172450" cy="7144"/>
          </a:xfrm>
          <a:prstGeom prst="rect">
            <a:avLst/>
          </a:prstGeom>
          <a:solidFill>
            <a:srgbClr val="59656B"/>
          </a:solidFill>
          <a:ln/>
        </p:spPr>
      </p:sp>
      <p:sp>
        <p:nvSpPr>
          <p:cNvPr id="13" name="Text 9"/>
          <p:cNvSpPr/>
          <p:nvPr/>
        </p:nvSpPr>
        <p:spPr>
          <a:xfrm>
            <a:off x="485775" y="2209205"/>
            <a:ext cx="3829050"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ESTABLISHED BY THIS CAMPAIGN </a:t>
            </a:r>
            <a:r>
              <a:rPr lang="en-US" sz="550" dirty="0">
                <a:solidFill>
                  <a:srgbClr val="7F8D91"/>
                </a:solidFill>
                <a:latin typeface="Courier New" pitchFamily="34" charset="0"/>
                <a:ea typeface="Courier New" pitchFamily="34" charset="-122"/>
                <a:cs typeface="Courier New" pitchFamily="34" charset="-120"/>
              </a:rPr>
              <a:t>/ IMPLEMENTATION EVIDENCE</a:t>
            </a:r>
            <a:endParaRPr lang="en-US" sz="550" dirty="0"/>
          </a:p>
        </p:txBody>
      </p:sp>
      <p:sp>
        <p:nvSpPr>
          <p:cNvPr id="14" name="Text 10"/>
          <p:cNvSpPr/>
          <p:nvPr/>
        </p:nvSpPr>
        <p:spPr>
          <a:xfrm>
            <a:off x="485775" y="2484239"/>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15" name="Text 11"/>
          <p:cNvSpPr/>
          <p:nvPr/>
        </p:nvSpPr>
        <p:spPr>
          <a:xfrm>
            <a:off x="814388" y="2484239"/>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Cross-language parity</a:t>
            </a:r>
            <a:endParaRPr lang="en-US" sz="950" dirty="0"/>
          </a:p>
        </p:txBody>
      </p:sp>
      <p:sp>
        <p:nvSpPr>
          <p:cNvPr id="16" name="Text 12"/>
          <p:cNvSpPr/>
          <p:nvPr/>
        </p:nvSpPr>
        <p:spPr>
          <a:xfrm>
            <a:off x="2243138" y="2498527"/>
            <a:ext cx="2071688"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Python and Rust matched canonical bytes, derived IDs, and bounded invariant outcomes over the shared corpus.</a:t>
            </a:r>
            <a:endParaRPr lang="en-US" sz="550" dirty="0"/>
          </a:p>
        </p:txBody>
      </p:sp>
      <p:sp>
        <p:nvSpPr>
          <p:cNvPr id="17" name="Text 13"/>
          <p:cNvSpPr/>
          <p:nvPr/>
        </p:nvSpPr>
        <p:spPr>
          <a:xfrm>
            <a:off x="485775" y="2928547"/>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18" name="Text 14"/>
          <p:cNvSpPr/>
          <p:nvPr/>
        </p:nvSpPr>
        <p:spPr>
          <a:xfrm>
            <a:off x="814388" y="2928547"/>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Local tamper detection</a:t>
            </a:r>
            <a:endParaRPr lang="en-US" sz="950" dirty="0"/>
          </a:p>
        </p:txBody>
      </p:sp>
      <p:sp>
        <p:nvSpPr>
          <p:cNvPr id="19" name="Text 15"/>
          <p:cNvSpPr/>
          <p:nvPr/>
        </p:nvSpPr>
        <p:spPr>
          <a:xfrm>
            <a:off x="2243138" y="2942834"/>
            <a:ext cx="2071688"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Atomic storage, manifest replay, noncanonical-byte mutation, and path-boundary cases fail closed.</a:t>
            </a:r>
            <a:endParaRPr lang="en-US" sz="550" dirty="0"/>
          </a:p>
        </p:txBody>
      </p:sp>
      <p:sp>
        <p:nvSpPr>
          <p:cNvPr id="20" name="Text 16"/>
          <p:cNvSpPr/>
          <p:nvPr/>
        </p:nvSpPr>
        <p:spPr>
          <a:xfrm>
            <a:off x="485775" y="3372855"/>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21" name="Text 17"/>
          <p:cNvSpPr/>
          <p:nvPr/>
        </p:nvSpPr>
        <p:spPr>
          <a:xfrm>
            <a:off x="814388" y="3372855"/>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Q0 determinism</a:t>
            </a:r>
            <a:endParaRPr lang="en-US" sz="950" dirty="0"/>
          </a:p>
        </p:txBody>
      </p:sp>
      <p:sp>
        <p:nvSpPr>
          <p:cNvPr id="22" name="Text 18"/>
          <p:cNvSpPr/>
          <p:nvPr/>
        </p:nvSpPr>
        <p:spPr>
          <a:xfrm>
            <a:off x="2243138" y="3387142"/>
            <a:ext cx="2071688"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Stable ordering and equivalence grouping produce identical decisions for permuted response inputs.</a:t>
            </a:r>
            <a:endParaRPr lang="en-US" sz="550" dirty="0"/>
          </a:p>
        </p:txBody>
      </p:sp>
      <p:sp>
        <p:nvSpPr>
          <p:cNvPr id="23" name="Text 19"/>
          <p:cNvSpPr/>
          <p:nvPr/>
        </p:nvSpPr>
        <p:spPr>
          <a:xfrm>
            <a:off x="485775" y="3817162"/>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24" name="Text 20"/>
          <p:cNvSpPr/>
          <p:nvPr/>
        </p:nvSpPr>
        <p:spPr>
          <a:xfrm>
            <a:off x="814388" y="3817162"/>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Adversarial handling</a:t>
            </a:r>
            <a:endParaRPr lang="en-US" sz="950" dirty="0"/>
          </a:p>
        </p:txBody>
      </p:sp>
      <p:sp>
        <p:nvSpPr>
          <p:cNvPr id="25" name="Text 21"/>
          <p:cNvSpPr/>
          <p:nvPr/>
        </p:nvSpPr>
        <p:spPr>
          <a:xfrm>
            <a:off x="2243138" y="3831450"/>
            <a:ext cx="2071688"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Duplicate identities, same-key equivocation, stale keys, binding errors, and invalid policies are classified.</a:t>
            </a:r>
            <a:endParaRPr lang="en-US" sz="550" dirty="0"/>
          </a:p>
        </p:txBody>
      </p:sp>
      <p:sp>
        <p:nvSpPr>
          <p:cNvPr id="26" name="Text 22"/>
          <p:cNvSpPr/>
          <p:nvPr/>
        </p:nvSpPr>
        <p:spPr>
          <a:xfrm>
            <a:off x="4836319" y="2209205"/>
            <a:ext cx="3821906"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NOT ESTABLISHED </a:t>
            </a:r>
            <a:r>
              <a:rPr lang="en-US" sz="550" dirty="0">
                <a:solidFill>
                  <a:srgbClr val="7F8D91"/>
                </a:solidFill>
                <a:latin typeface="Courier New" pitchFamily="34" charset="0"/>
                <a:ea typeface="Courier New" pitchFamily="34" charset="-122"/>
                <a:cs typeface="Courier New" pitchFamily="34" charset="-120"/>
              </a:rPr>
              <a:t>/ FUTURE GATES REQUIRED</a:t>
            </a:r>
            <a:endParaRPr lang="en-US" sz="550" dirty="0"/>
          </a:p>
        </p:txBody>
      </p:sp>
      <p:sp>
        <p:nvSpPr>
          <p:cNvPr id="27" name="Text 23"/>
          <p:cNvSpPr/>
          <p:nvPr/>
        </p:nvSpPr>
        <p:spPr>
          <a:xfrm>
            <a:off x="4836319" y="2484239"/>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28" name="Text 24"/>
          <p:cNvSpPr/>
          <p:nvPr/>
        </p:nvSpPr>
        <p:spPr>
          <a:xfrm>
            <a:off x="5164931" y="2484239"/>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Production custody</a:t>
            </a:r>
            <a:endParaRPr lang="en-US" sz="950" dirty="0"/>
          </a:p>
        </p:txBody>
      </p:sp>
      <p:sp>
        <p:nvSpPr>
          <p:cNvPr id="29" name="Text 25"/>
          <p:cNvSpPr/>
          <p:nvPr/>
        </p:nvSpPr>
        <p:spPr>
          <a:xfrm>
            <a:off x="6593681" y="2498527"/>
            <a:ext cx="2064544"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No public-key lifecycle, hardware custody, revocation operations, or compromise recovery has been approved.</a:t>
            </a:r>
            <a:endParaRPr lang="en-US" sz="550" dirty="0"/>
          </a:p>
        </p:txBody>
      </p:sp>
      <p:sp>
        <p:nvSpPr>
          <p:cNvPr id="30" name="Text 26"/>
          <p:cNvSpPr/>
          <p:nvPr/>
        </p:nvSpPr>
        <p:spPr>
          <a:xfrm>
            <a:off x="4836319" y="2928547"/>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31" name="Text 27"/>
          <p:cNvSpPr/>
          <p:nvPr/>
        </p:nvSpPr>
        <p:spPr>
          <a:xfrm>
            <a:off x="5164931" y="2928547"/>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Byzantine consensus</a:t>
            </a:r>
            <a:endParaRPr lang="en-US" sz="950" dirty="0"/>
          </a:p>
        </p:txBody>
      </p:sp>
      <p:sp>
        <p:nvSpPr>
          <p:cNvPr id="32" name="Text 28"/>
          <p:cNvSpPr/>
          <p:nvPr/>
        </p:nvSpPr>
        <p:spPr>
          <a:xfrm>
            <a:off x="6593681" y="2942834"/>
            <a:ext cx="2064544"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No network liveness, leader election, replicated log, partition tolerance, or adversarial quorum guarantee.</a:t>
            </a:r>
            <a:endParaRPr lang="en-US" sz="550" dirty="0"/>
          </a:p>
        </p:txBody>
      </p:sp>
      <p:sp>
        <p:nvSpPr>
          <p:cNvPr id="33" name="Text 29"/>
          <p:cNvSpPr/>
          <p:nvPr/>
        </p:nvSpPr>
        <p:spPr>
          <a:xfrm>
            <a:off x="4836319" y="3372855"/>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34" name="Text 30"/>
          <p:cNvSpPr/>
          <p:nvPr/>
        </p:nvSpPr>
        <p:spPr>
          <a:xfrm>
            <a:off x="5164931" y="3372855"/>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Collision proof</a:t>
            </a:r>
            <a:endParaRPr lang="en-US" sz="950" dirty="0"/>
          </a:p>
        </p:txBody>
      </p:sp>
      <p:sp>
        <p:nvSpPr>
          <p:cNvPr id="35" name="Text 31"/>
          <p:cNvSpPr/>
          <p:nvPr/>
        </p:nvSpPr>
        <p:spPr>
          <a:xfrm>
            <a:off x="6593681" y="3387142"/>
            <a:ext cx="2064544"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Zero corpus collisions is evidence about this implementation and seed set—not a proof of SHA-256 security.</a:t>
            </a:r>
            <a:endParaRPr lang="en-US" sz="550" dirty="0"/>
          </a:p>
        </p:txBody>
      </p:sp>
      <p:sp>
        <p:nvSpPr>
          <p:cNvPr id="36" name="Text 32"/>
          <p:cNvSpPr/>
          <p:nvPr/>
        </p:nvSpPr>
        <p:spPr>
          <a:xfrm>
            <a:off x="4836319" y="3817162"/>
            <a:ext cx="242888" cy="157163"/>
          </a:xfrm>
          <a:prstGeom prst="rect">
            <a:avLst/>
          </a:prstGeom>
          <a:noFill/>
          <a:ln/>
        </p:spPr>
        <p:txBody>
          <a:bodyPr wrap="none" lIns="0" tIns="0" rIns="0" bIns="0" rtlCol="0" anchor="t">
            <a:spAutoFit/>
          </a:bodyPr>
          <a:lstStyle/>
          <a:p>
            <a:pPr algn="l" indent="0" marL="0">
              <a:lnSpc>
                <a:spcPct val="80000"/>
              </a:lnSpc>
              <a:buNone/>
            </a:pPr>
            <a:r>
              <a:rPr lang="en-US" sz="1150" dirty="0">
                <a:solidFill>
                  <a:srgbClr val="D85A49"/>
                </a:solidFill>
                <a:latin typeface="Courier New" pitchFamily="34" charset="0"/>
                <a:ea typeface="Courier New" pitchFamily="34" charset="-122"/>
                <a:cs typeface="Courier New" pitchFamily="34" charset="-120"/>
              </a:rPr>
              <a:t>×</a:t>
            </a:r>
            <a:endParaRPr lang="en-US" sz="1150" dirty="0"/>
          </a:p>
        </p:txBody>
      </p:sp>
      <p:sp>
        <p:nvSpPr>
          <p:cNvPr id="37" name="Text 33"/>
          <p:cNvSpPr/>
          <p:nvPr/>
        </p:nvSpPr>
        <p:spPr>
          <a:xfrm>
            <a:off x="5164931" y="3817162"/>
            <a:ext cx="1343025"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Physical truth</a:t>
            </a:r>
            <a:endParaRPr lang="en-US" sz="950" dirty="0"/>
          </a:p>
        </p:txBody>
      </p:sp>
      <p:sp>
        <p:nvSpPr>
          <p:cNvPr id="38" name="Text 34"/>
          <p:cNvSpPr/>
          <p:nvPr/>
        </p:nvSpPr>
        <p:spPr>
          <a:xfrm>
            <a:off x="6593681" y="3831450"/>
            <a:ext cx="2064544" cy="330008"/>
          </a:xfrm>
          <a:prstGeom prst="rect">
            <a:avLst/>
          </a:prstGeom>
          <a:noFill/>
          <a:ln/>
        </p:spPr>
        <p:txBody>
          <a:bodyPr wrap="square" lIns="0" tIns="0" rIns="0" bIns="0" rtlCol="0" anchor="t">
            <a:spAutoFit/>
          </a:bodyPr>
          <a:lstStyle/>
          <a:p>
            <a:pPr algn="l" indent="0" marL="0">
              <a:lnSpc>
                <a:spcPct val="112000"/>
              </a:lnSpc>
              <a:buNone/>
            </a:pPr>
            <a:r>
              <a:rPr lang="en-US" sz="550" dirty="0">
                <a:solidFill>
                  <a:srgbClr val="AEB8BB"/>
                </a:solidFill>
                <a:latin typeface="Courier New" pitchFamily="34" charset="0"/>
                <a:ea typeface="Courier New" pitchFamily="34" charset="-122"/>
                <a:cs typeface="Courier New" pitchFamily="34" charset="-120"/>
              </a:rPr>
              <a:t>Quorum agreement does not validate a Geometric Unity interpretation or any physical-world claim.</a:t>
            </a:r>
            <a:endParaRPr lang="en-US" sz="550" dirty="0"/>
          </a:p>
        </p:txBody>
      </p:sp>
      <p:sp>
        <p:nvSpPr>
          <p:cNvPr id="39" name="Shape 35"/>
          <p:cNvSpPr/>
          <p:nvPr/>
        </p:nvSpPr>
        <p:spPr>
          <a:xfrm>
            <a:off x="485775" y="4466630"/>
            <a:ext cx="8172450" cy="420030"/>
          </a:xfrm>
          <a:prstGeom prst="rect">
            <a:avLst/>
          </a:prstGeom>
          <a:solidFill>
            <a:srgbClr val="000000">
              <a:alpha val="0"/>
            </a:srgbClr>
          </a:solidFill>
          <a:ln/>
        </p:spPr>
      </p:sp>
      <p:sp>
        <p:nvSpPr>
          <p:cNvPr id="40" name="Shape 36"/>
          <p:cNvSpPr/>
          <p:nvPr/>
        </p:nvSpPr>
        <p:spPr>
          <a:xfrm>
            <a:off x="485775" y="4466630"/>
            <a:ext cx="8172450" cy="21431"/>
          </a:xfrm>
          <a:prstGeom prst="rect">
            <a:avLst/>
          </a:prstGeom>
          <a:solidFill>
            <a:srgbClr val="D64635"/>
          </a:solidFill>
          <a:ln/>
        </p:spPr>
      </p:sp>
      <p:sp>
        <p:nvSpPr>
          <p:cNvPr id="41" name="Text 37"/>
          <p:cNvSpPr/>
          <p:nvPr/>
        </p:nvSpPr>
        <p:spPr>
          <a:xfrm>
            <a:off x="485775" y="4595217"/>
            <a:ext cx="1113197" cy="270011"/>
          </a:xfrm>
          <a:prstGeom prst="rect">
            <a:avLst/>
          </a:prstGeom>
          <a:noFill/>
          <a:ln/>
        </p:spPr>
        <p:txBody>
          <a:bodyPr wrap="none" lIns="0" tIns="0" rIns="0" bIns="0" rtlCol="0" anchor="t">
            <a:spAutoFit/>
          </a:bodyPr>
          <a:lstStyle/>
          <a:p>
            <a:pPr algn="l" indent="0" marL="0">
              <a:buNone/>
            </a:pPr>
            <a:r>
              <a:rPr lang="en-US" sz="600" spc="1" kern="0" dirty="0">
                <a:solidFill>
                  <a:srgbClr val="D85A49"/>
                </a:solidFill>
                <a:latin typeface="Courier New" pitchFamily="34" charset="0"/>
                <a:ea typeface="Courier New" pitchFamily="34" charset="-122"/>
                <a:cs typeface="Courier New" pitchFamily="34" charset="-120"/>
              </a:rPr>
              <a:t>RELEASE IMPLICATION</a:t>
            </a:r>
            <a:endParaRPr lang="en-US" sz="600" dirty="0"/>
          </a:p>
        </p:txBody>
      </p:sp>
      <p:sp>
        <p:nvSpPr>
          <p:cNvPr id="42" name="Text 38"/>
          <p:cNvSpPr/>
          <p:nvPr/>
        </p:nvSpPr>
        <p:spPr>
          <a:xfrm>
            <a:off x="1959508" y="4595217"/>
            <a:ext cx="5143500" cy="270011"/>
          </a:xfrm>
          <a:prstGeom prst="rect">
            <a:avLst/>
          </a:prstGeom>
          <a:noFill/>
          <a:ln/>
        </p:spPr>
        <p:txBody>
          <a:bodyPr wrap="square" lIns="0" tIns="0" rIns="0" bIns="0" rtlCol="0" anchor="t">
            <a:spAutoFit/>
          </a:bodyPr>
          <a:lstStyle/>
          <a:p>
            <a:pPr algn="l" indent="0" marL="0">
              <a:lnSpc>
                <a:spcPct val="108000"/>
              </a:lnSpc>
              <a:buNone/>
            </a:pPr>
            <a:r>
              <a:rPr lang="en-US" sz="750" dirty="0">
                <a:solidFill>
                  <a:srgbClr val="D7DCD8"/>
                </a:solidFill>
                <a:latin typeface="Courier New" pitchFamily="34" charset="0"/>
                <a:ea typeface="Courier New" pitchFamily="34" charset="-122"/>
                <a:cs typeface="Courier New" pitchFamily="34" charset="-120"/>
              </a:rPr>
              <a:t>Advance the offline verification harness. Do not promote a distributed or physical-claim system.</a:t>
            </a:r>
            <a:endParaRPr lang="en-US" sz="750" dirty="0"/>
          </a:p>
        </p:txBody>
      </p:sp>
      <p:sp>
        <p:nvSpPr>
          <p:cNvPr id="43" name="Text 39"/>
          <p:cNvSpPr/>
          <p:nvPr/>
        </p:nvSpPr>
        <p:spPr>
          <a:xfrm>
            <a:off x="7463544" y="4595217"/>
            <a:ext cx="1194625" cy="270011"/>
          </a:xfrm>
          <a:prstGeom prst="rect">
            <a:avLst/>
          </a:prstGeom>
          <a:noFill/>
          <a:ln/>
        </p:spPr>
        <p:txBody>
          <a:bodyPr wrap="none" lIns="0" tIns="0" rIns="0" bIns="0" rtlCol="0" anchor="t">
            <a:spAutoFit/>
          </a:bodyPr>
          <a:lstStyle/>
          <a:p>
            <a:pPr algn="r" indent="0" marL="0">
              <a:buNone/>
            </a:pPr>
            <a:r>
              <a:rPr lang="en-US" sz="550" spc="1" kern="0" dirty="0">
                <a:solidFill>
                  <a:srgbClr val="F0B8A8"/>
                </a:solidFill>
                <a:latin typeface="Courier New" pitchFamily="34" charset="0"/>
                <a:ea typeface="Courier New" pitchFamily="34" charset="-122"/>
                <a:cs typeface="Courier New" pitchFamily="34" charset="-120"/>
              </a:rPr>
              <a:t>QG4 / EVIDENCE PASSED</a:t>
            </a:r>
            <a:r>
              <a:rPr lang="en-US" sz="550" spc="1" kern="0" dirty="0">
                <a:solidFill>
                  <a:srgbClr val="F0B8A8"/>
                </a:solidFill>
                <a:latin typeface="Courier New" pitchFamily="34" charset="0"/>
                <a:ea typeface="Courier New" pitchFamily="34" charset="-122"/>
                <a:cs typeface="Courier New" pitchFamily="34" charset="-120"/>
              </a:rPr>
              <a:t>
</a:t>
            </a:r>
            <a:r>
              <a:rPr lang="en-US" sz="550" spc="1" kern="0" dirty="0">
                <a:solidFill>
                  <a:srgbClr val="F0B8A8"/>
                </a:solidFill>
                <a:latin typeface="Courier New" pitchFamily="34" charset="0"/>
                <a:ea typeface="Courier New" pitchFamily="34" charset="-122"/>
                <a:cs typeface="Courier New" pitchFamily="34" charset="-120"/>
              </a:rPr>
              <a:t>QG5 / NOT YET ACCEPTED</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600075"/>
          </a:xfrm>
          <a:prstGeom prst="rect">
            <a:avLst/>
          </a:prstGeom>
          <a:solidFill>
            <a:srgbClr val="000000">
              <a:alpha val="0"/>
            </a:srgbClr>
          </a:solidFill>
          <a:ln/>
        </p:spPr>
      </p:sp>
      <p:sp>
        <p:nvSpPr>
          <p:cNvPr id="4" name="Shape 1"/>
          <p:cNvSpPr/>
          <p:nvPr/>
        </p:nvSpPr>
        <p:spPr>
          <a:xfrm>
            <a:off x="0" y="592931"/>
            <a:ext cx="9144000" cy="7144"/>
          </a:xfrm>
          <a:prstGeom prst="rect">
            <a:avLst/>
          </a:prstGeom>
          <a:solidFill>
            <a:srgbClr val="2C373E"/>
          </a:solidFill>
          <a:ln/>
        </p:spPr>
      </p:sp>
      <p:sp>
        <p:nvSpPr>
          <p:cNvPr id="5" name="Text 2"/>
          <p:cNvSpPr/>
          <p:nvPr/>
        </p:nvSpPr>
        <p:spPr>
          <a:xfrm>
            <a:off x="414338" y="192881"/>
            <a:ext cx="1351787" cy="407194"/>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10 / PROMOTION CONTROL</a:t>
            </a:r>
            <a:endParaRPr lang="en-US" sz="550" dirty="0"/>
          </a:p>
        </p:txBody>
      </p:sp>
      <p:sp>
        <p:nvSpPr>
          <p:cNvPr id="6" name="Text 3"/>
          <p:cNvSpPr/>
          <p:nvPr/>
        </p:nvSpPr>
        <p:spPr>
          <a:xfrm>
            <a:off x="7456401" y="192881"/>
            <a:ext cx="1273262" cy="407194"/>
          </a:xfrm>
          <a:prstGeom prst="rect">
            <a:avLst/>
          </a:prstGeom>
          <a:noFill/>
          <a:ln/>
        </p:spPr>
        <p:txBody>
          <a:bodyPr wrap="non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QG1–QG5 · RELEASE IS EARNED</a:t>
            </a:r>
            <a:endParaRPr lang="en-US" sz="550" dirty="0"/>
          </a:p>
        </p:txBody>
      </p:sp>
      <p:sp>
        <p:nvSpPr>
          <p:cNvPr id="7" name="Text 4"/>
          <p:cNvSpPr/>
          <p:nvPr/>
        </p:nvSpPr>
        <p:spPr>
          <a:xfrm>
            <a:off x="485775" y="985838"/>
            <a:ext cx="3929063"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FIVE GATES BEFORE EXPANSION</a:t>
            </a:r>
            <a:endParaRPr lang="en-US" sz="550" dirty="0"/>
          </a:p>
        </p:txBody>
      </p:sp>
      <p:sp>
        <p:nvSpPr>
          <p:cNvPr id="8" name="Text 5"/>
          <p:cNvSpPr/>
          <p:nvPr/>
        </p:nvSpPr>
        <p:spPr>
          <a:xfrm>
            <a:off x="485775" y="1189434"/>
            <a:ext cx="3929063" cy="641152"/>
          </a:xfrm>
          <a:prstGeom prst="rect">
            <a:avLst/>
          </a:prstGeom>
          <a:noFill/>
          <a:ln/>
        </p:spPr>
        <p:txBody>
          <a:bodyPr wrap="square" lIns="0" tIns="0" rIns="0" bIns="0" rtlCol="0" anchor="t">
            <a:spAutoFit/>
          </a:bodyPr>
          <a:lstStyle/>
          <a:p>
            <a:pPr algn="l" indent="0" marL="0">
              <a:lnSpc>
                <a:spcPct val="81600"/>
              </a:lnSpc>
              <a:buNone/>
            </a:pPr>
            <a:r>
              <a:rPr lang="en-US" sz="2250" b="1" spc="-1" kern="0" dirty="0">
                <a:solidFill>
                  <a:srgbClr val="F4EFE4"/>
                </a:solidFill>
                <a:latin typeface="Georgia" pitchFamily="34" charset="0"/>
                <a:ea typeface="Georgia" pitchFamily="34" charset="-122"/>
                <a:cs typeface="Georgia" pitchFamily="34" charset="-120"/>
              </a:rPr>
              <a:t>Evidence first.</a:t>
            </a:r>
            <a:r>
              <a:rPr lang="en-US" sz="2250" b="1" spc="-1" kern="0" dirty="0">
                <a:solidFill>
                  <a:srgbClr val="F4EFE4"/>
                </a:solidFill>
                <a:latin typeface="Georgia" pitchFamily="34" charset="0"/>
                <a:ea typeface="Georgia" pitchFamily="34" charset="-122"/>
                <a:cs typeface="Georgia" pitchFamily="34" charset="-120"/>
              </a:rPr>
              <a:t>
</a:t>
            </a:r>
            <a:r>
              <a:rPr lang="en-US" sz="2250" b="1" spc="-1" kern="0" dirty="0">
                <a:solidFill>
                  <a:srgbClr val="F4EFE4"/>
                </a:solidFill>
                <a:latin typeface="Georgia" pitchFamily="34" charset="0"/>
                <a:ea typeface="Georgia" pitchFamily="34" charset="-122"/>
                <a:cs typeface="Georgia" pitchFamily="34" charset="-120"/>
              </a:rPr>
              <a:t>Promotion second.</a:t>
            </a:r>
            <a:endParaRPr lang="en-US" sz="2250" dirty="0"/>
          </a:p>
        </p:txBody>
      </p:sp>
      <p:sp>
        <p:nvSpPr>
          <p:cNvPr id="9" name="Text 6"/>
          <p:cNvSpPr/>
          <p:nvPr/>
        </p:nvSpPr>
        <p:spPr>
          <a:xfrm>
            <a:off x="485775" y="1916311"/>
            <a:ext cx="3357563" cy="248580"/>
          </a:xfrm>
          <a:prstGeom prst="rect">
            <a:avLst/>
          </a:prstGeom>
          <a:noFill/>
          <a:ln/>
        </p:spPr>
        <p:txBody>
          <a:bodyPr wrap="square" lIns="0" tIns="0" rIns="0" bIns="0" rtlCol="0" anchor="t">
            <a:spAutoFit/>
          </a:bodyPr>
          <a:lstStyle/>
          <a:p>
            <a:pPr algn="l" indent="0" marL="0">
              <a:lnSpc>
                <a:spcPct val="116000"/>
              </a:lnSpc>
              <a:buNone/>
            </a:pPr>
            <a:r>
              <a:rPr lang="en-US" sz="600" dirty="0">
                <a:solidFill>
                  <a:srgbClr val="AAB5B8"/>
                </a:solidFill>
                <a:latin typeface="Courier New" pitchFamily="34" charset="0"/>
                <a:ea typeface="Courier New" pitchFamily="34" charset="-122"/>
                <a:cs typeface="Courier New" pitchFamily="34" charset="-120"/>
              </a:rPr>
              <a:t>Each gate closes a different failure mode. Passing one gate never implies that the next trust boundary is safe.</a:t>
            </a:r>
            <a:endParaRPr lang="en-US" sz="600" dirty="0"/>
          </a:p>
        </p:txBody>
      </p:sp>
      <p:sp>
        <p:nvSpPr>
          <p:cNvPr id="10" name="Text 7"/>
          <p:cNvSpPr/>
          <p:nvPr/>
        </p:nvSpPr>
        <p:spPr>
          <a:xfrm>
            <a:off x="485775" y="2566727"/>
            <a:ext cx="500063" cy="146447"/>
          </a:xfrm>
          <a:prstGeom prst="rect">
            <a:avLst/>
          </a:prstGeom>
          <a:noFill/>
          <a:ln/>
        </p:spPr>
        <p:txBody>
          <a:bodyPr wrap="none" lIns="0" tIns="0" rIns="0" bIns="0" rtlCol="0" anchor="t">
            <a:spAutoFit/>
          </a:bodyPr>
          <a:lstStyle/>
          <a:p>
            <a:pPr algn="l" indent="0" marL="0">
              <a:buNone/>
            </a:pPr>
            <a:r>
              <a:rPr lang="en-US" sz="900" b="1" dirty="0">
                <a:solidFill>
                  <a:srgbClr val="D85A49"/>
                </a:solidFill>
                <a:latin typeface="Courier New" pitchFamily="34" charset="0"/>
                <a:ea typeface="Courier New" pitchFamily="34" charset="-122"/>
                <a:cs typeface="Courier New" pitchFamily="34" charset="-120"/>
              </a:rPr>
              <a:t>QG1</a:t>
            </a:r>
            <a:endParaRPr lang="en-US" sz="900" dirty="0"/>
          </a:p>
        </p:txBody>
      </p:sp>
      <p:sp>
        <p:nvSpPr>
          <p:cNvPr id="11" name="Text 8"/>
          <p:cNvSpPr/>
          <p:nvPr/>
        </p:nvSpPr>
        <p:spPr>
          <a:xfrm>
            <a:off x="1085850" y="2572420"/>
            <a:ext cx="1321594"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Semantic agreement</a:t>
            </a:r>
            <a:endParaRPr lang="en-US" sz="950" dirty="0"/>
          </a:p>
        </p:txBody>
      </p:sp>
      <p:sp>
        <p:nvSpPr>
          <p:cNvPr id="12" name="Text 9"/>
          <p:cNvSpPr/>
          <p:nvPr/>
        </p:nvSpPr>
        <p:spPr>
          <a:xfrm>
            <a:off x="2507456" y="2533910"/>
            <a:ext cx="1907381"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D8DFDC"/>
                </a:solidFill>
                <a:latin typeface="Courier New" pitchFamily="34" charset="0"/>
                <a:ea typeface="Courier New" pitchFamily="34" charset="-122"/>
                <a:cs typeface="Courier New" pitchFamily="34" charset="-120"/>
              </a:rPr>
              <a:t>schemas + equivalence</a:t>
            </a:r>
            <a:r>
              <a:rPr lang="en-US" sz="550" dirty="0">
                <a:solidFill>
                  <a:srgbClr val="9EA9AD"/>
                </a:solidFill>
                <a:latin typeface="Courier New" pitchFamily="34" charset="0"/>
                <a:ea typeface="Courier New" pitchFamily="34" charset="-122"/>
                <a:cs typeface="Courier New" pitchFamily="34" charset="-120"/>
              </a:rPr>
              <a:t>
</a:t>
            </a:r>
            <a:r>
              <a:rPr lang="en-US" sz="550" dirty="0">
                <a:solidFill>
                  <a:srgbClr val="9EA9AD"/>
                </a:solidFill>
                <a:latin typeface="Courier New" pitchFamily="34" charset="0"/>
                <a:ea typeface="Courier New" pitchFamily="34" charset="-122"/>
                <a:cs typeface="Courier New" pitchFamily="34" charset="-120"/>
              </a:rPr>
              <a:t>typed decisions are accepted</a:t>
            </a:r>
            <a:endParaRPr lang="en-US" sz="550" dirty="0"/>
          </a:p>
        </p:txBody>
      </p:sp>
      <p:sp>
        <p:nvSpPr>
          <p:cNvPr id="13" name="Text 10"/>
          <p:cNvSpPr/>
          <p:nvPr/>
        </p:nvSpPr>
        <p:spPr>
          <a:xfrm>
            <a:off x="485775" y="3081077"/>
            <a:ext cx="500063" cy="146447"/>
          </a:xfrm>
          <a:prstGeom prst="rect">
            <a:avLst/>
          </a:prstGeom>
          <a:noFill/>
          <a:ln/>
        </p:spPr>
        <p:txBody>
          <a:bodyPr wrap="none" lIns="0" tIns="0" rIns="0" bIns="0" rtlCol="0" anchor="t">
            <a:spAutoFit/>
          </a:bodyPr>
          <a:lstStyle/>
          <a:p>
            <a:pPr algn="l" indent="0" marL="0">
              <a:buNone/>
            </a:pPr>
            <a:r>
              <a:rPr lang="en-US" sz="900" b="1" dirty="0">
                <a:solidFill>
                  <a:srgbClr val="D85A49"/>
                </a:solidFill>
                <a:latin typeface="Courier New" pitchFamily="34" charset="0"/>
                <a:ea typeface="Courier New" pitchFamily="34" charset="-122"/>
                <a:cs typeface="Courier New" pitchFamily="34" charset="-120"/>
              </a:rPr>
              <a:t>QG2</a:t>
            </a:r>
            <a:endParaRPr lang="en-US" sz="900" dirty="0"/>
          </a:p>
        </p:txBody>
      </p:sp>
      <p:sp>
        <p:nvSpPr>
          <p:cNvPr id="14" name="Text 11"/>
          <p:cNvSpPr/>
          <p:nvPr/>
        </p:nvSpPr>
        <p:spPr>
          <a:xfrm>
            <a:off x="1085850" y="3086770"/>
            <a:ext cx="1321594"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Cryptographic binding</a:t>
            </a:r>
            <a:endParaRPr lang="en-US" sz="950" dirty="0"/>
          </a:p>
        </p:txBody>
      </p:sp>
      <p:sp>
        <p:nvSpPr>
          <p:cNvPr id="15" name="Text 12"/>
          <p:cNvSpPr/>
          <p:nvPr/>
        </p:nvSpPr>
        <p:spPr>
          <a:xfrm>
            <a:off x="2507456" y="2995240"/>
            <a:ext cx="1907381" cy="31812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D8DFDC"/>
                </a:solidFill>
                <a:latin typeface="Courier New" pitchFamily="34" charset="0"/>
                <a:ea typeface="Courier New" pitchFamily="34" charset="-122"/>
                <a:cs typeface="Courier New" pitchFamily="34" charset="-120"/>
              </a:rPr>
              <a:t>DSSE + key policy</a:t>
            </a:r>
            <a:r>
              <a:rPr lang="en-US" sz="550" dirty="0">
                <a:solidFill>
                  <a:srgbClr val="9EA9AD"/>
                </a:solidFill>
                <a:latin typeface="Courier New" pitchFamily="34" charset="0"/>
                <a:ea typeface="Courier New" pitchFamily="34" charset="-122"/>
                <a:cs typeface="Courier New" pitchFamily="34" charset="-120"/>
              </a:rPr>
              <a:t>
</a:t>
            </a:r>
            <a:r>
              <a:rPr lang="en-US" sz="550" dirty="0">
                <a:solidFill>
                  <a:srgbClr val="9EA9AD"/>
                </a:solidFill>
                <a:latin typeface="Courier New" pitchFamily="34" charset="0"/>
                <a:ea typeface="Courier New" pitchFamily="34" charset="-122"/>
                <a:cs typeface="Courier New" pitchFamily="34" charset="-120"/>
              </a:rPr>
              <a:t>exact payloads, revocation, identity </a:t>
            </a:r>
            <a:r>
              <a:rPr lang="en-US" sz="550" dirty="0">
                <a:solidFill>
                  <a:srgbClr val="9EA9AD"/>
                </a:solidFill>
                <a:latin typeface="Courier New" pitchFamily="34" charset="0"/>
                <a:ea typeface="Courier New" pitchFamily="34" charset="-122"/>
                <a:cs typeface="Courier New" pitchFamily="34" charset="-120"/>
              </a:rPr>
              <a:t>rules</a:t>
            </a:r>
            <a:endParaRPr lang="en-US" sz="550" dirty="0"/>
          </a:p>
        </p:txBody>
      </p:sp>
      <p:sp>
        <p:nvSpPr>
          <p:cNvPr id="16" name="Text 13"/>
          <p:cNvSpPr/>
          <p:nvPr/>
        </p:nvSpPr>
        <p:spPr>
          <a:xfrm>
            <a:off x="485775" y="3595427"/>
            <a:ext cx="500063" cy="146447"/>
          </a:xfrm>
          <a:prstGeom prst="rect">
            <a:avLst/>
          </a:prstGeom>
          <a:noFill/>
          <a:ln/>
        </p:spPr>
        <p:txBody>
          <a:bodyPr wrap="none" lIns="0" tIns="0" rIns="0" bIns="0" rtlCol="0" anchor="t">
            <a:spAutoFit/>
          </a:bodyPr>
          <a:lstStyle/>
          <a:p>
            <a:pPr algn="l" indent="0" marL="0">
              <a:buNone/>
            </a:pPr>
            <a:r>
              <a:rPr lang="en-US" sz="900" b="1" dirty="0">
                <a:solidFill>
                  <a:srgbClr val="D85A49"/>
                </a:solidFill>
                <a:latin typeface="Courier New" pitchFamily="34" charset="0"/>
                <a:ea typeface="Courier New" pitchFamily="34" charset="-122"/>
                <a:cs typeface="Courier New" pitchFamily="34" charset="-120"/>
              </a:rPr>
              <a:t>QG3</a:t>
            </a:r>
            <a:endParaRPr lang="en-US" sz="900" dirty="0"/>
          </a:p>
        </p:txBody>
      </p:sp>
      <p:sp>
        <p:nvSpPr>
          <p:cNvPr id="17" name="Text 14"/>
          <p:cNvSpPr/>
          <p:nvPr/>
        </p:nvSpPr>
        <p:spPr>
          <a:xfrm>
            <a:off x="1085850" y="3601120"/>
            <a:ext cx="1321594"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Audit integration</a:t>
            </a:r>
            <a:endParaRPr lang="en-US" sz="950" dirty="0"/>
          </a:p>
        </p:txBody>
      </p:sp>
      <p:sp>
        <p:nvSpPr>
          <p:cNvPr id="18" name="Text 15"/>
          <p:cNvSpPr/>
          <p:nvPr/>
        </p:nvSpPr>
        <p:spPr>
          <a:xfrm>
            <a:off x="2507456" y="3562610"/>
            <a:ext cx="1907381" cy="21208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D8DFDC"/>
                </a:solidFill>
                <a:latin typeface="Courier New" pitchFamily="34" charset="0"/>
                <a:ea typeface="Courier New" pitchFamily="34" charset="-122"/>
                <a:cs typeface="Courier New" pitchFamily="34" charset="-120"/>
              </a:rPr>
              <a:t>replay + checkpoints</a:t>
            </a:r>
            <a:r>
              <a:rPr lang="en-US" sz="550" dirty="0">
                <a:solidFill>
                  <a:srgbClr val="9EA9AD"/>
                </a:solidFill>
                <a:latin typeface="Courier New" pitchFamily="34" charset="0"/>
                <a:ea typeface="Courier New" pitchFamily="34" charset="-122"/>
                <a:cs typeface="Courier New" pitchFamily="34" charset="-120"/>
              </a:rPr>
              <a:t>
</a:t>
            </a:r>
            <a:r>
              <a:rPr lang="en-US" sz="550" dirty="0">
                <a:solidFill>
                  <a:srgbClr val="9EA9AD"/>
                </a:solidFill>
                <a:latin typeface="Courier New" pitchFamily="34" charset="0"/>
                <a:ea typeface="Courier New" pitchFamily="34" charset="-122"/>
                <a:cs typeface="Courier New" pitchFamily="34" charset="-120"/>
              </a:rPr>
              <a:t>decisions reference immutable evidence</a:t>
            </a:r>
            <a:endParaRPr lang="en-US" sz="550" dirty="0"/>
          </a:p>
        </p:txBody>
      </p:sp>
      <p:sp>
        <p:nvSpPr>
          <p:cNvPr id="19" name="Text 16"/>
          <p:cNvSpPr/>
          <p:nvPr/>
        </p:nvSpPr>
        <p:spPr>
          <a:xfrm>
            <a:off x="485775" y="4109777"/>
            <a:ext cx="500063" cy="146447"/>
          </a:xfrm>
          <a:prstGeom prst="rect">
            <a:avLst/>
          </a:prstGeom>
          <a:noFill/>
          <a:ln/>
        </p:spPr>
        <p:txBody>
          <a:bodyPr wrap="none" lIns="0" tIns="0" rIns="0" bIns="0" rtlCol="0" anchor="t">
            <a:spAutoFit/>
          </a:bodyPr>
          <a:lstStyle/>
          <a:p>
            <a:pPr algn="l" indent="0" marL="0">
              <a:buNone/>
            </a:pPr>
            <a:r>
              <a:rPr lang="en-US" sz="900" b="1" dirty="0">
                <a:solidFill>
                  <a:srgbClr val="D85A49"/>
                </a:solidFill>
                <a:latin typeface="Courier New" pitchFamily="34" charset="0"/>
                <a:ea typeface="Courier New" pitchFamily="34" charset="-122"/>
                <a:cs typeface="Courier New" pitchFamily="34" charset="-120"/>
              </a:rPr>
              <a:t>QG4</a:t>
            </a:r>
            <a:endParaRPr lang="en-US" sz="900" dirty="0"/>
          </a:p>
        </p:txBody>
      </p:sp>
      <p:sp>
        <p:nvSpPr>
          <p:cNvPr id="20" name="Text 17"/>
          <p:cNvSpPr/>
          <p:nvPr/>
        </p:nvSpPr>
        <p:spPr>
          <a:xfrm>
            <a:off x="1085850" y="4115470"/>
            <a:ext cx="1321594"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Adversarial confidence</a:t>
            </a:r>
            <a:endParaRPr lang="en-US" sz="950" dirty="0"/>
          </a:p>
        </p:txBody>
      </p:sp>
      <p:sp>
        <p:nvSpPr>
          <p:cNvPr id="21" name="Text 18"/>
          <p:cNvSpPr/>
          <p:nvPr/>
        </p:nvSpPr>
        <p:spPr>
          <a:xfrm>
            <a:off x="2507456" y="4023940"/>
            <a:ext cx="1907381" cy="31812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D8DFDC"/>
                </a:solidFill>
                <a:latin typeface="Courier New" pitchFamily="34" charset="0"/>
                <a:ea typeface="Courier New" pitchFamily="34" charset="-122"/>
                <a:cs typeface="Courier New" pitchFamily="34" charset="-120"/>
              </a:rPr>
              <a:t>fuzz + property suite</a:t>
            </a:r>
            <a:r>
              <a:rPr lang="en-US" sz="550" dirty="0">
                <a:solidFill>
                  <a:srgbClr val="9EA9AD"/>
                </a:solidFill>
                <a:latin typeface="Courier New" pitchFamily="34" charset="0"/>
                <a:ea typeface="Courier New" pitchFamily="34" charset="-122"/>
                <a:cs typeface="Courier New" pitchFamily="34" charset="-120"/>
              </a:rPr>
              <a:t>
</a:t>
            </a:r>
            <a:r>
              <a:rPr lang="en-US" sz="550" dirty="0">
                <a:solidFill>
                  <a:srgbClr val="9EA9AD"/>
                </a:solidFill>
                <a:latin typeface="Courier New" pitchFamily="34" charset="0"/>
                <a:ea typeface="Courier New" pitchFamily="34" charset="-122"/>
                <a:cs typeface="Courier New" pitchFamily="34" charset="-120"/>
              </a:rPr>
              <a:t>no unexplained collision or fail-open </a:t>
            </a:r>
            <a:r>
              <a:rPr lang="en-US" sz="550" dirty="0">
                <a:solidFill>
                  <a:srgbClr val="9EA9AD"/>
                </a:solidFill>
                <a:latin typeface="Courier New" pitchFamily="34" charset="0"/>
                <a:ea typeface="Courier New" pitchFamily="34" charset="-122"/>
                <a:cs typeface="Courier New" pitchFamily="34" charset="-120"/>
              </a:rPr>
              <a:t>path</a:t>
            </a:r>
            <a:endParaRPr lang="en-US" sz="550" dirty="0"/>
          </a:p>
        </p:txBody>
      </p:sp>
      <p:sp>
        <p:nvSpPr>
          <p:cNvPr id="22" name="Text 19"/>
          <p:cNvSpPr/>
          <p:nvPr/>
        </p:nvSpPr>
        <p:spPr>
          <a:xfrm>
            <a:off x="485775" y="4624127"/>
            <a:ext cx="500063" cy="146447"/>
          </a:xfrm>
          <a:prstGeom prst="rect">
            <a:avLst/>
          </a:prstGeom>
          <a:noFill/>
          <a:ln/>
        </p:spPr>
        <p:txBody>
          <a:bodyPr wrap="none" lIns="0" tIns="0" rIns="0" bIns="0" rtlCol="0" anchor="t">
            <a:spAutoFit/>
          </a:bodyPr>
          <a:lstStyle/>
          <a:p>
            <a:pPr algn="l" indent="0" marL="0">
              <a:buNone/>
            </a:pPr>
            <a:r>
              <a:rPr lang="en-US" sz="900" b="1" dirty="0">
                <a:solidFill>
                  <a:srgbClr val="D85A49"/>
                </a:solidFill>
                <a:latin typeface="Courier New" pitchFamily="34" charset="0"/>
                <a:ea typeface="Courier New" pitchFamily="34" charset="-122"/>
                <a:cs typeface="Courier New" pitchFamily="34" charset="-120"/>
              </a:rPr>
              <a:t>QG5</a:t>
            </a:r>
            <a:endParaRPr lang="en-US" sz="900" dirty="0"/>
          </a:p>
        </p:txBody>
      </p:sp>
      <p:sp>
        <p:nvSpPr>
          <p:cNvPr id="23" name="Text 20"/>
          <p:cNvSpPr/>
          <p:nvPr/>
        </p:nvSpPr>
        <p:spPr>
          <a:xfrm>
            <a:off x="1085850" y="4629820"/>
            <a:ext cx="1321594" cy="135006"/>
          </a:xfrm>
          <a:prstGeom prst="rect">
            <a:avLst/>
          </a:prstGeom>
          <a:noFill/>
          <a:ln/>
        </p:spPr>
        <p:txBody>
          <a:bodyPr wrap="none" lIns="0" tIns="0" rIns="0" bIns="0" rtlCol="0" anchor="t">
            <a:spAutoFit/>
          </a:bodyPr>
          <a:lstStyle/>
          <a:p>
            <a:pPr algn="l" indent="0" marL="0">
              <a:lnSpc>
                <a:spcPct val="84000"/>
              </a:lnSpc>
              <a:buNone/>
            </a:pPr>
            <a:r>
              <a:rPr lang="en-US" sz="950" dirty="0">
                <a:solidFill>
                  <a:srgbClr val="F4EFE4"/>
                </a:solidFill>
                <a:latin typeface="Georgia" pitchFamily="34" charset="0"/>
                <a:ea typeface="Georgia" pitchFamily="34" charset="-122"/>
                <a:cs typeface="Georgia" pitchFamily="34" charset="-120"/>
              </a:rPr>
              <a:t>Operational decision</a:t>
            </a:r>
            <a:endParaRPr lang="en-US" sz="950" dirty="0"/>
          </a:p>
        </p:txBody>
      </p:sp>
      <p:sp>
        <p:nvSpPr>
          <p:cNvPr id="24" name="Text 21"/>
          <p:cNvSpPr/>
          <p:nvPr/>
        </p:nvSpPr>
        <p:spPr>
          <a:xfrm>
            <a:off x="2507456" y="4538290"/>
            <a:ext cx="1907381" cy="318120"/>
          </a:xfrm>
          <a:prstGeom prst="rect">
            <a:avLst/>
          </a:prstGeom>
          <a:noFill/>
          <a:ln/>
        </p:spPr>
        <p:txBody>
          <a:bodyPr wrap="square" lIns="0" tIns="0" rIns="0" bIns="0" rtlCol="0" anchor="t">
            <a:spAutoFit/>
          </a:bodyPr>
          <a:lstStyle/>
          <a:p>
            <a:pPr algn="l" indent="0" marL="0">
              <a:lnSpc>
                <a:spcPct val="108000"/>
              </a:lnSpc>
              <a:buNone/>
            </a:pPr>
            <a:r>
              <a:rPr lang="en-US" sz="550" dirty="0">
                <a:solidFill>
                  <a:srgbClr val="D8DFDC"/>
                </a:solidFill>
                <a:latin typeface="Courier New" pitchFamily="34" charset="0"/>
                <a:ea typeface="Courier New" pitchFamily="34" charset="-122"/>
                <a:cs typeface="Courier New" pitchFamily="34" charset="-120"/>
              </a:rPr>
              <a:t>security + ownership</a:t>
            </a:r>
            <a:r>
              <a:rPr lang="en-US" sz="550" dirty="0">
                <a:solidFill>
                  <a:srgbClr val="9EA9AD"/>
                </a:solidFill>
                <a:latin typeface="Courier New" pitchFamily="34" charset="0"/>
                <a:ea typeface="Courier New" pitchFamily="34" charset="-122"/>
                <a:cs typeface="Courier New" pitchFamily="34" charset="-120"/>
              </a:rPr>
              <a:t>
</a:t>
            </a:r>
            <a:r>
              <a:rPr lang="en-US" sz="550" dirty="0">
                <a:solidFill>
                  <a:srgbClr val="9EA9AD"/>
                </a:solidFill>
                <a:latin typeface="Courier New" pitchFamily="34" charset="0"/>
                <a:ea typeface="Courier New" pitchFamily="34" charset="-122"/>
                <a:cs typeface="Courier New" pitchFamily="34" charset="-120"/>
              </a:rPr>
              <a:t>key lifecycle, incident, retention, </a:t>
            </a:r>
            <a:r>
              <a:rPr lang="en-US" sz="550" dirty="0">
                <a:solidFill>
                  <a:srgbClr val="9EA9AD"/>
                </a:solidFill>
                <a:latin typeface="Courier New" pitchFamily="34" charset="0"/>
                <a:ea typeface="Courier New" pitchFamily="34" charset="-122"/>
                <a:cs typeface="Courier New" pitchFamily="34" charset="-120"/>
              </a:rPr>
              <a:t>rollback</a:t>
            </a:r>
            <a:endParaRPr lang="en-US" sz="550" dirty="0"/>
          </a:p>
        </p:txBody>
      </p:sp>
      <p:sp>
        <p:nvSpPr>
          <p:cNvPr id="25" name="Shape 22"/>
          <p:cNvSpPr/>
          <p:nvPr/>
        </p:nvSpPr>
        <p:spPr>
          <a:xfrm>
            <a:off x="4714875" y="600075"/>
            <a:ext cx="4429125" cy="4543425"/>
          </a:xfrm>
          <a:prstGeom prst="rect">
            <a:avLst/>
          </a:prstGeom>
          <a:solidFill>
            <a:srgbClr val="111B24"/>
          </a:solidFill>
          <a:ln/>
        </p:spPr>
      </p:sp>
      <p:sp>
        <p:nvSpPr>
          <p:cNvPr id="26" name="Text 23"/>
          <p:cNvSpPr/>
          <p:nvPr/>
        </p:nvSpPr>
        <p:spPr>
          <a:xfrm>
            <a:off x="4986338" y="985838"/>
            <a:ext cx="3786188" cy="89297"/>
          </a:xfrm>
          <a:prstGeom prst="rect">
            <a:avLst/>
          </a:prstGeom>
          <a:noFill/>
          <a:ln/>
        </p:spPr>
        <p:txBody>
          <a:bodyPr wrap="square" lIns="0" tIns="0" rIns="0" bIns="0" rtlCol="0" anchor="t">
            <a:spAutoFit/>
          </a:bodyPr>
          <a:lstStyle/>
          <a:p>
            <a:pPr algn="l" indent="0" marL="0">
              <a:buNone/>
            </a:pPr>
            <a:r>
              <a:rPr lang="en-US" sz="550" spc="1" kern="0" dirty="0">
                <a:solidFill>
                  <a:srgbClr val="F0B8A8"/>
                </a:solidFill>
                <a:latin typeface="Courier New" pitchFamily="34" charset="0"/>
                <a:ea typeface="Courier New" pitchFamily="34" charset="-122"/>
                <a:cs typeface="Courier New" pitchFamily="34" charset="-120"/>
              </a:rPr>
              <a:t>EVIDENCE SPINE / REQUIRED ARTIFACT SURFACE</a:t>
            </a:r>
            <a:endParaRPr lang="en-US" sz="550" dirty="0"/>
          </a:p>
        </p:txBody>
      </p:sp>
      <p:pic>
        <p:nvPicPr>
          <p:cNvPr id="27" name="Image 1" descr="preencoded.png">    </p:cNvPr>
          <p:cNvPicPr>
            <a:picLocks noChangeAspect="1"/>
          </p:cNvPicPr>
          <p:nvPr/>
        </p:nvPicPr>
        <p:blipFill>
          <a:blip r:embed="rId2"/>
          <a:stretch>
            <a:fillRect/>
          </a:stretch>
        </p:blipFill>
        <p:spPr>
          <a:xfrm>
            <a:off x="4986338" y="1175147"/>
            <a:ext cx="3357563" cy="1957388"/>
          </a:xfrm>
          <a:prstGeom prst="rect">
            <a:avLst/>
          </a:prstGeom>
        </p:spPr>
      </p:pic>
      <p:sp>
        <p:nvSpPr>
          <p:cNvPr id="28" name="Text 24"/>
          <p:cNvSpPr/>
          <p:nvPr/>
        </p:nvSpPr>
        <p:spPr>
          <a:xfrm>
            <a:off x="4986338" y="3218259"/>
            <a:ext cx="3357563" cy="200025"/>
          </a:xfrm>
          <a:prstGeom prst="rect">
            <a:avLst/>
          </a:prstGeom>
          <a:noFill/>
          <a:ln/>
        </p:spPr>
        <p:txBody>
          <a:bodyPr wrap="square" lIns="0" tIns="0" rIns="0" bIns="0" rtlCol="0" anchor="t">
            <a:spAutoFit/>
          </a:bodyPr>
          <a:lstStyle/>
          <a:p>
            <a:pPr algn="l" indent="0" marL="0">
              <a:lnSpc>
                <a:spcPct val="112000"/>
              </a:lnSpc>
              <a:buNone/>
            </a:pPr>
            <a:r>
              <a:rPr lang="en-US" sz="500" dirty="0">
                <a:solidFill>
                  <a:srgbClr val="7F8D91"/>
                </a:solidFill>
                <a:latin typeface="Courier New" pitchFamily="34" charset="0"/>
                <a:ea typeface="Courier New" pitchFamily="34" charset="-122"/>
                <a:cs typeface="Courier New" pitchFamily="34" charset="-120"/>
              </a:rPr>
              <a:t>FIG 02 · THE GATES ARE ARTIFACT-GROUNDED: CODE, FIXTURES, REGISTRIES, AUDIT RECORDS, AND OPERATIONS POLICY MUST COHERE.</a:t>
            </a:r>
            <a:endParaRPr lang="en-US" sz="500" dirty="0"/>
          </a:p>
        </p:txBody>
      </p:sp>
      <p:sp>
        <p:nvSpPr>
          <p:cNvPr id="29" name="Text 25"/>
          <p:cNvSpPr/>
          <p:nvPr/>
        </p:nvSpPr>
        <p:spPr>
          <a:xfrm>
            <a:off x="4986338" y="3839766"/>
            <a:ext cx="3357563" cy="441461"/>
          </a:xfrm>
          <a:prstGeom prst="rect">
            <a:avLst/>
          </a:prstGeom>
          <a:noFill/>
          <a:ln/>
        </p:spPr>
        <p:txBody>
          <a:bodyPr wrap="square" lIns="0" tIns="0" rIns="0" bIns="0" rtlCol="0" anchor="t">
            <a:spAutoFit/>
          </a:bodyPr>
          <a:lstStyle/>
          <a:p>
            <a:pPr algn="l" indent="0" marL="0">
              <a:lnSpc>
                <a:spcPct val="82400"/>
              </a:lnSpc>
              <a:buNone/>
            </a:pPr>
            <a:r>
              <a:rPr lang="en-US" sz="1500" b="1" dirty="0">
                <a:solidFill>
                  <a:srgbClr val="F4EFE4"/>
                </a:solidFill>
                <a:latin typeface="Georgia" pitchFamily="34" charset="0"/>
                <a:ea typeface="Georgia" pitchFamily="34" charset="-122"/>
                <a:cs typeface="Georgia" pitchFamily="34" charset="-120"/>
              </a:rPr>
              <a:t>Until QG5 passes,</a:t>
            </a:r>
            <a:r>
              <a:rPr lang="en-US" sz="1500" b="1" dirty="0">
                <a:solidFill>
                  <a:srgbClr val="F4EFE4"/>
                </a:solidFill>
                <a:latin typeface="Georgia" pitchFamily="34" charset="0"/>
                <a:ea typeface="Georgia" pitchFamily="34" charset="-122"/>
                <a:cs typeface="Georgia" pitchFamily="34" charset="-120"/>
              </a:rPr>
              <a:t>
</a:t>
            </a:r>
            <a:r>
              <a:rPr lang="en-US" sz="1500" b="1" dirty="0">
                <a:solidFill>
                  <a:srgbClr val="D85A49"/>
                </a:solidFill>
                <a:latin typeface="Georgia" pitchFamily="34" charset="0"/>
                <a:ea typeface="Georgia" pitchFamily="34" charset="-122"/>
                <a:cs typeface="Georgia" pitchFamily="34" charset="-120"/>
              </a:rPr>
              <a:t>Q0 stays offline.</a:t>
            </a:r>
            <a:endParaRPr lang="en-US" sz="1500" dirty="0"/>
          </a:p>
        </p:txBody>
      </p:sp>
      <p:sp>
        <p:nvSpPr>
          <p:cNvPr id="30" name="Text 26"/>
          <p:cNvSpPr/>
          <p:nvPr/>
        </p:nvSpPr>
        <p:spPr>
          <a:xfrm>
            <a:off x="4986338" y="4366952"/>
            <a:ext cx="3357563" cy="257175"/>
          </a:xfrm>
          <a:prstGeom prst="rect">
            <a:avLst/>
          </a:prstGeom>
          <a:noFill/>
          <a:ln/>
        </p:spPr>
        <p:txBody>
          <a:bodyPr wrap="square" lIns="0" tIns="0" rIns="0" bIns="0" rtlCol="0" anchor="t">
            <a:spAutoFit/>
          </a:bodyPr>
          <a:lstStyle/>
          <a:p>
            <a:pPr algn="l" indent="0" marL="0">
              <a:lnSpc>
                <a:spcPct val="120000"/>
              </a:lnSpc>
              <a:buNone/>
            </a:pPr>
            <a:r>
              <a:rPr lang="en-US" sz="600" dirty="0">
                <a:solidFill>
                  <a:srgbClr val="AAB5B8"/>
                </a:solidFill>
                <a:latin typeface="Courier New" pitchFamily="34" charset="0"/>
                <a:ea typeface="Courier New" pitchFamily="34" charset="-122"/>
                <a:cs typeface="Courier New" pitchFamily="34" charset="-120"/>
              </a:rPr>
              <a:t>No network discovery. No production quorum. No key custody. No claim that agreement establishes physical truth.</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600075"/>
          </a:xfrm>
          <a:prstGeom prst="rect">
            <a:avLst/>
          </a:prstGeom>
          <a:solidFill>
            <a:srgbClr val="000000">
              <a:alpha val="0"/>
            </a:srgbClr>
          </a:solidFill>
          <a:ln/>
        </p:spPr>
      </p:sp>
      <p:sp>
        <p:nvSpPr>
          <p:cNvPr id="4" name="Shape 1"/>
          <p:cNvSpPr/>
          <p:nvPr/>
        </p:nvSpPr>
        <p:spPr>
          <a:xfrm>
            <a:off x="0" y="592931"/>
            <a:ext cx="9144000" cy="7144"/>
          </a:xfrm>
          <a:prstGeom prst="rect">
            <a:avLst/>
          </a:prstGeom>
          <a:solidFill>
            <a:srgbClr val="2C373E"/>
          </a:solidFill>
          <a:ln/>
        </p:spPr>
      </p:sp>
      <p:sp>
        <p:nvSpPr>
          <p:cNvPr id="5" name="Text 2"/>
          <p:cNvSpPr/>
          <p:nvPr/>
        </p:nvSpPr>
        <p:spPr>
          <a:xfrm>
            <a:off x="414338" y="192881"/>
            <a:ext cx="860264" cy="407194"/>
          </a:xfrm>
          <a:prstGeom prst="rect">
            <a:avLst/>
          </a:prstGeom>
          <a:noFill/>
          <a:ln/>
        </p:spPr>
        <p:txBody>
          <a:bodyPr wrap="non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11 / NEXT WAVE</a:t>
            </a:r>
            <a:endParaRPr lang="en-US" sz="550" dirty="0"/>
          </a:p>
        </p:txBody>
      </p:sp>
      <p:sp>
        <p:nvSpPr>
          <p:cNvPr id="6" name="Text 3"/>
          <p:cNvSpPr/>
          <p:nvPr/>
        </p:nvSpPr>
        <p:spPr>
          <a:xfrm>
            <a:off x="7126337" y="192881"/>
            <a:ext cx="1603325" cy="407194"/>
          </a:xfrm>
          <a:prstGeom prst="rect">
            <a:avLst/>
          </a:prstGeom>
          <a:noFill/>
          <a:ln/>
        </p:spPr>
        <p:txBody>
          <a:bodyPr wrap="square" lIns="0" tIns="0" rIns="0" bIns="0" rtlCol="0" anchor="t">
            <a:spAutoFit/>
          </a:bodyPr>
          <a:lstStyle/>
          <a:p>
            <a:pPr algn="l" indent="0" marL="0">
              <a:buNone/>
            </a:pPr>
            <a:r>
              <a:rPr lang="en-US" sz="550" dirty="0">
                <a:solidFill>
                  <a:srgbClr val="7B898D"/>
                </a:solidFill>
                <a:latin typeface="Courier New" pitchFamily="34" charset="0"/>
                <a:ea typeface="Courier New" pitchFamily="34" charset="-122"/>
                <a:cs typeface="Courier New" pitchFamily="34" charset="-120"/>
              </a:rPr>
              <a:t>Q0 → Q1 → Q2 · CONTINUE UNDER GATE</a:t>
            </a:r>
            <a:endParaRPr lang="en-US" sz="550" dirty="0"/>
          </a:p>
        </p:txBody>
      </p:sp>
      <p:sp>
        <p:nvSpPr>
          <p:cNvPr id="7" name="Text 4"/>
          <p:cNvSpPr/>
          <p:nvPr/>
        </p:nvSpPr>
        <p:spPr>
          <a:xfrm>
            <a:off x="485775" y="985838"/>
            <a:ext cx="2918836" cy="89297"/>
          </a:xfrm>
          <a:prstGeom prst="rect">
            <a:avLst/>
          </a:prstGeom>
          <a:noFill/>
          <a:ln/>
        </p:spPr>
        <p:txBody>
          <a:bodyPr wrap="square" lIns="0" tIns="0" rIns="0" bIns="0" rtlCol="0" anchor="t">
            <a:spAutoFit/>
          </a:bodyPr>
          <a:lstStyle/>
          <a:p>
            <a:pPr algn="l" indent="0" marL="0">
              <a:buNone/>
            </a:pPr>
            <a:r>
              <a:rPr lang="en-US" sz="550" spc="2" kern="0" dirty="0">
                <a:solidFill>
                  <a:srgbClr val="D85A49"/>
                </a:solidFill>
                <a:latin typeface="Courier New" pitchFamily="34" charset="0"/>
                <a:ea typeface="Courier New" pitchFamily="34" charset="-122"/>
                <a:cs typeface="Courier New" pitchFamily="34" charset="-120"/>
              </a:rPr>
              <a:t>THE NEXT IMPLEMENTATION SEQUENCE</a:t>
            </a:r>
            <a:endParaRPr lang="en-US" sz="550" dirty="0"/>
          </a:p>
        </p:txBody>
      </p:sp>
      <p:sp>
        <p:nvSpPr>
          <p:cNvPr id="8" name="Text 5"/>
          <p:cNvSpPr/>
          <p:nvPr/>
        </p:nvSpPr>
        <p:spPr>
          <a:xfrm>
            <a:off x="485775" y="1189434"/>
            <a:ext cx="2918836" cy="727993"/>
          </a:xfrm>
          <a:prstGeom prst="rect">
            <a:avLst/>
          </a:prstGeom>
          <a:noFill/>
          <a:ln/>
        </p:spPr>
        <p:txBody>
          <a:bodyPr wrap="square" lIns="0" tIns="0" rIns="0" bIns="0" rtlCol="0" anchor="t">
            <a:spAutoFit/>
          </a:bodyPr>
          <a:lstStyle/>
          <a:p>
            <a:pPr algn="l" indent="0" marL="0">
              <a:lnSpc>
                <a:spcPct val="78400"/>
              </a:lnSpc>
              <a:buNone/>
            </a:pPr>
            <a:r>
              <a:rPr lang="en-US" sz="2800" spc="-2" kern="0" dirty="0">
                <a:solidFill>
                  <a:srgbClr val="F4EFE4"/>
                </a:solidFill>
                <a:latin typeface="Georgia" pitchFamily="34" charset="0"/>
                <a:ea typeface="Georgia" pitchFamily="34" charset="-122"/>
                <a:cs typeface="Georgia" pitchFamily="34" charset="-120"/>
              </a:rPr>
              <a:t>Keep the core</a:t>
            </a:r>
            <a:r>
              <a:rPr lang="en-US" sz="2800" spc="-2" kern="0" dirty="0">
                <a:solidFill>
                  <a:srgbClr val="F4EFE4"/>
                </a:solidFill>
                <a:latin typeface="Georgia" pitchFamily="34" charset="0"/>
                <a:ea typeface="Georgia" pitchFamily="34" charset="-122"/>
                <a:cs typeface="Georgia" pitchFamily="34" charset="-120"/>
              </a:rPr>
              <a:t>
</a:t>
            </a:r>
            <a:r>
              <a:rPr lang="en-US" sz="2800" i="1" spc="-2" kern="0" dirty="0">
                <a:solidFill>
                  <a:srgbClr val="D85A49"/>
                </a:solidFill>
                <a:latin typeface="Georgia" pitchFamily="34" charset="0"/>
                <a:ea typeface="Georgia" pitchFamily="34" charset="-122"/>
                <a:cs typeface="Georgia" pitchFamily="34" charset="-120"/>
              </a:rPr>
              <a:t>ahead of the network.</a:t>
            </a:r>
            <a:endParaRPr lang="en-US" sz="2800" dirty="0"/>
          </a:p>
        </p:txBody>
      </p:sp>
      <p:sp>
        <p:nvSpPr>
          <p:cNvPr id="9" name="Text 6"/>
          <p:cNvSpPr/>
          <p:nvPr/>
        </p:nvSpPr>
        <p:spPr>
          <a:xfrm>
            <a:off x="6086475" y="1531665"/>
            <a:ext cx="2571750" cy="385763"/>
          </a:xfrm>
          <a:prstGeom prst="rect">
            <a:avLst/>
          </a:prstGeom>
          <a:noFill/>
          <a:ln/>
        </p:spPr>
        <p:txBody>
          <a:bodyPr wrap="square" lIns="0" tIns="0" rIns="0" bIns="0" rtlCol="0" anchor="t">
            <a:spAutoFit/>
          </a:bodyPr>
          <a:lstStyle/>
          <a:p>
            <a:pPr algn="r" indent="0" marL="0">
              <a:lnSpc>
                <a:spcPct val="120000"/>
              </a:lnSpc>
              <a:buNone/>
            </a:pPr>
            <a:r>
              <a:rPr lang="en-US" sz="600" dirty="0">
                <a:solidFill>
                  <a:srgbClr val="AAB5B8"/>
                </a:solidFill>
                <a:latin typeface="Courier New" pitchFamily="34" charset="0"/>
                <a:ea typeface="Courier New" pitchFamily="34" charset="-122"/>
                <a:cs typeface="Courier New" pitchFamily="34" charset="-120"/>
              </a:rPr>
              <a:t>Each step expands evidence capacity without changing the meaning of a verified Core Contract result.</a:t>
            </a:r>
            <a:endParaRPr lang="en-US" sz="600" dirty="0"/>
          </a:p>
        </p:txBody>
      </p:sp>
      <p:sp>
        <p:nvSpPr>
          <p:cNvPr id="10" name="Text 7"/>
          <p:cNvSpPr/>
          <p:nvPr/>
        </p:nvSpPr>
        <p:spPr>
          <a:xfrm>
            <a:off x="485775" y="2467496"/>
            <a:ext cx="1491593" cy="135731"/>
          </a:xfrm>
          <a:prstGeom prst="rect">
            <a:avLst/>
          </a:prstGeom>
          <a:noFill/>
          <a:ln/>
        </p:spPr>
        <p:txBody>
          <a:bodyPr wrap="square" lIns="0" tIns="0" rIns="0" bIns="0" rtlCol="0" anchor="t">
            <a:spAutoFit/>
          </a:bodyPr>
          <a:lstStyle/>
          <a:p>
            <a:pPr algn="l" indent="0" marL="0">
              <a:buNone/>
            </a:pPr>
            <a:r>
              <a:rPr lang="en-US" sz="850" b="1" spc="1" kern="0" dirty="0">
                <a:solidFill>
                  <a:srgbClr val="D85A49"/>
                </a:solidFill>
                <a:latin typeface="Courier New" pitchFamily="34" charset="0"/>
                <a:ea typeface="Courier New" pitchFamily="34" charset="-122"/>
                <a:cs typeface="Courier New" pitchFamily="34" charset="-120"/>
              </a:rPr>
              <a:t>01</a:t>
            </a:r>
            <a:endParaRPr lang="en-US" sz="850" dirty="0"/>
          </a:p>
        </p:txBody>
      </p:sp>
      <p:sp>
        <p:nvSpPr>
          <p:cNvPr id="11" name="Text 8"/>
          <p:cNvSpPr/>
          <p:nvPr/>
        </p:nvSpPr>
        <p:spPr>
          <a:xfrm>
            <a:off x="485775" y="2731815"/>
            <a:ext cx="1491593" cy="174854"/>
          </a:xfrm>
          <a:prstGeom prst="rect">
            <a:avLst/>
          </a:prstGeom>
          <a:noFill/>
          <a:ln/>
        </p:spPr>
        <p:txBody>
          <a:bodyPr wrap="none" lIns="0" tIns="0" rIns="0" bIns="0" rtlCol="0" anchor="t">
            <a:spAutoFit/>
          </a:bodyPr>
          <a:lstStyle/>
          <a:p>
            <a:pPr algn="l" indent="0" marL="0">
              <a:lnSpc>
                <a:spcPct val="81600"/>
              </a:lnSpc>
              <a:buNone/>
            </a:pPr>
            <a:r>
              <a:rPr lang="en-US" sz="1250" dirty="0">
                <a:solidFill>
                  <a:srgbClr val="F4EFE4"/>
                </a:solidFill>
                <a:latin typeface="Georgia" pitchFamily="34" charset="0"/>
                <a:ea typeface="Georgia" pitchFamily="34" charset="-122"/>
                <a:cs typeface="Georgia" pitchFamily="34" charset="-120"/>
              </a:rPr>
              <a:t>Full parity</a:t>
            </a:r>
            <a:endParaRPr lang="en-US" sz="1250" dirty="0"/>
          </a:p>
        </p:txBody>
      </p:sp>
      <p:sp>
        <p:nvSpPr>
          <p:cNvPr id="12" name="Text 9"/>
          <p:cNvSpPr/>
          <p:nvPr/>
        </p:nvSpPr>
        <p:spPr>
          <a:xfrm>
            <a:off x="485775" y="2992394"/>
            <a:ext cx="1285875" cy="341728"/>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9DA9AD"/>
                </a:solidFill>
                <a:latin typeface="Courier New" pitchFamily="34" charset="0"/>
                <a:ea typeface="Courier New" pitchFamily="34" charset="-122"/>
                <a:cs typeface="Courier New" pitchFamily="34" charset="-120"/>
              </a:rPr>
              <a:t>Rust fixture/error mapping, rational scalars, and every published invariant case.</a:t>
            </a:r>
            <a:endParaRPr lang="en-US" sz="550" dirty="0"/>
          </a:p>
        </p:txBody>
      </p:sp>
      <p:sp>
        <p:nvSpPr>
          <p:cNvPr id="13" name="Text 10"/>
          <p:cNvSpPr/>
          <p:nvPr/>
        </p:nvSpPr>
        <p:spPr>
          <a:xfrm>
            <a:off x="485775" y="3539058"/>
            <a:ext cx="1634468" cy="300038"/>
          </a:xfrm>
          <a:prstGeom prst="rect">
            <a:avLst/>
          </a:prstGeom>
          <a:noFill/>
          <a:ln/>
        </p:spPr>
        <p:txBody>
          <a:bodyPr wrap="square" lIns="0" tIns="0" rIns="0" bIns="0" rtlCol="0" anchor="t">
            <a:spAutoFit/>
          </a:bodyPr>
          <a:lstStyle/>
          <a:p>
            <a:pPr algn="l" indent="0" marL="0">
              <a:lnSpc>
                <a:spcPct val="112000"/>
              </a:lnSpc>
              <a:buNone/>
            </a:pPr>
            <a:r>
              <a:rPr lang="en-US" sz="500" spc="1" kern="0" dirty="0">
                <a:solidFill>
                  <a:srgbClr val="D85A49"/>
                </a:solidFill>
                <a:latin typeface="Courier New" pitchFamily="34" charset="0"/>
                <a:ea typeface="Courier New" pitchFamily="34" charset="-122"/>
                <a:cs typeface="Courier New" pitchFamily="34" charset="-120"/>
              </a:rPr>
              <a:t>EXIT</a:t>
            </a:r>
            <a:r>
              <a:rPr lang="en-US" sz="500" spc="1" kern="0" dirty="0">
                <a:solidFill>
                  <a:srgbClr val="D8DFDC"/>
                </a:solidFill>
                <a:latin typeface="Courier New" pitchFamily="34" charset="0"/>
                <a:ea typeface="Courier New" pitchFamily="34" charset="-122"/>
                <a:cs typeface="Courier New" pitchFamily="34" charset="-120"/>
              </a:rPr>
              <a:t>
</a:t>
            </a:r>
            <a:r>
              <a:rPr lang="en-US" sz="500" spc="1" kern="0" dirty="0">
                <a:solidFill>
                  <a:srgbClr val="D8DFDC"/>
                </a:solidFill>
                <a:latin typeface="Courier New" pitchFamily="34" charset="0"/>
                <a:ea typeface="Courier New" pitchFamily="34" charset="-122"/>
                <a:cs typeface="Courier New" pitchFamily="34" charset="-120"/>
              </a:rPr>
              <a:t>CROSS-LANGUAGE IDS + STATUSES </a:t>
            </a:r>
            <a:r>
              <a:rPr lang="en-US" sz="500" spc="1" kern="0" dirty="0">
                <a:solidFill>
                  <a:srgbClr val="D8DFDC"/>
                </a:solidFill>
                <a:latin typeface="Courier New" pitchFamily="34" charset="0"/>
                <a:ea typeface="Courier New" pitchFamily="34" charset="-122"/>
                <a:cs typeface="Courier New" pitchFamily="34" charset="-120"/>
              </a:rPr>
              <a:t>MATCH</a:t>
            </a:r>
            <a:endParaRPr lang="en-US" sz="500" dirty="0"/>
          </a:p>
        </p:txBody>
      </p:sp>
      <p:sp>
        <p:nvSpPr>
          <p:cNvPr id="14" name="Shape 11"/>
          <p:cNvSpPr/>
          <p:nvPr/>
        </p:nvSpPr>
        <p:spPr>
          <a:xfrm>
            <a:off x="2063093" y="2560365"/>
            <a:ext cx="121444" cy="14288"/>
          </a:xfrm>
          <a:prstGeom prst="rect">
            <a:avLst/>
          </a:prstGeom>
          <a:solidFill>
            <a:srgbClr val="D64635"/>
          </a:solidFill>
          <a:ln/>
        </p:spPr>
      </p:sp>
      <p:sp>
        <p:nvSpPr>
          <p:cNvPr id="15" name="Text 12"/>
          <p:cNvSpPr/>
          <p:nvPr/>
        </p:nvSpPr>
        <p:spPr>
          <a:xfrm>
            <a:off x="2284549" y="2467496"/>
            <a:ext cx="1327286" cy="135731"/>
          </a:xfrm>
          <a:prstGeom prst="rect">
            <a:avLst/>
          </a:prstGeom>
          <a:noFill/>
          <a:ln/>
        </p:spPr>
        <p:txBody>
          <a:bodyPr wrap="square" lIns="0" tIns="0" rIns="0" bIns="0" rtlCol="0" anchor="t">
            <a:spAutoFit/>
          </a:bodyPr>
          <a:lstStyle/>
          <a:p>
            <a:pPr algn="l" indent="0" marL="0">
              <a:buNone/>
            </a:pPr>
            <a:r>
              <a:rPr lang="en-US" sz="850" b="1" spc="1" kern="0" dirty="0">
                <a:solidFill>
                  <a:srgbClr val="D85A49"/>
                </a:solidFill>
                <a:latin typeface="Courier New" pitchFamily="34" charset="0"/>
                <a:ea typeface="Courier New" pitchFamily="34" charset="-122"/>
                <a:cs typeface="Courier New" pitchFamily="34" charset="-120"/>
              </a:rPr>
              <a:t>02</a:t>
            </a:r>
            <a:endParaRPr lang="en-US" sz="850" dirty="0"/>
          </a:p>
        </p:txBody>
      </p:sp>
      <p:sp>
        <p:nvSpPr>
          <p:cNvPr id="16" name="Text 13"/>
          <p:cNvSpPr/>
          <p:nvPr/>
        </p:nvSpPr>
        <p:spPr>
          <a:xfrm>
            <a:off x="2284549" y="2731815"/>
            <a:ext cx="1327286" cy="174854"/>
          </a:xfrm>
          <a:prstGeom prst="rect">
            <a:avLst/>
          </a:prstGeom>
          <a:noFill/>
          <a:ln/>
        </p:spPr>
        <p:txBody>
          <a:bodyPr wrap="none" lIns="0" tIns="0" rIns="0" bIns="0" rtlCol="0" anchor="t">
            <a:spAutoFit/>
          </a:bodyPr>
          <a:lstStyle/>
          <a:p>
            <a:pPr algn="l" indent="0" marL="0">
              <a:lnSpc>
                <a:spcPct val="81600"/>
              </a:lnSpc>
              <a:buNone/>
            </a:pPr>
            <a:r>
              <a:rPr lang="en-US" sz="1250" dirty="0">
                <a:solidFill>
                  <a:srgbClr val="F4EFE4"/>
                </a:solidFill>
                <a:latin typeface="Georgia" pitchFamily="34" charset="0"/>
                <a:ea typeface="Georgia" pitchFamily="34" charset="-122"/>
                <a:cs typeface="Georgia" pitchFamily="34" charset="-120"/>
              </a:rPr>
              <a:t>Local decisions</a:t>
            </a:r>
            <a:endParaRPr lang="en-US" sz="1250" dirty="0"/>
          </a:p>
        </p:txBody>
      </p:sp>
      <p:sp>
        <p:nvSpPr>
          <p:cNvPr id="17" name="Text 14"/>
          <p:cNvSpPr/>
          <p:nvPr/>
        </p:nvSpPr>
        <p:spPr>
          <a:xfrm>
            <a:off x="2284549" y="2992394"/>
            <a:ext cx="1285875" cy="455637"/>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9DA9AD"/>
                </a:solidFill>
                <a:latin typeface="Courier New" pitchFamily="34" charset="0"/>
                <a:ea typeface="Courier New" pitchFamily="34" charset="-122"/>
                <a:cs typeface="Courier New" pitchFamily="34" charset="-120"/>
              </a:rPr>
              <a:t>Persist quorum requests, accepted/rejected responses, classes, and limitations.</a:t>
            </a:r>
            <a:endParaRPr lang="en-US" sz="550" dirty="0"/>
          </a:p>
        </p:txBody>
      </p:sp>
      <p:sp>
        <p:nvSpPr>
          <p:cNvPr id="18" name="Text 15"/>
          <p:cNvSpPr/>
          <p:nvPr/>
        </p:nvSpPr>
        <p:spPr>
          <a:xfrm>
            <a:off x="2127386" y="3639071"/>
            <a:ext cx="1531888" cy="200025"/>
          </a:xfrm>
          <a:prstGeom prst="rect">
            <a:avLst/>
          </a:prstGeom>
          <a:noFill/>
          <a:ln/>
        </p:spPr>
        <p:txBody>
          <a:bodyPr wrap="square" lIns="0" tIns="0" rIns="0" bIns="0" rtlCol="0" anchor="t">
            <a:spAutoFit/>
          </a:bodyPr>
          <a:lstStyle/>
          <a:p>
            <a:pPr algn="l" indent="0" marL="0">
              <a:lnSpc>
                <a:spcPct val="112000"/>
              </a:lnSpc>
              <a:buNone/>
            </a:pPr>
            <a:r>
              <a:rPr lang="en-US" sz="500" spc="1" kern="0" dirty="0">
                <a:solidFill>
                  <a:srgbClr val="D85A49"/>
                </a:solidFill>
                <a:latin typeface="Courier New" pitchFamily="34" charset="0"/>
                <a:ea typeface="Courier New" pitchFamily="34" charset="-122"/>
                <a:cs typeface="Courier New" pitchFamily="34" charset="-120"/>
              </a:rPr>
              <a:t>EXIT</a:t>
            </a:r>
            <a:r>
              <a:rPr lang="en-US" sz="500" spc="1" kern="0" dirty="0">
                <a:solidFill>
                  <a:srgbClr val="D8DFDC"/>
                </a:solidFill>
                <a:latin typeface="Courier New" pitchFamily="34" charset="0"/>
                <a:ea typeface="Courier New" pitchFamily="34" charset="-122"/>
                <a:cs typeface="Courier New" pitchFamily="34" charset="-120"/>
              </a:rPr>
              <a:t>
</a:t>
            </a:r>
            <a:r>
              <a:rPr lang="en-US" sz="500" spc="1" kern="0" dirty="0">
                <a:solidFill>
                  <a:srgbClr val="D8DFDC"/>
                </a:solidFill>
                <a:latin typeface="Courier New" pitchFamily="34" charset="0"/>
                <a:ea typeface="Courier New" pitchFamily="34" charset="-122"/>
                <a:cs typeface="Courier New" pitchFamily="34" charset="-120"/>
              </a:rPr>
              <a:t>REOPEN + REPLAY IS DETERMINISTIC</a:t>
            </a:r>
            <a:endParaRPr lang="en-US" sz="500" dirty="0"/>
          </a:p>
        </p:txBody>
      </p:sp>
      <p:sp>
        <p:nvSpPr>
          <p:cNvPr id="19" name="Shape 16"/>
          <p:cNvSpPr/>
          <p:nvPr/>
        </p:nvSpPr>
        <p:spPr>
          <a:xfrm>
            <a:off x="3697560" y="2560365"/>
            <a:ext cx="121444" cy="14288"/>
          </a:xfrm>
          <a:prstGeom prst="rect">
            <a:avLst/>
          </a:prstGeom>
          <a:solidFill>
            <a:srgbClr val="D64635"/>
          </a:solidFill>
          <a:ln/>
        </p:spPr>
      </p:sp>
      <p:sp>
        <p:nvSpPr>
          <p:cNvPr id="20" name="Text 17"/>
          <p:cNvSpPr/>
          <p:nvPr/>
        </p:nvSpPr>
        <p:spPr>
          <a:xfrm>
            <a:off x="3919017" y="2467496"/>
            <a:ext cx="1327342" cy="135731"/>
          </a:xfrm>
          <a:prstGeom prst="rect">
            <a:avLst/>
          </a:prstGeom>
          <a:noFill/>
          <a:ln/>
        </p:spPr>
        <p:txBody>
          <a:bodyPr wrap="square" lIns="0" tIns="0" rIns="0" bIns="0" rtlCol="0" anchor="t">
            <a:spAutoFit/>
          </a:bodyPr>
          <a:lstStyle/>
          <a:p>
            <a:pPr algn="l" indent="0" marL="0">
              <a:buNone/>
            </a:pPr>
            <a:r>
              <a:rPr lang="en-US" sz="850" b="1" spc="1" kern="0" dirty="0">
                <a:solidFill>
                  <a:srgbClr val="D85A49"/>
                </a:solidFill>
                <a:latin typeface="Courier New" pitchFamily="34" charset="0"/>
                <a:ea typeface="Courier New" pitchFamily="34" charset="-122"/>
                <a:cs typeface="Courier New" pitchFamily="34" charset="-120"/>
              </a:rPr>
              <a:t>03</a:t>
            </a:r>
            <a:endParaRPr lang="en-US" sz="850" dirty="0"/>
          </a:p>
        </p:txBody>
      </p:sp>
      <p:sp>
        <p:nvSpPr>
          <p:cNvPr id="21" name="Text 18"/>
          <p:cNvSpPr/>
          <p:nvPr/>
        </p:nvSpPr>
        <p:spPr>
          <a:xfrm>
            <a:off x="3919017" y="2731815"/>
            <a:ext cx="1327342" cy="174854"/>
          </a:xfrm>
          <a:prstGeom prst="rect">
            <a:avLst/>
          </a:prstGeom>
          <a:noFill/>
          <a:ln/>
        </p:spPr>
        <p:txBody>
          <a:bodyPr wrap="none" lIns="0" tIns="0" rIns="0" bIns="0" rtlCol="0" anchor="t">
            <a:spAutoFit/>
          </a:bodyPr>
          <a:lstStyle/>
          <a:p>
            <a:pPr algn="l" indent="0" marL="0">
              <a:lnSpc>
                <a:spcPct val="81600"/>
              </a:lnSpc>
              <a:buNone/>
            </a:pPr>
            <a:r>
              <a:rPr lang="en-US" sz="1250" dirty="0">
                <a:solidFill>
                  <a:srgbClr val="F4EFE4"/>
                </a:solidFill>
                <a:latin typeface="Georgia" pitchFamily="34" charset="0"/>
                <a:ea typeface="Georgia" pitchFamily="34" charset="-122"/>
                <a:cs typeface="Georgia" pitchFamily="34" charset="-120"/>
              </a:rPr>
              <a:t>Key profiles</a:t>
            </a:r>
            <a:endParaRPr lang="en-US" sz="1250" dirty="0"/>
          </a:p>
        </p:txBody>
      </p:sp>
      <p:sp>
        <p:nvSpPr>
          <p:cNvPr id="22" name="Text 19"/>
          <p:cNvSpPr/>
          <p:nvPr/>
        </p:nvSpPr>
        <p:spPr>
          <a:xfrm>
            <a:off x="3919017" y="2992394"/>
            <a:ext cx="1285875" cy="455637"/>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9DA9AD"/>
                </a:solidFill>
                <a:latin typeface="Courier New" pitchFamily="34" charset="0"/>
                <a:ea typeface="Courier New" pitchFamily="34" charset="-122"/>
                <a:cs typeface="Courier New" pitchFamily="34" charset="-120"/>
              </a:rPr>
              <a:t>Offline public-key DSSE fixtures, policy validity, revocation, and rotation cases.</a:t>
            </a:r>
            <a:endParaRPr lang="en-US" sz="550" dirty="0"/>
          </a:p>
        </p:txBody>
      </p:sp>
      <p:sp>
        <p:nvSpPr>
          <p:cNvPr id="23" name="Text 20"/>
          <p:cNvSpPr/>
          <p:nvPr/>
        </p:nvSpPr>
        <p:spPr>
          <a:xfrm>
            <a:off x="3761854" y="3639071"/>
            <a:ext cx="1388287" cy="200025"/>
          </a:xfrm>
          <a:prstGeom prst="rect">
            <a:avLst/>
          </a:prstGeom>
          <a:noFill/>
          <a:ln/>
        </p:spPr>
        <p:txBody>
          <a:bodyPr wrap="square" lIns="0" tIns="0" rIns="0" bIns="0" rtlCol="0" anchor="t">
            <a:spAutoFit/>
          </a:bodyPr>
          <a:lstStyle/>
          <a:p>
            <a:pPr algn="l" indent="0" marL="0">
              <a:lnSpc>
                <a:spcPct val="112000"/>
              </a:lnSpc>
              <a:buNone/>
            </a:pPr>
            <a:r>
              <a:rPr lang="en-US" sz="500" spc="1" kern="0" dirty="0">
                <a:solidFill>
                  <a:srgbClr val="D85A49"/>
                </a:solidFill>
                <a:latin typeface="Courier New" pitchFamily="34" charset="0"/>
                <a:ea typeface="Courier New" pitchFamily="34" charset="-122"/>
                <a:cs typeface="Courier New" pitchFamily="34" charset="-120"/>
              </a:rPr>
              <a:t>EXIT</a:t>
            </a:r>
            <a:r>
              <a:rPr lang="en-US" sz="500" spc="1" kern="0" dirty="0">
                <a:solidFill>
                  <a:srgbClr val="D8DFDC"/>
                </a:solidFill>
                <a:latin typeface="Courier New" pitchFamily="34" charset="0"/>
                <a:ea typeface="Courier New" pitchFamily="34" charset="-122"/>
                <a:cs typeface="Courier New" pitchFamily="34" charset="-120"/>
              </a:rPr>
              <a:t>
</a:t>
            </a:r>
            <a:r>
              <a:rPr lang="en-US" sz="500" spc="1" kern="0" dirty="0">
                <a:solidFill>
                  <a:srgbClr val="D8DFDC"/>
                </a:solidFill>
                <a:latin typeface="Courier New" pitchFamily="34" charset="0"/>
                <a:ea typeface="Courier New" pitchFamily="34" charset="-122"/>
                <a:cs typeface="Courier New" pitchFamily="34" charset="-120"/>
              </a:rPr>
              <a:t>BINDING + IDENTITY GATES PASS</a:t>
            </a:r>
            <a:endParaRPr lang="en-US" sz="500" dirty="0"/>
          </a:p>
        </p:txBody>
      </p:sp>
      <p:sp>
        <p:nvSpPr>
          <p:cNvPr id="24" name="Shape 21"/>
          <p:cNvSpPr/>
          <p:nvPr/>
        </p:nvSpPr>
        <p:spPr>
          <a:xfrm>
            <a:off x="5332084" y="2560365"/>
            <a:ext cx="121444" cy="14288"/>
          </a:xfrm>
          <a:prstGeom prst="rect">
            <a:avLst/>
          </a:prstGeom>
          <a:solidFill>
            <a:srgbClr val="D64635"/>
          </a:solidFill>
          <a:ln/>
        </p:spPr>
      </p:sp>
      <p:sp>
        <p:nvSpPr>
          <p:cNvPr id="25" name="Text 22"/>
          <p:cNvSpPr/>
          <p:nvPr/>
        </p:nvSpPr>
        <p:spPr>
          <a:xfrm>
            <a:off x="5553540" y="2467496"/>
            <a:ext cx="1327286" cy="135731"/>
          </a:xfrm>
          <a:prstGeom prst="rect">
            <a:avLst/>
          </a:prstGeom>
          <a:noFill/>
          <a:ln/>
        </p:spPr>
        <p:txBody>
          <a:bodyPr wrap="square" lIns="0" tIns="0" rIns="0" bIns="0" rtlCol="0" anchor="t">
            <a:spAutoFit/>
          </a:bodyPr>
          <a:lstStyle/>
          <a:p>
            <a:pPr algn="l" indent="0" marL="0">
              <a:buNone/>
            </a:pPr>
            <a:r>
              <a:rPr lang="en-US" sz="850" b="1" spc="1" kern="0" dirty="0">
                <a:solidFill>
                  <a:srgbClr val="D85A49"/>
                </a:solidFill>
                <a:latin typeface="Courier New" pitchFamily="34" charset="0"/>
                <a:ea typeface="Courier New" pitchFamily="34" charset="-122"/>
                <a:cs typeface="Courier New" pitchFamily="34" charset="-120"/>
              </a:rPr>
              <a:t>04</a:t>
            </a:r>
            <a:endParaRPr lang="en-US" sz="850" dirty="0"/>
          </a:p>
        </p:txBody>
      </p:sp>
      <p:sp>
        <p:nvSpPr>
          <p:cNvPr id="26" name="Text 23"/>
          <p:cNvSpPr/>
          <p:nvPr/>
        </p:nvSpPr>
        <p:spPr>
          <a:xfrm>
            <a:off x="5553540" y="2731815"/>
            <a:ext cx="1327286" cy="174854"/>
          </a:xfrm>
          <a:prstGeom prst="rect">
            <a:avLst/>
          </a:prstGeom>
          <a:noFill/>
          <a:ln/>
        </p:spPr>
        <p:txBody>
          <a:bodyPr wrap="none" lIns="0" tIns="0" rIns="0" bIns="0" rtlCol="0" anchor="t">
            <a:spAutoFit/>
          </a:bodyPr>
          <a:lstStyle/>
          <a:p>
            <a:pPr algn="l" indent="0" marL="0">
              <a:lnSpc>
                <a:spcPct val="81600"/>
              </a:lnSpc>
              <a:buNone/>
            </a:pPr>
            <a:r>
              <a:rPr lang="en-US" sz="1250" dirty="0">
                <a:solidFill>
                  <a:srgbClr val="F4EFE4"/>
                </a:solidFill>
                <a:latin typeface="Georgia" pitchFamily="34" charset="0"/>
                <a:ea typeface="Georgia" pitchFamily="34" charset="-122"/>
                <a:cs typeface="Georgia" pitchFamily="34" charset="-120"/>
              </a:rPr>
              <a:t>Audit bridge</a:t>
            </a:r>
            <a:endParaRPr lang="en-US" sz="1250" dirty="0"/>
          </a:p>
        </p:txBody>
      </p:sp>
      <p:sp>
        <p:nvSpPr>
          <p:cNvPr id="27" name="Text 24"/>
          <p:cNvSpPr/>
          <p:nvPr/>
        </p:nvSpPr>
        <p:spPr>
          <a:xfrm>
            <a:off x="5553540" y="2992394"/>
            <a:ext cx="1285875" cy="455637"/>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9DA9AD"/>
                </a:solidFill>
                <a:latin typeface="Courier New" pitchFamily="34" charset="0"/>
                <a:ea typeface="Courier New" pitchFamily="34" charset="-122"/>
                <a:cs typeface="Courier New" pitchFamily="34" charset="-120"/>
              </a:rPr>
              <a:t>Decision events reference immutable evidence, checkpoints, and replay proofs.</a:t>
            </a:r>
            <a:endParaRPr lang="en-US" sz="550" dirty="0"/>
          </a:p>
        </p:txBody>
      </p:sp>
      <p:sp>
        <p:nvSpPr>
          <p:cNvPr id="28" name="Text 25"/>
          <p:cNvSpPr/>
          <p:nvPr/>
        </p:nvSpPr>
        <p:spPr>
          <a:xfrm>
            <a:off x="5396378" y="3639071"/>
            <a:ext cx="1244631" cy="200025"/>
          </a:xfrm>
          <a:prstGeom prst="rect">
            <a:avLst/>
          </a:prstGeom>
          <a:noFill/>
          <a:ln/>
        </p:spPr>
        <p:txBody>
          <a:bodyPr wrap="square" lIns="0" tIns="0" rIns="0" bIns="0" rtlCol="0" anchor="t">
            <a:spAutoFit/>
          </a:bodyPr>
          <a:lstStyle/>
          <a:p>
            <a:pPr algn="l" indent="0" marL="0">
              <a:lnSpc>
                <a:spcPct val="112000"/>
              </a:lnSpc>
              <a:buNone/>
            </a:pPr>
            <a:r>
              <a:rPr lang="en-US" sz="500" spc="1" kern="0" dirty="0">
                <a:solidFill>
                  <a:srgbClr val="D85A49"/>
                </a:solidFill>
                <a:latin typeface="Courier New" pitchFamily="34" charset="0"/>
                <a:ea typeface="Courier New" pitchFamily="34" charset="-122"/>
                <a:cs typeface="Courier New" pitchFamily="34" charset="-120"/>
              </a:rPr>
              <a:t>EXIT</a:t>
            </a:r>
            <a:r>
              <a:rPr lang="en-US" sz="500" spc="1" kern="0" dirty="0">
                <a:solidFill>
                  <a:srgbClr val="D8DFDC"/>
                </a:solidFill>
                <a:latin typeface="Courier New" pitchFamily="34" charset="0"/>
                <a:ea typeface="Courier New" pitchFamily="34" charset="-122"/>
                <a:cs typeface="Courier New" pitchFamily="34" charset="-120"/>
              </a:rPr>
              <a:t>
</a:t>
            </a:r>
            <a:r>
              <a:rPr lang="en-US" sz="500" spc="1" kern="0" dirty="0">
                <a:solidFill>
                  <a:srgbClr val="D8DFDC"/>
                </a:solidFill>
                <a:latin typeface="Courier New" pitchFamily="34" charset="0"/>
                <a:ea typeface="Courier New" pitchFamily="34" charset="-122"/>
                <a:cs typeface="Courier New" pitchFamily="34" charset="-120"/>
              </a:rPr>
              <a:t>EQUIVOCATION STAYS VISIBLE</a:t>
            </a:r>
            <a:endParaRPr lang="en-US" sz="500" dirty="0"/>
          </a:p>
        </p:txBody>
      </p:sp>
      <p:sp>
        <p:nvSpPr>
          <p:cNvPr id="29" name="Shape 26"/>
          <p:cNvSpPr/>
          <p:nvPr/>
        </p:nvSpPr>
        <p:spPr>
          <a:xfrm>
            <a:off x="6966552" y="2560365"/>
            <a:ext cx="121444" cy="14288"/>
          </a:xfrm>
          <a:prstGeom prst="rect">
            <a:avLst/>
          </a:prstGeom>
          <a:solidFill>
            <a:srgbClr val="D64635"/>
          </a:solidFill>
          <a:ln/>
        </p:spPr>
      </p:sp>
      <p:sp>
        <p:nvSpPr>
          <p:cNvPr id="30" name="Text 27"/>
          <p:cNvSpPr/>
          <p:nvPr/>
        </p:nvSpPr>
        <p:spPr>
          <a:xfrm>
            <a:off x="7188008" y="2467496"/>
            <a:ext cx="1327342" cy="135731"/>
          </a:xfrm>
          <a:prstGeom prst="rect">
            <a:avLst/>
          </a:prstGeom>
          <a:noFill/>
          <a:ln/>
        </p:spPr>
        <p:txBody>
          <a:bodyPr wrap="square" lIns="0" tIns="0" rIns="0" bIns="0" rtlCol="0" anchor="t">
            <a:spAutoFit/>
          </a:bodyPr>
          <a:lstStyle/>
          <a:p>
            <a:pPr algn="l" indent="0" marL="0">
              <a:buNone/>
            </a:pPr>
            <a:r>
              <a:rPr lang="en-US" sz="850" b="1" spc="1" kern="0" dirty="0">
                <a:solidFill>
                  <a:srgbClr val="D85A49"/>
                </a:solidFill>
                <a:latin typeface="Courier New" pitchFamily="34" charset="0"/>
                <a:ea typeface="Courier New" pitchFamily="34" charset="-122"/>
                <a:cs typeface="Courier New" pitchFamily="34" charset="-120"/>
              </a:rPr>
              <a:t>05</a:t>
            </a:r>
            <a:endParaRPr lang="en-US" sz="850" dirty="0"/>
          </a:p>
        </p:txBody>
      </p:sp>
      <p:sp>
        <p:nvSpPr>
          <p:cNvPr id="31" name="Text 28"/>
          <p:cNvSpPr/>
          <p:nvPr/>
        </p:nvSpPr>
        <p:spPr>
          <a:xfrm>
            <a:off x="7188008" y="2731815"/>
            <a:ext cx="1327342" cy="174854"/>
          </a:xfrm>
          <a:prstGeom prst="rect">
            <a:avLst/>
          </a:prstGeom>
          <a:noFill/>
          <a:ln/>
        </p:spPr>
        <p:txBody>
          <a:bodyPr wrap="none" lIns="0" tIns="0" rIns="0" bIns="0" rtlCol="0" anchor="t">
            <a:spAutoFit/>
          </a:bodyPr>
          <a:lstStyle/>
          <a:p>
            <a:pPr algn="l" indent="0" marL="0">
              <a:lnSpc>
                <a:spcPct val="81600"/>
              </a:lnSpc>
              <a:buNone/>
            </a:pPr>
            <a:r>
              <a:rPr lang="en-US" sz="1250" dirty="0">
                <a:solidFill>
                  <a:srgbClr val="F4EFE4"/>
                </a:solidFill>
                <a:latin typeface="Georgia" pitchFamily="34" charset="0"/>
                <a:ea typeface="Georgia" pitchFamily="34" charset="-122"/>
                <a:cs typeface="Georgia" pitchFamily="34" charset="-120"/>
              </a:rPr>
              <a:t>Operational review</a:t>
            </a:r>
            <a:endParaRPr lang="en-US" sz="1250" dirty="0"/>
          </a:p>
        </p:txBody>
      </p:sp>
      <p:sp>
        <p:nvSpPr>
          <p:cNvPr id="32" name="Text 29"/>
          <p:cNvSpPr/>
          <p:nvPr/>
        </p:nvSpPr>
        <p:spPr>
          <a:xfrm>
            <a:off x="7188008" y="2992394"/>
            <a:ext cx="1285875" cy="455637"/>
          </a:xfrm>
          <a:prstGeom prst="rect">
            <a:avLst/>
          </a:prstGeom>
          <a:noFill/>
          <a:ln/>
        </p:spPr>
        <p:txBody>
          <a:bodyPr wrap="square" lIns="0" tIns="0" rIns="0" bIns="0" rtlCol="0" anchor="t">
            <a:spAutoFit/>
          </a:bodyPr>
          <a:lstStyle/>
          <a:p>
            <a:pPr algn="l" indent="0" marL="0">
              <a:lnSpc>
                <a:spcPct val="116000"/>
              </a:lnSpc>
              <a:buNone/>
            </a:pPr>
            <a:r>
              <a:rPr lang="en-US" sz="550" dirty="0">
                <a:solidFill>
                  <a:srgbClr val="9DA9AD"/>
                </a:solidFill>
                <a:latin typeface="Courier New" pitchFamily="34" charset="0"/>
                <a:ea typeface="Courier New" pitchFamily="34" charset="-122"/>
                <a:cs typeface="Courier New" pitchFamily="34" charset="-120"/>
              </a:rPr>
              <a:t>Threat model, key ownership, retention, incident, rollback, and security sign-off.</a:t>
            </a:r>
            <a:endParaRPr lang="en-US" sz="550" dirty="0"/>
          </a:p>
        </p:txBody>
      </p:sp>
      <p:sp>
        <p:nvSpPr>
          <p:cNvPr id="33" name="Text 30"/>
          <p:cNvSpPr/>
          <p:nvPr/>
        </p:nvSpPr>
        <p:spPr>
          <a:xfrm>
            <a:off x="7030845" y="3639071"/>
            <a:ext cx="1005315" cy="200025"/>
          </a:xfrm>
          <a:prstGeom prst="rect">
            <a:avLst/>
          </a:prstGeom>
          <a:noFill/>
          <a:ln/>
        </p:spPr>
        <p:txBody>
          <a:bodyPr wrap="square" lIns="0" tIns="0" rIns="0" bIns="0" rtlCol="0" anchor="t">
            <a:spAutoFit/>
          </a:bodyPr>
          <a:lstStyle/>
          <a:p>
            <a:pPr algn="l" indent="0" marL="0">
              <a:lnSpc>
                <a:spcPct val="112000"/>
              </a:lnSpc>
              <a:buNone/>
            </a:pPr>
            <a:r>
              <a:rPr lang="en-US" sz="500" spc="1" kern="0" dirty="0">
                <a:solidFill>
                  <a:srgbClr val="D85A49"/>
                </a:solidFill>
                <a:latin typeface="Courier New" pitchFamily="34" charset="0"/>
                <a:ea typeface="Courier New" pitchFamily="34" charset="-122"/>
                <a:cs typeface="Courier New" pitchFamily="34" charset="-120"/>
              </a:rPr>
              <a:t>EXIT</a:t>
            </a:r>
            <a:r>
              <a:rPr lang="en-US" sz="500" spc="1" kern="0" dirty="0">
                <a:solidFill>
                  <a:srgbClr val="D8DFDC"/>
                </a:solidFill>
                <a:latin typeface="Courier New" pitchFamily="34" charset="0"/>
                <a:ea typeface="Courier New" pitchFamily="34" charset="-122"/>
                <a:cs typeface="Courier New" pitchFamily="34" charset="-120"/>
              </a:rPr>
              <a:t>
</a:t>
            </a:r>
            <a:r>
              <a:rPr lang="en-US" sz="500" spc="1" kern="0" dirty="0">
                <a:solidFill>
                  <a:srgbClr val="D8DFDC"/>
                </a:solidFill>
                <a:latin typeface="Courier New" pitchFamily="34" charset="0"/>
                <a:ea typeface="Courier New" pitchFamily="34" charset="-122"/>
                <a:cs typeface="Courier New" pitchFamily="34" charset="-120"/>
              </a:rPr>
              <a:t>QG5 DECISION RECORDED</a:t>
            </a:r>
            <a:endParaRPr lang="en-US" sz="500" dirty="0"/>
          </a:p>
        </p:txBody>
      </p:sp>
      <p:sp>
        <p:nvSpPr>
          <p:cNvPr id="34" name="Text 31"/>
          <p:cNvSpPr/>
          <p:nvPr/>
        </p:nvSpPr>
        <p:spPr>
          <a:xfrm>
            <a:off x="485775" y="4496321"/>
            <a:ext cx="468697" cy="353616"/>
          </a:xfrm>
          <a:prstGeom prst="rect">
            <a:avLst/>
          </a:prstGeom>
          <a:noFill/>
          <a:ln/>
        </p:spPr>
        <p:txBody>
          <a:bodyPr wrap="none" lIns="0" tIns="0" rIns="0" bIns="0" rtlCol="0" anchor="t">
            <a:spAutoFit/>
          </a:bodyPr>
          <a:lstStyle/>
          <a:p>
            <a:pPr algn="l" indent="0" marL="0">
              <a:buNone/>
            </a:pPr>
            <a:r>
              <a:rPr lang="en-US" sz="600" spc="1" kern="0" dirty="0">
                <a:solidFill>
                  <a:srgbClr val="D85A49"/>
                </a:solidFill>
                <a:latin typeface="Courier New" pitchFamily="34" charset="0"/>
                <a:ea typeface="Courier New" pitchFamily="34" charset="-122"/>
                <a:cs typeface="Courier New" pitchFamily="34" charset="-120"/>
              </a:rPr>
              <a:t>BOUNDARY</a:t>
            </a:r>
            <a:endParaRPr lang="en-US" sz="600" dirty="0"/>
          </a:p>
        </p:txBody>
      </p:sp>
      <p:sp>
        <p:nvSpPr>
          <p:cNvPr id="35" name="Text 32"/>
          <p:cNvSpPr/>
          <p:nvPr/>
        </p:nvSpPr>
        <p:spPr>
          <a:xfrm>
            <a:off x="1572964" y="4496321"/>
            <a:ext cx="5000625" cy="353616"/>
          </a:xfrm>
          <a:prstGeom prst="rect">
            <a:avLst/>
          </a:prstGeom>
          <a:noFill/>
          <a:ln/>
        </p:spPr>
        <p:txBody>
          <a:bodyPr wrap="square" lIns="0" tIns="0" rIns="0" bIns="0" rtlCol="0" anchor="t">
            <a:spAutoFit/>
          </a:bodyPr>
          <a:lstStyle/>
          <a:p>
            <a:pPr algn="l" indent="0" marL="0">
              <a:lnSpc>
                <a:spcPct val="112000"/>
              </a:lnSpc>
              <a:buNone/>
            </a:pPr>
            <a:r>
              <a:rPr lang="en-US" sz="800" dirty="0">
                <a:solidFill>
                  <a:srgbClr val="D7DDDA"/>
                </a:solidFill>
                <a:latin typeface="Courier New" pitchFamily="34" charset="0"/>
                <a:ea typeface="Courier New" pitchFamily="34" charset="-122"/>
                <a:cs typeface="Courier New" pitchFamily="34" charset="-120"/>
              </a:rPr>
              <a:t>Until QG5 passes: no network discovery, no production quorum, no key custody, no consensus claim, and no inference from agreement to physical truth.</a:t>
            </a:r>
            <a:endParaRPr lang="en-US" sz="800" dirty="0"/>
          </a:p>
        </p:txBody>
      </p:sp>
      <p:sp>
        <p:nvSpPr>
          <p:cNvPr id="36" name="Text 33"/>
          <p:cNvSpPr/>
          <p:nvPr/>
        </p:nvSpPr>
        <p:spPr>
          <a:xfrm>
            <a:off x="7192082" y="4496321"/>
            <a:ext cx="1466143" cy="353616"/>
          </a:xfrm>
          <a:prstGeom prst="rect">
            <a:avLst/>
          </a:prstGeom>
          <a:noFill/>
          <a:ln/>
        </p:spPr>
        <p:txBody>
          <a:bodyPr wrap="square" lIns="0" tIns="0" rIns="0" bIns="0" rtlCol="0" anchor="t">
            <a:spAutoFit/>
          </a:bodyPr>
          <a:lstStyle/>
          <a:p>
            <a:pPr algn="r" indent="0" marL="0">
              <a:lnSpc>
                <a:spcPct val="120000"/>
              </a:lnSpc>
              <a:buNone/>
            </a:pPr>
            <a:r>
              <a:rPr lang="en-US" sz="550" spc="1" kern="0" dirty="0">
                <a:solidFill>
                  <a:srgbClr val="F4EFE4"/>
                </a:solidFill>
                <a:latin typeface="Courier New" pitchFamily="34" charset="0"/>
                <a:ea typeface="Courier New" pitchFamily="34" charset="-122"/>
                <a:cs typeface="Courier New" pitchFamily="34" charset="-120"/>
              </a:rPr>
              <a:t>Q0 COMPLETE</a:t>
            </a:r>
            <a:r>
              <a:rPr lang="en-US" sz="550" spc="1" kern="0" dirty="0">
                <a:solidFill>
                  <a:srgbClr val="F0B8A8"/>
                </a:solidFill>
                <a:latin typeface="Courier New" pitchFamily="34" charset="0"/>
                <a:ea typeface="Courier New" pitchFamily="34" charset="-122"/>
                <a:cs typeface="Courier New" pitchFamily="34" charset="-120"/>
              </a:rPr>
              <a:t>
</a:t>
            </a:r>
            <a:r>
              <a:rPr lang="en-US" sz="550" spc="1" kern="0" dirty="0">
                <a:solidFill>
                  <a:srgbClr val="F0B8A8"/>
                </a:solidFill>
                <a:latin typeface="Courier New" pitchFamily="34" charset="0"/>
                <a:ea typeface="Courier New" pitchFamily="34" charset="-122"/>
                <a:cs typeface="Courier New" pitchFamily="34" charset="-120"/>
              </a:rPr>
              <a:t>NEXT: FULL PARITY</a:t>
            </a:r>
            <a:r>
              <a:rPr lang="en-US" sz="550" spc="1" kern="0" dirty="0">
                <a:solidFill>
                  <a:srgbClr val="F0B8A8"/>
                </a:solidFill>
                <a:latin typeface="Courier New" pitchFamily="34" charset="0"/>
                <a:ea typeface="Courier New" pitchFamily="34" charset="-122"/>
                <a:cs typeface="Courier New" pitchFamily="34" charset="-120"/>
              </a:rPr>
              <a:t>
</a:t>
            </a:r>
            <a:r>
              <a:rPr lang="en-US" sz="550" spc="1" kern="0" dirty="0">
                <a:solidFill>
                  <a:srgbClr val="F0B8A8"/>
                </a:solidFill>
                <a:latin typeface="Courier New" pitchFamily="34" charset="0"/>
                <a:ea typeface="Courier New" pitchFamily="34" charset="-122"/>
                <a:cs typeface="Courier New" pitchFamily="34" charset="-120"/>
              </a:rPr>
              <a:t>THEN LOCAL DECISION RECORDS</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2026-08-19T11:54:11Z</dcterms:created>
  <dcterms:modified xsi:type="dcterms:W3CDTF">2026-08-19T11:54:11Z</dcterms:modified>
</cp:coreProperties>
</file>